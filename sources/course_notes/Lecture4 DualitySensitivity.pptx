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9" r:id="rId1"/>
  </p:sldMasterIdLst>
  <p:notesMasterIdLst>
    <p:notesMasterId r:id="rId43"/>
  </p:notesMasterIdLst>
  <p:handoutMasterIdLst>
    <p:handoutMasterId r:id="rId44"/>
  </p:handoutMasterIdLst>
  <p:sldIdLst>
    <p:sldId id="677" r:id="rId2"/>
    <p:sldId id="632" r:id="rId3"/>
    <p:sldId id="633" r:id="rId4"/>
    <p:sldId id="634" r:id="rId5"/>
    <p:sldId id="635" r:id="rId6"/>
    <p:sldId id="636" r:id="rId7"/>
    <p:sldId id="637" r:id="rId8"/>
    <p:sldId id="639" r:id="rId9"/>
    <p:sldId id="676" r:id="rId10"/>
    <p:sldId id="641" r:id="rId11"/>
    <p:sldId id="640" r:id="rId12"/>
    <p:sldId id="642" r:id="rId13"/>
    <p:sldId id="498" r:id="rId14"/>
    <p:sldId id="643" r:id="rId15"/>
    <p:sldId id="644" r:id="rId16"/>
    <p:sldId id="645" r:id="rId17"/>
    <p:sldId id="646" r:id="rId18"/>
    <p:sldId id="649" r:id="rId19"/>
    <p:sldId id="647" r:id="rId20"/>
    <p:sldId id="650" r:id="rId21"/>
    <p:sldId id="653" r:id="rId22"/>
    <p:sldId id="651" r:id="rId23"/>
    <p:sldId id="652" r:id="rId24"/>
    <p:sldId id="580" r:id="rId25"/>
    <p:sldId id="606" r:id="rId26"/>
    <p:sldId id="607" r:id="rId27"/>
    <p:sldId id="657" r:id="rId28"/>
    <p:sldId id="658" r:id="rId29"/>
    <p:sldId id="659" r:id="rId30"/>
    <p:sldId id="614" r:id="rId31"/>
    <p:sldId id="615" r:id="rId32"/>
    <p:sldId id="616" r:id="rId33"/>
    <p:sldId id="660" r:id="rId34"/>
    <p:sldId id="661" r:id="rId35"/>
    <p:sldId id="662" r:id="rId36"/>
    <p:sldId id="664" r:id="rId37"/>
    <p:sldId id="619" r:id="rId38"/>
    <p:sldId id="665" r:id="rId39"/>
    <p:sldId id="666" r:id="rId40"/>
    <p:sldId id="663" r:id="rId41"/>
    <p:sldId id="667" r:id="rId42"/>
  </p:sldIdLst>
  <p:sldSz cx="9144000" cy="6858000" type="screen4x3"/>
  <p:notesSz cx="6858000" cy="9144000"/>
  <p:embeddedFontLst>
    <p:embeddedFont>
      <p:font typeface="宋体" panose="02010600030101010101" pitchFamily="2" charset="-122"/>
      <p:regular r:id="rId45"/>
    </p:embeddedFont>
    <p:embeddedFont>
      <p:font typeface="Cambria Math" panose="02040503050406030204" pitchFamily="18" charset="0"/>
      <p:regular r:id="rId46"/>
    </p:embeddedFont>
    <p:embeddedFont>
      <p:font typeface="Comic Sans MS" panose="030F0702030302020204" pitchFamily="66" charset="0"/>
      <p:regular r:id="rId47"/>
      <p:bold r:id="rId48"/>
      <p:italic r:id="rId49"/>
      <p:boldItalic r:id="rId50"/>
    </p:embeddedFont>
    <p:embeddedFont>
      <p:font typeface="MS PGothic" panose="020B0600070205080204" pitchFamily="34" charset="-128"/>
      <p:regular r:id="rId51"/>
    </p:embeddedFont>
  </p:embeddedFontLst>
  <p:custDataLst>
    <p:tags r:id="rId52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129C"/>
    <a:srgbClr val="0033CC"/>
    <a:srgbClr val="C6D6FE"/>
    <a:srgbClr val="BACDFE"/>
    <a:srgbClr val="E9EFFF"/>
    <a:srgbClr val="FF33CC"/>
    <a:srgbClr val="FFFF00"/>
    <a:srgbClr val="A8C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125" autoAdjust="0"/>
  </p:normalViewPr>
  <p:slideViewPr>
    <p:cSldViewPr snapToGrid="0">
      <p:cViewPr varScale="1">
        <p:scale>
          <a:sx n="115" d="100"/>
          <a:sy n="115" d="100"/>
        </p:scale>
        <p:origin x="15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2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yu Hu" userId="38117962_tp_dropbox" providerId="OAuth2" clId="{C9C41CD3-416A-2C4E-86D1-D695D2DFE602}"/>
    <pc:docChg chg="undo custSel modSld">
      <pc:chgData name="Zhenyu Hu" userId="38117962_tp_dropbox" providerId="OAuth2" clId="{C9C41CD3-416A-2C4E-86D1-D695D2DFE602}" dt="2020-09-03T09:59:24.012" v="1" actId="1076"/>
      <pc:docMkLst>
        <pc:docMk/>
      </pc:docMkLst>
      <pc:sldChg chg="modSp">
        <pc:chgData name="Zhenyu Hu" userId="38117962_tp_dropbox" providerId="OAuth2" clId="{C9C41CD3-416A-2C4E-86D1-D695D2DFE602}" dt="2020-09-03T09:59:24.012" v="1" actId="1076"/>
        <pc:sldMkLst>
          <pc:docMk/>
          <pc:sldMk cId="545385393" sldId="633"/>
        </pc:sldMkLst>
        <pc:spChg chg="mod">
          <ac:chgData name="Zhenyu Hu" userId="38117962_tp_dropbox" providerId="OAuth2" clId="{C9C41CD3-416A-2C4E-86D1-D695D2DFE602}" dt="2020-09-03T09:59:24.012" v="1" actId="1076"/>
          <ac:spMkLst>
            <pc:docMk/>
            <pc:sldMk cId="545385393" sldId="633"/>
            <ac:spMk id="31744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B1C7EBB-BE00-44DC-AAA2-1213A86712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461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5696EE8-B9BB-4DC7-BDD3-AEC2C65202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6585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732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104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905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367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5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670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295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7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484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8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391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3761294-7358-4E56-B5E2-4FD2158A84C4}" type="slidenum">
              <a:rPr lang="zh-CN" altLang="en-US" smtClean="0">
                <a:latin typeface="Times New Roman" pitchFamily="18" charset="0"/>
              </a:rPr>
              <a:pPr/>
              <a:t>9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2625"/>
            <a:ext cx="4576762" cy="34321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538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10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036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11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706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306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13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316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164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22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259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747675-4D9B-4FD2-BB5F-680B4B6DCDD7}" type="slidenum">
              <a:rPr lang="zh-CN" altLang="en-US" smtClean="0">
                <a:latin typeface="Times New Roman" pitchFamily="18" charset="0"/>
              </a:rPr>
              <a:pPr/>
              <a:t>24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274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(2, 6),</a:t>
            </a:r>
            <a:r>
              <a:rPr lang="en-US" baseline="0" dirty="0"/>
              <a:t> we can only increase the profit by producing more x_1.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696EE8-B9BB-4DC7-BDD3-AEC2C6520280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130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8673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56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1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903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30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0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38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602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54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1650" y="9525"/>
            <a:ext cx="2278063" cy="6523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463" y="9525"/>
            <a:ext cx="6681787" cy="6523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815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3" y="9525"/>
            <a:ext cx="9099550" cy="9318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050" y="1060450"/>
            <a:ext cx="4478338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060450"/>
            <a:ext cx="4479925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187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7938" y="-1588"/>
            <a:ext cx="9129712" cy="976313"/>
          </a:xfrm>
          <a:prstGeom prst="rect">
            <a:avLst/>
          </a:prstGeom>
          <a:solidFill>
            <a:srgbClr val="0033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463" y="9525"/>
            <a:ext cx="909955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Title: Cap All Words, Bold, Helvetica 32, White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" y="1060450"/>
            <a:ext cx="9110663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11" tIns="45324" rIns="92111" bIns="45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Level one: int. cap, bold, helvetica 30, maroon</a:t>
            </a:r>
          </a:p>
          <a:p>
            <a:pPr lvl="1"/>
            <a:r>
              <a:rPr lang="en-US" altLang="zh-CN"/>
              <a:t>Level two: initial cap, bold, helvetica 27, blue</a:t>
            </a:r>
          </a:p>
          <a:p>
            <a:pPr lvl="2"/>
            <a:r>
              <a:rPr lang="en-US" altLang="zh-CN"/>
              <a:t>Level three: initial cap, italics, helvetica 24, blue</a:t>
            </a:r>
          </a:p>
          <a:p>
            <a:pPr lvl="3"/>
            <a:r>
              <a:rPr lang="en-US" altLang="zh-CN"/>
              <a:t>Level four: </a:t>
            </a: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0" y="6592888"/>
            <a:ext cx="8874125" cy="6350"/>
          </a:xfrm>
          <a:prstGeom prst="line">
            <a:avLst/>
          </a:prstGeom>
          <a:noFill/>
          <a:ln w="25400">
            <a:solidFill>
              <a:srgbClr val="00279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ctr" defTabSz="909638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341313" indent="-341313" algn="l" defTabSz="909638" rtl="0" eaLnBrk="0" fontAlgn="base" hangingPunct="0">
        <a:spcBef>
          <a:spcPct val="20000"/>
        </a:spcBef>
        <a:spcAft>
          <a:spcPct val="0"/>
        </a:spcAft>
        <a:buClr>
          <a:srgbClr val="790015"/>
        </a:buClr>
        <a:buSzPct val="100000"/>
        <a:buChar char="•"/>
        <a:defRPr sz="2900" b="1">
          <a:solidFill>
            <a:srgbClr val="790015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38188" indent="-284163" algn="l" defTabSz="909638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100000"/>
        <a:buChar char="­"/>
        <a:defRPr sz="2700" b="1">
          <a:solidFill>
            <a:srgbClr val="00279F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38238" indent="-228600" algn="l" defTabSz="909638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100000"/>
        <a:buChar char="·"/>
        <a:defRPr sz="2400" i="1">
          <a:solidFill>
            <a:srgbClr val="0066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473200" indent="-209550" algn="l" defTabSz="909638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33CC"/>
          </a:solidFill>
          <a:latin typeface="+mn-lt"/>
        </a:defRPr>
      </a:lvl4pPr>
      <a:lvl5pPr marL="18954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5pPr>
      <a:lvl6pPr marL="23526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6pPr>
      <a:lvl7pPr marL="28098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7pPr>
      <a:lvl8pPr marL="32670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8pPr>
      <a:lvl9pPr marL="3724275" indent="-211138" algn="l" defTabSz="9096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DBA5103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sz="2800" dirty="0">
                <a:ea typeface="宋体" pitchFamily="2" charset="-122"/>
              </a:rPr>
              <a:t>Operations Research and Analytics</a:t>
            </a:r>
            <a:endParaRPr lang="en-US" altLang="zh-CN" sz="32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3200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Zhenyu Hu</a:t>
            </a:r>
          </a:p>
          <a:p>
            <a:pPr marL="0" indent="0" algn="ctr">
              <a:buNone/>
              <a:defRPr/>
            </a:pPr>
            <a:r>
              <a:rPr lang="en-US" altLang="zh-CN" sz="2400" dirty="0">
                <a:ea typeface="宋体" pitchFamily="2" charset="-122"/>
              </a:rPr>
              <a:t>Semester I, 2026/2027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481" y="4108868"/>
            <a:ext cx="29718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7036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 algn="ctr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Duality Theory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7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Consider a nonlinear optimization problem:</a:t>
                </a:r>
                <a:endParaRPr lang="en-US" altLang="en-US" sz="2400" dirty="0">
                  <a:solidFill>
                    <a:srgbClr val="FF6600"/>
                  </a:solidFill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en-US" sz="240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i="0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en-US" sz="2400" b="1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en-US" sz="24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Method of </a:t>
                </a:r>
                <a:r>
                  <a:rPr lang="en-US" altLang="en-US" sz="2600" dirty="0" err="1">
                    <a:effectLst/>
                    <a:ea typeface="宋体" pitchFamily="2" charset="-122"/>
                  </a:rPr>
                  <a:t>Lagrangian</a:t>
                </a:r>
                <a:r>
                  <a:rPr lang="en-US" altLang="en-US" sz="2600" dirty="0">
                    <a:effectLst/>
                    <a:ea typeface="宋体" pitchFamily="2" charset="-122"/>
                  </a:rPr>
                  <a:t> relaxation</a:t>
                </a: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dirty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3000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 is called the </a:t>
                </a:r>
                <a:r>
                  <a:rPr lang="en-US" altLang="en-US" sz="2400" dirty="0" err="1">
                    <a:solidFill>
                      <a:srgbClr val="FF0000"/>
                    </a:solidFill>
                    <a:effectLst/>
                    <a:ea typeface="宋体" pitchFamily="2" charset="-122"/>
                  </a:rPr>
                  <a:t>Lagrangian</a:t>
                </a:r>
                <a:r>
                  <a:rPr lang="en-US" altLang="en-US" sz="2400" dirty="0">
                    <a:solidFill>
                      <a:srgbClr val="FF0000"/>
                    </a:solidFill>
                    <a:effectLst/>
                    <a:ea typeface="宋体" pitchFamily="2" charset="-122"/>
                  </a:rPr>
                  <a:t> multiplier.</a:t>
                </a:r>
              </a:p>
              <a:p>
                <a:pPr lvl="1">
                  <a:defRPr/>
                </a:pPr>
                <a:r>
                  <a:rPr lang="en-US" altLang="en-US" sz="2400" dirty="0">
                    <a:effectLst/>
                    <a:ea typeface="宋体" pitchFamily="2" charset="-122"/>
                  </a:rPr>
                  <a:t>The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𝑳</m:t>
                        </m:r>
                        <m:d>
                          <m:dPr>
                            <m:ctrlP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</m:d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 is called the </a:t>
                </a:r>
                <a:r>
                  <a:rPr lang="en-US" altLang="en-US" sz="2400" dirty="0" err="1">
                    <a:solidFill>
                      <a:srgbClr val="FF0000"/>
                    </a:solidFill>
                    <a:effectLst/>
                    <a:ea typeface="宋体" pitchFamily="2" charset="-122"/>
                  </a:rPr>
                  <a:t>Lagrangian</a:t>
                </a:r>
                <a:r>
                  <a:rPr lang="en-US" altLang="en-US" sz="2400" dirty="0">
                    <a:effectLst/>
                    <a:ea typeface="宋体" pitchFamily="2" charset="-122"/>
                  </a:rPr>
                  <a:t>.</a:t>
                </a:r>
              </a:p>
              <a:p>
                <a:pPr lvl="1">
                  <a:defRPr/>
                </a:pPr>
                <a:r>
                  <a:rPr lang="en-US" altLang="en-US" sz="2400" dirty="0">
                    <a:effectLst/>
                    <a:ea typeface="宋体" pitchFamily="2" charset="-122"/>
                  </a:rPr>
                  <a:t>For any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, the relaxed problem provides a lower bound to the optimal value of the original problem.</a:t>
                </a:r>
              </a:p>
              <a:p>
                <a:pPr lvl="1">
                  <a:defRPr/>
                </a:pPr>
                <a:r>
                  <a:rPr lang="en-US" altLang="en-US" sz="2400" dirty="0">
                    <a:effectLst/>
                    <a:ea typeface="宋体" pitchFamily="2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, it penalizes the case when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en-US" sz="2400" dirty="0">
                    <a:effectLst/>
                  </a:rPr>
                  <a:t>; </a:t>
                </a:r>
                <a:r>
                  <a:rPr lang="en-US" altLang="en-US" sz="2400" dirty="0">
                    <a:effectLst/>
                    <a:ea typeface="宋体" pitchFamily="2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, it penalizes the case when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en-US" sz="2400" dirty="0">
                    <a:effectLst/>
                  </a:rPr>
                  <a:t>.</a:t>
                </a:r>
              </a:p>
              <a:p>
                <a:pPr lvl="1">
                  <a:defRPr/>
                </a:pPr>
                <a:endParaRPr lang="en-US" altLang="en-US" sz="2400" dirty="0">
                  <a:ea typeface="宋体" pitchFamily="2" charset="-122"/>
                </a:endParaRPr>
              </a:p>
              <a:p>
                <a:pPr algn="ctr">
                  <a:buFontTx/>
                  <a:buNone/>
                  <a:defRPr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836"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Motivating Example</a:t>
            </a:r>
          </a:p>
        </p:txBody>
      </p:sp>
    </p:spTree>
    <p:extLst>
      <p:ext uri="{BB962C8B-B14F-4D97-AF65-F5344CB8AC3E}">
        <p14:creationId xmlns:p14="http://schemas.microsoft.com/office/powerpoint/2010/main" val="54538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Relaxed problem</a:t>
                </a: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dirty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3000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>
                          <a:rPr lang="en-US" altLang="en-US" sz="2400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den>
                    </m:f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den>
                    </m:f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400" dirty="0">
                  <a:solidFill>
                    <a:srgbClr val="FF0000"/>
                  </a:solidFill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num>
                      <m:den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 and the optimal value is </a:t>
                </a:r>
                <a14:m>
                  <m:oMath xmlns:m="http://schemas.openxmlformats.org/officeDocument/2006/math"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en-US" sz="24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en-US" sz="2400" b="1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.</a:t>
                </a:r>
              </a:p>
              <a:p>
                <a:pPr lvl="1">
                  <a:defRPr/>
                </a:pPr>
                <a:r>
                  <a:rPr lang="en-US" altLang="en-US" sz="2400" dirty="0">
                    <a:effectLst/>
                    <a:ea typeface="宋体" pitchFamily="2" charset="-122"/>
                  </a:rPr>
                  <a:t>For any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altLang="en-US" sz="24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.</a:t>
                </a: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We want to make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effectLst/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8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</m:oMath>
                </a14:m>
                <a:r>
                  <a:rPr lang="en-US" altLang="en-US" sz="2600" dirty="0">
                    <a:effectLst/>
                    <a:ea typeface="宋体" pitchFamily="2" charset="-122"/>
                  </a:rPr>
                  <a:t> as close to </a:t>
                </a:r>
                <a14:m>
                  <m:oMath xmlns:m="http://schemas.openxmlformats.org/officeDocument/2006/math">
                    <m:r>
                      <a:rPr lang="en-US" altLang="en-US" sz="28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en-US" sz="2600" dirty="0">
                    <a:effectLst/>
                    <a:ea typeface="宋体" pitchFamily="2" charset="-122"/>
                  </a:rPr>
                  <a:t> as possible:</a:t>
                </a:r>
              </a:p>
              <a:p>
                <a:pPr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solidFill>
                                    <a:srgbClr val="00279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i="1" dirty="0">
                                  <a:solidFill>
                                    <a:srgbClr val="00279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solidFill>
                                    <a:srgbClr val="00279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en-US" sz="2400" i="1" dirty="0">
                  <a:solidFill>
                    <a:srgbClr val="00279F"/>
                  </a:solidFill>
                  <a:effectLst/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:r>
                  <a:rPr lang="en-US" altLang="en-US" sz="2400" dirty="0">
                    <a:effectLst/>
                    <a:ea typeface="宋体" pitchFamily="2" charset="-122"/>
                  </a:rPr>
                  <a:t>Optimal solution is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, and consequently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altLang="en-US" sz="2400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3"/>
                <a:stretch>
                  <a:fillRect l="-1003" t="-10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Motivating Example</a:t>
            </a:r>
          </a:p>
        </p:txBody>
      </p:sp>
    </p:spTree>
    <p:extLst>
      <p:ext uri="{BB962C8B-B14F-4D97-AF65-F5344CB8AC3E}">
        <p14:creationId xmlns:p14="http://schemas.microsoft.com/office/powerpoint/2010/main" val="276464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4552896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Primal problem</a:t>
                </a: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dirty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en-US" sz="2400" dirty="0">
                  <a:effectLst/>
                </a:endParaRPr>
              </a:p>
              <a:p>
                <a:pPr lvl="1"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en-US" sz="2400" dirty="0">
                  <a:effectLst/>
                </a:endParaRPr>
              </a:p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We call the problem of finding the tightest lower bound as the </a:t>
                </a:r>
                <a:r>
                  <a:rPr lang="en-US" altLang="en-US" sz="2600" dirty="0">
                    <a:solidFill>
                      <a:srgbClr val="FF0000"/>
                    </a:solidFill>
                    <a:effectLst/>
                    <a:ea typeface="宋体" pitchFamily="2" charset="-122"/>
                  </a:rPr>
                  <a:t>dual problem:</a:t>
                </a:r>
              </a:p>
              <a:p>
                <a:pPr algn="ctr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solidFill>
                                    <a:srgbClr val="00279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en-US" sz="2400" b="1" i="1" dirty="0" smtClean="0">
                                  <a:solidFill>
                                    <a:srgbClr val="00279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en-US" sz="2400" b="1" i="1" dirty="0" smtClean="0">
                                  <a:solidFill>
                                    <a:srgbClr val="00279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 sz="2400" i="1" dirty="0">
                                  <a:solidFill>
                                    <a:srgbClr val="00279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en-US" sz="2400" b="1" i="1" dirty="0" smtClean="0">
                                  <a:solidFill>
                                    <a:srgbClr val="00279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              </m:t>
                              </m:r>
                              <m:r>
                                <a:rPr lang="en-US" altLang="en-US" sz="2400" i="1" dirty="0">
                                  <a:solidFill>
                                    <a:srgbClr val="00279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en-US" sz="2400" i="1" dirty="0">
                              <a:solidFill>
                                <a:srgbClr val="00279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en-US" sz="2400" i="1" dirty="0">
                  <a:solidFill>
                    <a:srgbClr val="00279F"/>
                  </a:solidFill>
                  <a:effectLst/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</m:oMath>
                </a14:m>
                <a:endParaRPr lang="en-US" altLang="en-US" sz="2400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 ?</a:t>
                </a:r>
              </a:p>
              <a:p>
                <a:pPr marL="454025" lvl="1" indent="0">
                  <a:buNone/>
                  <a:defRPr/>
                </a:pPr>
                <a:endParaRPr lang="en-US" altLang="en-US" sz="2400" dirty="0">
                  <a:ea typeface="宋体" pitchFamily="2" charset="-122"/>
                </a:endParaRPr>
              </a:p>
              <a:p>
                <a:pPr lvl="1">
                  <a:defRPr/>
                </a:pPr>
                <a:endParaRPr lang="en-US" altLang="en-US" sz="240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4552896"/>
              </a:xfrm>
              <a:blipFill rotWithShape="0">
                <a:blip r:embed="rId3"/>
                <a:stretch>
                  <a:fillRect l="-1005" t="-12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Summary</a:t>
            </a:r>
          </a:p>
        </p:txBody>
      </p:sp>
      <p:cxnSp>
        <p:nvCxnSpPr>
          <p:cNvPr id="4" name="Straight Arrow Connector 3"/>
          <p:cNvCxnSpPr>
            <a:cxnSpLocks noChangeShapeType="1"/>
          </p:cNvCxnSpPr>
          <p:nvPr/>
        </p:nvCxnSpPr>
        <p:spPr bwMode="auto">
          <a:xfrm flipH="1" flipV="1">
            <a:off x="5979885" y="4071258"/>
            <a:ext cx="10886" cy="220254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7" name="Straight Connector 6"/>
          <p:cNvCxnSpPr/>
          <p:nvPr/>
        </p:nvCxnSpPr>
        <p:spPr bwMode="auto">
          <a:xfrm>
            <a:off x="4513943" y="5246914"/>
            <a:ext cx="3098800" cy="1451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747940" y="5076763"/>
                <a:ext cx="2594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ＭＳ Ｐゴシック" charset="-128"/>
                        </a:rPr>
                        <m:t>𝑧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940" y="5076763"/>
                <a:ext cx="259490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697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 bwMode="auto">
          <a:xfrm>
            <a:off x="6570733" y="4175490"/>
            <a:ext cx="0" cy="9012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618195" y="4437690"/>
                <a:ext cx="2594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𝑝𝑟𝑖𝑚𝑎𝑙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𝑝𝑟𝑜𝑏𝑙𝑒𝑚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195" y="4437690"/>
                <a:ext cx="259490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321429" r="-297619" b="-1311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 bwMode="auto">
          <a:xfrm flipV="1">
            <a:off x="6570733" y="5380491"/>
            <a:ext cx="0" cy="89331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179594" y="5613346"/>
                <a:ext cx="8662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𝑑𝑢𝑎𝑙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𝑝𝑟𝑜𝑏𝑙𝑒𝑚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594" y="5613346"/>
                <a:ext cx="866297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43662" r="-38732" b="-15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594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5129956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Primal problem</a:t>
                </a: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       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dirty="0">
                  <a:effectLst/>
                </a:endParaRPr>
              </a:p>
              <a:p>
                <a:pPr marL="396875" lvl="1" indent="0">
                  <a:buNone/>
                </a:pPr>
                <a:r>
                  <a:rPr lang="en-US" sz="2400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:r>
                  <a:rPr lang="en-US" sz="240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n-US" sz="2600" dirty="0">
                  <a:effectLst/>
                  <a:ea typeface="宋体" pitchFamily="2" charset="-122"/>
                </a:endParaRPr>
              </a:p>
              <a:p>
                <a:pPr marL="457200" indent="-457200"/>
                <a:r>
                  <a:rPr lang="en-US" altLang="en-US" sz="2600" dirty="0">
                    <a:effectLst/>
                    <a:ea typeface="宋体" pitchFamily="2" charset="-122"/>
                  </a:rPr>
                  <a:t>Relaxed problem:</a:t>
                </a:r>
                <a:endParaRPr lang="en-US" altLang="en-US" sz="2600" dirty="0">
                  <a:solidFill>
                    <a:srgbClr val="FF0000"/>
                  </a:solidFill>
                  <a:effectLst/>
                  <a:ea typeface="宋体" pitchFamily="2" charset="-122"/>
                </a:endParaRPr>
              </a:p>
              <a:p>
                <a:pPr marL="396875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b="1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+ </m:t>
                      </m:r>
                      <m:func>
                        <m:func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US" altLang="en-US" sz="2400" b="1" dirty="0">
                  <a:effectLst/>
                </a:endParaRPr>
              </a:p>
              <a:p>
                <a:pPr lvl="1">
                  <a:defRPr/>
                </a:pPr>
                <a:r>
                  <a:rPr lang="en-US" altLang="en-US" sz="2400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en-US" sz="24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US" altLang="en-US" sz="2400" b="1" i="0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1" i="0" dirty="0" smtClean="0">
                        <a:effectLst/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;</a:t>
                </a:r>
              </a:p>
              <a:p>
                <a:pPr lvl="1">
                  <a:defRPr/>
                </a:pPr>
                <a:r>
                  <a:rPr lang="en-US" altLang="en-US" sz="2400" dirty="0">
                    <a:effectLst/>
                    <a:ea typeface="宋体" pitchFamily="2" charset="-122"/>
                  </a:rPr>
                  <a:t>Else,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en-US" sz="2400" i="1" dirty="0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US" altLang="en-US" sz="2400" dirty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b="1" i="0" dirty="0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.</a:t>
                </a:r>
              </a:p>
              <a:p>
                <a:pPr marL="454025" lvl="1" indent="0">
                  <a:buNone/>
                  <a:defRPr/>
                </a:pPr>
                <a:endParaRPr lang="en-US" altLang="en-US" sz="2400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:endParaRPr lang="en-US" altLang="en-US" sz="2400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5129956"/>
              </a:xfrm>
              <a:blipFill rotWithShape="0">
                <a:blip r:embed="rId3"/>
                <a:stretch>
                  <a:fillRect l="-1005" t="-10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Duality in LP: Standard Form</a:t>
            </a:r>
          </a:p>
        </p:txBody>
      </p:sp>
    </p:spTree>
    <p:extLst>
      <p:ext uri="{BB962C8B-B14F-4D97-AF65-F5344CB8AC3E}">
        <p14:creationId xmlns:p14="http://schemas.microsoft.com/office/powerpoint/2010/main" val="2995543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5129956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Dual problem</a:t>
                </a: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𝒈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sz="2400" b="1" dirty="0">
                  <a:effectLst/>
                </a:endParaRPr>
              </a:p>
              <a:p>
                <a:pPr lvl="1">
                  <a:defRPr/>
                </a:pPr>
                <a:r>
                  <a:rPr lang="en-US" altLang="en-US" sz="2400" b="1" dirty="0">
                    <a:effectLst/>
                  </a:rPr>
                  <a:t>We want to enforce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en-US" sz="24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, since otherwise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altLang="en-US" sz="2400" b="1" i="0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400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4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altLang="en-US" sz="2400" b="1" i="0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2400" dirty="0">
                  <a:effectLst/>
                  <a:ea typeface="宋体" pitchFamily="2" charset="-122"/>
                </a:endParaRPr>
              </a:p>
              <a:p>
                <a:pPr lvl="1">
                  <a:defRPr/>
                </a:pPr>
                <a:r>
                  <a:rPr lang="en-US" altLang="en-US" sz="2400" dirty="0">
                    <a:effectLst/>
                    <a:ea typeface="宋体" pitchFamily="2" charset="-122"/>
                  </a:rPr>
                  <a:t>Under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.</a:t>
                </a:r>
              </a:p>
              <a:p>
                <a:pPr lvl="1">
                  <a:defRPr/>
                </a:pPr>
                <a:r>
                  <a:rPr lang="en-US" altLang="en-US" sz="2400" dirty="0">
                    <a:effectLst/>
                    <a:ea typeface="宋体" pitchFamily="2" charset="-122"/>
                  </a:rPr>
                  <a:t>The problem can be rewritten as</a:t>
                </a: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</a:rPr>
                        <m:t>𝒂𝒙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       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dirty="0">
                  <a:effectLst/>
                </a:endParaRPr>
              </a:p>
              <a:p>
                <a:pPr marL="396875" lvl="1" indent="0">
                  <a:buNone/>
                </a:pPr>
                <a:r>
                  <a:rPr lang="en-US" sz="2400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400">
                        <a:effectLst/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altLang="en-US" sz="2400" b="1" i="0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en-US" sz="2400" b="1" dirty="0">
                  <a:effectLst/>
                  <a:ea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:r>
                  <a:rPr lang="en-US" altLang="en-US" sz="2400" dirty="0">
                    <a:effectLst/>
                    <a:ea typeface="宋体" pitchFamily="2" charset="-122"/>
                  </a:rPr>
                  <a:t>with decision variables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400" b="0" i="1" dirty="0" smtClean="0">
                        <a:effectLst/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sz="2400" b="0" i="1" dirty="0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400" b="0" dirty="0">
                    <a:effectLst/>
                    <a:ea typeface="宋体" pitchFamily="2" charset="-122"/>
                  </a:rPr>
                  <a:t>.</a:t>
                </a:r>
              </a:p>
              <a:p>
                <a:pPr marL="739775" lvl="1" indent="-342900"/>
                <a:r>
                  <a:rPr lang="en-US" altLang="en-US" sz="2400" dirty="0">
                    <a:effectLst/>
                    <a:ea typeface="宋体" pitchFamily="2" charset="-122"/>
                  </a:rPr>
                  <a:t>No constraint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 since we want to penalize both the case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en-US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400" b="0" i="1" dirty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sz="2400" dirty="0">
                    <a:effectLst/>
                    <a:ea typeface="宋体" pitchFamily="2" charset="-122"/>
                  </a:rPr>
                  <a:t> and the case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b="0" i="1" dirty="0" smtClean="0">
                        <a:effectLst/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en-US" sz="2400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400" b="0" i="1" dirty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en-US" sz="2400" dirty="0">
                  <a:ea typeface="宋体" pitchFamily="2" charset="-122"/>
                </a:endParaRPr>
              </a:p>
              <a:p>
                <a:pPr lvl="1">
                  <a:defRPr/>
                </a:pPr>
                <a:endParaRPr lang="en-US" altLang="en-US" sz="2400" dirty="0">
                  <a:ea typeface="宋体" pitchFamily="2" charset="-122"/>
                </a:endParaRPr>
              </a:p>
              <a:p>
                <a:pPr marL="454025" lvl="1" indent="0">
                  <a:buNone/>
                  <a:defRPr/>
                </a:pPr>
                <a:endParaRPr lang="en-US" altLang="en-US" sz="2400" dirty="0">
                  <a:ea typeface="宋体" pitchFamily="2" charset="-122"/>
                </a:endParaRPr>
              </a:p>
              <a:p>
                <a:pPr lvl="1">
                  <a:defRPr/>
                </a:pPr>
                <a:endParaRPr lang="en-US" altLang="en-US" sz="240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5129956"/>
              </a:xfrm>
              <a:blipFill rotWithShape="0">
                <a:blip r:embed="rId3"/>
                <a:stretch>
                  <a:fillRect l="-1005" t="-10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Duality in LP: Standard Form</a:t>
            </a:r>
          </a:p>
        </p:txBody>
      </p:sp>
    </p:spTree>
    <p:extLst>
      <p:ext uri="{BB962C8B-B14F-4D97-AF65-F5344CB8AC3E}">
        <p14:creationId xmlns:p14="http://schemas.microsoft.com/office/powerpoint/2010/main" val="60818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3883783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Primal problem</a:t>
                </a: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       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dirty="0">
                  <a:effectLst/>
                </a:endParaRPr>
              </a:p>
              <a:p>
                <a:pPr marL="396875" lvl="1" indent="0">
                  <a:buNone/>
                </a:pPr>
                <a:r>
                  <a:rPr lang="en-US" sz="2400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:r>
                  <a:rPr lang="en-US" sz="240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n-US" sz="2600" dirty="0">
                  <a:effectLst/>
                  <a:ea typeface="宋体" pitchFamily="2" charset="-122"/>
                </a:endParaRPr>
              </a:p>
              <a:p>
                <a:pPr marL="457200" indent="-457200"/>
                <a:r>
                  <a:rPr lang="en-US" altLang="en-US" sz="2600" dirty="0">
                    <a:effectLst/>
                    <a:ea typeface="宋体" pitchFamily="2" charset="-122"/>
                  </a:rPr>
                  <a:t>Standard form:</a:t>
                </a:r>
                <a:endParaRPr lang="en-US" altLang="en-US" sz="2600" dirty="0">
                  <a:solidFill>
                    <a:srgbClr val="FF0000"/>
                  </a:solidFill>
                  <a:effectLst/>
                  <a:ea typeface="宋体" pitchFamily="2" charset="-122"/>
                </a:endParaRP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en-US" sz="2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0′]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lang="en-US" sz="24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eqArr>
                        </m:e>
                      </m:d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:r>
                  <a:rPr lang="en-US" sz="240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2400">
                        <a:effectLst/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n-US" sz="2600" dirty="0">
                  <a:effectLst/>
                  <a:ea typeface="宋体" pitchFamily="2" charset="-122"/>
                </a:endParaRPr>
              </a:p>
              <a:p>
                <a:pPr marL="514350" indent="-457200"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Dual problem</a:t>
                </a:r>
                <a:endParaRPr lang="en-US" altLang="en-US" sz="2400" dirty="0">
                  <a:effectLst/>
                  <a:ea typeface="宋体" pitchFamily="2" charset="-122"/>
                </a:endParaRPr>
              </a:p>
              <a:p>
                <a:pPr marL="396875" lvl="1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    </m:t>
                      </m:r>
                      <m:sSup>
                        <m:sSup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≤[</m:t>
                      </m:r>
                      <m:sSup>
                        <m:sSup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en-US" sz="2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0′],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en-US" sz="2400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en-US" sz="2400" dirty="0">
                  <a:effectLst/>
                  <a:ea typeface="Cambria Math" panose="02040503050406030204" pitchFamily="18" charset="0"/>
                </a:endParaRPr>
              </a:p>
              <a:p>
                <a:pPr lvl="1">
                  <a:defRPr/>
                </a:pPr>
                <a:endParaRPr lang="en-US" altLang="en-US" sz="2400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3883783"/>
              </a:xfrm>
              <a:blipFill rotWithShape="0">
                <a:blip r:embed="rId3"/>
                <a:stretch>
                  <a:fillRect l="-1005" t="-1413" b="-323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Variants</a:t>
            </a:r>
          </a:p>
        </p:txBody>
      </p:sp>
      <p:sp>
        <p:nvSpPr>
          <p:cNvPr id="5" name="Right Arrow 4"/>
          <p:cNvSpPr/>
          <p:nvPr/>
        </p:nvSpPr>
        <p:spPr bwMode="auto">
          <a:xfrm>
            <a:off x="4078385" y="5421664"/>
            <a:ext cx="817296" cy="331773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 bwMode="auto">
              <a:xfrm>
                <a:off x="17463" y="1060451"/>
                <a:ext cx="9097963" cy="38837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r>
                  <a:rPr lang="en-US" altLang="en-US" sz="2600" kern="0" dirty="0">
                    <a:effectLst/>
                    <a:ea typeface="宋体" pitchFamily="2" charset="-122"/>
                  </a:rPr>
                  <a:t>Primal problem</a:t>
                </a:r>
              </a:p>
              <a:p>
                <a:pPr marL="396875" lvl="1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       </m:t>
                      </m:r>
                      <m:sSup>
                        <m:sSupPr>
                          <m:ctrlPr>
                            <a:rPr lang="en-US" sz="2400" i="1" ker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kern="0">
                              <a:effectLst/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2400" i="1" kern="0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kern="0" dirty="0">
                  <a:effectLst/>
                </a:endParaRPr>
              </a:p>
              <a:p>
                <a:pPr marL="396875" lvl="1" indent="0">
                  <a:buFontTx/>
                  <a:buNone/>
                </a:pPr>
                <a:r>
                  <a:rPr lang="en-US" sz="2400" kern="0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400" kern="0" smtClean="0">
                        <a:effectLst/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i="1" kern="0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FontTx/>
                  <a:buNone/>
                </a:pPr>
                <a:r>
                  <a:rPr lang="en-US" sz="2400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2400" kern="0" smtClean="0">
                        <a:effectLst/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n-US" sz="2600" kern="0" dirty="0">
                  <a:effectLst/>
                  <a:ea typeface="宋体" pitchFamily="2" charset="-122"/>
                </a:endParaRPr>
              </a:p>
              <a:p>
                <a:pPr marL="457200" indent="-457200"/>
                <a:r>
                  <a:rPr lang="en-US" altLang="en-US" sz="2600" kern="0" dirty="0">
                    <a:effectLst/>
                    <a:ea typeface="宋体" pitchFamily="2" charset="-122"/>
                  </a:rPr>
                  <a:t>Standard form:</a:t>
                </a:r>
                <a:endParaRPr lang="en-US" altLang="en-US" sz="2600" kern="0" dirty="0">
                  <a:solidFill>
                    <a:srgbClr val="FF0000"/>
                  </a:solidFill>
                  <a:effectLst/>
                  <a:ea typeface="宋体" pitchFamily="2" charset="-122"/>
                </a:endParaRPr>
              </a:p>
              <a:p>
                <a:pPr marL="396875" lvl="1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2400" i="1" kern="0" smtClean="0">
                          <a:effectLst/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en-US" sz="2400" i="1" kern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en-US" sz="2400" kern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0′]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ker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ker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 ker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lang="en-US" sz="2400" i="1" kern="0">
                                  <a:effectLst/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i="1" kern="0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.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kern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kern="0">
                              <a:effectLst/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400" i="1" kern="0" smtClean="0">
                              <a:effectLst/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 kern="0" smtClean="0">
                              <a:effectLst/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 kern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kern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 kern="0" smtClean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lang="en-US" sz="2400" i="1" kern="0" smtClean="0">
                                  <a:effectLst/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</m:eqArr>
                        </m:e>
                      </m:d>
                      <m:r>
                        <a:rPr lang="en-US" sz="2400" i="1" kern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i="1" kern="0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FontTx/>
                  <a:buNone/>
                </a:pPr>
                <a:r>
                  <a:rPr lang="en-US" sz="2400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2400" kern="0">
                        <a:effectLst/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n-US" sz="2600" kern="0" dirty="0">
                  <a:effectLst/>
                  <a:ea typeface="宋体" pitchFamily="2" charset="-122"/>
                </a:endParaRPr>
              </a:p>
              <a:p>
                <a:pPr marL="514350" indent="-457200">
                  <a:defRPr/>
                </a:pPr>
                <a:r>
                  <a:rPr lang="en-US" altLang="en-US" sz="2600" kern="0" dirty="0">
                    <a:effectLst/>
                    <a:ea typeface="宋体" pitchFamily="2" charset="-122"/>
                  </a:rPr>
                  <a:t>Dual problem</a:t>
                </a:r>
                <a:endParaRPr lang="en-US" altLang="en-US" sz="2400" kern="0" dirty="0">
                  <a:effectLst/>
                  <a:ea typeface="宋体" pitchFamily="2" charset="-122"/>
                </a:endParaRPr>
              </a:p>
              <a:p>
                <a:pPr marL="396875" lvl="1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sz="2400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kern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i="1" ker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2400" kern="0" smtClea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       </m:t>
                    </m:r>
                    <m:sSup>
                      <m:sSupPr>
                        <m:ctrlPr>
                          <a:rPr lang="en-US" sz="2400" i="1" ker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kern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i="1" ker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 ker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i="1" kern="0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.    </m:t>
                      </m:r>
                      <m:sSup>
                        <m:sSupPr>
                          <m:ctrlP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r>
                        <a:rPr lang="en-US" altLang="en-US" sz="2400" i="1" kern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≤[</m:t>
                      </m:r>
                      <m:sSup>
                        <m:sSupPr>
                          <m:ctrlP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en-US" sz="2400" kern="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0′],</m:t>
                      </m:r>
                      <m:r>
                        <a:rPr lang="en-US" altLang="en-US" sz="2400" i="1" kern="0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i="1" kern="0">
                          <a:effectLst/>
                          <a:latin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kern="0" dirty="0" smtClean="0">
                              <a:effectLst/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en-US" sz="2400" i="1" kern="0" dirty="0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en-US" sz="2400" i="1" kern="0" dirty="0" smtClean="0">
                          <a:effectLst/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en-US" sz="2400" i="1" kern="0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en-US" sz="2400" i="1" kern="0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kern="0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en-US" sz="2400" i="1" kern="0" dirty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en-US" sz="2400" i="1" kern="0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en-US" sz="2400" i="1" kern="0" dirty="0">
                          <a:effectLst/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en-US" sz="2400" i="1" kern="0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en-US" sz="2400" i="1" kern="0" dirty="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en-US" sz="2400" kern="0" dirty="0">
                  <a:effectLst/>
                  <a:ea typeface="Cambria Math" panose="02040503050406030204" pitchFamily="18" charset="0"/>
                </a:endParaRPr>
              </a:p>
              <a:p>
                <a:pPr lvl="1">
                  <a:defRPr/>
                </a:pPr>
                <a:endParaRPr lang="en-US" altLang="en-US" sz="2400" kern="0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63" y="1060451"/>
                <a:ext cx="9097963" cy="3883783"/>
              </a:xfrm>
              <a:prstGeom prst="rect">
                <a:avLst/>
              </a:prstGeom>
              <a:blipFill rotWithShape="0">
                <a:blip r:embed="rId4"/>
                <a:stretch>
                  <a:fillRect l="-1072" t="-1413" b="-3233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 bwMode="auto">
          <a:xfrm>
            <a:off x="4076798" y="5421664"/>
            <a:ext cx="817296" cy="331773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423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744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5129956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altLang="en-US" sz="2600" dirty="0">
                    <a:effectLst/>
                    <a:ea typeface="宋体" pitchFamily="2" charset="-122"/>
                  </a:rPr>
                  <a:t>Primal problem</a:t>
                </a: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       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dirty="0">
                  <a:effectLst/>
                </a:endParaRPr>
              </a:p>
              <a:p>
                <a:pPr marL="396875" lvl="1" indent="0">
                  <a:buNone/>
                </a:pPr>
                <a:r>
                  <a:rPr lang="en-US" sz="2400" dirty="0">
                    <a:effectLst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:r>
                  <a:rPr lang="en-US" sz="240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effectLst/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n-US" sz="2600" dirty="0">
                  <a:effectLst/>
                  <a:ea typeface="宋体" pitchFamily="2" charset="-122"/>
                </a:endParaRPr>
              </a:p>
              <a:p>
                <a:pPr marL="457200" indent="-457200"/>
                <a:r>
                  <a:rPr lang="en-US" altLang="en-US" sz="2600" dirty="0">
                    <a:effectLst/>
                    <a:ea typeface="宋体" pitchFamily="2" charset="-122"/>
                  </a:rPr>
                  <a:t>Relaxed problem:</a:t>
                </a:r>
                <a:endParaRPr lang="en-US" altLang="en-US" sz="2600" dirty="0">
                  <a:solidFill>
                    <a:srgbClr val="FF0000"/>
                  </a:solidFill>
                  <a:effectLst/>
                  <a:ea typeface="宋体" pitchFamily="2" charset="-122"/>
                </a:endParaRPr>
              </a:p>
              <a:p>
                <a:pPr marL="396875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en-US" sz="2400" i="1" dirty="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en-US" sz="2400" b="1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en-US" sz="2400" b="1" i="1" dirty="0" smtClean="0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b="1" dirty="0">
                  <a:effectLst/>
                </a:endParaRPr>
              </a:p>
              <a:p>
                <a:pPr lvl="1">
                  <a:defRPr/>
                </a:pPr>
                <a:r>
                  <a:rPr lang="en-US" altLang="en-US" sz="2400" b="1" dirty="0">
                    <a:effectLst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en-US" sz="2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en-US" sz="2400" b="1" i="1" dirty="0" smtClean="0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2400" b="1" i="1" dirty="0" smtClean="0">
                        <a:effectLst/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4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en-US" sz="2400" b="0" dirty="0">
                    <a:effectLst/>
                    <a:ea typeface="宋体" pitchFamily="2" charset="-122"/>
                  </a:rPr>
                  <a:t>, </a:t>
                </a:r>
                <a:r>
                  <a:rPr lang="en-US" altLang="en-US" sz="2400" dirty="0">
                    <a:effectLst/>
                  </a:rPr>
                  <a:t>we only need to penalize the case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altLang="en-US" sz="2400" i="1" dirty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en-US" sz="2400" i="1" dirty="0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400" b="0" i="1" dirty="0" smtClean="0">
                        <a:effectLst/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en-US" sz="2400" b="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en-US" sz="2400" b="0" dirty="0">
                    <a:effectLst/>
                    <a:ea typeface="宋体" pitchFamily="2" charset="-122"/>
                  </a:rPr>
                  <a:t>. </a:t>
                </a:r>
                <a:r>
                  <a:rPr lang="en-US" altLang="en-US" sz="2400" dirty="0">
                    <a:effectLst/>
                    <a:ea typeface="宋体" pitchFamily="2" charset="-122"/>
                  </a:rPr>
                  <a:t>This can be achieved by restricting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400" b="0" i="1" dirty="0" smtClean="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400" b="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</m:t>
                    </m:r>
                  </m:oMath>
                </a14:m>
                <a:endParaRPr lang="en-US" altLang="en-US" sz="2400" b="0" dirty="0">
                  <a:effectLst/>
                  <a:ea typeface="宋体" pitchFamily="2" charset="-122"/>
                </a:endParaRPr>
              </a:p>
              <a:p>
                <a:pPr marL="454025" lvl="1" indent="0">
                  <a:buNone/>
                  <a:defRPr/>
                </a:pPr>
                <a:endParaRPr lang="en-US" altLang="en-US" sz="2400" dirty="0">
                  <a:ea typeface="宋体" pitchFamily="2" charset="-122"/>
                </a:endParaRPr>
              </a:p>
              <a:p>
                <a:pPr lvl="1">
                  <a:defRPr/>
                </a:pPr>
                <a:endParaRPr lang="en-US" altLang="en-US" sz="240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174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050" y="1060451"/>
                <a:ext cx="9097963" cy="5129956"/>
              </a:xfrm>
              <a:blipFill rotWithShape="0">
                <a:blip r:embed="rId3"/>
                <a:stretch>
                  <a:fillRect l="-1005" t="-10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defRPr/>
                </a:pPr>
                <a:r>
                  <a:rPr lang="en-US" altLang="zh-CN" dirty="0">
                    <a:ea typeface="宋体" pitchFamily="2" charset="-122"/>
                  </a:rPr>
                  <a:t>Variants: Intuition on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4"/>
                <a:stretch>
                  <a:fillRect b="-72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443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" y="9525"/>
            <a:ext cx="9126537" cy="931863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General Relationship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37" y="1150938"/>
            <a:ext cx="9110663" cy="5472113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25" y="1630713"/>
            <a:ext cx="3419475" cy="3467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175" y="1573563"/>
            <a:ext cx="37242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2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" y="9525"/>
            <a:ext cx="9126537" cy="931863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Duality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398" y="770612"/>
                <a:ext cx="9110663" cy="5472113"/>
              </a:xfrm>
            </p:spPr>
            <p:txBody>
              <a:bodyPr/>
              <a:lstStyle/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Dual of the dual is primal:</a:t>
                </a: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       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0" smtClean="0">
                          <a:effectLst/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𝒎𝒂𝒙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       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      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en-US" sz="2400" b="1" i="1" dirty="0" smtClean="0">
                          <a:effectLst/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</a:rPr>
                        <m:t>                                  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en-US" sz="24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en-US" sz="2400" i="1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dirty="0">
                  <a:effectLst/>
                  <a:ea typeface="宋体" pitchFamily="2" charset="-122"/>
                </a:endParaRPr>
              </a:p>
              <a:p>
                <a:pPr>
                  <a:defRPr/>
                </a:pPr>
                <a:r>
                  <a:rPr lang="en-US" altLang="zh-CN" dirty="0">
                    <a:effectLst/>
                    <a:ea typeface="宋体" pitchFamily="2" charset="-122"/>
                  </a:rPr>
                  <a:t>Weak duality:</a:t>
                </a:r>
              </a:p>
              <a:p>
                <a:pPr marL="3968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320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3200" b="1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sz="3200" b="1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3200" i="1" dirty="0">
                  <a:effectLst/>
                  <a:latin typeface="Cambria Math" panose="02040503050406030204" pitchFamily="18" charset="0"/>
                </a:endParaRPr>
              </a:p>
              <a:p>
                <a:pPr marL="854075" lvl="1" indent="-457200"/>
                <a:r>
                  <a:rPr lang="en-US" sz="2400" dirty="0">
                    <a:effectLst/>
                  </a:rPr>
                  <a:t>If the optimal value in the primal is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−∞ </m:t>
                    </m:r>
                  </m:oMath>
                </a14:m>
                <a:r>
                  <a:rPr lang="en-US" sz="2400" i="1" dirty="0">
                    <a:effectLst/>
                    <a:latin typeface="Cambria Math" panose="02040503050406030204" pitchFamily="18" charset="0"/>
                  </a:rPr>
                  <a:t>, </a:t>
                </a:r>
                <a:r>
                  <a:rPr lang="en-US" sz="2400" dirty="0">
                    <a:effectLst/>
                  </a:rPr>
                  <a:t>then the dual problem must be infeasible.</a:t>
                </a:r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pPr marL="854075" lvl="1" indent="-457200"/>
                <a:r>
                  <a:rPr lang="en-US" sz="2400" dirty="0">
                    <a:effectLst/>
                  </a:rPr>
                  <a:t>If the optimal value in the dual is </a:t>
                </a:r>
                <a14:m>
                  <m:oMath xmlns:m="http://schemas.openxmlformats.org/officeDocument/2006/math">
                    <m:r>
                      <a:rPr lang="en-US" sz="2400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 </m:t>
                    </m:r>
                  </m:oMath>
                </a14:m>
                <a:r>
                  <a:rPr lang="en-US" sz="2400" i="1" dirty="0">
                    <a:effectLst/>
                    <a:latin typeface="Cambria Math" panose="02040503050406030204" pitchFamily="18" charset="0"/>
                  </a:rPr>
                  <a:t>, </a:t>
                </a:r>
                <a:r>
                  <a:rPr lang="en-US" sz="2400" dirty="0">
                    <a:effectLst/>
                  </a:rPr>
                  <a:t>then the primal problem must be infeasible.</a:t>
                </a:r>
              </a:p>
              <a:p>
                <a:pPr marL="854075" lvl="1" indent="-457200"/>
                <a:r>
                  <a:rPr lang="en-US" sz="2400" dirty="0">
                    <a:effectLst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US" sz="2400" dirty="0">
                    <a:effectLst/>
                  </a:rPr>
                  <a:t>and </a:t>
                </a:r>
                <a:r>
                  <a:rPr lang="en-US" sz="2400" i="1" dirty="0">
                    <a:effectLst/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400" dirty="0">
                    <a:effectLst/>
                  </a:rPr>
                  <a:t> are feasible solutions to primal and dual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effectLst/>
                  </a:rPr>
                  <a:t>, then they must be optimal.</a:t>
                </a:r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pPr marL="396875" lvl="1" indent="0">
                  <a:buNone/>
                </a:pPr>
                <a:endParaRPr lang="en-US" sz="2400" dirty="0"/>
              </a:p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398" y="770612"/>
                <a:ext cx="9110663" cy="5472113"/>
              </a:xfrm>
              <a:blipFill rotWithShape="0">
                <a:blip r:embed="rId3"/>
                <a:stretch>
                  <a:fillRect l="-1271" r="-33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Left-Right Arrow 1"/>
          <p:cNvSpPr/>
          <p:nvPr/>
        </p:nvSpPr>
        <p:spPr bwMode="auto">
          <a:xfrm>
            <a:off x="4066884" y="2095031"/>
            <a:ext cx="1027689" cy="372233"/>
          </a:xfrm>
          <a:prstGeom prst="left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75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" y="9525"/>
            <a:ext cx="9126537" cy="931863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Duality Theory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398" y="770612"/>
            <a:ext cx="9110663" cy="5472113"/>
          </a:xfrm>
        </p:spPr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ffectLst/>
                <a:ea typeface="宋体" pitchFamily="2" charset="-122"/>
              </a:rPr>
              <a:t>Strong duality: If an LP has an optimal solution, then its dual also has a solution and the respective optimal value are equal.</a:t>
            </a:r>
          </a:p>
          <a:p>
            <a:pPr marL="396875" lvl="1" indent="0">
              <a:buNone/>
            </a:pPr>
            <a:endParaRPr lang="en-US" sz="2400" dirty="0"/>
          </a:p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2" y="3394751"/>
            <a:ext cx="91344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3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Economic Interpretation of Duality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04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Example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effectLst/>
              </a:rPr>
              <a:t>LP formulation</a:t>
            </a:r>
          </a:p>
          <a:p>
            <a:pPr marL="0" indent="0">
              <a:buNone/>
            </a:pPr>
            <a:endParaRPr lang="en-US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03" y="1060450"/>
            <a:ext cx="5667492" cy="21617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792" y="3905483"/>
            <a:ext cx="2523963" cy="14022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37" y="3905483"/>
            <a:ext cx="3345397" cy="243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935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with Resource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" y="920751"/>
                <a:ext cx="9144001" cy="58761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Suppose there is a market where plant hours can be sold and bought.</a:t>
                </a:r>
              </a:p>
              <a:p>
                <a:endParaRPr lang="en-US" sz="900" dirty="0">
                  <a:effectLst/>
                </a:endParaRPr>
              </a:p>
              <a:p>
                <a:endParaRPr lang="en-US" sz="900" dirty="0">
                  <a:effectLst/>
                </a:endParaRPr>
              </a:p>
              <a:p>
                <a:endParaRPr lang="en-US" sz="900" dirty="0">
                  <a:effectLst/>
                </a:endParaRPr>
              </a:p>
              <a:p>
                <a:r>
                  <a:rPr lang="en-US" dirty="0">
                    <a:effectLst/>
                  </a:rPr>
                  <a:t>Production hour at plant 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 is priced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</a:p>
              <a:p>
                <a:endParaRPr lang="en-US" dirty="0">
                  <a:effectLst/>
                </a:endParaRPr>
              </a:p>
              <a:p>
                <a:r>
                  <a:rPr lang="en-US" dirty="0">
                    <a:effectLst/>
                  </a:rPr>
                  <a:t>Consider plant 3, for example</a:t>
                </a:r>
              </a:p>
              <a:p>
                <a:pPr lvl="1"/>
                <a:r>
                  <a:rPr lang="en-US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</a:rPr>
                          <m:t> 3</m:t>
                        </m:r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effectLst/>
                        <a:latin typeface="Cambria Math" panose="02040503050406030204" pitchFamily="18" charset="0"/>
                      </a:rPr>
                      <m:t>&lt;18</m:t>
                    </m:r>
                  </m:oMath>
                </a14:m>
                <a:r>
                  <a:rPr lang="en-US" altLang="en-US" b="1" dirty="0">
                    <a:effectLst/>
                  </a:rPr>
                  <a:t>, the firm can sell </a:t>
                </a:r>
                <a14:m>
                  <m:oMath xmlns:m="http://schemas.openxmlformats.org/officeDocument/2006/math"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18</m:t>
                    </m:r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− (3</m:t>
                        </m:r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effectLst/>
                  </a:rPr>
                  <a:t>hours at price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to the market.</a:t>
                </a:r>
              </a:p>
              <a:p>
                <a:pPr lvl="1"/>
                <a:r>
                  <a:rPr lang="en-US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 3</m:t>
                        </m:r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effectLst/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18 </m:t>
                    </m:r>
                  </m:oMath>
                </a14:m>
                <a:r>
                  <a:rPr lang="en-US" altLang="en-US" dirty="0">
                    <a:effectLst/>
                  </a:rPr>
                  <a:t>The firm has to buy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 3</m:t>
                        </m:r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b="0" i="1">
                        <a:effectLst/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b="0" dirty="0">
                    <a:effectLst/>
                  </a:rPr>
                  <a:t> </a:t>
                </a:r>
                <a:r>
                  <a:rPr lang="en-US" dirty="0">
                    <a:effectLst/>
                  </a:rPr>
                  <a:t>at price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from the market.</a:t>
                </a:r>
                <a:endParaRPr lang="en-US" dirty="0"/>
              </a:p>
              <a:p>
                <a:pPr marL="454025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920751"/>
                <a:ext cx="9144001" cy="5876163"/>
              </a:xfrm>
              <a:blipFill rotWithShape="0">
                <a:blip r:embed="rId2"/>
                <a:stretch>
                  <a:fillRect l="-1267" t="-1037" r="-22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120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" y="0"/>
            <a:ext cx="9099550" cy="931863"/>
          </a:xfrm>
        </p:spPr>
        <p:txBody>
          <a:bodyPr/>
          <a:lstStyle/>
          <a:p>
            <a:pPr>
              <a:defRPr/>
            </a:pPr>
            <a:r>
              <a:rPr lang="en-US" dirty="0"/>
              <a:t>Production with Resource Market</a:t>
            </a:r>
            <a:endParaRPr lang="en-US" altLang="zh-CN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181065" y="802708"/>
                <a:ext cx="9550580" cy="56223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</a:t>
                </a:r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sz="2300" i="1" smtClean="0">
                        <a:effectLst/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sz="2300" b="1" i="1" smtClean="0">
                        <a:effectLst/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300" i="1" dirty="0">
                        <a:effectLst/>
                        <a:latin typeface="Cambria Math"/>
                      </a:rPr>
                      <m:t>3 </m:t>
                    </m:r>
                    <m:r>
                      <a:rPr lang="en-US" sz="2300" i="1" dirty="0">
                        <a:effectLst/>
                        <a:latin typeface="Cambria Math"/>
                      </a:rPr>
                      <m:t>𝑥</m:t>
                    </m:r>
                    <m:r>
                      <a:rPr lang="en-US" sz="2300" i="1" baseline="-25000" dirty="0">
                        <a:effectLst/>
                        <a:latin typeface="Cambria Math"/>
                      </a:rPr>
                      <m:t>1</m:t>
                    </m:r>
                    <m:r>
                      <a:rPr lang="en-US" sz="2300" i="1" dirty="0">
                        <a:effectLst/>
                        <a:latin typeface="Cambria Math"/>
                      </a:rPr>
                      <m:t>+5</m:t>
                    </m:r>
                    <m:r>
                      <a:rPr lang="en-US" sz="2300" i="1" dirty="0">
                        <a:effectLst/>
                        <a:latin typeface="Cambria Math"/>
                      </a:rPr>
                      <m:t>𝑥</m:t>
                    </m:r>
                    <m:r>
                      <a:rPr lang="en-US" sz="2300" i="1" baseline="-25000" dirty="0">
                        <a:effectLst/>
                        <a:latin typeface="Cambria Math"/>
                      </a:rPr>
                      <m:t>2</m:t>
                    </m:r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  <m:t>4−</m:t>
                        </m:r>
                        <m:r>
                          <a:rPr lang="en-US" sz="2300" i="1" dirty="0">
                            <a:effectLst/>
                            <a:latin typeface="Cambria Math"/>
                          </a:rPr>
                          <m:t>𝑥</m:t>
                        </m:r>
                        <m:r>
                          <a:rPr lang="en-US" sz="2300" i="1" baseline="-25000" dirty="0">
                            <a:effectLst/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300" b="1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3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effectLst/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3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300" b="0" i="1" dirty="0">
                            <a:effectLst/>
                            <a:latin typeface="Cambria Math"/>
                          </a:rPr>
                          <m:t>𝑥</m:t>
                        </m:r>
                        <m:r>
                          <a:rPr lang="en-US" sz="2300" b="0" i="1" baseline="-25000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300" b="0" i="1" baseline="-25000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3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300" b="0" i="1" smtClean="0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300" b="0" i="1" smtClean="0">
                        <a:effectLst/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2300" b="0" i="1" smtClean="0">
                        <a:effectLst/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2300" b="0" i="1">
                        <a:effectLst/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  <m:t>− (3</m:t>
                        </m:r>
                        <m: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300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300" b="0" i="1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en-US" sz="2300" b="0" i="1" smtClean="0">
                        <a:effectLst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300" dirty="0">
                  <a:effectLst/>
                </a:endParaRPr>
              </a:p>
              <a:p>
                <a:pPr marL="0" indent="0">
                  <a:buNone/>
                </a:pPr>
                <a:r>
                  <a:rPr lang="en-US" sz="230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300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3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3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300" b="0" i="1">
                        <a:effectLst/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CN" sz="2300" dirty="0">
                  <a:effectLst/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𝒎𝒂𝒙</m:t>
                    </m:r>
                    <m:sSup>
                      <m:sSupPr>
                        <m:ctrlPr>
                          <a:rPr lang="en-US" sz="23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effectLst/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300" i="1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3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+ </m:t>
                    </m:r>
                    <m:nary>
                      <m:naryPr>
                        <m:chr m:val="∑"/>
                        <m:ctrlPr>
                          <a:rPr lang="en-US" sz="2300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300" i="1"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300" i="1"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300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300" i="1">
                            <a:effectLst/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b>
                          <m:sSubPr>
                            <m:ctrlPr>
                              <a:rPr lang="en-US" sz="23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b="0" i="1"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300" b="0" i="1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en-US" sz="23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300" b="0" i="1">
                                <a:effectLst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en-US" sz="2300" b="0" i="1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sz="2300" b="0" i="1"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ctrlPr>
                              <a:rPr lang="en-US" altLang="en-US" sz="23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2300" b="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en-US" sz="2300" b="0" i="1">
                                <a:effectLst/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en-US" sz="2300" b="0" i="1"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en-US" sz="2300" b="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3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en-US" sz="23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en-US" sz="2300" b="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3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3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en-US" sz="2300" b="0" i="1">
                                <a:effectLst/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 dirty="0">
                    <a:effectLst/>
                  </a:rPr>
                  <a:t> </a:t>
                </a:r>
              </a:p>
              <a:p>
                <a:pPr marL="0" indent="0">
                  <a:buNone/>
                </a:pPr>
                <a:endParaRPr lang="en-US" sz="2300" dirty="0">
                  <a:effectLst/>
                </a:endParaRPr>
              </a:p>
              <a:p>
                <a:pPr marL="0" indent="0">
                  <a:buNone/>
                </a:pPr>
                <a:r>
                  <a:rPr lang="en-US" sz="230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300" i="1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300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300" b="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300" b="0" i="1">
                        <a:effectLst/>
                        <a:latin typeface="Cambria Math" panose="02040503050406030204" pitchFamily="18" charset="0"/>
                      </a:rPr>
                      <m:t> ≥0,  </m:t>
                    </m:r>
                    <m:r>
                      <a:rPr lang="en-US" sz="2300" b="0" i="1">
                        <a:effectLst/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300" b="0" i="1">
                        <a:effectLst/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300" b="0" i="1"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300" b="0" dirty="0">
                  <a:effectLst/>
                </a:endParaRPr>
              </a:p>
              <a:p>
                <a:pPr marL="0" indent="0">
                  <a:buNone/>
                </a:pPr>
                <a:endParaRPr lang="en-US" altLang="zh-CN" b="0" dirty="0">
                  <a:effectLst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181065" y="802708"/>
                <a:ext cx="9550580" cy="5622368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82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with Resource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27623" y="981837"/>
                <a:ext cx="9317737" cy="5876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smtClean="0">
                          <a:effectLst/>
                          <a:latin typeface="Cambria Math" panose="02040503050406030204" pitchFamily="18" charset="0"/>
                        </a:rPr>
                        <m:t>𝒎𝒂𝒙</m:t>
                      </m:r>
                      <m:r>
                        <a:rPr lang="en-US" sz="2300" i="1" smtClean="0">
                          <a:effectLst/>
                          <a:latin typeface="Cambria Math" panose="02040503050406030204" pitchFamily="18" charset="0"/>
                        </a:rPr>
                        <m:t>    3 </m:t>
                      </m:r>
                      <m:r>
                        <a:rPr lang="en-US" sz="2300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sz="2300" i="1" baseline="-25000" dirty="0">
                          <a:effectLst/>
                          <a:latin typeface="Cambria Math"/>
                        </a:rPr>
                        <m:t>1</m:t>
                      </m:r>
                      <m:r>
                        <a:rPr lang="en-US" sz="2300" i="1" dirty="0">
                          <a:effectLst/>
                          <a:latin typeface="Cambria Math"/>
                        </a:rPr>
                        <m:t>+5</m:t>
                      </m:r>
                      <m:r>
                        <a:rPr lang="en-US" sz="2300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sz="2300" i="1" baseline="-25000" dirty="0">
                          <a:effectLst/>
                          <a:latin typeface="Cambria Math"/>
                        </a:rPr>
                        <m:t>2</m:t>
                      </m:r>
                      <m:r>
                        <a:rPr lang="en-US" sz="230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  <m:t>4−</m:t>
                          </m:r>
                          <m:r>
                            <a:rPr lang="en-US" sz="2300" i="1" dirty="0">
                              <a:effectLst/>
                              <a:latin typeface="Cambria Math"/>
                            </a:rPr>
                            <m:t>𝑥</m:t>
                          </m:r>
                          <m:r>
                            <a:rPr lang="en-US" sz="2300" i="1" baseline="-25000" dirty="0">
                              <a:effectLst/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30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effectLst/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300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300" i="1" dirty="0">
                              <a:effectLst/>
                              <a:latin typeface="Cambria Math"/>
                            </a:rPr>
                            <m:t>𝑥</m:t>
                          </m:r>
                          <m:r>
                            <a:rPr lang="en-US" sz="2300" b="0" i="1" baseline="-25000" dirty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300" b="0" i="1" baseline="-25000" dirty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3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300" b="0" i="1">
                          <a:effectLst/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en-US" sz="2300" b="0" i="1">
                          <a:effectLst/>
                          <a:latin typeface="Cambria Math" panose="02040503050406030204" pitchFamily="18" charset="0"/>
                        </a:rPr>
                        <m:t>18</m:t>
                      </m:r>
                      <m:sSub>
                        <m:sSubPr>
                          <m:ctrlP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  <m:t>− (3</m:t>
                          </m:r>
                          <m: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23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3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2300" b="0" i="1">
                          <a:effectLst/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300" dirty="0">
                  <a:effectLst/>
                </a:endParaRPr>
              </a:p>
              <a:p>
                <a:r>
                  <a:rPr lang="en-US" sz="2800" dirty="0">
                    <a:effectLst/>
                  </a:rPr>
                  <a:t>Rewrite as</a:t>
                </a:r>
              </a:p>
              <a:p>
                <a:pPr marL="796925" lvl="2" indent="0">
                  <a:buNone/>
                </a:pPr>
                <a:endParaRPr lang="en-US" sz="2300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>
                          <a:effectLst/>
                          <a:latin typeface="Cambria Math" panose="02040503050406030204" pitchFamily="18" charset="0"/>
                        </a:rPr>
                        <m:t>𝒎𝒂𝒙</m:t>
                      </m:r>
                      <m:r>
                        <a:rPr lang="en-US" sz="2300" i="1">
                          <a:effectLst/>
                          <a:latin typeface="Cambria Math" panose="02040503050406030204" pitchFamily="18" charset="0"/>
                        </a:rPr>
                        <m:t>    4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300" b="0" i="1" smtClean="0">
                          <a:effectLst/>
                          <a:latin typeface="Cambria Math" panose="02040503050406030204" pitchFamily="18" charset="0"/>
                        </a:rPr>
                        <m:t>+12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300" b="0" i="1" smtClean="0">
                          <a:effectLst/>
                          <a:latin typeface="Cambria Math" panose="02040503050406030204" pitchFamily="18" charset="0"/>
                        </a:rPr>
                        <m:t>+18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300" b="1" i="1" smtClean="0">
                          <a:effectLst/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300" i="1">
                          <a:effectLst/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US" sz="2300" b="1" i="1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300" b="1" i="1" smtClean="0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300" b="0" i="1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300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sz="2300" i="1" baseline="-25000" dirty="0">
                          <a:effectLst/>
                          <a:latin typeface="Cambria Math"/>
                        </a:rPr>
                        <m:t>1</m:t>
                      </m:r>
                      <m:r>
                        <a:rPr lang="en-US" sz="2300" i="1" dirty="0">
                          <a:effectLst/>
                          <a:latin typeface="Cambria Math"/>
                        </a:rPr>
                        <m:t>+</m:t>
                      </m:r>
                      <m:r>
                        <a:rPr lang="en-US" sz="2300" b="1" i="1" dirty="0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i="1" dirty="0">
                          <a:effectLst/>
                          <a:latin typeface="Cambria Math"/>
                        </a:rPr>
                        <m:t>5</m:t>
                      </m:r>
                      <m:r>
                        <a:rPr lang="en-US" sz="23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3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300" b="0" i="1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300" b="1" i="1" dirty="0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300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sz="2300" i="1" baseline="-25000" dirty="0">
                          <a:effectLst/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sz="2300" baseline="-25000" dirty="0">
                  <a:effectLst/>
                </a:endParaRPr>
              </a:p>
              <a:p>
                <a:pPr marL="0" indent="0">
                  <a:buNone/>
                </a:pPr>
                <a:endParaRPr lang="en-US" sz="2300" baseline="-25000" dirty="0">
                  <a:effectLst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>
                        <a:effectLst/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effectLst/>
                  </a:rPr>
                  <a:t> can be interpreted as the market cost of producing product 1.</a:t>
                </a:r>
              </a:p>
              <a:p>
                <a:pPr lvl="1"/>
                <a:r>
                  <a:rPr lang="en-US" altLang="en-US" dirty="0">
                    <a:effectLst/>
                  </a:rPr>
                  <a:t>Think about the case all the resources are bought from the market</a:t>
                </a:r>
                <a:r>
                  <a:rPr lang="en-US" dirty="0">
                    <a:effectLst/>
                  </a:rPr>
                  <a:t>.</a:t>
                </a:r>
              </a:p>
              <a:p>
                <a:pPr marL="454025" lvl="1" indent="0">
                  <a:buNone/>
                </a:pPr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7623" y="981837"/>
                <a:ext cx="9317737" cy="5876163"/>
              </a:xfrm>
              <a:blipFill rotWithShape="0">
                <a:blip r:embed="rId2"/>
                <a:stretch>
                  <a:fillRect l="-111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049822" y="5483668"/>
            <a:ext cx="7034832" cy="95410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At what price should the market price the plant hours?</a:t>
            </a:r>
            <a:endParaRPr lang="en-GB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0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27623" y="981837"/>
                <a:ext cx="9317737" cy="5876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600" b="0" i="1" smtClean="0">
                          <a:effectLst/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600" b="0" i="1">
                          <a:effectLst/>
                          <a:latin typeface="Cambria Math" panose="02040503050406030204" pitchFamily="18" charset="0"/>
                        </a:rPr>
                        <m:t>+18</m:t>
                      </m:r>
                      <m:sSub>
                        <m:sSubPr>
                          <m:ctrlP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600" i="1">
                          <a:effectLst/>
                          <a:latin typeface="Cambria Math" panose="02040503050406030204" pitchFamily="18" charset="0"/>
                        </a:rPr>
                        <m:t>+(3 −</m:t>
                      </m:r>
                      <m:sSub>
                        <m:sSubPr>
                          <m:ctrlP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600" b="0" i="1"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600" b="0" i="1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600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sz="2600" i="1" baseline="-25000" dirty="0">
                          <a:effectLst/>
                          <a:latin typeface="Cambria Math"/>
                        </a:rPr>
                        <m:t>1</m:t>
                      </m:r>
                      <m:r>
                        <a:rPr lang="en-US" sz="2600" i="1" dirty="0">
                          <a:effectLst/>
                          <a:latin typeface="Cambria Math"/>
                        </a:rPr>
                        <m:t>+</m:t>
                      </m:r>
                      <m:r>
                        <a:rPr lang="en-US" sz="2600" i="1" dirty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i="1" dirty="0">
                          <a:effectLst/>
                          <a:latin typeface="Cambria Math"/>
                        </a:rPr>
                        <m:t>5</m:t>
                      </m:r>
                      <m:r>
                        <a:rPr lang="en-US" sz="26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600" b="0" i="1" smtClean="0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6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600" b="0" i="1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600" b="0" i="1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600" i="1" dirty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600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sz="2600" i="1" baseline="-25000" dirty="0">
                          <a:effectLst/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sz="2600" baseline="-25000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14:m>
                  <m:oMath xmlns:m="http://schemas.openxmlformats.org/officeDocument/2006/math">
                    <m:r>
                      <a:rPr lang="en-US" sz="3200" i="1" smtClean="0">
                        <a:effectLst/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effectLst/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>
                        <a:effectLst/>
                        <a:latin typeface="Cambria Math" panose="02040503050406030204" pitchFamily="18" charset="0"/>
                      </a:rPr>
                      <m:t>+18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: purchasing cost</a:t>
                </a:r>
              </a:p>
              <a:p>
                <a14:m>
                  <m:oMath xmlns:m="http://schemas.openxmlformats.org/officeDocument/2006/math">
                    <m:r>
                      <a:rPr lang="en-US" sz="3200" i="1">
                        <a:effectLst/>
                        <a:latin typeface="Cambria Math" panose="02040503050406030204" pitchFamily="18" charset="0"/>
                      </a:rPr>
                      <m:t>(3 −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>
                        <a:effectLst/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200" b="0" i="1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 dirty="0">
                        <a:effectLst/>
                        <a:latin typeface="Cambria Math"/>
                      </a:rPr>
                      <m:t>𝑥</m:t>
                    </m:r>
                    <m:r>
                      <a:rPr lang="en-US" sz="3200" i="1" baseline="-25000" dirty="0">
                        <a:effectLst/>
                        <a:latin typeface="Cambria Math"/>
                      </a:rPr>
                      <m:t>1</m:t>
                    </m:r>
                    <m:r>
                      <a:rPr lang="en-US" sz="3200" i="1" dirty="0">
                        <a:effectLst/>
                        <a:latin typeface="Cambria Math"/>
                      </a:rPr>
                      <m:t>+</m:t>
                    </m:r>
                    <m:r>
                      <a:rPr lang="en-US" sz="3200" i="1" dirty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effectLst/>
                        <a:latin typeface="Cambria Math"/>
                      </a:rPr>
                      <m:t>5</m:t>
                    </m:r>
                    <m:r>
                      <a:rPr lang="en-US" sz="32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>
                        <a:effectLst/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200" i="1" dirty="0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 dirty="0">
                        <a:effectLst/>
                        <a:latin typeface="Cambria Math"/>
                      </a:rPr>
                      <m:t>𝑥</m:t>
                    </m:r>
                    <m:r>
                      <a:rPr lang="en-US" sz="3200" i="1" baseline="-25000" dirty="0">
                        <a:effectLst/>
                        <a:latin typeface="Cambria Math"/>
                      </a:rPr>
                      <m:t>2</m:t>
                    </m:r>
                  </m:oMath>
                </a14:m>
                <a:r>
                  <a:rPr lang="en-US" dirty="0">
                    <a:effectLst/>
                  </a:rPr>
                  <a:t>: opportunity cost</a:t>
                </a:r>
              </a:p>
              <a:p>
                <a:endParaRPr lang="en-US" dirty="0">
                  <a:effectLst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effectLst/>
                            <a:latin typeface="Cambria Math" panose="02040503050406030204" pitchFamily="18" charset="0"/>
                          </a:rPr>
                          <m:t>𝒎𝒊𝒏</m:t>
                        </m:r>
                      </m:e>
                      <m:sub>
                        <m:sSub>
                          <m:sSubPr>
                            <m:ctrlPr>
                              <a:rPr lang="en-US" sz="28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1" i="1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b="0" i="1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>
                                <a:effectLst/>
                                <a:latin typeface="Cambria Math" panose="02040503050406030204" pitchFamily="18" charset="0"/>
                              </a:rPr>
                              <m:t>3 </m:t>
                            </m:r>
                          </m:sub>
                        </m:sSub>
                        <m:r>
                          <a:rPr lang="en-US" sz="2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  <m:r>
                          <a:rPr lang="en-US" sz="2800" b="0" i="1" smtClean="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</a:rPr>
                      <m:t>    4</m:t>
                    </m:r>
                    <m:sSub>
                      <m:sSub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>
                        <a:effectLst/>
                        <a:latin typeface="Cambria Math" panose="02040503050406030204" pitchFamily="18" charset="0"/>
                      </a:rPr>
                      <m:t>+18</m:t>
                    </m:r>
                    <m:sSub>
                      <m:sSub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</a:rPr>
                      <m:t>+(3 −</m:t>
                    </m:r>
                    <m:sSub>
                      <m:sSub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>
                        <a:effectLst/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 dirty="0">
                        <a:effectLst/>
                        <a:latin typeface="Cambria Math"/>
                      </a:rPr>
                      <m:t>𝑥</m:t>
                    </m:r>
                    <m:r>
                      <a:rPr lang="en-US" sz="2800" i="1" baseline="-25000" dirty="0">
                        <a:effectLst/>
                        <a:latin typeface="Cambria Math"/>
                      </a:rPr>
                      <m:t>1</m:t>
                    </m:r>
                    <m:r>
                      <a:rPr lang="en-US" sz="2800" i="1" dirty="0">
                        <a:effectLst/>
                        <a:latin typeface="Cambria Math"/>
                      </a:rPr>
                      <m:t>+</m:t>
                    </m:r>
                    <m:r>
                      <a:rPr lang="en-US" sz="2800" i="1" dirty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effectLst/>
                        <a:latin typeface="Cambria Math"/>
                      </a:rPr>
                      <m:t>5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>
                        <a:effectLst/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 dirty="0">
                        <a:effectLst/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 dirty="0">
                        <a:effectLst/>
                        <a:latin typeface="Cambria Math"/>
                      </a:rPr>
                      <m:t>𝑥</m:t>
                    </m:r>
                    <m:r>
                      <a:rPr lang="en-US" sz="2800" i="1" baseline="-25000" dirty="0">
                        <a:effectLst/>
                        <a:latin typeface="Cambria Math"/>
                      </a:rPr>
                      <m:t>2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800" baseline="-25000" dirty="0">
                  <a:effectLst/>
                </a:endParaRPr>
              </a:p>
              <a:p>
                <a:endParaRPr lang="en-US" dirty="0"/>
              </a:p>
              <a:p>
                <a:pPr marL="454025" lvl="1" indent="0">
                  <a:buNone/>
                </a:pPr>
                <a:endParaRPr lang="en-US" dirty="0"/>
              </a:p>
              <a:p>
                <a:pPr marL="454025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7623" y="981837"/>
                <a:ext cx="9317737" cy="5876163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7880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27623" y="981837"/>
                <a:ext cx="8988743" cy="58761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What happens if the market prices are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3 −</m:t>
                      </m:r>
                      <m:sSub>
                        <m:sSubPr>
                          <m:ctrlP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b="0" i="1" smtClean="0">
                          <a:effectLst/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3000" dirty="0">
                  <a:effectLst/>
                </a:endParaRPr>
              </a:p>
              <a:p>
                <a:pPr marL="0" indent="0">
                  <a:buNone/>
                </a:pPr>
                <a:r>
                  <a:rPr lang="en-US" sz="3000" dirty="0">
                    <a:solidFill>
                      <a:srgbClr val="FF0000"/>
                    </a:solidFill>
                    <a:effectLst/>
                  </a:rPr>
                  <a:t>In this case, there is an arbitrage opportunity, the firm would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en-US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32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3000" dirty="0">
                    <a:solidFill>
                      <a:srgbClr val="FF0000"/>
                    </a:solidFill>
                    <a:effectLst/>
                  </a:rPr>
                  <a:t>.</a:t>
                </a:r>
              </a:p>
              <a:p>
                <a:r>
                  <a:rPr lang="en-US" dirty="0">
                    <a:effectLst/>
                  </a:rPr>
                  <a:t>What happens if the market prices are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3 −</m:t>
                      </m:r>
                      <m:sSub>
                        <m:sSubPr>
                          <m:ctrlPr>
                            <a:rPr lang="en-US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en-US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FF0000"/>
                    </a:solidFill>
                    <a:effectLst/>
                  </a:rPr>
                  <a:t>In this case, there is no arbitrage opportunity in selling product 1: profit earned from arbitrage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3 −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</a:rPr>
                          <m:t>−3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effectLst/>
                  </a:rPr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4025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7623" y="981837"/>
                <a:ext cx="8988743" cy="5876163"/>
              </a:xfrm>
              <a:blipFill rotWithShape="0">
                <a:blip r:embed="rId2"/>
                <a:stretch>
                  <a:fillRect l="-1559" t="-1037" r="-54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558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27623" y="981837"/>
                <a:ext cx="9317737" cy="58761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1" i="1" smtClean="0">
                        <a:effectLst/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sz="3200" b="1" i="1" smtClean="0">
                        <a:effectLst/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sz="3200" i="1">
                        <a:effectLst/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US" sz="3200" i="1">
                        <a:effectLst/>
                        <a:latin typeface="Cambria Math" panose="02040503050406030204" pitchFamily="18" charset="0"/>
                      </a:rPr>
                      <m:t>    4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effectLst/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>
                        <a:effectLst/>
                        <a:latin typeface="Cambria Math" panose="02040503050406030204" pitchFamily="18" charset="0"/>
                      </a:rPr>
                      <m:t>+18</m:t>
                    </m:r>
                    <m:sSub>
                      <m:sSubPr>
                        <m:ctrlP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200" i="1">
                        <a:effectLst/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3200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(3 −</m:t>
                      </m:r>
                      <m:sSub>
                        <m:sSubPr>
                          <m:ctrlP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b="0" i="1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sz="3200" i="1" baseline="-25000" dirty="0">
                          <a:effectLst/>
                          <a:latin typeface="Cambria Math"/>
                        </a:rPr>
                        <m:t>1</m:t>
                      </m:r>
                      <m:r>
                        <a:rPr lang="en-US" sz="3200" i="1" dirty="0">
                          <a:effectLst/>
                          <a:latin typeface="Cambria Math"/>
                        </a:rPr>
                        <m:t>+</m:t>
                      </m:r>
                      <m:r>
                        <a:rPr lang="en-US" sz="3200" i="1" dirty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 dirty="0">
                          <a:effectLst/>
                          <a:latin typeface="Cambria Math"/>
                        </a:rPr>
                        <m:t>5</m:t>
                      </m:r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>
                          <a:effectLst/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 dirty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i="1" dirty="0">
                          <a:effectLst/>
                          <a:latin typeface="Cambria Math"/>
                        </a:rPr>
                        <m:t>𝑥</m:t>
                      </m:r>
                      <m:r>
                        <a:rPr lang="en-US" sz="3200" i="1" baseline="-25000" dirty="0">
                          <a:effectLst/>
                          <a:latin typeface="Cambria Math"/>
                        </a:rPr>
                        <m:t>2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3200" b="1" dirty="0">
                  <a:effectLst/>
                </a:endParaRPr>
              </a:p>
              <a:p>
                <a:pPr marL="0" indent="0">
                  <a:buNone/>
                </a:pPr>
                <a:endParaRPr lang="en-US" sz="3200" baseline="-25000" dirty="0"/>
              </a:p>
              <a:p>
                <a:pPr marL="0" indent="0">
                  <a:buNone/>
                </a:pPr>
                <a:endParaRPr lang="en-US" sz="3200" baseline="-25000" dirty="0"/>
              </a:p>
              <a:p>
                <a:endParaRPr lang="en-US" dirty="0"/>
              </a:p>
              <a:p>
                <a:pPr marL="454025" lvl="1" indent="0">
                  <a:buNone/>
                </a:pPr>
                <a:endParaRPr lang="en-US" dirty="0"/>
              </a:p>
              <a:p>
                <a:pPr marL="454025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7623" y="981837"/>
                <a:ext cx="9317737" cy="5876163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7463" y="3333919"/>
                <a:ext cx="4944234" cy="20621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+18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3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3" y="3333919"/>
                <a:ext cx="4944234" cy="206210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230" y="3333919"/>
            <a:ext cx="3346994" cy="2438611"/>
          </a:xfrm>
          <a:prstGeom prst="rect">
            <a:avLst/>
          </a:prstGeom>
        </p:spPr>
      </p:pic>
      <p:sp>
        <p:nvSpPr>
          <p:cNvPr id="6" name="Left-Right Arrow 5"/>
          <p:cNvSpPr/>
          <p:nvPr/>
        </p:nvSpPr>
        <p:spPr bwMode="auto">
          <a:xfrm>
            <a:off x="4489201" y="4364970"/>
            <a:ext cx="944992" cy="271766"/>
          </a:xfrm>
          <a:prstGeom prst="left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91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7622" y="981837"/>
            <a:ext cx="9144636" cy="5876163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</a:rPr>
              <a:t>We know primal solution is (2, 6) with optimal profit 36K. </a:t>
            </a:r>
          </a:p>
          <a:p>
            <a:r>
              <a:rPr lang="en-US" sz="2800" dirty="0">
                <a:effectLst/>
              </a:rPr>
              <a:t>Is (0, 1.5, 1) an optimal solution to the dual? </a:t>
            </a:r>
          </a:p>
          <a:p>
            <a:endParaRPr lang="en-US" sz="2800" baseline="-25000" dirty="0"/>
          </a:p>
          <a:p>
            <a:endParaRPr lang="en-US" dirty="0"/>
          </a:p>
          <a:p>
            <a:pPr marL="454025" lvl="1" indent="0">
              <a:buNone/>
            </a:pPr>
            <a:endParaRPr lang="en-US" dirty="0"/>
          </a:p>
          <a:p>
            <a:pPr marL="454025" lvl="1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7463" y="3333919"/>
                <a:ext cx="4944234" cy="20621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+18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3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3" y="3333919"/>
                <a:ext cx="4944234" cy="206210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230" y="3333919"/>
            <a:ext cx="3346994" cy="2438611"/>
          </a:xfrm>
          <a:prstGeom prst="rect">
            <a:avLst/>
          </a:prstGeom>
        </p:spPr>
      </p:pic>
      <p:sp>
        <p:nvSpPr>
          <p:cNvPr id="6" name="Left-Right Arrow 5"/>
          <p:cNvSpPr/>
          <p:nvPr/>
        </p:nvSpPr>
        <p:spPr bwMode="auto">
          <a:xfrm>
            <a:off x="4514372" y="4364970"/>
            <a:ext cx="944992" cy="271766"/>
          </a:xfrm>
          <a:prstGeom prst="left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699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Firm and the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-820293" y="1366965"/>
                <a:ext cx="5008245" cy="3232467"/>
              </a:xfrm>
            </p:spPr>
            <p:txBody>
              <a:bodyPr/>
              <a:lstStyle/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b="1" i="1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</a:rPr>
                  <a:t>  </a:t>
                </a:r>
                <a:endParaRPr lang="en-US" altLang="zh-CN" dirty="0">
                  <a:effectLst/>
                  <a:ea typeface="宋体" pitchFamily="2" charset="-122"/>
                </a:endParaRPr>
              </a:p>
              <a:p>
                <a:pPr marL="0" indent="0">
                  <a:buNone/>
                  <a:defRPr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820293" y="1366965"/>
                <a:ext cx="5008245" cy="3232467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3164205" y="1366964"/>
                <a:ext cx="5008245" cy="32324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2111" tIns="45324" rIns="92111" bIns="45324" numCol="1" anchor="t" anchorCtr="0" compatLnSpc="1">
                <a:prstTxWarp prst="textNoShape">
                  <a:avLst/>
                </a:prstTxWarp>
              </a:bodyPr>
              <a:lstStyle>
                <a:lvl1pPr marL="341313" indent="-34131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90015"/>
                  </a:buClr>
                  <a:buSzPct val="100000"/>
                  <a:buChar char="•"/>
                  <a:defRPr sz="2900" b="1">
                    <a:solidFill>
                      <a:srgbClr val="790015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38188" indent="-284163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Char char="­"/>
                  <a:defRPr sz="2700" b="1">
                    <a:solidFill>
                      <a:srgbClr val="00279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2pPr>
                <a:lvl3pPr marL="1138238" indent="-22860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100000"/>
                  <a:buChar char="·"/>
                  <a:defRPr sz="2400" i="1">
                    <a:solidFill>
                      <a:srgbClr val="0066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</a:defRPr>
                </a:lvl3pPr>
                <a:lvl4pPr marL="1473200" indent="-209550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>
                    <a:solidFill>
                      <a:srgbClr val="0033CC"/>
                    </a:solidFill>
                    <a:latin typeface="+mn-lt"/>
                  </a:defRPr>
                </a:lvl4pPr>
                <a:lvl5pPr marL="18954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3526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8098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2670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724275" indent="-211138" algn="l" defTabSz="909638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marL="0" indent="0">
                  <a:buFontTx/>
                  <a:buNone/>
                  <a:defRPr/>
                </a:pPr>
                <a:endParaRPr lang="en-US" altLang="zh-CN" kern="0" dirty="0">
                  <a:ea typeface="宋体" pitchFamily="2" charset="-122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/>
                  <a:t>                     </a:t>
                </a:r>
                <a14:m>
                  <m:oMath xmlns:m="http://schemas.openxmlformats.org/officeDocument/2006/math"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     </m:t>
                    </m:r>
                    <m:sSup>
                      <m:sSupPr>
                        <m:ctrlP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kern="0" smtClean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i="1" kern="0" smtClean="0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kern="0" dirty="0">
                  <a:effectLst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kern="0" smtClean="0">
                        <a:effectLst/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i="1" kern="0" dirty="0"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kern="0" dirty="0">
                    <a:effectLst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kern="0" smtClean="0">
                        <a:effectLst/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ker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kern="0" dirty="0">
                    <a:effectLst/>
                  </a:rPr>
                  <a:t>  </a:t>
                </a:r>
                <a:endParaRPr lang="en-US" altLang="zh-CN" kern="0" dirty="0">
                  <a:effectLst/>
                  <a:ea typeface="宋体" pitchFamily="2" charset="-122"/>
                </a:endParaRPr>
              </a:p>
              <a:p>
                <a:pPr marL="0" indent="0">
                  <a:buFontTx/>
                  <a:buNone/>
                  <a:defRPr/>
                </a:pPr>
                <a:endParaRPr lang="en-US" altLang="zh-CN" kern="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4205" y="1366964"/>
                <a:ext cx="5008245" cy="323246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962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518" y="1077087"/>
            <a:ext cx="8473440" cy="4791139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The primal problem: a firm seeks to maximize its profit by producing products from available resources.</a:t>
            </a:r>
          </a:p>
          <a:p>
            <a:endParaRPr lang="en-US" sz="900" dirty="0">
              <a:effectLst/>
            </a:endParaRPr>
          </a:p>
          <a:p>
            <a:endParaRPr lang="en-US" sz="900" dirty="0">
              <a:effectLst/>
            </a:endParaRPr>
          </a:p>
          <a:p>
            <a:pPr marL="0" indent="0">
              <a:buNone/>
            </a:pPr>
            <a:endParaRPr lang="en-US" sz="900" dirty="0">
              <a:effectLst/>
            </a:endParaRPr>
          </a:p>
          <a:p>
            <a:r>
              <a:rPr lang="en-US" dirty="0">
                <a:effectLst/>
              </a:rPr>
              <a:t>The dual problem: a market seeks to eliminate the arbitrage opportunities by choosing the right prices for resources.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Dual variables are also called </a:t>
            </a:r>
            <a:r>
              <a:rPr lang="en-US" i="1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shadow prices</a:t>
            </a:r>
            <a:r>
              <a:rPr lang="en-US" i="1" dirty="0">
                <a:solidFill>
                  <a:srgbClr val="FF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9079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dirty="0">
                <a:ea typeface="宋体" pitchFamily="2" charset="-122"/>
              </a:rPr>
              <a:t>    </a:t>
            </a: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</a:t>
            </a:r>
          </a:p>
          <a:p>
            <a:pPr marL="0" indent="0">
              <a:buNone/>
              <a:defRPr/>
            </a:pPr>
            <a:r>
              <a:rPr lang="en-US" altLang="zh-CN" sz="4000" dirty="0">
                <a:ea typeface="宋体" pitchFamily="2" charset="-122"/>
              </a:rPr>
              <a:t>                Sensitivity Analysis</a:t>
            </a: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  <a:p>
            <a:pPr marL="0" indent="0">
              <a:buNone/>
              <a:defRPr/>
            </a:pPr>
            <a:endParaRPr lang="en-US" altLang="zh-CN" sz="4000" dirty="0">
              <a:ea typeface="宋体" pitchFamily="2" charset="-122"/>
            </a:endParaRP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600450" y="2633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79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318" y="1058037"/>
            <a:ext cx="8473440" cy="507606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In practice, it is rarely sufficient to solve a single LP to arrive at good decisions.</a:t>
            </a:r>
          </a:p>
          <a:p>
            <a:pPr lvl="1"/>
            <a:r>
              <a:rPr lang="en-US" dirty="0">
                <a:effectLst/>
              </a:rPr>
              <a:t>The problem data may depend on some higher level decisions (strategic-level rather than operational-level)</a:t>
            </a:r>
          </a:p>
          <a:p>
            <a:pPr lvl="1"/>
            <a:r>
              <a:rPr lang="en-US" dirty="0">
                <a:effectLst/>
              </a:rPr>
              <a:t>Part of the problem data maybe controllable at an additional cost</a:t>
            </a:r>
          </a:p>
          <a:p>
            <a:pPr lvl="1"/>
            <a:r>
              <a:rPr lang="en-US" dirty="0">
                <a:effectLst/>
              </a:rPr>
              <a:t>Incomplete knowledge of problem data (randomness)</a:t>
            </a:r>
          </a:p>
        </p:txBody>
      </p:sp>
    </p:spTree>
    <p:extLst>
      <p:ext uri="{BB962C8B-B14F-4D97-AF65-F5344CB8AC3E}">
        <p14:creationId xmlns:p14="http://schemas.microsoft.com/office/powerpoint/2010/main" val="3784776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518" y="1698117"/>
            <a:ext cx="8473440" cy="3943731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Possible changes in data require sensitivity analysis.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Sensitivity analysis: “What if” analysis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We put more focus on the optimal value </a:t>
            </a:r>
          </a:p>
        </p:txBody>
      </p:sp>
    </p:spTree>
    <p:extLst>
      <p:ext uri="{BB962C8B-B14F-4D97-AF65-F5344CB8AC3E}">
        <p14:creationId xmlns:p14="http://schemas.microsoft.com/office/powerpoint/2010/main" val="1481678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Example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effectLst/>
              </a:rPr>
              <a:t>LP formulation</a:t>
            </a:r>
          </a:p>
          <a:p>
            <a:pPr marL="0" indent="0">
              <a:buNone/>
            </a:pPr>
            <a:endParaRPr lang="en-US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288381" y="2535697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381" y="2535697"/>
                <a:ext cx="4572000" cy="193899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471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Adding a Constraint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4318" y="1058037"/>
                <a:ext cx="8473440" cy="50760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What happens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if we add a constraint?</a:t>
                </a: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r>
                  <a:rPr lang="en-US" dirty="0">
                    <a:effectLst/>
                  </a:rPr>
                  <a:t>When will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not be affected by the additional constraint?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318" y="1058037"/>
                <a:ext cx="8473440" cy="5076063"/>
              </a:xfrm>
              <a:blipFill rotWithShape="0">
                <a:blip r:embed="rId2"/>
                <a:stretch>
                  <a:fillRect l="-1367" t="-1322" r="-223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281238" y="1799322"/>
                <a:ext cx="4572000" cy="230832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38" y="1799322"/>
                <a:ext cx="4572000" cy="230832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0" y="3214024"/>
            <a:ext cx="27866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/>
              <a:t>A new plant dedicated for packaging</a:t>
            </a:r>
            <a:endParaRPr lang="en-SG" dirty="0"/>
          </a:p>
        </p:txBody>
      </p:sp>
      <p:sp>
        <p:nvSpPr>
          <p:cNvPr id="7" name="Right Arrow 6"/>
          <p:cNvSpPr/>
          <p:nvPr/>
        </p:nvSpPr>
        <p:spPr bwMode="auto">
          <a:xfrm>
            <a:off x="2921225" y="3480545"/>
            <a:ext cx="655455" cy="165045"/>
          </a:xfrm>
          <a:prstGeom prst="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4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Adding a New Variable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4318" y="1058037"/>
                <a:ext cx="8473440" cy="50760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What happens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if we add a variable?</a:t>
                </a: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318" y="1058037"/>
                <a:ext cx="8473440" cy="5076063"/>
              </a:xfrm>
              <a:blipFill rotWithShape="0">
                <a:blip r:embed="rId2"/>
                <a:stretch>
                  <a:fillRect l="-1367" t="-13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06172" y="1698921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172" y="1698921"/>
                <a:ext cx="4572000" cy="1938992"/>
              </a:xfrm>
              <a:prstGeom prst="rect">
                <a:avLst/>
              </a:prstGeom>
              <a:blipFill rotWithShape="0">
                <a:blip r:embed="rId3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>
                <a:spLocks noChangeArrowheads="1"/>
              </p:cNvSpPr>
              <p:nvPr/>
            </p:nvSpPr>
            <p:spPr bwMode="auto">
              <a:xfrm>
                <a:off x="1210323" y="4359636"/>
                <a:ext cx="6154303" cy="46166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sz="2400" b="1" dirty="0">
                    <a:solidFill>
                      <a:srgbClr val="FF0000"/>
                    </a:solidFill>
                  </a:rPr>
                  <a:t>Consider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2,6,0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. Is it a BFS? </a:t>
                </a:r>
                <a:endParaRPr lang="en-GB" alt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0323" y="4359636"/>
                <a:ext cx="6154303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692" t="-7692" r="-1879" b="-28205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29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Adding a New Variable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2397" y="1058037"/>
                <a:ext cx="8889682" cy="50760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When will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remain unchanged?</a:t>
                </a:r>
              </a:p>
              <a:p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pPr lvl="1"/>
                <a:r>
                  <a:rPr lang="en-US" dirty="0">
                    <a:effectLst/>
                  </a:rPr>
                  <a:t>Compute the reduced cost for </a:t>
                </a:r>
                <a:r>
                  <a:rPr lang="en-US" dirty="0" err="1">
                    <a:effectLst/>
                  </a:rPr>
                  <a:t>nonbasic</a:t>
                </a:r>
                <a:r>
                  <a:rPr lang="en-US" dirty="0">
                    <a:effectLst/>
                  </a:rPr>
                  <a:t>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6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0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30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3000" b="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30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=(2,6,0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,2,0,0</m:t>
                    </m:r>
                    <m:r>
                      <a:rPr lang="en-US" sz="3000" b="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2397" y="1058037"/>
                <a:ext cx="8889682" cy="5076063"/>
              </a:xfrm>
              <a:blipFill rotWithShape="0">
                <a:blip r:embed="rId2"/>
                <a:stretch>
                  <a:fillRect l="-1303" t="-1322" r="-12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41018" y="1516101"/>
                <a:ext cx="5326224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          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=4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018" y="1516101"/>
                <a:ext cx="5326224" cy="1938992"/>
              </a:xfrm>
              <a:prstGeom prst="rect">
                <a:avLst/>
              </a:prstGeom>
              <a:blipFill rotWithShape="0">
                <a:blip r:embed="rId4"/>
                <a:stretch>
                  <a:fillRect b="-3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/>
          <p:cNvSpPr/>
          <p:nvPr/>
        </p:nvSpPr>
        <p:spPr bwMode="auto">
          <a:xfrm rot="10800000">
            <a:off x="6332837" y="4627603"/>
            <a:ext cx="148281" cy="345989"/>
          </a:xfrm>
          <a:prstGeom prst="down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27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Controllable Data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993" y="1600963"/>
            <a:ext cx="6165532" cy="3237738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Available resources</a:t>
            </a: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Prices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5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Change in resource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What happens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if plant 1 has one more capacity?</a:t>
                </a: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  <a:blipFill rotWithShape="0">
                <a:blip r:embed="rId2"/>
                <a:stretch>
                  <a:fillRect l="-1319" t="-13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4+1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  <a:blipFill rotWithShape="0">
                <a:blip r:embed="rId3"/>
                <a:stretch>
                  <a:fillRect b="-3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504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Change in resource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What happens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if plant 3 has one more capacity?</a:t>
                </a: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r>
                  <a:rPr lang="en-US" dirty="0">
                    <a:effectLst/>
                  </a:rPr>
                  <a:t>How about 3 more capacity?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  <a:blipFill rotWithShape="0">
                <a:blip r:embed="rId3"/>
                <a:stretch>
                  <a:fillRect l="-1319" t="-13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18+1,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  <a:blipFill rotWithShape="0">
                <a:blip r:embed="rId4"/>
                <a:stretch>
                  <a:fillRect b="-3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403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Change in resource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What happens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if plant 3 has 9 more capacity?</a:t>
                </a: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  <a:blipFill rotWithShape="0">
                <a:blip r:embed="rId2"/>
                <a:stretch>
                  <a:fillRect l="-1319" t="-13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18+9,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  <a:blipFill rotWithShape="0">
                <a:blip r:embed="rId3"/>
                <a:stretch>
                  <a:fillRect b="-3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477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with Shadow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7622" y="981837"/>
            <a:ext cx="9144636" cy="5876163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</a:rPr>
              <a:t>Shadow price for the plant constraints</a:t>
            </a:r>
            <a:endParaRPr lang="en-US" sz="2800" dirty="0">
              <a:effectLst/>
            </a:endParaRPr>
          </a:p>
          <a:p>
            <a:endParaRPr lang="en-US" sz="2800" baseline="-25000" dirty="0">
              <a:effectLst/>
            </a:endParaRPr>
          </a:p>
          <a:p>
            <a:endParaRPr lang="en-US" dirty="0">
              <a:effectLst/>
            </a:endParaRPr>
          </a:p>
          <a:p>
            <a:pPr marL="454025" lvl="1" indent="0">
              <a:buNone/>
            </a:pPr>
            <a:endParaRPr lang="en-US" dirty="0">
              <a:effectLst/>
            </a:endParaRPr>
          </a:p>
          <a:p>
            <a:pPr marL="454025" lvl="1" indent="0">
              <a:buNone/>
            </a:pPr>
            <a:endParaRPr lang="en-US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466533" y="2012479"/>
                <a:ext cx="44960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33" y="2012479"/>
                <a:ext cx="4496039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-Right Arrow 5"/>
          <p:cNvSpPr/>
          <p:nvPr/>
        </p:nvSpPr>
        <p:spPr bwMode="auto">
          <a:xfrm>
            <a:off x="5221675" y="2243311"/>
            <a:ext cx="764970" cy="166482"/>
          </a:xfrm>
          <a:prstGeom prst="left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11035" y="1703908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035" y="1703908"/>
                <a:ext cx="4572000" cy="193899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-Right Arrow 7"/>
          <p:cNvSpPr/>
          <p:nvPr/>
        </p:nvSpPr>
        <p:spPr bwMode="auto">
          <a:xfrm>
            <a:off x="5221675" y="2626226"/>
            <a:ext cx="764970" cy="166482"/>
          </a:xfrm>
          <a:prstGeom prst="left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567238" y="2440818"/>
                <a:ext cx="44960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238" y="2440818"/>
                <a:ext cx="4496039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-Right Arrow 9"/>
          <p:cNvSpPr/>
          <p:nvPr/>
        </p:nvSpPr>
        <p:spPr bwMode="auto">
          <a:xfrm>
            <a:off x="5221675" y="3014845"/>
            <a:ext cx="764970" cy="166482"/>
          </a:xfrm>
          <a:prstGeom prst="leftRightArrow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466532" y="2839607"/>
                <a:ext cx="44960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32" y="2839607"/>
                <a:ext cx="4496039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>
                <a:spLocks noChangeArrowheads="1"/>
              </p:cNvSpPr>
              <p:nvPr/>
            </p:nvSpPr>
            <p:spPr bwMode="auto">
              <a:xfrm>
                <a:off x="878783" y="4189498"/>
                <a:ext cx="7223070" cy="146655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800" dirty="0">
                    <a:solidFill>
                      <a:srgbClr val="FF0000"/>
                    </a:solidFill>
                  </a:rPr>
                  <a:t>Complementary slackness condition: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b="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800" b="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en-US" sz="2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en-US" sz="28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en-US" sz="2800" b="1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en-US" sz="28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en-US" sz="2800" b="0" i="1" dirty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800" b="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8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sz="28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en-US" sz="2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800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en-US" sz="2800" b="1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en-US" alt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en-US" sz="2800" b="1" i="1" dirty="0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en-US" sz="2800" i="1" dirty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8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sz="2800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alt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8783" y="4189498"/>
                <a:ext cx="7223070" cy="1466555"/>
              </a:xfrm>
              <a:prstGeom prst="rect">
                <a:avLst/>
              </a:prstGeom>
              <a:blipFill>
                <a:blip r:embed="rId6"/>
                <a:stretch>
                  <a:fillRect t="-3704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17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Change in Price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What happens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if the profit per batch for product 1 increases by 1K?</a:t>
                </a:r>
              </a:p>
              <a:p>
                <a:endParaRPr lang="en-US" dirty="0">
                  <a:effectLst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  <a:blipFill rotWithShape="0">
                <a:blip r:embed="rId2"/>
                <a:stretch>
                  <a:fillRect l="-1319" t="-13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(3+1)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  <a:blipFill rotWithShape="0">
                <a:blip r:embed="rId3"/>
                <a:stretch>
                  <a:fillRect b="-3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888715" y="5026227"/>
            <a:ext cx="5785670" cy="4616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rgbClr val="FF0000"/>
                </a:solidFill>
              </a:rPr>
              <a:t>At least increase by 2K.</a:t>
            </a:r>
            <a:endParaRPr lang="en-GB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556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Change in Price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317" y="1058037"/>
            <a:ext cx="8784907" cy="50760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226" y="1290266"/>
            <a:ext cx="3987973" cy="4449082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 bwMode="auto">
          <a:xfrm>
            <a:off x="2433099" y="4317558"/>
            <a:ext cx="2687541" cy="159821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-606399" y="3855893"/>
                <a:ext cx="44960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2C129C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solidFill>
                            <a:srgbClr val="2C129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2C129C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400" i="1" dirty="0">
                  <a:solidFill>
                    <a:srgbClr val="2C129C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6399" y="3855893"/>
                <a:ext cx="4496039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 bwMode="auto">
          <a:xfrm>
            <a:off x="2488758" y="4230094"/>
            <a:ext cx="2266122" cy="1781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446363" y="5867817"/>
                <a:ext cx="44960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4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363" y="5867817"/>
                <a:ext cx="4496039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889640" y="1290266"/>
            <a:ext cx="504497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dirty="0">
                <a:solidFill>
                  <a:srgbClr val="FF0000"/>
                </a:solidFill>
              </a:rPr>
              <a:t>Reduced cost changes but still all positive: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optimal solution remains unchanged and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profit increase is exactly 2K.</a:t>
            </a:r>
          </a:p>
        </p:txBody>
      </p:sp>
    </p:spTree>
    <p:extLst>
      <p:ext uri="{BB962C8B-B14F-4D97-AF65-F5344CB8AC3E}">
        <p14:creationId xmlns:p14="http://schemas.microsoft.com/office/powerpoint/2010/main" val="239107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Change in Price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</a:rPr>
                  <a:t>What happens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if the profit per batch for product 1 increases by 7K?</a:t>
                </a: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317" y="1058037"/>
                <a:ext cx="8784907" cy="5076063"/>
              </a:xfrm>
              <a:blipFill rotWithShape="0">
                <a:blip r:embed="rId2"/>
                <a:stretch>
                  <a:fillRect l="-1319" t="-13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(3+7)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18,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50" y="2274440"/>
                <a:ext cx="4572000" cy="1938992"/>
              </a:xfrm>
              <a:prstGeom prst="rect">
                <a:avLst/>
              </a:prstGeom>
              <a:blipFill rotWithShape="0">
                <a:blip r:embed="rId3"/>
                <a:stretch>
                  <a:fillRect b="-3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888715" y="5026227"/>
            <a:ext cx="5785670" cy="4616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rgbClr val="FF0000"/>
                </a:solidFill>
              </a:rPr>
              <a:t>At least increase by 14K.</a:t>
            </a:r>
            <a:endParaRPr lang="en-GB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475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Change in Price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317" y="1058037"/>
            <a:ext cx="8784907" cy="50760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226" y="1290266"/>
            <a:ext cx="3987973" cy="4449082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 bwMode="auto">
          <a:xfrm>
            <a:off x="2433099" y="4317558"/>
            <a:ext cx="2687541" cy="159821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-606399" y="3855893"/>
                <a:ext cx="44960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2C129C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2C129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solidFill>
                            <a:srgbClr val="2C129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2C129C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400" i="1" dirty="0">
                  <a:solidFill>
                    <a:srgbClr val="2C129C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6399" y="3855893"/>
                <a:ext cx="4496039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 bwMode="auto">
          <a:xfrm>
            <a:off x="2754408" y="4017246"/>
            <a:ext cx="939974" cy="185057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446363" y="5867817"/>
                <a:ext cx="44960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4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363" y="5867817"/>
                <a:ext cx="4496039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224395" y="1102741"/>
                <a:ext cx="579098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Reduced cost for the slack variable of the constraint: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≤12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becomes negative: 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solution moves away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(2,6,2,0,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Profit increase: 19K. 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395" y="1102741"/>
                <a:ext cx="5790988" cy="1200329"/>
              </a:xfrm>
              <a:prstGeom prst="rect">
                <a:avLst/>
              </a:prstGeom>
              <a:blipFill rotWithShape="0">
                <a:blip r:embed="rId5"/>
                <a:stretch>
                  <a:fillRect t="-3046" r="-737" b="-7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 bwMode="auto">
          <a:xfrm>
            <a:off x="3413200" y="2449973"/>
            <a:ext cx="939974" cy="185057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4067674" y="3352289"/>
            <a:ext cx="939974" cy="185057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28909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Sensitivity Report (Excel)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629" y="1886596"/>
            <a:ext cx="7467600" cy="268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2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Sensitivity Report (</a:t>
            </a:r>
            <a:r>
              <a:rPr lang="en-US" altLang="zh-CN" dirty="0" err="1">
                <a:ea typeface="宋体" pitchFamily="2" charset="-122"/>
              </a:rPr>
              <a:t>Gurobi</a:t>
            </a:r>
            <a:r>
              <a:rPr lang="en-US" altLang="zh-CN" dirty="0">
                <a:ea typeface="宋体" pitchFamily="2" charset="-122"/>
              </a:rPr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4022"/>
            <a:ext cx="7568518" cy="3390377"/>
          </a:xfrm>
          <a:prstGeom prst="rect">
            <a:avLst/>
          </a:prstGeom>
        </p:spPr>
      </p:pic>
      <p:sp>
        <p:nvSpPr>
          <p:cNvPr id="7" name="Rectangle 53"/>
          <p:cNvSpPr>
            <a:spLocks noChangeArrowheads="1"/>
          </p:cNvSpPr>
          <p:nvPr/>
        </p:nvSpPr>
        <p:spPr bwMode="auto">
          <a:xfrm>
            <a:off x="-693116" y="5356771"/>
            <a:ext cx="834866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275"/>
              </a:spcAft>
              <a:buClrTx/>
              <a:buFontTx/>
              <a:buNone/>
            </a:pPr>
            <a:r>
              <a:rPr lang="en-US" altLang="en-US" sz="1200" b="1" dirty="0">
                <a:solidFill>
                  <a:srgbClr val="FF3333"/>
                </a:solidFill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</a:rPr>
              <a:t>Reference: http://www.gurobi.com/documentation/8.1/refman/linear_constraint_attribut.html</a:t>
            </a:r>
          </a:p>
        </p:txBody>
      </p:sp>
    </p:spTree>
    <p:extLst>
      <p:ext uri="{BB962C8B-B14F-4D97-AF65-F5344CB8AC3E}">
        <p14:creationId xmlns:p14="http://schemas.microsoft.com/office/powerpoint/2010/main" val="643117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Tru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300"/>
  <p:tag name="DEFAULTMAGNIFICATION" val="1.5"/>
  <p:tag name="DEFAULTFONTSIZE" val="10"/>
  <p:tag name="DEFAULTWIDTH" val="394"/>
  <p:tag name="DEFAULTHEIGHT" val="338"/>
  <p:tag name="FIRSTXINCHEN@SUSY3254AVWXY596" val="2652"/>
  <p:tag name="FIRSTXIN20CHEN@ELDXLB0FUVWYY57I" val="3665"/>
</p:tagLst>
</file>

<file path=ppt/theme/theme1.xml><?xml version="1.0" encoding="utf-8"?>
<a:theme xmlns:a="http://schemas.openxmlformats.org/drawingml/2006/main" name="Lecture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ectur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ctures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s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s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Data\Microsoft\Templates\Lectures.pot</Template>
  <TotalTime>74250</TotalTime>
  <Words>2188</Words>
  <Application>Microsoft Office PowerPoint</Application>
  <PresentationFormat>On-screen Show (4:3)</PresentationFormat>
  <Paragraphs>377</Paragraphs>
  <Slides>41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宋体</vt:lpstr>
      <vt:lpstr>Comic Sans MS</vt:lpstr>
      <vt:lpstr>Cambria Math</vt:lpstr>
      <vt:lpstr>Times New Roman</vt:lpstr>
      <vt:lpstr>MS PGothic</vt:lpstr>
      <vt:lpstr>Lectures</vt:lpstr>
      <vt:lpstr>DBA5103</vt:lpstr>
      <vt:lpstr>PowerPoint Presentation</vt:lpstr>
      <vt:lpstr>Motivating Example</vt:lpstr>
      <vt:lpstr>Motivating Example</vt:lpstr>
      <vt:lpstr>Summary</vt:lpstr>
      <vt:lpstr>Duality in LP: Standard Form</vt:lpstr>
      <vt:lpstr>Duality in LP: Standard Form</vt:lpstr>
      <vt:lpstr>Variants</vt:lpstr>
      <vt:lpstr>Variants: Intuition on p≥0 </vt:lpstr>
      <vt:lpstr>General Relationship</vt:lpstr>
      <vt:lpstr>Duality Theory</vt:lpstr>
      <vt:lpstr>Duality Theory</vt:lpstr>
      <vt:lpstr>PowerPoint Presentation</vt:lpstr>
      <vt:lpstr>Production Example Revisited</vt:lpstr>
      <vt:lpstr>Production with Resource Market</vt:lpstr>
      <vt:lpstr>Production with Resource Market</vt:lpstr>
      <vt:lpstr>Production with Resource Market</vt:lpstr>
      <vt:lpstr>Market Perspective</vt:lpstr>
      <vt:lpstr>Market Perspective</vt:lpstr>
      <vt:lpstr>Market Perspective</vt:lpstr>
      <vt:lpstr>Solution</vt:lpstr>
      <vt:lpstr>Firm and the Market</vt:lpstr>
      <vt:lpstr>Summary</vt:lpstr>
      <vt:lpstr>PowerPoint Presentation</vt:lpstr>
      <vt:lpstr>Motivation</vt:lpstr>
      <vt:lpstr>Sensitivity Analysis</vt:lpstr>
      <vt:lpstr>Production Example Revisited</vt:lpstr>
      <vt:lpstr>Adding a Constraint</vt:lpstr>
      <vt:lpstr>Adding a New Variable</vt:lpstr>
      <vt:lpstr>Adding a New Variable</vt:lpstr>
      <vt:lpstr>Controllable Data Inputs</vt:lpstr>
      <vt:lpstr>Change in resource</vt:lpstr>
      <vt:lpstr>Change in resource</vt:lpstr>
      <vt:lpstr>Change in resource</vt:lpstr>
      <vt:lpstr>Relation with Shadow Price</vt:lpstr>
      <vt:lpstr>Change in Price</vt:lpstr>
      <vt:lpstr>Change in Price</vt:lpstr>
      <vt:lpstr>Change in Price</vt:lpstr>
      <vt:lpstr>Change in Price</vt:lpstr>
      <vt:lpstr>Sensitivity Report (Excel)</vt:lpstr>
      <vt:lpstr>Sensitivity Report (Gurobi)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to LP</dc:title>
  <dc:creator>Xin Chen</dc:creator>
  <cp:lastModifiedBy>Hu Zhenyu</cp:lastModifiedBy>
  <cp:revision>688</cp:revision>
  <dcterms:created xsi:type="dcterms:W3CDTF">2002-09-09T04:16:02Z</dcterms:created>
  <dcterms:modified xsi:type="dcterms:W3CDTF">2026-09-01T07:18:42Z</dcterms:modified>
</cp:coreProperties>
</file>