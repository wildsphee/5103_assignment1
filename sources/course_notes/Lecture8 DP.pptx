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9" r:id="rId1"/>
  </p:sldMasterIdLst>
  <p:notesMasterIdLst>
    <p:notesMasterId r:id="rId71"/>
  </p:notesMasterIdLst>
  <p:handoutMasterIdLst>
    <p:handoutMasterId r:id="rId72"/>
  </p:handoutMasterIdLst>
  <p:sldIdLst>
    <p:sldId id="737" r:id="rId2"/>
    <p:sldId id="257" r:id="rId3"/>
    <p:sldId id="498" r:id="rId4"/>
    <p:sldId id="594" r:id="rId5"/>
    <p:sldId id="595" r:id="rId6"/>
    <p:sldId id="731" r:id="rId7"/>
    <p:sldId id="732" r:id="rId8"/>
    <p:sldId id="535" r:id="rId9"/>
    <p:sldId id="596" r:id="rId10"/>
    <p:sldId id="588" r:id="rId11"/>
    <p:sldId id="589" r:id="rId12"/>
    <p:sldId id="591" r:id="rId13"/>
    <p:sldId id="592" r:id="rId14"/>
    <p:sldId id="593" r:id="rId15"/>
    <p:sldId id="597" r:id="rId16"/>
    <p:sldId id="598" r:id="rId17"/>
    <p:sldId id="638" r:id="rId18"/>
    <p:sldId id="639" r:id="rId19"/>
    <p:sldId id="640" r:id="rId20"/>
    <p:sldId id="599" r:id="rId21"/>
    <p:sldId id="642" r:id="rId22"/>
    <p:sldId id="641" r:id="rId23"/>
    <p:sldId id="643" r:id="rId24"/>
    <p:sldId id="644" r:id="rId25"/>
    <p:sldId id="645" r:id="rId26"/>
    <p:sldId id="688" r:id="rId27"/>
    <p:sldId id="600" r:id="rId28"/>
    <p:sldId id="656" r:id="rId29"/>
    <p:sldId id="657" r:id="rId30"/>
    <p:sldId id="686" r:id="rId31"/>
    <p:sldId id="669" r:id="rId32"/>
    <p:sldId id="670" r:id="rId33"/>
    <p:sldId id="671" r:id="rId34"/>
    <p:sldId id="672" r:id="rId35"/>
    <p:sldId id="673" r:id="rId36"/>
    <p:sldId id="674" r:id="rId37"/>
    <p:sldId id="675" r:id="rId38"/>
    <p:sldId id="676" r:id="rId39"/>
    <p:sldId id="677" r:id="rId40"/>
    <p:sldId id="678" r:id="rId41"/>
    <p:sldId id="679" r:id="rId42"/>
    <p:sldId id="680" r:id="rId43"/>
    <p:sldId id="681" r:id="rId44"/>
    <p:sldId id="660" r:id="rId45"/>
    <p:sldId id="666" r:id="rId46"/>
    <p:sldId id="667" r:id="rId47"/>
    <p:sldId id="499" r:id="rId48"/>
    <p:sldId id="689" r:id="rId49"/>
    <p:sldId id="690" r:id="rId50"/>
    <p:sldId id="718" r:id="rId51"/>
    <p:sldId id="717" r:id="rId52"/>
    <p:sldId id="719" r:id="rId53"/>
    <p:sldId id="687" r:id="rId54"/>
    <p:sldId id="691" r:id="rId55"/>
    <p:sldId id="692" r:id="rId56"/>
    <p:sldId id="693" r:id="rId57"/>
    <p:sldId id="695" r:id="rId58"/>
    <p:sldId id="720" r:id="rId59"/>
    <p:sldId id="696" r:id="rId60"/>
    <p:sldId id="697" r:id="rId61"/>
    <p:sldId id="698" r:id="rId62"/>
    <p:sldId id="722" r:id="rId63"/>
    <p:sldId id="738" r:id="rId64"/>
    <p:sldId id="739" r:id="rId65"/>
    <p:sldId id="740" r:id="rId66"/>
    <p:sldId id="741" r:id="rId67"/>
    <p:sldId id="735" r:id="rId68"/>
    <p:sldId id="733" r:id="rId69"/>
    <p:sldId id="742" r:id="rId70"/>
  </p:sldIdLst>
  <p:sldSz cx="9144000" cy="6858000" type="screen4x3"/>
  <p:notesSz cx="6858000" cy="9144000"/>
  <p:embeddedFontLst>
    <p:embeddedFont>
      <p:font typeface="宋体" panose="02010600030101010101" pitchFamily="2" charset="-122"/>
      <p:regular r:id="rId73"/>
    </p:embeddedFont>
    <p:embeddedFont>
      <p:font typeface="Cambria Math" panose="02040503050406030204" pitchFamily="18" charset="0"/>
      <p:regular r:id="rId74"/>
    </p:embeddedFont>
    <p:embeddedFont>
      <p:font typeface="Gill Sans MT" panose="020B0502020104020203" pitchFamily="34" charset="0"/>
      <p:regular r:id="rId75"/>
      <p:bold r:id="rId76"/>
      <p:italic r:id="rId77"/>
      <p:boldItalic r:id="rId78"/>
    </p:embeddedFont>
  </p:embeddedFontLst>
  <p:custDataLst>
    <p:tags r:id="rId79"/>
  </p:custDataLst>
  <p:defaultTextStyle>
    <a:defPPr>
      <a:defRPr lang="en-US"/>
    </a:defPPr>
    <a:lvl1pPr algn="ctr" rtl="0" eaLnBrk="0" fontAlgn="base" hangingPunct="0">
      <a:spcBef>
        <a:spcPct val="0"/>
      </a:spcBef>
      <a:spcAft>
        <a:spcPct val="0"/>
      </a:spcAft>
      <a:defRPr kern="1200">
        <a:solidFill>
          <a:schemeClr val="tx1"/>
        </a:solidFill>
        <a:latin typeface="Arial" charset="0"/>
        <a:ea typeface="+mn-ea"/>
        <a:cs typeface="+mn-cs"/>
      </a:defRPr>
    </a:lvl1pPr>
    <a:lvl2pPr marL="457200" algn="ctr" rtl="0" eaLnBrk="0" fontAlgn="base" hangingPunct="0">
      <a:spcBef>
        <a:spcPct val="0"/>
      </a:spcBef>
      <a:spcAft>
        <a:spcPct val="0"/>
      </a:spcAft>
      <a:defRPr kern="1200">
        <a:solidFill>
          <a:schemeClr val="tx1"/>
        </a:solidFill>
        <a:latin typeface="Arial" charset="0"/>
        <a:ea typeface="+mn-ea"/>
        <a:cs typeface="+mn-cs"/>
      </a:defRPr>
    </a:lvl2pPr>
    <a:lvl3pPr marL="914400" algn="ctr" rtl="0" eaLnBrk="0" fontAlgn="base" hangingPunct="0">
      <a:spcBef>
        <a:spcPct val="0"/>
      </a:spcBef>
      <a:spcAft>
        <a:spcPct val="0"/>
      </a:spcAft>
      <a:defRPr kern="1200">
        <a:solidFill>
          <a:schemeClr val="tx1"/>
        </a:solidFill>
        <a:latin typeface="Arial" charset="0"/>
        <a:ea typeface="+mn-ea"/>
        <a:cs typeface="+mn-cs"/>
      </a:defRPr>
    </a:lvl3pPr>
    <a:lvl4pPr marL="1371600" algn="ctr" rtl="0" eaLnBrk="0" fontAlgn="base" hangingPunct="0">
      <a:spcBef>
        <a:spcPct val="0"/>
      </a:spcBef>
      <a:spcAft>
        <a:spcPct val="0"/>
      </a:spcAft>
      <a:defRPr kern="1200">
        <a:solidFill>
          <a:schemeClr val="tx1"/>
        </a:solidFill>
        <a:latin typeface="Arial" charset="0"/>
        <a:ea typeface="+mn-ea"/>
        <a:cs typeface="+mn-cs"/>
      </a:defRPr>
    </a:lvl4pPr>
    <a:lvl5pPr marL="1828800" algn="ctr"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2C129C"/>
    <a:srgbClr val="C6D6FE"/>
    <a:srgbClr val="BACDFE"/>
    <a:srgbClr val="E9EFFF"/>
    <a:srgbClr val="FF33CC"/>
    <a:srgbClr val="FFFF00"/>
    <a:srgbClr val="A8C1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09" autoAdjust="0"/>
    <p:restoredTop sz="94125" autoAdjust="0"/>
  </p:normalViewPr>
  <p:slideViewPr>
    <p:cSldViewPr snapToGrid="0">
      <p:cViewPr varScale="1">
        <p:scale>
          <a:sx n="112" d="100"/>
          <a:sy n="112" d="100"/>
        </p:scale>
        <p:origin x="1656" y="108"/>
      </p:cViewPr>
      <p:guideLst>
        <p:guide orient="horz" pos="2160"/>
        <p:guide pos="2880"/>
      </p:guideLst>
    </p:cSldViewPr>
  </p:slideViewPr>
  <p:outlineViewPr>
    <p:cViewPr>
      <p:scale>
        <a:sx n="33" d="100"/>
        <a:sy n="33" d="100"/>
      </p:scale>
      <p:origin x="0" y="-13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Arial" pitchFamily="34" charset="0"/>
              </a:defRPr>
            </a:lvl1pPr>
          </a:lstStyle>
          <a:p>
            <a:pPr>
              <a:defRPr/>
            </a:pPr>
            <a:endParaRPr lang="en-US" altLang="zh-CN"/>
          </a:p>
        </p:txBody>
      </p:sp>
      <p:sp>
        <p:nvSpPr>
          <p:cNvPr id="1075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1075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Arial" pitchFamily="34" charset="0"/>
              </a:defRPr>
            </a:lvl1pPr>
          </a:lstStyle>
          <a:p>
            <a:pPr>
              <a:defRPr/>
            </a:pPr>
            <a:endParaRPr lang="en-US" altLang="zh-CN"/>
          </a:p>
        </p:txBody>
      </p:sp>
      <p:sp>
        <p:nvSpPr>
          <p:cNvPr id="1075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0B1C7EBB-BE00-44DC-AAA2-1213A867127A}" type="slidenum">
              <a:rPr lang="zh-CN" altLang="en-US"/>
              <a:pPr>
                <a:defRPr/>
              </a:pPr>
              <a:t>‹#›</a:t>
            </a:fld>
            <a:endParaRPr lang="en-US" altLang="zh-CN"/>
          </a:p>
        </p:txBody>
      </p:sp>
    </p:spTree>
    <p:extLst>
      <p:ext uri="{BB962C8B-B14F-4D97-AF65-F5344CB8AC3E}">
        <p14:creationId xmlns:p14="http://schemas.microsoft.com/office/powerpoint/2010/main" val="29434619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endParaRPr lang="en-US" altLang="zh-CN"/>
          </a:p>
        </p:txBody>
      </p:sp>
      <p:sp>
        <p:nvSpPr>
          <p:cNvPr id="1822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ltLang="zh-CN"/>
          </a:p>
        </p:txBody>
      </p:sp>
      <p:sp>
        <p:nvSpPr>
          <p:cNvPr id="962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22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822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ltLang="zh-CN"/>
          </a:p>
        </p:txBody>
      </p:sp>
      <p:sp>
        <p:nvSpPr>
          <p:cNvPr id="1822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itchFamily="18" charset="0"/>
              </a:defRPr>
            </a:lvl1pPr>
          </a:lstStyle>
          <a:p>
            <a:pPr>
              <a:defRPr/>
            </a:pPr>
            <a:fld id="{15696EE8-B9BB-4DC7-BDD3-AEC2C6520280}" type="slidenum">
              <a:rPr lang="zh-CN" altLang="en-US"/>
              <a:pPr>
                <a:defRPr/>
              </a:pPr>
              <a:t>‹#›</a:t>
            </a:fld>
            <a:endParaRPr lang="en-US" altLang="zh-CN"/>
          </a:p>
        </p:txBody>
      </p:sp>
    </p:spTree>
    <p:extLst>
      <p:ext uri="{BB962C8B-B14F-4D97-AF65-F5344CB8AC3E}">
        <p14:creationId xmlns:p14="http://schemas.microsoft.com/office/powerpoint/2010/main" val="40806585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471052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2</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643063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3</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62316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8</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95915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9</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60390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10</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306114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11</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61080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14</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088404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21</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950113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X 19 for</a:t>
            </a:r>
            <a:r>
              <a:rPr lang="en-US" baseline="0" dirty="0"/>
              <a:t> standard games with 9X9 for beginners</a:t>
            </a:r>
            <a:endParaRPr lang="en-SG" dirty="0"/>
          </a:p>
        </p:txBody>
      </p:sp>
      <p:sp>
        <p:nvSpPr>
          <p:cNvPr id="4" name="Slide Number Placeholder 3"/>
          <p:cNvSpPr>
            <a:spLocks noGrp="1"/>
          </p:cNvSpPr>
          <p:nvPr>
            <p:ph type="sldNum" sz="quarter" idx="10"/>
          </p:nvPr>
        </p:nvSpPr>
        <p:spPr/>
        <p:txBody>
          <a:bodyPr/>
          <a:lstStyle/>
          <a:p>
            <a:pPr>
              <a:defRPr/>
            </a:pPr>
            <a:fld id="{15696EE8-B9BB-4DC7-BDD3-AEC2C6520280}" type="slidenum">
              <a:rPr lang="zh-CN" altLang="en-US" smtClean="0"/>
              <a:pPr>
                <a:defRPr/>
              </a:pPr>
              <a:t>44</a:t>
            </a:fld>
            <a:endParaRPr lang="en-US" altLang="zh-CN"/>
          </a:p>
        </p:txBody>
      </p:sp>
    </p:spTree>
    <p:extLst>
      <p:ext uri="{BB962C8B-B14F-4D97-AF65-F5344CB8AC3E}">
        <p14:creationId xmlns:p14="http://schemas.microsoft.com/office/powerpoint/2010/main" val="3733475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47</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859833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67</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291871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68</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6353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algn="ctr" eaLnBrk="0" fontAlgn="base" hangingPunct="0">
              <a:spcBef>
                <a:spcPct val="0"/>
              </a:spcBef>
              <a:spcAft>
                <a:spcPct val="0"/>
              </a:spcAft>
              <a:defRPr>
                <a:solidFill>
                  <a:schemeClr val="tx1"/>
                </a:solidFill>
                <a:latin typeface="Arial" charset="0"/>
              </a:defRPr>
            </a:lvl6pPr>
            <a:lvl7pPr marL="2971800" indent="-228600" algn="ctr" eaLnBrk="0" fontAlgn="base" hangingPunct="0">
              <a:spcBef>
                <a:spcPct val="0"/>
              </a:spcBef>
              <a:spcAft>
                <a:spcPct val="0"/>
              </a:spcAft>
              <a:defRPr>
                <a:solidFill>
                  <a:schemeClr val="tx1"/>
                </a:solidFill>
                <a:latin typeface="Arial" charset="0"/>
              </a:defRPr>
            </a:lvl7pPr>
            <a:lvl8pPr marL="3429000" indent="-228600" algn="ctr" eaLnBrk="0" fontAlgn="base" hangingPunct="0">
              <a:spcBef>
                <a:spcPct val="0"/>
              </a:spcBef>
              <a:spcAft>
                <a:spcPct val="0"/>
              </a:spcAft>
              <a:defRPr>
                <a:solidFill>
                  <a:schemeClr val="tx1"/>
                </a:solidFill>
                <a:latin typeface="Arial" charset="0"/>
              </a:defRPr>
            </a:lvl8pPr>
            <a:lvl9pPr marL="3886200" indent="-228600" algn="ctr" eaLnBrk="0" fontAlgn="base" hangingPunct="0">
              <a:spcBef>
                <a:spcPct val="0"/>
              </a:spcBef>
              <a:spcAft>
                <a:spcPct val="0"/>
              </a:spcAft>
              <a:defRPr>
                <a:solidFill>
                  <a:schemeClr val="tx1"/>
                </a:solidFill>
                <a:latin typeface="Arial" charset="0"/>
              </a:defRPr>
            </a:lvl9pPr>
          </a:lstStyle>
          <a:p>
            <a:fld id="{28747675-4D9B-4FD2-BB5F-680B4B6DCDD7}" type="slidenum">
              <a:rPr lang="zh-CN" altLang="en-US" smtClean="0">
                <a:latin typeface="Times New Roman" pitchFamily="18" charset="0"/>
              </a:rPr>
              <a:pPr/>
              <a:t>69</a:t>
            </a:fld>
            <a:endParaRPr lang="en-US" altLang="zh-CN">
              <a:latin typeface="Times New Roman" pitchFamily="18"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167140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58673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563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738801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050" y="1060450"/>
            <a:ext cx="4478338"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788" y="1060450"/>
            <a:ext cx="4479925" cy="5472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31217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9033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73305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0088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03387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796028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2540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1650" y="9525"/>
            <a:ext cx="2278063" cy="65230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463" y="9525"/>
            <a:ext cx="6681787" cy="65230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15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463" y="9525"/>
            <a:ext cx="9099550" cy="931863"/>
          </a:xfrm>
        </p:spPr>
        <p:txBody>
          <a:bodyPr/>
          <a:lstStyle/>
          <a:p>
            <a:r>
              <a:rPr lang="en-US"/>
              <a:t>Click to edit Master title style</a:t>
            </a:r>
          </a:p>
        </p:txBody>
      </p:sp>
      <p:sp>
        <p:nvSpPr>
          <p:cNvPr id="3" name="Text Placeholder 2"/>
          <p:cNvSpPr>
            <a:spLocks noGrp="1"/>
          </p:cNvSpPr>
          <p:nvPr>
            <p:ph type="body" sz="half" idx="1"/>
          </p:nvPr>
        </p:nvSpPr>
        <p:spPr>
          <a:xfrm>
            <a:off x="19050" y="1060450"/>
            <a:ext cx="4478338"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788" y="1060450"/>
            <a:ext cx="4479925" cy="5472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187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7938" y="-1588"/>
            <a:ext cx="9129712" cy="976313"/>
          </a:xfrm>
          <a:prstGeom prst="rect">
            <a:avLst/>
          </a:prstGeom>
          <a:solidFill>
            <a:srgbClr val="0033CC"/>
          </a:solidFill>
          <a:ln w="9525">
            <a:noFill/>
            <a:miter lim="800000"/>
            <a:headEnd/>
            <a:tailEnd/>
          </a:ln>
          <a:effectLst/>
        </p:spPr>
        <p:txBody>
          <a:bodyPr wrap="none" anchor="ctr"/>
          <a:lstStyle/>
          <a:p>
            <a:pPr>
              <a:defRPr/>
            </a:pPr>
            <a:endParaRPr lang="en-US">
              <a:latin typeface="Arial" pitchFamily="34" charset="0"/>
            </a:endParaRPr>
          </a:p>
        </p:txBody>
      </p:sp>
      <p:sp>
        <p:nvSpPr>
          <p:cNvPr id="14339" name="Rectangle 3"/>
          <p:cNvSpPr>
            <a:spLocks noGrp="1" noChangeArrowheads="1"/>
          </p:cNvSpPr>
          <p:nvPr>
            <p:ph type="title"/>
          </p:nvPr>
        </p:nvSpPr>
        <p:spPr bwMode="auto">
          <a:xfrm>
            <a:off x="17463" y="9525"/>
            <a:ext cx="9099550" cy="931863"/>
          </a:xfrm>
          <a:prstGeom prst="rect">
            <a:avLst/>
          </a:prstGeom>
          <a:noFill/>
          <a:ln w="9525">
            <a:noFill/>
            <a:miter lim="800000"/>
            <a:headEnd/>
            <a:tailEnd/>
          </a:ln>
          <a:effectLst/>
        </p:spPr>
        <p:txBody>
          <a:bodyPr vert="horz" wrap="square" lIns="92111" tIns="45324" rIns="92111" bIns="45324" numCol="1" anchor="ctr" anchorCtr="0" compatLnSpc="1">
            <a:prstTxWarp prst="textNoShape">
              <a:avLst/>
            </a:prstTxWarp>
          </a:bodyPr>
          <a:lstStyle/>
          <a:p>
            <a:pPr lvl="0"/>
            <a:r>
              <a:rPr lang="en-US" altLang="zh-CN"/>
              <a:t>Title: Cap All Words, Bold, Helvetica 32, White</a:t>
            </a:r>
          </a:p>
        </p:txBody>
      </p:sp>
      <p:sp>
        <p:nvSpPr>
          <p:cNvPr id="14340" name="Rectangle 4"/>
          <p:cNvSpPr>
            <a:spLocks noGrp="1" noChangeArrowheads="1"/>
          </p:cNvSpPr>
          <p:nvPr>
            <p:ph type="body" idx="1"/>
          </p:nvPr>
        </p:nvSpPr>
        <p:spPr bwMode="auto">
          <a:xfrm>
            <a:off x="19050" y="1060450"/>
            <a:ext cx="9110663" cy="5472113"/>
          </a:xfrm>
          <a:prstGeom prst="rect">
            <a:avLst/>
          </a:prstGeom>
          <a:noFill/>
          <a:ln w="9525">
            <a:noFill/>
            <a:miter lim="800000"/>
            <a:headEnd/>
            <a:tailEnd/>
          </a:ln>
          <a:effectLst/>
        </p:spPr>
        <p:txBody>
          <a:bodyPr vert="horz" wrap="square" lIns="92111" tIns="45324" rIns="92111" bIns="45324" numCol="1" anchor="t" anchorCtr="0" compatLnSpc="1">
            <a:prstTxWarp prst="textNoShape">
              <a:avLst/>
            </a:prstTxWarp>
          </a:bodyPr>
          <a:lstStyle/>
          <a:p>
            <a:pPr lvl="0"/>
            <a:r>
              <a:rPr lang="en-US" altLang="zh-CN"/>
              <a:t>Level one: int. cap, bold, helvetica 30, maroon</a:t>
            </a:r>
          </a:p>
          <a:p>
            <a:pPr lvl="1"/>
            <a:r>
              <a:rPr lang="en-US" altLang="zh-CN"/>
              <a:t>Level two: initial cap, bold, helvetica 27, blue</a:t>
            </a:r>
          </a:p>
          <a:p>
            <a:pPr lvl="2"/>
            <a:r>
              <a:rPr lang="en-US" altLang="zh-CN"/>
              <a:t>Level three: initial cap, italics, helvetica 24, blue</a:t>
            </a:r>
          </a:p>
          <a:p>
            <a:pPr lvl="3"/>
            <a:r>
              <a:rPr lang="en-US" altLang="zh-CN"/>
              <a:t>Level four: </a:t>
            </a:r>
          </a:p>
        </p:txBody>
      </p:sp>
      <p:sp>
        <p:nvSpPr>
          <p:cNvPr id="14341" name="Line 5"/>
          <p:cNvSpPr>
            <a:spLocks noChangeShapeType="1"/>
          </p:cNvSpPr>
          <p:nvPr/>
        </p:nvSpPr>
        <p:spPr bwMode="auto">
          <a:xfrm flipV="1">
            <a:off x="0" y="6592888"/>
            <a:ext cx="8874125" cy="6350"/>
          </a:xfrm>
          <a:prstGeom prst="line">
            <a:avLst/>
          </a:prstGeom>
          <a:noFill/>
          <a:ln w="25400">
            <a:solidFill>
              <a:srgbClr val="00279F"/>
            </a:solidFill>
            <a:round/>
            <a:headEnd type="none" w="sm" len="sm"/>
            <a:tailEnd type="none" w="sm" len="sm"/>
          </a:ln>
          <a:effectLst/>
        </p:spPr>
        <p:txBody>
          <a:bodyPr wrap="none" anchor="ctr"/>
          <a:lstStyle/>
          <a:p>
            <a:pPr>
              <a:defRPr/>
            </a:pPr>
            <a:endParaRPr lang="en-US">
              <a:latin typeface="Arial" pitchFamily="34" charset="0"/>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mj-lt"/>
          <a:ea typeface="+mj-ea"/>
          <a:cs typeface="+mj-cs"/>
        </a:defRPr>
      </a:lvl1pPr>
      <a:lvl2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2pPr>
      <a:lvl3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3pPr>
      <a:lvl4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4pPr>
      <a:lvl5pPr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5pPr>
      <a:lvl6pPr marL="4572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6pPr>
      <a:lvl7pPr marL="9144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7pPr>
      <a:lvl8pPr marL="13716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8pPr>
      <a:lvl9pPr marL="1828800" algn="ctr" defTabSz="909638" rtl="0" eaLnBrk="0" fontAlgn="base" hangingPunct="0">
        <a:spcBef>
          <a:spcPct val="0"/>
        </a:spcBef>
        <a:spcAft>
          <a:spcPct val="0"/>
        </a:spcAft>
        <a:defRPr sz="3200" b="1">
          <a:solidFill>
            <a:schemeClr val="bg1"/>
          </a:solidFill>
          <a:effectLst>
            <a:outerShdw blurRad="38100" dist="38100" dir="2700000" algn="tl">
              <a:srgbClr val="C0C0C0"/>
            </a:outerShdw>
          </a:effectLst>
          <a:latin typeface="Arial" pitchFamily="34" charset="0"/>
        </a:defRPr>
      </a:lvl9pPr>
    </p:titleStyle>
    <p:bodyStyle>
      <a:lvl1pPr marL="341313" indent="-341313" algn="l" defTabSz="909638" rtl="0" eaLnBrk="0" fontAlgn="base" hangingPunct="0">
        <a:spcBef>
          <a:spcPct val="20000"/>
        </a:spcBef>
        <a:spcAft>
          <a:spcPct val="0"/>
        </a:spcAft>
        <a:buClr>
          <a:srgbClr val="790015"/>
        </a:buClr>
        <a:buSzPct val="100000"/>
        <a:buChar char="•"/>
        <a:defRPr sz="2900" b="1">
          <a:solidFill>
            <a:srgbClr val="790015"/>
          </a:solidFill>
          <a:effectLst>
            <a:outerShdw blurRad="38100" dist="38100" dir="2700000" algn="tl">
              <a:srgbClr val="C0C0C0"/>
            </a:outerShdw>
          </a:effectLst>
          <a:latin typeface="+mn-lt"/>
          <a:ea typeface="+mn-ea"/>
          <a:cs typeface="+mn-cs"/>
        </a:defRPr>
      </a:lvl1pPr>
      <a:lvl2pPr marL="738188" indent="-284163" algn="l" defTabSz="909638" rtl="0" eaLnBrk="0" fontAlgn="base" hangingPunct="0">
        <a:spcBef>
          <a:spcPct val="20000"/>
        </a:spcBef>
        <a:spcAft>
          <a:spcPct val="0"/>
        </a:spcAft>
        <a:buClr>
          <a:srgbClr val="000099"/>
        </a:buClr>
        <a:buSzPct val="100000"/>
        <a:buChar char="­"/>
        <a:defRPr sz="2700" b="1">
          <a:solidFill>
            <a:srgbClr val="00279F"/>
          </a:solidFill>
          <a:effectLst>
            <a:outerShdw blurRad="38100" dist="38100" dir="2700000" algn="tl">
              <a:srgbClr val="C0C0C0"/>
            </a:outerShdw>
          </a:effectLst>
          <a:latin typeface="+mn-lt"/>
        </a:defRPr>
      </a:lvl2pPr>
      <a:lvl3pPr marL="1138238" indent="-228600" algn="l" defTabSz="909638" rtl="0" eaLnBrk="0" fontAlgn="base" hangingPunct="0">
        <a:spcBef>
          <a:spcPct val="20000"/>
        </a:spcBef>
        <a:spcAft>
          <a:spcPct val="0"/>
        </a:spcAft>
        <a:buClr>
          <a:srgbClr val="006600"/>
        </a:buClr>
        <a:buSzPct val="100000"/>
        <a:buChar char="·"/>
        <a:defRPr sz="2400" i="1">
          <a:solidFill>
            <a:srgbClr val="006600"/>
          </a:solidFill>
          <a:effectLst>
            <a:outerShdw blurRad="38100" dist="38100" dir="2700000" algn="tl">
              <a:srgbClr val="C0C0C0"/>
            </a:outerShdw>
          </a:effectLst>
          <a:latin typeface="+mn-lt"/>
        </a:defRPr>
      </a:lvl3pPr>
      <a:lvl4pPr marL="1473200" indent="-209550" algn="l" defTabSz="909638" rtl="0" eaLnBrk="0" fontAlgn="base" hangingPunct="0">
        <a:spcBef>
          <a:spcPct val="20000"/>
        </a:spcBef>
        <a:spcAft>
          <a:spcPct val="0"/>
        </a:spcAft>
        <a:buChar char="–"/>
        <a:defRPr>
          <a:solidFill>
            <a:srgbClr val="0033CC"/>
          </a:solidFill>
          <a:latin typeface="+mn-lt"/>
        </a:defRPr>
      </a:lvl4pPr>
      <a:lvl5pPr marL="1895475" indent="-211138" algn="l" defTabSz="909638" rtl="0" eaLnBrk="0" fontAlgn="base" hangingPunct="0">
        <a:spcBef>
          <a:spcPct val="20000"/>
        </a:spcBef>
        <a:spcAft>
          <a:spcPct val="0"/>
        </a:spcAft>
        <a:buChar char="•"/>
        <a:defRPr>
          <a:solidFill>
            <a:schemeClr val="tx1"/>
          </a:solidFill>
          <a:latin typeface="Times New Roman" pitchFamily="18" charset="0"/>
        </a:defRPr>
      </a:lvl5pPr>
      <a:lvl6pPr marL="2352675" indent="-211138" algn="l" defTabSz="909638" rtl="0" eaLnBrk="0" fontAlgn="base" hangingPunct="0">
        <a:spcBef>
          <a:spcPct val="20000"/>
        </a:spcBef>
        <a:spcAft>
          <a:spcPct val="0"/>
        </a:spcAft>
        <a:buChar char="•"/>
        <a:defRPr>
          <a:solidFill>
            <a:schemeClr val="tx1"/>
          </a:solidFill>
          <a:latin typeface="Times New Roman" pitchFamily="18" charset="0"/>
        </a:defRPr>
      </a:lvl6pPr>
      <a:lvl7pPr marL="2809875" indent="-211138" algn="l" defTabSz="909638" rtl="0" eaLnBrk="0" fontAlgn="base" hangingPunct="0">
        <a:spcBef>
          <a:spcPct val="20000"/>
        </a:spcBef>
        <a:spcAft>
          <a:spcPct val="0"/>
        </a:spcAft>
        <a:buChar char="•"/>
        <a:defRPr>
          <a:solidFill>
            <a:schemeClr val="tx1"/>
          </a:solidFill>
          <a:latin typeface="Times New Roman" pitchFamily="18" charset="0"/>
        </a:defRPr>
      </a:lvl7pPr>
      <a:lvl8pPr marL="3267075" indent="-211138" algn="l" defTabSz="909638" rtl="0" eaLnBrk="0" fontAlgn="base" hangingPunct="0">
        <a:spcBef>
          <a:spcPct val="20000"/>
        </a:spcBef>
        <a:spcAft>
          <a:spcPct val="0"/>
        </a:spcAft>
        <a:buChar char="•"/>
        <a:defRPr>
          <a:solidFill>
            <a:schemeClr val="tx1"/>
          </a:solidFill>
          <a:latin typeface="Times New Roman" pitchFamily="18" charset="0"/>
        </a:defRPr>
      </a:lvl8pPr>
      <a:lvl9pPr marL="3724275" indent="-211138" algn="l" defTabSz="909638" rtl="0" eaLnBrk="0" fontAlgn="base" hangingPunct="0">
        <a:spcBef>
          <a:spcPct val="20000"/>
        </a:spcBef>
        <a:spcAft>
          <a:spcPct val="0"/>
        </a:spcAft>
        <a:buChar char="•"/>
        <a:defRPr>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6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16.png"/><Relationship Id="rId4" Type="http://schemas.openxmlformats.org/officeDocument/2006/relationships/image" Target="../media/image17.png"/><Relationship Id="rId9"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13" Type="http://schemas.openxmlformats.org/officeDocument/2006/relationships/image" Target="../media/image229.png"/><Relationship Id="rId3" Type="http://schemas.openxmlformats.org/officeDocument/2006/relationships/image" Target="../media/image52.png"/><Relationship Id="rId2" Type="http://schemas.openxmlformats.org/officeDocument/2006/relationships/image" Target="../media/image51.png"/><Relationship Id="rId16" Type="http://schemas.openxmlformats.org/officeDocument/2006/relationships/image" Target="../media/image54.png"/><Relationship Id="rId1" Type="http://schemas.openxmlformats.org/officeDocument/2006/relationships/slideLayout" Target="../slideLayouts/slideLayout2.xml"/><Relationship Id="rId15" Type="http://schemas.openxmlformats.org/officeDocument/2006/relationships/image" Target="../media/image235.png"/><Relationship Id="rId4" Type="http://schemas.openxmlformats.org/officeDocument/2006/relationships/image" Target="../media/image53.png"/><Relationship Id="rId14" Type="http://schemas.openxmlformats.org/officeDocument/2006/relationships/image" Target="../media/image2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3" Type="http://schemas.openxmlformats.org/officeDocument/2006/relationships/image" Target="../media/image175.png"/><Relationship Id="rId7" Type="http://schemas.openxmlformats.org/officeDocument/2006/relationships/image" Target="../media/image179.png"/><Relationship Id="rId12" Type="http://schemas.openxmlformats.org/officeDocument/2006/relationships/image" Target="../media/image187.png"/><Relationship Id="rId2" Type="http://schemas.openxmlformats.org/officeDocument/2006/relationships/image" Target="../media/image55.png"/><Relationship Id="rId16" Type="http://schemas.openxmlformats.org/officeDocument/2006/relationships/image" Target="../media/image194.png"/><Relationship Id="rId1" Type="http://schemas.openxmlformats.org/officeDocument/2006/relationships/slideLayout" Target="../slideLayouts/slideLayout2.xml"/><Relationship Id="rId6" Type="http://schemas.openxmlformats.org/officeDocument/2006/relationships/image" Target="../media/image178.png"/><Relationship Id="rId11" Type="http://schemas.openxmlformats.org/officeDocument/2006/relationships/image" Target="../media/image186.png"/><Relationship Id="rId15" Type="http://schemas.openxmlformats.org/officeDocument/2006/relationships/image" Target="../media/image193.png"/><Relationship Id="rId10" Type="http://schemas.openxmlformats.org/officeDocument/2006/relationships/image" Target="../media/image185.png"/><Relationship Id="rId14" Type="http://schemas.openxmlformats.org/officeDocument/2006/relationships/image" Target="../media/image189.png"/></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66.xml.rels><?xml version="1.0" encoding="UTF-8" standalone="yes"?>
<Relationships xmlns="http://schemas.openxmlformats.org/package/2006/relationships"><Relationship Id="rId7"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29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DBA5103</a:t>
            </a: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endParaRPr lang="en-US" altLang="zh-CN" dirty="0">
              <a:ea typeface="宋体" pitchFamily="2" charset="-122"/>
            </a:endParaRPr>
          </a:p>
          <a:p>
            <a:pPr marL="0" indent="0" algn="ctr">
              <a:buNone/>
              <a:defRPr/>
            </a:pPr>
            <a:r>
              <a:rPr lang="en-US" altLang="zh-CN" dirty="0">
                <a:ea typeface="宋体" pitchFamily="2" charset="-122"/>
              </a:rPr>
              <a:t> </a:t>
            </a:r>
            <a:r>
              <a:rPr lang="en-US" altLang="zh-CN" sz="2800" dirty="0">
                <a:ea typeface="宋体" pitchFamily="2" charset="-122"/>
              </a:rPr>
              <a:t>Operations Research and Analytics</a:t>
            </a:r>
            <a:endParaRPr lang="en-US" altLang="zh-CN" sz="3200" dirty="0">
              <a:ea typeface="宋体" pitchFamily="2" charset="-122"/>
            </a:endParaRPr>
          </a:p>
          <a:p>
            <a:pPr marL="0" indent="0">
              <a:buNone/>
              <a:defRPr/>
            </a:pPr>
            <a:endParaRPr lang="en-US" altLang="zh-CN" sz="3200" dirty="0">
              <a:ea typeface="宋体" pitchFamily="2" charset="-122"/>
            </a:endParaRPr>
          </a:p>
          <a:p>
            <a:pPr marL="0" indent="0" algn="ctr">
              <a:buNone/>
              <a:defRPr/>
            </a:pPr>
            <a:r>
              <a:rPr lang="en-US" altLang="zh-CN" sz="2400" dirty="0">
                <a:ea typeface="宋体" pitchFamily="2" charset="-122"/>
              </a:rPr>
              <a:t>Zhenyu Hu</a:t>
            </a:r>
          </a:p>
          <a:p>
            <a:pPr marL="0" indent="0" algn="ctr">
              <a:buNone/>
              <a:defRPr/>
            </a:pPr>
            <a:r>
              <a:rPr lang="en-US" altLang="zh-CN" sz="2400" dirty="0">
                <a:ea typeface="宋体" pitchFamily="2" charset="-122"/>
              </a:rPr>
              <a:t>Semester I, 2026/2027</a:t>
            </a: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a:spAutoFit/>
          </a:bodyPr>
          <a:lstStyle/>
          <a:p>
            <a:endParaRPr lang="en-US"/>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481" y="4108868"/>
            <a:ext cx="2971800" cy="18018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extLst>
      <p:ext uri="{BB962C8B-B14F-4D97-AF65-F5344CB8AC3E}">
        <p14:creationId xmlns:p14="http://schemas.microsoft.com/office/powerpoint/2010/main" val="1649432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Dynamic Programming</a:t>
            </a:r>
          </a:p>
        </p:txBody>
      </p:sp>
      <p:sp>
        <p:nvSpPr>
          <p:cNvPr id="109571" name="Rectangle 3"/>
          <p:cNvSpPr>
            <a:spLocks noGrp="1" noChangeArrowheads="1"/>
          </p:cNvSpPr>
          <p:nvPr>
            <p:ph type="body" idx="1"/>
          </p:nvPr>
        </p:nvSpPr>
        <p:spPr/>
        <p:txBody>
          <a:bodyPr/>
          <a:lstStyle/>
          <a:p>
            <a:pPr>
              <a:defRPr/>
            </a:pPr>
            <a:endParaRPr lang="en-US" altLang="zh-CN" dirty="0">
              <a:ea typeface="宋体" pitchFamily="2" charset="-122"/>
            </a:endParaRPr>
          </a:p>
          <a:p>
            <a:pPr>
              <a:defRPr/>
            </a:pPr>
            <a:r>
              <a:rPr lang="en-US" altLang="zh-CN" dirty="0">
                <a:ea typeface="宋体" pitchFamily="2" charset="-122"/>
              </a:rPr>
              <a:t>Overview of DP</a:t>
            </a:r>
          </a:p>
          <a:p>
            <a:pPr>
              <a:defRPr/>
            </a:pPr>
            <a:endParaRPr lang="en-US" altLang="zh-CN" dirty="0">
              <a:ea typeface="宋体" pitchFamily="2" charset="-122"/>
            </a:endParaRPr>
          </a:p>
          <a:p>
            <a:pPr>
              <a:defRPr/>
            </a:pPr>
            <a:r>
              <a:rPr lang="en-US" altLang="zh-CN" dirty="0">
                <a:ea typeface="宋体" pitchFamily="2" charset="-122"/>
              </a:rPr>
              <a:t>Deterministic DP</a:t>
            </a:r>
          </a:p>
          <a:p>
            <a:pPr>
              <a:defRPr/>
            </a:pPr>
            <a:endParaRPr lang="en-US" altLang="zh-CN" dirty="0">
              <a:ea typeface="宋体" pitchFamily="2" charset="-122"/>
            </a:endParaRPr>
          </a:p>
          <a:p>
            <a:pPr>
              <a:defRPr/>
            </a:pPr>
            <a:r>
              <a:rPr lang="en-US" altLang="zh-CN" dirty="0">
                <a:ea typeface="宋体" pitchFamily="2" charset="-122"/>
              </a:rPr>
              <a:t>Stochastic DP</a:t>
            </a: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Overview of DP</a:t>
            </a:r>
          </a:p>
          <a:p>
            <a:pPr marL="0" indent="0">
              <a:buNone/>
              <a:defRPr/>
            </a:pPr>
            <a:endParaRPr lang="en-US" altLang="zh-CN" sz="4000" dirty="0">
              <a:ea typeface="宋体" pitchFamily="2" charset="-122"/>
            </a:endParaRP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270150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AlphaGo</a:t>
            </a:r>
            <a:endParaRPr lang="en-US" dirty="0"/>
          </a:p>
        </p:txBody>
      </p:sp>
      <p:sp>
        <p:nvSpPr>
          <p:cNvPr id="5" name="Rectangle 4"/>
          <p:cNvSpPr/>
          <p:nvPr/>
        </p:nvSpPr>
        <p:spPr>
          <a:xfrm>
            <a:off x="-581312" y="6340005"/>
            <a:ext cx="10120409" cy="276999"/>
          </a:xfrm>
          <a:prstGeom prst="rect">
            <a:avLst/>
          </a:prstGeom>
        </p:spPr>
        <p:txBody>
          <a:bodyPr wrap="square">
            <a:spAutoFit/>
          </a:bodyPr>
          <a:lstStyle/>
          <a:p>
            <a:r>
              <a:rPr lang="en-SG" sz="1200" dirty="0"/>
              <a:t>Source: https://qz.com/993147/the-awful-frustration-of-a-teenage-go-champion-playing-googles-alphago/</a:t>
            </a:r>
          </a:p>
        </p:txBody>
      </p:sp>
      <p:pic>
        <p:nvPicPr>
          <p:cNvPr id="2" name="Picture 1"/>
          <p:cNvPicPr>
            <a:picLocks noChangeAspect="1"/>
          </p:cNvPicPr>
          <p:nvPr/>
        </p:nvPicPr>
        <p:blipFill>
          <a:blip r:embed="rId2"/>
          <a:stretch>
            <a:fillRect/>
          </a:stretch>
        </p:blipFill>
        <p:spPr>
          <a:xfrm>
            <a:off x="1974" y="996992"/>
            <a:ext cx="9135848" cy="5163867"/>
          </a:xfrm>
          <a:prstGeom prst="rect">
            <a:avLst/>
          </a:prstGeom>
        </p:spPr>
      </p:pic>
    </p:spTree>
    <p:extLst>
      <p:ext uri="{BB962C8B-B14F-4D97-AF65-F5344CB8AC3E}">
        <p14:creationId xmlns:p14="http://schemas.microsoft.com/office/powerpoint/2010/main" val="1486195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AlphaGo</a:t>
            </a:r>
            <a:endParaRPr lang="en-US" dirty="0"/>
          </a:p>
        </p:txBody>
      </p:sp>
      <p:pic>
        <p:nvPicPr>
          <p:cNvPr id="2" name="Picture 1"/>
          <p:cNvPicPr>
            <a:picLocks noChangeAspect="1"/>
          </p:cNvPicPr>
          <p:nvPr/>
        </p:nvPicPr>
        <p:blipFill>
          <a:blip r:embed="rId2"/>
          <a:stretch>
            <a:fillRect/>
          </a:stretch>
        </p:blipFill>
        <p:spPr>
          <a:xfrm>
            <a:off x="0" y="1057865"/>
            <a:ext cx="3971757" cy="5219338"/>
          </a:xfrm>
          <a:prstGeom prst="rect">
            <a:avLst/>
          </a:prstGeom>
        </p:spPr>
      </p:pic>
      <p:pic>
        <p:nvPicPr>
          <p:cNvPr id="4" name="Picture 3"/>
          <p:cNvPicPr>
            <a:picLocks noChangeAspect="1"/>
          </p:cNvPicPr>
          <p:nvPr/>
        </p:nvPicPr>
        <p:blipFill>
          <a:blip r:embed="rId3"/>
          <a:stretch>
            <a:fillRect/>
          </a:stretch>
        </p:blipFill>
        <p:spPr>
          <a:xfrm>
            <a:off x="3971757" y="2048646"/>
            <a:ext cx="5174152" cy="2813738"/>
          </a:xfrm>
          <a:prstGeom prst="rect">
            <a:avLst/>
          </a:prstGeom>
        </p:spPr>
      </p:pic>
    </p:spTree>
    <p:extLst>
      <p:ext uri="{BB962C8B-B14F-4D97-AF65-F5344CB8AC3E}">
        <p14:creationId xmlns:p14="http://schemas.microsoft.com/office/powerpoint/2010/main" val="704709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OpenAI</a:t>
            </a:r>
            <a:endParaRPr lang="en-US" dirty="0"/>
          </a:p>
        </p:txBody>
      </p:sp>
      <p:pic>
        <p:nvPicPr>
          <p:cNvPr id="1026" name="Picture 2" descr="https://i.amz.mshcdn.com/YHKQo5XYyjGfARi3fz0tHpTs9ds=/1200x627/https%3A%2F%2Fblueprint-api-production.s3.amazonaws.com%2Fuploads%2Fstory%2Fthumbnail%2F54412%2Fe2ba5f84-fd84-424b-8c37-999baa6c24e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827" y="3851119"/>
            <a:ext cx="5105912" cy="26678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open ai dota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9553" y="982484"/>
            <a:ext cx="5047186" cy="28429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0" y="972209"/>
            <a:ext cx="4038254" cy="5551877"/>
          </a:xfrm>
          <a:prstGeom prst="rect">
            <a:avLst/>
          </a:prstGeom>
        </p:spPr>
      </p:pic>
      <p:sp>
        <p:nvSpPr>
          <p:cNvPr id="8" name="Rectangle 7"/>
          <p:cNvSpPr/>
          <p:nvPr/>
        </p:nvSpPr>
        <p:spPr>
          <a:xfrm>
            <a:off x="-581312" y="6586584"/>
            <a:ext cx="10120409" cy="276999"/>
          </a:xfrm>
          <a:prstGeom prst="rect">
            <a:avLst/>
          </a:prstGeom>
        </p:spPr>
        <p:txBody>
          <a:bodyPr wrap="square">
            <a:spAutoFit/>
          </a:bodyPr>
          <a:lstStyle/>
          <a:p>
            <a:r>
              <a:rPr lang="en-SG" sz="1200" dirty="0"/>
              <a:t>Source: https://blog.openai.com/dota-2/</a:t>
            </a:r>
          </a:p>
        </p:txBody>
      </p:sp>
    </p:spTree>
    <p:extLst>
      <p:ext uri="{BB962C8B-B14F-4D97-AF65-F5344CB8AC3E}">
        <p14:creationId xmlns:p14="http://schemas.microsoft.com/office/powerpoint/2010/main" val="379425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OpenAI</a:t>
            </a:r>
            <a:endParaRPr lang="en-US" dirty="0"/>
          </a:p>
        </p:txBody>
      </p:sp>
      <p:sp>
        <p:nvSpPr>
          <p:cNvPr id="8" name="Rectangle 7"/>
          <p:cNvSpPr/>
          <p:nvPr/>
        </p:nvSpPr>
        <p:spPr>
          <a:xfrm>
            <a:off x="-581312" y="6586584"/>
            <a:ext cx="10120409" cy="276999"/>
          </a:xfrm>
          <a:prstGeom prst="rect">
            <a:avLst/>
          </a:prstGeom>
        </p:spPr>
        <p:txBody>
          <a:bodyPr wrap="square">
            <a:spAutoFit/>
          </a:bodyPr>
          <a:lstStyle/>
          <a:p>
            <a:r>
              <a:rPr lang="en-SG" sz="1200" dirty="0"/>
              <a:t>Source: https://openai.com/blog/the-international-2018-results/</a:t>
            </a:r>
          </a:p>
        </p:txBody>
      </p:sp>
      <p:pic>
        <p:nvPicPr>
          <p:cNvPr id="4" name="Picture 3"/>
          <p:cNvPicPr>
            <a:picLocks noChangeAspect="1"/>
          </p:cNvPicPr>
          <p:nvPr/>
        </p:nvPicPr>
        <p:blipFill>
          <a:blip r:embed="rId2"/>
          <a:stretch>
            <a:fillRect/>
          </a:stretch>
        </p:blipFill>
        <p:spPr>
          <a:xfrm>
            <a:off x="388124" y="1055264"/>
            <a:ext cx="8098034" cy="5440353"/>
          </a:xfrm>
          <a:prstGeom prst="rect">
            <a:avLst/>
          </a:prstGeom>
        </p:spPr>
      </p:pic>
    </p:spTree>
    <p:extLst>
      <p:ext uri="{BB962C8B-B14F-4D97-AF65-F5344CB8AC3E}">
        <p14:creationId xmlns:p14="http://schemas.microsoft.com/office/powerpoint/2010/main" val="3993364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Deterministic vs. Stochastic DP</a:t>
            </a:r>
          </a:p>
        </p:txBody>
      </p:sp>
      <p:sp>
        <p:nvSpPr>
          <p:cNvPr id="109571" name="Rectangle 3"/>
          <p:cNvSpPr>
            <a:spLocks noGrp="1" noChangeArrowheads="1"/>
          </p:cNvSpPr>
          <p:nvPr>
            <p:ph type="body" idx="1"/>
          </p:nvPr>
        </p:nvSpPr>
        <p:spPr>
          <a:xfrm>
            <a:off x="33337" y="941388"/>
            <a:ext cx="9110663" cy="5472113"/>
          </a:xfrm>
        </p:spPr>
        <p:txBody>
          <a:bodyPr/>
          <a:lstStyle/>
          <a:p>
            <a:pPr>
              <a:defRPr/>
            </a:pPr>
            <a:endParaRPr lang="en-US" altLang="zh-CN" dirty="0">
              <a:ea typeface="宋体" pitchFamily="2" charset="-122"/>
            </a:endParaRPr>
          </a:p>
          <a:p>
            <a:pPr>
              <a:defRPr/>
            </a:pPr>
            <a:r>
              <a:rPr lang="en-US" altLang="zh-CN" dirty="0">
                <a:effectLst/>
                <a:ea typeface="宋体" pitchFamily="2" charset="-122"/>
              </a:rPr>
              <a:t>Deterministic</a:t>
            </a:r>
          </a:p>
          <a:p>
            <a:pPr lvl="1">
              <a:defRPr/>
            </a:pPr>
            <a:r>
              <a:rPr lang="en-US" altLang="zh-CN" dirty="0">
                <a:effectLst/>
                <a:ea typeface="宋体" pitchFamily="2" charset="-122"/>
              </a:rPr>
              <a:t>Used as a computational tool as well as modeling tool to various problems</a:t>
            </a:r>
          </a:p>
          <a:p>
            <a:pPr lvl="1">
              <a:defRPr/>
            </a:pPr>
            <a:r>
              <a:rPr lang="en-US" altLang="zh-CN" dirty="0">
                <a:effectLst/>
                <a:ea typeface="宋体" pitchFamily="2" charset="-122"/>
              </a:rPr>
              <a:t>All solutions can be determined beforehand</a:t>
            </a:r>
          </a:p>
          <a:p>
            <a:pPr>
              <a:defRPr/>
            </a:pPr>
            <a:r>
              <a:rPr lang="en-US" altLang="zh-CN" dirty="0">
                <a:effectLst/>
                <a:ea typeface="宋体" pitchFamily="2" charset="-122"/>
              </a:rPr>
              <a:t>Stochastic DP</a:t>
            </a:r>
          </a:p>
          <a:p>
            <a:pPr lvl="1">
              <a:defRPr/>
            </a:pPr>
            <a:r>
              <a:rPr lang="en-US" altLang="zh-CN" dirty="0">
                <a:effectLst/>
                <a:ea typeface="宋体" pitchFamily="2" charset="-122"/>
              </a:rPr>
              <a:t>Commonly used to model sequential decision problems</a:t>
            </a:r>
          </a:p>
          <a:p>
            <a:pPr lvl="1">
              <a:defRPr/>
            </a:pPr>
            <a:r>
              <a:rPr lang="en-US" altLang="zh-CN" dirty="0">
                <a:effectLst/>
                <a:ea typeface="宋体" pitchFamily="2" charset="-122"/>
              </a:rPr>
              <a:t>Solutions are determined sequentially as the randomness realize</a:t>
            </a:r>
          </a:p>
          <a:p>
            <a:pPr lvl="1">
              <a:defRPr/>
            </a:pPr>
            <a:endParaRPr lang="en-US" altLang="zh-CN"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1682301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Deterministic DP</a:t>
            </a:r>
          </a:p>
          <a:p>
            <a:pPr marL="0" indent="0">
              <a:buNone/>
              <a:defRPr/>
            </a:pPr>
            <a:endParaRPr lang="en-US" altLang="zh-CN" sz="4000" dirty="0">
              <a:ea typeface="宋体" pitchFamily="2" charset="-122"/>
            </a:endParaRP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265028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A Computational Point of View</a:t>
            </a:r>
          </a:p>
        </p:txBody>
      </p:sp>
      <mc:AlternateContent xmlns:mc="http://schemas.openxmlformats.org/markup-compatibility/2006" xmlns:a14="http://schemas.microsoft.com/office/drawing/2010/main">
        <mc:Choice Requires="a14">
          <p:sp>
            <p:nvSpPr>
              <p:cNvPr id="109571" name="Rectangle 3"/>
              <p:cNvSpPr>
                <a:spLocks noGrp="1" noChangeArrowheads="1"/>
              </p:cNvSpPr>
              <p:nvPr>
                <p:ph type="body" idx="1"/>
              </p:nvPr>
            </p:nvSpPr>
            <p:spPr>
              <a:xfrm>
                <a:off x="33337" y="941388"/>
                <a:ext cx="9110663" cy="5472113"/>
              </a:xfrm>
            </p:spPr>
            <p:txBody>
              <a:bodyPr/>
              <a:lstStyle/>
              <a:p>
                <a:pPr>
                  <a:defRPr/>
                </a:pPr>
                <a:endParaRPr lang="en-US" altLang="zh-CN" dirty="0">
                  <a:ea typeface="宋体" pitchFamily="2" charset="-122"/>
                </a:endParaRPr>
              </a:p>
              <a:p>
                <a:pPr>
                  <a:defRPr/>
                </a:pPr>
                <a:r>
                  <a:rPr lang="en-US" altLang="zh-CN" dirty="0">
                    <a:effectLst/>
                    <a:ea typeface="宋体" pitchFamily="2" charset="-122"/>
                  </a:rPr>
                  <a:t>Fibonacci Numbers</a:t>
                </a:r>
              </a:p>
              <a:p>
                <a:pPr>
                  <a:defRPr/>
                </a:pPr>
                <a:endParaRPr lang="en-US" altLang="zh-CN" dirty="0">
                  <a:effectLst/>
                  <a:ea typeface="宋体" pitchFamily="2" charset="-122"/>
                </a:endParaRPr>
              </a:p>
              <a:p>
                <a:pPr>
                  <a:defRPr/>
                </a:pPr>
                <a:endParaRPr lang="en-US" altLang="zh-CN" dirty="0">
                  <a:effectLst/>
                  <a:ea typeface="宋体" pitchFamily="2" charset="-122"/>
                </a:endParaRPr>
              </a:p>
              <a:p>
                <a:pPr>
                  <a:defRPr/>
                </a:pPr>
                <a:r>
                  <a:rPr lang="en-US" altLang="zh-CN" dirty="0">
                    <a:effectLst/>
                    <a:ea typeface="宋体" pitchFamily="2" charset="-122"/>
                  </a:rPr>
                  <a:t>In general</a:t>
                </a:r>
              </a:p>
              <a:p>
                <a:pPr lvl="1">
                  <a:defRPr/>
                </a:pPr>
                <a14:m>
                  <m:oMath xmlns:m="http://schemas.openxmlformats.org/officeDocument/2006/math">
                    <m:sSub>
                      <m:sSubPr>
                        <m:ctrlPr>
                          <a:rPr lang="en-US" altLang="en-US" sz="2400" b="1" i="1" smtClean="0">
                            <a:effectLst/>
                            <a:latin typeface="Cambria Math" panose="02040503050406030204" pitchFamily="18" charset="0"/>
                          </a:rPr>
                        </m:ctrlPr>
                      </m:sSubPr>
                      <m:e>
                        <m:r>
                          <a:rPr lang="en-US" altLang="en-US" sz="2400" b="1" i="1" smtClean="0">
                            <a:effectLst/>
                            <a:latin typeface="Cambria Math" panose="02040503050406030204" pitchFamily="18" charset="0"/>
                          </a:rPr>
                          <m:t>𝑭</m:t>
                        </m:r>
                      </m:e>
                      <m:sub>
                        <m:r>
                          <a:rPr lang="en-US" altLang="en-US" sz="2400" b="1" i="1" smtClean="0">
                            <a:effectLst/>
                            <a:latin typeface="Cambria Math" panose="02040503050406030204" pitchFamily="18" charset="0"/>
                          </a:rPr>
                          <m:t>𝒏</m:t>
                        </m:r>
                      </m:sub>
                    </m:sSub>
                    <m:r>
                      <a:rPr lang="en-US" altLang="en-US" sz="2400" b="1" i="1" smtClean="0">
                        <a:effectLst/>
                        <a:latin typeface="Cambria Math" panose="02040503050406030204" pitchFamily="18" charset="0"/>
                      </a:rPr>
                      <m:t>=</m:t>
                    </m:r>
                    <m:sSub>
                      <m:sSubPr>
                        <m:ctrlPr>
                          <a:rPr lang="en-US" altLang="en-US" sz="2400" b="1" i="1" smtClean="0">
                            <a:effectLst/>
                            <a:latin typeface="Cambria Math" panose="02040503050406030204" pitchFamily="18" charset="0"/>
                          </a:rPr>
                        </m:ctrlPr>
                      </m:sSubPr>
                      <m:e>
                        <m:r>
                          <a:rPr lang="en-US" altLang="en-US" sz="2400" b="1" i="1" smtClean="0">
                            <a:effectLst/>
                            <a:latin typeface="Cambria Math" panose="02040503050406030204" pitchFamily="18" charset="0"/>
                          </a:rPr>
                          <m:t>𝑭</m:t>
                        </m:r>
                      </m:e>
                      <m:sub>
                        <m:r>
                          <a:rPr lang="en-US" altLang="en-US" sz="2400" b="1" i="1" smtClean="0">
                            <a:effectLst/>
                            <a:latin typeface="Cambria Math" panose="02040503050406030204" pitchFamily="18" charset="0"/>
                          </a:rPr>
                          <m:t>𝒏</m:t>
                        </m:r>
                        <m:r>
                          <a:rPr lang="en-US" altLang="en-US" sz="2400" b="1" i="1" smtClean="0">
                            <a:effectLst/>
                            <a:latin typeface="Cambria Math" panose="02040503050406030204" pitchFamily="18" charset="0"/>
                          </a:rPr>
                          <m:t>−</m:t>
                        </m:r>
                        <m:r>
                          <a:rPr lang="en-US" altLang="en-US" sz="2400" b="1" i="1" smtClean="0">
                            <a:effectLst/>
                            <a:latin typeface="Cambria Math" panose="02040503050406030204" pitchFamily="18" charset="0"/>
                          </a:rPr>
                          <m:t>𝟏</m:t>
                        </m:r>
                      </m:sub>
                    </m:sSub>
                    <m:r>
                      <a:rPr lang="en-US" altLang="en-US" sz="2400" b="1" i="1" smtClean="0">
                        <a:effectLst/>
                        <a:latin typeface="Cambria Math" panose="02040503050406030204" pitchFamily="18" charset="0"/>
                      </a:rPr>
                      <m:t>+</m:t>
                    </m:r>
                    <m:sSub>
                      <m:sSubPr>
                        <m:ctrlPr>
                          <a:rPr lang="en-US" altLang="en-US" sz="2400" b="1" i="1" smtClean="0">
                            <a:effectLst/>
                            <a:latin typeface="Cambria Math" panose="02040503050406030204" pitchFamily="18" charset="0"/>
                          </a:rPr>
                        </m:ctrlPr>
                      </m:sSubPr>
                      <m:e>
                        <m:r>
                          <a:rPr lang="en-US" altLang="en-US" sz="2400" b="1" i="1" smtClean="0">
                            <a:effectLst/>
                            <a:latin typeface="Cambria Math" panose="02040503050406030204" pitchFamily="18" charset="0"/>
                          </a:rPr>
                          <m:t>𝑭</m:t>
                        </m:r>
                      </m:e>
                      <m:sub>
                        <m:r>
                          <a:rPr lang="en-US" altLang="en-US" sz="2400" b="1" i="1" smtClean="0">
                            <a:effectLst/>
                            <a:latin typeface="Cambria Math" panose="02040503050406030204" pitchFamily="18" charset="0"/>
                          </a:rPr>
                          <m:t>𝒏</m:t>
                        </m:r>
                        <m:r>
                          <a:rPr lang="en-US" altLang="en-US" sz="2400" b="1" i="1" smtClean="0">
                            <a:effectLst/>
                            <a:latin typeface="Cambria Math" panose="02040503050406030204" pitchFamily="18" charset="0"/>
                          </a:rPr>
                          <m:t>−</m:t>
                        </m:r>
                        <m:r>
                          <a:rPr lang="en-US" altLang="en-US" sz="2400" b="1" i="1" smtClean="0">
                            <a:effectLst/>
                            <a:latin typeface="Cambria Math" panose="02040503050406030204" pitchFamily="18" charset="0"/>
                          </a:rPr>
                          <m:t>𝟐</m:t>
                        </m:r>
                      </m:sub>
                    </m:sSub>
                    <m:r>
                      <a:rPr lang="en-US" altLang="en-US" sz="2400" i="1">
                        <a:effectLst/>
                        <a:latin typeface="Cambria Math" panose="02040503050406030204" pitchFamily="18" charset="0"/>
                      </a:rPr>
                      <m:t> </m:t>
                    </m:r>
                  </m:oMath>
                </a14:m>
                <a:r>
                  <a:rPr lang="en-US" altLang="zh-CN" dirty="0">
                    <a:effectLst/>
                    <a:ea typeface="宋体" pitchFamily="2" charset="-122"/>
                  </a:rPr>
                  <a:t> </a:t>
                </a:r>
              </a:p>
              <a:p>
                <a:pPr lvl="1">
                  <a:defRPr/>
                </a:pPr>
                <a14:m>
                  <m:oMath xmlns:m="http://schemas.openxmlformats.org/officeDocument/2006/math">
                    <m:sSub>
                      <m:sSubPr>
                        <m:ctrlPr>
                          <a:rPr lang="en-US" altLang="en-US" sz="2400" i="1">
                            <a:effectLst/>
                            <a:latin typeface="Cambria Math" panose="02040503050406030204" pitchFamily="18" charset="0"/>
                          </a:rPr>
                        </m:ctrlPr>
                      </m:sSubPr>
                      <m:e>
                        <m:r>
                          <a:rPr lang="en-US" altLang="en-US" sz="2400" i="1">
                            <a:effectLst/>
                            <a:latin typeface="Cambria Math" panose="02040503050406030204" pitchFamily="18" charset="0"/>
                          </a:rPr>
                          <m:t>𝑭</m:t>
                        </m:r>
                      </m:e>
                      <m:sub>
                        <m:r>
                          <a:rPr lang="en-US" altLang="en-US" sz="2400" b="1" i="1" smtClean="0">
                            <a:effectLst/>
                            <a:latin typeface="Cambria Math" panose="02040503050406030204" pitchFamily="18" charset="0"/>
                          </a:rPr>
                          <m:t>𝟎</m:t>
                        </m:r>
                      </m:sub>
                    </m:sSub>
                    <m:r>
                      <a:rPr lang="en-US" altLang="en-US" sz="2400" b="1" i="1" smtClean="0">
                        <a:effectLst/>
                        <a:latin typeface="Cambria Math" panose="02040503050406030204" pitchFamily="18" charset="0"/>
                      </a:rPr>
                      <m:t>=</m:t>
                    </m:r>
                    <m:r>
                      <a:rPr lang="en-US" altLang="en-US" sz="2400" b="1" i="1" smtClean="0">
                        <a:effectLst/>
                        <a:latin typeface="Cambria Math" panose="02040503050406030204" pitchFamily="18" charset="0"/>
                      </a:rPr>
                      <m:t>𝟎</m:t>
                    </m:r>
                    <m:r>
                      <a:rPr lang="en-US" altLang="en-US" sz="2400" b="1" i="1" smtClean="0">
                        <a:effectLst/>
                        <a:latin typeface="Cambria Math" panose="02040503050406030204" pitchFamily="18" charset="0"/>
                      </a:rPr>
                      <m:t>, </m:t>
                    </m:r>
                    <m:sSub>
                      <m:sSubPr>
                        <m:ctrlPr>
                          <a:rPr lang="en-US" altLang="en-US" sz="2400" b="1" i="1" smtClean="0">
                            <a:effectLst/>
                            <a:latin typeface="Cambria Math" panose="02040503050406030204" pitchFamily="18" charset="0"/>
                          </a:rPr>
                        </m:ctrlPr>
                      </m:sSubPr>
                      <m:e>
                        <m:r>
                          <a:rPr lang="en-US" altLang="en-US" sz="2400" b="1" i="1" smtClean="0">
                            <a:effectLst/>
                            <a:latin typeface="Cambria Math" panose="02040503050406030204" pitchFamily="18" charset="0"/>
                          </a:rPr>
                          <m:t>𝑭</m:t>
                        </m:r>
                      </m:e>
                      <m:sub>
                        <m:r>
                          <a:rPr lang="en-US" altLang="en-US" sz="2400" b="1" i="1" smtClean="0">
                            <a:effectLst/>
                            <a:latin typeface="Cambria Math" panose="02040503050406030204" pitchFamily="18" charset="0"/>
                          </a:rPr>
                          <m:t>𝟏</m:t>
                        </m:r>
                      </m:sub>
                    </m:sSub>
                    <m:r>
                      <a:rPr lang="en-US" altLang="en-US" sz="2400" b="1" i="1" smtClean="0">
                        <a:effectLst/>
                        <a:latin typeface="Cambria Math" panose="02040503050406030204" pitchFamily="18" charset="0"/>
                      </a:rPr>
                      <m:t>=</m:t>
                    </m:r>
                    <m:r>
                      <a:rPr lang="en-US" altLang="en-US" sz="2400" b="1" i="1" smtClean="0">
                        <a:effectLst/>
                        <a:latin typeface="Cambria Math" panose="02040503050406030204" pitchFamily="18" charset="0"/>
                      </a:rPr>
                      <m:t>𝟏</m:t>
                    </m:r>
                    <m:r>
                      <a:rPr lang="en-US" altLang="en-US" sz="2400" b="1" i="1" smtClean="0">
                        <a:effectLst/>
                        <a:latin typeface="Cambria Math" panose="02040503050406030204" pitchFamily="18" charset="0"/>
                      </a:rPr>
                      <m:t>.</m:t>
                    </m:r>
                  </m:oMath>
                </a14:m>
                <a:endParaRPr lang="en-US" altLang="zh-CN" sz="2400" i="1" dirty="0">
                  <a:effectLst/>
                  <a:latin typeface="Cambria Math" panose="02040503050406030204" pitchFamily="18" charset="0"/>
                </a:endParaRPr>
              </a:p>
            </p:txBody>
          </p:sp>
        </mc:Choice>
        <mc:Fallback xmlns="">
          <p:sp>
            <p:nvSpPr>
              <p:cNvPr id="109571" name="Rectangle 3"/>
              <p:cNvSpPr>
                <a:spLocks noGrp="1" noRot="1" noChangeAspect="1" noMove="1" noResize="1" noEditPoints="1" noAdjustHandles="1" noChangeArrowheads="1" noChangeShapeType="1" noTextEdit="1"/>
              </p:cNvSpPr>
              <p:nvPr>
                <p:ph type="body" idx="1"/>
              </p:nvPr>
            </p:nvSpPr>
            <p:spPr>
              <a:xfrm>
                <a:off x="33337" y="941388"/>
                <a:ext cx="9110663" cy="5472113"/>
              </a:xfrm>
              <a:blipFill rotWithShape="0">
                <a:blip r:embed="rId3"/>
                <a:stretch>
                  <a:fillRect l="-1204"/>
                </a:stretch>
              </a:blipFill>
            </p:spPr>
            <p:txBody>
              <a:bodyPr/>
              <a:lstStyle/>
              <a:p>
                <a:r>
                  <a:rPr lang="en-SG">
                    <a:noFill/>
                  </a:rPr>
                  <a:t> </a:t>
                </a:r>
              </a:p>
            </p:txBody>
          </p:sp>
        </mc:Fallback>
      </mc:AlternateContent>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mc:AlternateContent xmlns:mc="http://schemas.openxmlformats.org/markup-compatibility/2006" xmlns:a14="http://schemas.microsoft.com/office/drawing/2010/main">
        <mc:Choice Requires="a14">
          <p:sp>
            <p:nvSpPr>
              <p:cNvPr id="2" name="Rectangle 1"/>
              <p:cNvSpPr/>
              <p:nvPr/>
            </p:nvSpPr>
            <p:spPr>
              <a:xfrm>
                <a:off x="1107159" y="2280504"/>
                <a:ext cx="6621698" cy="523220"/>
              </a:xfrm>
              <a:prstGeom prst="rect">
                <a:avLst/>
              </a:prstGeom>
            </p:spPr>
            <p:txBody>
              <a:bodyPr wrap="square">
                <a:spAutoFit/>
              </a:bodyPr>
              <a:lstStyle/>
              <a:p>
                <a:pPr/>
                <a14:m>
                  <m:oMathPara xmlns:m="http://schemas.openxmlformats.org/officeDocument/2006/math">
                    <m:oMath>
                      <m:r>
                        <a:rPr lang="en-US" altLang="en-US" sz="2800" b="1" i="1" smtClean="0">
                          <a:latin typeface="Cambria Math" panose="02040503050406030204" pitchFamily="18" charset="0"/>
                        </a:rPr>
                        <m:t>𝟎</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𝟏</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𝟏</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𝟐</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𝟑</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𝟓</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𝟖</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𝟏𝟑</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𝟐𝟏</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𝟑𝟒</m:t>
                      </m:r>
                      <m:r>
                        <a:rPr lang="en-US" altLang="en-US" sz="2800" b="1" i="1" smtClean="0">
                          <a:latin typeface="Cambria Math" panose="02040503050406030204" pitchFamily="18" charset="0"/>
                        </a:rPr>
                        <m:t>, </m:t>
                      </m:r>
                      <m:r>
                        <a:rPr lang="en-US" altLang="en-US" sz="2800" b="1" i="1" smtClean="0">
                          <a:latin typeface="Cambria Math" panose="02040503050406030204" pitchFamily="18" charset="0"/>
                        </a:rPr>
                        <m:t>𝟓𝟓</m:t>
                      </m:r>
                      <m:r>
                        <a:rPr lang="en-US" altLang="en-US" sz="2800" b="1" i="1" smtClean="0">
                          <a:latin typeface="Cambria Math" panose="02040503050406030204" pitchFamily="18" charset="0"/>
                        </a:rPr>
                        <m:t>, …</m:t>
                      </m:r>
                    </m:oMath>
                  </m:oMathPara>
                </a14:m>
                <a:endParaRPr lang="en-US" altLang="en-US" sz="2800" dirty="0"/>
              </a:p>
            </p:txBody>
          </p:sp>
        </mc:Choice>
        <mc:Fallback xmlns="">
          <p:sp>
            <p:nvSpPr>
              <p:cNvPr id="2" name="Rectangle 1"/>
              <p:cNvSpPr>
                <a:spLocks noRot="1" noChangeAspect="1" noMove="1" noResize="1" noEditPoints="1" noAdjustHandles="1" noChangeArrowheads="1" noChangeShapeType="1" noTextEdit="1"/>
              </p:cNvSpPr>
              <p:nvPr/>
            </p:nvSpPr>
            <p:spPr>
              <a:xfrm>
                <a:off x="1107159" y="2280504"/>
                <a:ext cx="6621698" cy="523220"/>
              </a:xfrm>
              <a:prstGeom prst="rect">
                <a:avLst/>
              </a:prstGeom>
              <a:blipFill rotWithShape="0">
                <a:blip r:embed="rId5"/>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493596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A Computational Point of View</a:t>
            </a:r>
          </a:p>
        </p:txBody>
      </p:sp>
      <p:sp>
        <p:nvSpPr>
          <p:cNvPr id="109571" name="Rectangle 3"/>
          <p:cNvSpPr>
            <a:spLocks noGrp="1" noChangeArrowheads="1"/>
          </p:cNvSpPr>
          <p:nvPr>
            <p:ph type="body" idx="1"/>
          </p:nvPr>
        </p:nvSpPr>
        <p:spPr>
          <a:xfrm>
            <a:off x="33337" y="941388"/>
            <a:ext cx="9110663" cy="5472113"/>
          </a:xfrm>
        </p:spPr>
        <p:txBody>
          <a:bodyPr/>
          <a:lstStyle/>
          <a:p>
            <a:pPr>
              <a:defRPr/>
            </a:pPr>
            <a:endParaRPr lang="en-US" altLang="zh-CN" dirty="0">
              <a:ea typeface="宋体" pitchFamily="2" charset="-122"/>
            </a:endParaRPr>
          </a:p>
          <a:p>
            <a:pPr>
              <a:defRPr/>
            </a:pPr>
            <a:r>
              <a:rPr lang="en-US" altLang="zh-CN" dirty="0">
                <a:effectLst/>
                <a:ea typeface="宋体" pitchFamily="2" charset="-122"/>
              </a:rPr>
              <a:t>Algorithm 1</a:t>
            </a:r>
          </a:p>
          <a:p>
            <a:pPr>
              <a:defRPr/>
            </a:pPr>
            <a:endParaRPr lang="en-US" altLang="zh-CN" dirty="0">
              <a:effectLst/>
              <a:ea typeface="宋体" pitchFamily="2" charset="-122"/>
            </a:endParaRPr>
          </a:p>
          <a:p>
            <a:pPr>
              <a:defRPr/>
            </a:pPr>
            <a:endParaRPr lang="en-US" altLang="zh-CN" dirty="0">
              <a:effectLst/>
              <a:ea typeface="宋体" pitchFamily="2" charset="-122"/>
            </a:endParaRPr>
          </a:p>
          <a:p>
            <a:pPr marL="0" indent="0">
              <a:buNone/>
              <a:defRPr/>
            </a:pPr>
            <a:endParaRPr lang="en-US" altLang="zh-CN" dirty="0">
              <a:effectLst/>
              <a:ea typeface="宋体" pitchFamily="2" charset="-122"/>
            </a:endParaRPr>
          </a:p>
          <a:p>
            <a:pPr>
              <a:defRPr/>
            </a:pPr>
            <a:r>
              <a:rPr lang="en-US" altLang="zh-CN" dirty="0">
                <a:effectLst/>
                <a:ea typeface="宋体" pitchFamily="2" charset="-122"/>
              </a:rPr>
              <a:t>Algorithm 2</a:t>
            </a:r>
          </a:p>
          <a:p>
            <a:pPr>
              <a:defRPr/>
            </a:pPr>
            <a:endParaRPr lang="en-US" altLang="zh-CN" sz="2400" i="1" dirty="0">
              <a:latin typeface="Cambria Math" panose="02040503050406030204" pitchFamily="18" charset="0"/>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pic>
        <p:nvPicPr>
          <p:cNvPr id="3" name="Picture 2"/>
          <p:cNvPicPr>
            <a:picLocks noChangeAspect="1"/>
          </p:cNvPicPr>
          <p:nvPr/>
        </p:nvPicPr>
        <p:blipFill>
          <a:blip r:embed="rId3"/>
          <a:stretch>
            <a:fillRect/>
          </a:stretch>
        </p:blipFill>
        <p:spPr>
          <a:xfrm>
            <a:off x="1691595" y="1992766"/>
            <a:ext cx="4977720" cy="1556791"/>
          </a:xfrm>
          <a:prstGeom prst="rect">
            <a:avLst/>
          </a:prstGeom>
        </p:spPr>
      </p:pic>
      <p:pic>
        <p:nvPicPr>
          <p:cNvPr id="4" name="Picture 3"/>
          <p:cNvPicPr>
            <a:picLocks noChangeAspect="1"/>
          </p:cNvPicPr>
          <p:nvPr/>
        </p:nvPicPr>
        <p:blipFill>
          <a:blip r:embed="rId4"/>
          <a:stretch>
            <a:fillRect/>
          </a:stretch>
        </p:blipFill>
        <p:spPr>
          <a:xfrm>
            <a:off x="1691595" y="4197189"/>
            <a:ext cx="3655786" cy="1782839"/>
          </a:xfrm>
          <a:prstGeom prst="rect">
            <a:avLst/>
          </a:prstGeom>
        </p:spPr>
      </p:pic>
    </p:spTree>
    <p:extLst>
      <p:ext uri="{BB962C8B-B14F-4D97-AF65-F5344CB8AC3E}">
        <p14:creationId xmlns:p14="http://schemas.microsoft.com/office/powerpoint/2010/main" val="462862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458" name="Title 1"/>
              <p:cNvSpPr>
                <a:spLocks noGrp="1"/>
              </p:cNvSpPr>
              <p:nvPr>
                <p:ph type="title"/>
              </p:nvPr>
            </p:nvSpPr>
            <p:spPr/>
            <p:txBody>
              <a:bodyPr/>
              <a:lstStyle/>
              <a:p>
                <a:r>
                  <a:rPr lang="en-US" altLang="en-US" dirty="0"/>
                  <a:t>First Algorithm: Tree View </a:t>
                </a:r>
                <a14:m>
                  <m:oMath xmlns:m="http://schemas.openxmlformats.org/officeDocument/2006/math">
                    <m:r>
                      <a:rPr lang="en-US" altLang="en-US" b="0" i="1">
                        <a:latin typeface="Cambria Math" panose="02040503050406030204" pitchFamily="18" charset="0"/>
                      </a:rPr>
                      <m:t>𝑛</m:t>
                    </m:r>
                    <m:r>
                      <a:rPr lang="en-US" altLang="en-US" b="0" i="1">
                        <a:latin typeface="Cambria Math" panose="02040503050406030204" pitchFamily="18" charset="0"/>
                      </a:rPr>
                      <m:t>=5</m:t>
                    </m:r>
                  </m:oMath>
                </a14:m>
                <a:r>
                  <a:rPr lang="en-US" altLang="en-US" dirty="0"/>
                  <a:t> </a:t>
                </a:r>
                <a:endParaRPr lang="en-GB" altLang="en-US" dirty="0"/>
              </a:p>
            </p:txBody>
          </p:sp>
        </mc:Choice>
        <mc:Fallback xmlns="">
          <p:sp>
            <p:nvSpPr>
              <p:cNvPr id="19458" name="Title 1"/>
              <p:cNvSpPr>
                <a:spLocks noGrp="1" noRot="1" noChangeAspect="1" noMove="1" noResize="1" noEditPoints="1" noAdjustHandles="1" noChangeArrowheads="1" noChangeShapeType="1" noTextEdit="1"/>
              </p:cNvSpPr>
              <p:nvPr>
                <p:ph type="title"/>
              </p:nvPr>
            </p:nvSpPr>
            <p:spPr>
              <a:blipFill rotWithShape="0">
                <a:blip r:embed="rId3"/>
                <a:stretch>
                  <a:fillRect b="-7237"/>
                </a:stretch>
              </a:blipFill>
            </p:spPr>
            <p:txBody>
              <a:bodyPr/>
              <a:lstStyle/>
              <a:p>
                <a:r>
                  <a:rPr lang="en-SG">
                    <a:noFill/>
                  </a:rPr>
                  <a:t> </a:t>
                </a:r>
              </a:p>
            </p:txBody>
          </p:sp>
        </mc:Fallback>
      </mc:AlternateContent>
      <p:sp>
        <p:nvSpPr>
          <p:cNvPr id="7" name="Oval 6"/>
          <p:cNvSpPr/>
          <p:nvPr/>
        </p:nvSpPr>
        <p:spPr>
          <a:xfrm>
            <a:off x="3681343" y="1058862"/>
            <a:ext cx="571500" cy="5618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5</a:t>
            </a:r>
            <a:endParaRPr lang="en-GB" dirty="0">
              <a:solidFill>
                <a:srgbClr val="FFFFFF"/>
              </a:solidFill>
            </a:endParaRPr>
          </a:p>
        </p:txBody>
      </p:sp>
      <p:sp>
        <p:nvSpPr>
          <p:cNvPr id="10" name="Oval 9"/>
          <p:cNvSpPr/>
          <p:nvPr/>
        </p:nvSpPr>
        <p:spPr>
          <a:xfrm>
            <a:off x="1976840" y="2057960"/>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4</a:t>
            </a:r>
            <a:endParaRPr lang="en-GB" dirty="0">
              <a:solidFill>
                <a:srgbClr val="FFFFFF"/>
              </a:solidFill>
            </a:endParaRPr>
          </a:p>
        </p:txBody>
      </p:sp>
      <p:sp>
        <p:nvSpPr>
          <p:cNvPr id="11" name="Oval 10"/>
          <p:cNvSpPr/>
          <p:nvPr/>
        </p:nvSpPr>
        <p:spPr>
          <a:xfrm>
            <a:off x="1102236" y="3285940"/>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3</a:t>
            </a:r>
            <a:endParaRPr lang="en-GB" dirty="0">
              <a:solidFill>
                <a:srgbClr val="FFFFFF"/>
              </a:solidFill>
            </a:endParaRPr>
          </a:p>
        </p:txBody>
      </p:sp>
      <p:cxnSp>
        <p:nvCxnSpPr>
          <p:cNvPr id="14" name="Straight Arrow Connector 13"/>
          <p:cNvCxnSpPr>
            <a:stCxn id="7" idx="5"/>
            <a:endCxn id="170" idx="1"/>
          </p:cNvCxnSpPr>
          <p:nvPr/>
        </p:nvCxnSpPr>
        <p:spPr>
          <a:xfrm>
            <a:off x="4169149" y="1538470"/>
            <a:ext cx="1437966" cy="5806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10" idx="7"/>
          </p:cNvCxnSpPr>
          <p:nvPr/>
        </p:nvCxnSpPr>
        <p:spPr>
          <a:xfrm flipH="1">
            <a:off x="2464646" y="1538470"/>
            <a:ext cx="1300391" cy="603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3"/>
            <a:endCxn id="11" idx="7"/>
          </p:cNvCxnSpPr>
          <p:nvPr/>
        </p:nvCxnSpPr>
        <p:spPr>
          <a:xfrm flipH="1">
            <a:off x="1590042" y="2545766"/>
            <a:ext cx="470492" cy="8238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5"/>
            <a:endCxn id="120" idx="1"/>
          </p:cNvCxnSpPr>
          <p:nvPr/>
        </p:nvCxnSpPr>
        <p:spPr>
          <a:xfrm>
            <a:off x="2464646" y="2545766"/>
            <a:ext cx="495048" cy="8433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557342" y="4411822"/>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51" name="Straight Arrow Connector 50"/>
          <p:cNvCxnSpPr>
            <a:stCxn id="11" idx="3"/>
            <a:endCxn id="50" idx="0"/>
          </p:cNvCxnSpPr>
          <p:nvPr/>
        </p:nvCxnSpPr>
        <p:spPr>
          <a:xfrm flipH="1">
            <a:off x="829789" y="3773746"/>
            <a:ext cx="356141" cy="6380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0" idx="5"/>
            <a:endCxn id="110" idx="0"/>
          </p:cNvCxnSpPr>
          <p:nvPr/>
        </p:nvCxnSpPr>
        <p:spPr>
          <a:xfrm>
            <a:off x="1022438" y="4880187"/>
            <a:ext cx="163492" cy="523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TextBox 37"/>
          <p:cNvSpPr txBox="1">
            <a:spLocks noChangeArrowheads="1"/>
          </p:cNvSpPr>
          <p:nvPr/>
        </p:nvSpPr>
        <p:spPr bwMode="auto">
          <a:xfrm>
            <a:off x="5149976" y="5713676"/>
            <a:ext cx="3550372" cy="369332"/>
          </a:xfrm>
          <a:prstGeom prst="rect">
            <a:avLst/>
          </a:prstGeom>
          <a:solidFill>
            <a:schemeClr val="bg1"/>
          </a:solidFill>
          <a:ln>
            <a:solidFill>
              <a:schemeClr val="accent1"/>
            </a:solid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7 times of summation operations</a:t>
            </a:r>
            <a:endParaRPr lang="en-GB" altLang="en-US" dirty="0"/>
          </a:p>
        </p:txBody>
      </p:sp>
      <p:sp>
        <p:nvSpPr>
          <p:cNvPr id="110" name="Oval 109"/>
          <p:cNvSpPr/>
          <p:nvPr/>
        </p:nvSpPr>
        <p:spPr>
          <a:xfrm>
            <a:off x="900180" y="5403323"/>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0</a:t>
            </a:r>
            <a:endParaRPr lang="en-GB" dirty="0">
              <a:solidFill>
                <a:srgbClr val="FFFFFF"/>
              </a:solidFill>
            </a:endParaRPr>
          </a:p>
        </p:txBody>
      </p:sp>
      <p:sp>
        <p:nvSpPr>
          <p:cNvPr id="113" name="Oval 112"/>
          <p:cNvSpPr/>
          <p:nvPr/>
        </p:nvSpPr>
        <p:spPr>
          <a:xfrm>
            <a:off x="153465" y="5413945"/>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1</a:t>
            </a:r>
            <a:endParaRPr lang="en-GB" dirty="0">
              <a:solidFill>
                <a:srgbClr val="FFFFFF"/>
              </a:solidFill>
            </a:endParaRPr>
          </a:p>
        </p:txBody>
      </p:sp>
      <p:cxnSp>
        <p:nvCxnSpPr>
          <p:cNvPr id="116" name="Straight Arrow Connector 115"/>
          <p:cNvCxnSpPr>
            <a:stCxn id="50" idx="3"/>
            <a:endCxn id="113" idx="0"/>
          </p:cNvCxnSpPr>
          <p:nvPr/>
        </p:nvCxnSpPr>
        <p:spPr>
          <a:xfrm flipH="1">
            <a:off x="439215" y="4880187"/>
            <a:ext cx="197925" cy="533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0" name="Oval 119"/>
          <p:cNvSpPr/>
          <p:nvPr/>
        </p:nvSpPr>
        <p:spPr>
          <a:xfrm>
            <a:off x="2879896" y="3308716"/>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121" name="Straight Arrow Connector 120"/>
          <p:cNvCxnSpPr>
            <a:stCxn id="120" idx="5"/>
            <a:endCxn id="122" idx="0"/>
          </p:cNvCxnSpPr>
          <p:nvPr/>
        </p:nvCxnSpPr>
        <p:spPr>
          <a:xfrm>
            <a:off x="3344992" y="3777081"/>
            <a:ext cx="186202" cy="5846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2" name="Oval 121"/>
          <p:cNvSpPr/>
          <p:nvPr/>
        </p:nvSpPr>
        <p:spPr>
          <a:xfrm>
            <a:off x="3245444" y="436173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0</a:t>
            </a:r>
            <a:endParaRPr lang="en-GB" dirty="0">
              <a:solidFill>
                <a:srgbClr val="FFFFFF"/>
              </a:solidFill>
            </a:endParaRPr>
          </a:p>
        </p:txBody>
      </p:sp>
      <p:sp>
        <p:nvSpPr>
          <p:cNvPr id="123" name="Oval 122"/>
          <p:cNvSpPr/>
          <p:nvPr/>
        </p:nvSpPr>
        <p:spPr>
          <a:xfrm>
            <a:off x="2474015" y="436173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24" name="Straight Arrow Connector 123"/>
          <p:cNvCxnSpPr>
            <a:stCxn id="120" idx="3"/>
            <a:endCxn id="123" idx="0"/>
          </p:cNvCxnSpPr>
          <p:nvPr/>
        </p:nvCxnSpPr>
        <p:spPr>
          <a:xfrm flipH="1">
            <a:off x="2759765" y="3777081"/>
            <a:ext cx="199929" cy="5846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6" name="Oval 165"/>
          <p:cNvSpPr/>
          <p:nvPr/>
        </p:nvSpPr>
        <p:spPr>
          <a:xfrm>
            <a:off x="1590042" y="437137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67" name="Straight Arrow Connector 166"/>
          <p:cNvCxnSpPr>
            <a:stCxn id="11" idx="5"/>
            <a:endCxn id="166" idx="0"/>
          </p:cNvCxnSpPr>
          <p:nvPr/>
        </p:nvCxnSpPr>
        <p:spPr>
          <a:xfrm>
            <a:off x="1590042" y="3773746"/>
            <a:ext cx="285750" cy="5976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0" name="Oval 169"/>
          <p:cNvSpPr/>
          <p:nvPr/>
        </p:nvSpPr>
        <p:spPr>
          <a:xfrm>
            <a:off x="5523421" y="2035432"/>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3</a:t>
            </a:r>
            <a:endParaRPr lang="en-GB" dirty="0">
              <a:solidFill>
                <a:srgbClr val="FFFFFF"/>
              </a:solidFill>
            </a:endParaRPr>
          </a:p>
        </p:txBody>
      </p:sp>
      <p:sp>
        <p:nvSpPr>
          <p:cNvPr id="171" name="Oval 170"/>
          <p:cNvSpPr/>
          <p:nvPr/>
        </p:nvSpPr>
        <p:spPr>
          <a:xfrm>
            <a:off x="4807138" y="3338920"/>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172" name="Straight Arrow Connector 171"/>
          <p:cNvCxnSpPr>
            <a:stCxn id="170" idx="3"/>
            <a:endCxn id="171" idx="0"/>
          </p:cNvCxnSpPr>
          <p:nvPr/>
        </p:nvCxnSpPr>
        <p:spPr>
          <a:xfrm flipH="1">
            <a:off x="5079585" y="2523238"/>
            <a:ext cx="527530" cy="8156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71" idx="5"/>
            <a:endCxn id="174" idx="0"/>
          </p:cNvCxnSpPr>
          <p:nvPr/>
        </p:nvCxnSpPr>
        <p:spPr>
          <a:xfrm>
            <a:off x="5272234" y="3807285"/>
            <a:ext cx="163492" cy="523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4" name="Oval 173"/>
          <p:cNvSpPr/>
          <p:nvPr/>
        </p:nvSpPr>
        <p:spPr>
          <a:xfrm>
            <a:off x="5149976" y="4330421"/>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0</a:t>
            </a:r>
            <a:endParaRPr lang="en-GB" dirty="0">
              <a:solidFill>
                <a:srgbClr val="FFFFFF"/>
              </a:solidFill>
            </a:endParaRPr>
          </a:p>
        </p:txBody>
      </p:sp>
      <p:sp>
        <p:nvSpPr>
          <p:cNvPr id="175" name="Oval 174"/>
          <p:cNvSpPr/>
          <p:nvPr/>
        </p:nvSpPr>
        <p:spPr>
          <a:xfrm>
            <a:off x="4403261" y="4341043"/>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76" name="Straight Arrow Connector 175"/>
          <p:cNvCxnSpPr>
            <a:stCxn id="171" idx="3"/>
            <a:endCxn id="175" idx="0"/>
          </p:cNvCxnSpPr>
          <p:nvPr/>
        </p:nvCxnSpPr>
        <p:spPr>
          <a:xfrm flipH="1">
            <a:off x="4689011" y="3807285"/>
            <a:ext cx="197925" cy="533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7" name="Oval 176"/>
          <p:cNvSpPr/>
          <p:nvPr/>
        </p:nvSpPr>
        <p:spPr>
          <a:xfrm>
            <a:off x="6303532" y="3316144"/>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78" name="Straight Arrow Connector 177"/>
          <p:cNvCxnSpPr>
            <a:stCxn id="170" idx="5"/>
            <a:endCxn id="177" idx="0"/>
          </p:cNvCxnSpPr>
          <p:nvPr/>
        </p:nvCxnSpPr>
        <p:spPr>
          <a:xfrm>
            <a:off x="6011227" y="2523238"/>
            <a:ext cx="578055" cy="7929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100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458" name="Title 1"/>
              <p:cNvSpPr>
                <a:spLocks noGrp="1"/>
              </p:cNvSpPr>
              <p:nvPr>
                <p:ph type="title"/>
              </p:nvPr>
            </p:nvSpPr>
            <p:spPr/>
            <p:txBody>
              <a:bodyPr/>
              <a:lstStyle/>
              <a:p>
                <a:r>
                  <a:rPr lang="en-US" altLang="en-US" dirty="0"/>
                  <a:t>Second Algorithm: Tree View </a:t>
                </a:r>
                <a14:m>
                  <m:oMath xmlns:m="http://schemas.openxmlformats.org/officeDocument/2006/math">
                    <m:r>
                      <a:rPr lang="en-US" altLang="en-US" b="0" i="1">
                        <a:latin typeface="Cambria Math" panose="02040503050406030204" pitchFamily="18" charset="0"/>
                      </a:rPr>
                      <m:t>𝑛</m:t>
                    </m:r>
                    <m:r>
                      <a:rPr lang="en-US" altLang="en-US" b="0" i="1">
                        <a:latin typeface="Cambria Math" panose="02040503050406030204" pitchFamily="18" charset="0"/>
                      </a:rPr>
                      <m:t>=5</m:t>
                    </m:r>
                  </m:oMath>
                </a14:m>
                <a:r>
                  <a:rPr lang="en-US" altLang="en-US" dirty="0"/>
                  <a:t> </a:t>
                </a:r>
                <a:endParaRPr lang="en-GB" altLang="en-US" dirty="0"/>
              </a:p>
            </p:txBody>
          </p:sp>
        </mc:Choice>
        <mc:Fallback xmlns="">
          <p:sp>
            <p:nvSpPr>
              <p:cNvPr id="19458" name="Title 1"/>
              <p:cNvSpPr>
                <a:spLocks noGrp="1" noRot="1" noChangeAspect="1" noMove="1" noResize="1" noEditPoints="1" noAdjustHandles="1" noChangeArrowheads="1" noChangeShapeType="1" noTextEdit="1"/>
              </p:cNvSpPr>
              <p:nvPr>
                <p:ph type="title"/>
              </p:nvPr>
            </p:nvSpPr>
            <p:spPr>
              <a:blipFill rotWithShape="0">
                <a:blip r:embed="rId2"/>
                <a:stretch>
                  <a:fillRect b="-7237"/>
                </a:stretch>
              </a:blipFill>
            </p:spPr>
            <p:txBody>
              <a:bodyPr/>
              <a:lstStyle/>
              <a:p>
                <a:r>
                  <a:rPr lang="en-SG">
                    <a:noFill/>
                  </a:rPr>
                  <a:t> </a:t>
                </a:r>
              </a:p>
            </p:txBody>
          </p:sp>
        </mc:Fallback>
      </mc:AlternateContent>
      <p:sp>
        <p:nvSpPr>
          <p:cNvPr id="7" name="Oval 6"/>
          <p:cNvSpPr/>
          <p:nvPr/>
        </p:nvSpPr>
        <p:spPr>
          <a:xfrm>
            <a:off x="3681343" y="1058862"/>
            <a:ext cx="571500" cy="5618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5</a:t>
            </a:r>
            <a:endParaRPr lang="en-GB" dirty="0">
              <a:solidFill>
                <a:srgbClr val="FFFFFF"/>
              </a:solidFill>
            </a:endParaRPr>
          </a:p>
        </p:txBody>
      </p:sp>
      <p:sp>
        <p:nvSpPr>
          <p:cNvPr id="10" name="Oval 9"/>
          <p:cNvSpPr/>
          <p:nvPr/>
        </p:nvSpPr>
        <p:spPr>
          <a:xfrm>
            <a:off x="1976840" y="2057960"/>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4</a:t>
            </a:r>
            <a:endParaRPr lang="en-GB" dirty="0">
              <a:solidFill>
                <a:srgbClr val="FFFFFF"/>
              </a:solidFill>
            </a:endParaRPr>
          </a:p>
        </p:txBody>
      </p:sp>
      <p:sp>
        <p:nvSpPr>
          <p:cNvPr id="11" name="Oval 10"/>
          <p:cNvSpPr/>
          <p:nvPr/>
        </p:nvSpPr>
        <p:spPr>
          <a:xfrm>
            <a:off x="1102236" y="3285940"/>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3</a:t>
            </a:r>
            <a:endParaRPr lang="en-GB" dirty="0">
              <a:solidFill>
                <a:srgbClr val="FFFFFF"/>
              </a:solidFill>
            </a:endParaRPr>
          </a:p>
        </p:txBody>
      </p:sp>
      <p:cxnSp>
        <p:nvCxnSpPr>
          <p:cNvPr id="14" name="Straight Arrow Connector 13"/>
          <p:cNvCxnSpPr>
            <a:stCxn id="7" idx="5"/>
            <a:endCxn id="170" idx="1"/>
          </p:cNvCxnSpPr>
          <p:nvPr/>
        </p:nvCxnSpPr>
        <p:spPr>
          <a:xfrm>
            <a:off x="4169149" y="1538470"/>
            <a:ext cx="1437966" cy="58065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10" idx="7"/>
          </p:cNvCxnSpPr>
          <p:nvPr/>
        </p:nvCxnSpPr>
        <p:spPr>
          <a:xfrm flipH="1">
            <a:off x="2464646" y="1538470"/>
            <a:ext cx="1300391" cy="6031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0" idx="3"/>
            <a:endCxn id="11" idx="7"/>
          </p:cNvCxnSpPr>
          <p:nvPr/>
        </p:nvCxnSpPr>
        <p:spPr>
          <a:xfrm flipH="1">
            <a:off x="1590042" y="2545766"/>
            <a:ext cx="470492" cy="8238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5"/>
            <a:endCxn id="120" idx="1"/>
          </p:cNvCxnSpPr>
          <p:nvPr/>
        </p:nvCxnSpPr>
        <p:spPr>
          <a:xfrm>
            <a:off x="2464646" y="2545766"/>
            <a:ext cx="495048" cy="8433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557342" y="4411822"/>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51" name="Straight Arrow Connector 50"/>
          <p:cNvCxnSpPr>
            <a:stCxn id="11" idx="3"/>
            <a:endCxn id="50" idx="0"/>
          </p:cNvCxnSpPr>
          <p:nvPr/>
        </p:nvCxnSpPr>
        <p:spPr>
          <a:xfrm flipH="1">
            <a:off x="829789" y="3773746"/>
            <a:ext cx="356141" cy="6380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50" idx="5"/>
            <a:endCxn id="110" idx="0"/>
          </p:cNvCxnSpPr>
          <p:nvPr/>
        </p:nvCxnSpPr>
        <p:spPr>
          <a:xfrm>
            <a:off x="1022438" y="4880187"/>
            <a:ext cx="163492" cy="523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0" name="TextBox 37"/>
          <p:cNvSpPr txBox="1">
            <a:spLocks noChangeArrowheads="1"/>
          </p:cNvSpPr>
          <p:nvPr/>
        </p:nvSpPr>
        <p:spPr bwMode="auto">
          <a:xfrm>
            <a:off x="5149976" y="5713676"/>
            <a:ext cx="3550372" cy="369332"/>
          </a:xfrm>
          <a:prstGeom prst="rect">
            <a:avLst/>
          </a:prstGeom>
          <a:solidFill>
            <a:schemeClr val="bg1"/>
          </a:solidFill>
          <a:ln>
            <a:solidFill>
              <a:schemeClr val="accent1"/>
            </a:solidFill>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4 times of summation operations</a:t>
            </a:r>
            <a:endParaRPr lang="en-GB" altLang="en-US" dirty="0"/>
          </a:p>
        </p:txBody>
      </p:sp>
      <p:sp>
        <p:nvSpPr>
          <p:cNvPr id="110" name="Oval 109"/>
          <p:cNvSpPr/>
          <p:nvPr/>
        </p:nvSpPr>
        <p:spPr>
          <a:xfrm>
            <a:off x="900180" y="5403323"/>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0</a:t>
            </a:r>
            <a:endParaRPr lang="en-GB" dirty="0">
              <a:solidFill>
                <a:srgbClr val="FFFFFF"/>
              </a:solidFill>
            </a:endParaRPr>
          </a:p>
        </p:txBody>
      </p:sp>
      <p:sp>
        <p:nvSpPr>
          <p:cNvPr id="113" name="Oval 112"/>
          <p:cNvSpPr/>
          <p:nvPr/>
        </p:nvSpPr>
        <p:spPr>
          <a:xfrm>
            <a:off x="153465" y="5413945"/>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1</a:t>
            </a:r>
            <a:endParaRPr lang="en-GB" dirty="0">
              <a:solidFill>
                <a:srgbClr val="FFFFFF"/>
              </a:solidFill>
            </a:endParaRPr>
          </a:p>
        </p:txBody>
      </p:sp>
      <p:cxnSp>
        <p:nvCxnSpPr>
          <p:cNvPr id="116" name="Straight Arrow Connector 115"/>
          <p:cNvCxnSpPr>
            <a:stCxn id="50" idx="3"/>
            <a:endCxn id="113" idx="0"/>
          </p:cNvCxnSpPr>
          <p:nvPr/>
        </p:nvCxnSpPr>
        <p:spPr>
          <a:xfrm flipH="1">
            <a:off x="439215" y="4880187"/>
            <a:ext cx="197925" cy="533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0" name="Oval 119"/>
          <p:cNvSpPr/>
          <p:nvPr/>
        </p:nvSpPr>
        <p:spPr>
          <a:xfrm>
            <a:off x="2879896" y="3308716"/>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121" name="Straight Arrow Connector 120"/>
          <p:cNvCxnSpPr>
            <a:stCxn id="120" idx="5"/>
            <a:endCxn id="122" idx="0"/>
          </p:cNvCxnSpPr>
          <p:nvPr/>
        </p:nvCxnSpPr>
        <p:spPr>
          <a:xfrm>
            <a:off x="3344992" y="3777081"/>
            <a:ext cx="186202" cy="5846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2" name="Oval 121"/>
          <p:cNvSpPr/>
          <p:nvPr/>
        </p:nvSpPr>
        <p:spPr>
          <a:xfrm>
            <a:off x="3245444" y="436173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0</a:t>
            </a:r>
            <a:endParaRPr lang="en-GB" dirty="0">
              <a:solidFill>
                <a:srgbClr val="FFFFFF"/>
              </a:solidFill>
            </a:endParaRPr>
          </a:p>
        </p:txBody>
      </p:sp>
      <p:sp>
        <p:nvSpPr>
          <p:cNvPr id="123" name="Oval 122"/>
          <p:cNvSpPr/>
          <p:nvPr/>
        </p:nvSpPr>
        <p:spPr>
          <a:xfrm>
            <a:off x="2474015" y="436173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24" name="Straight Arrow Connector 123"/>
          <p:cNvCxnSpPr>
            <a:stCxn id="120" idx="3"/>
            <a:endCxn id="123" idx="0"/>
          </p:cNvCxnSpPr>
          <p:nvPr/>
        </p:nvCxnSpPr>
        <p:spPr>
          <a:xfrm flipH="1">
            <a:off x="2759765" y="3777081"/>
            <a:ext cx="199929" cy="58465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6" name="Oval 165"/>
          <p:cNvSpPr/>
          <p:nvPr/>
        </p:nvSpPr>
        <p:spPr>
          <a:xfrm>
            <a:off x="1590042" y="4371378"/>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67" name="Straight Arrow Connector 166"/>
          <p:cNvCxnSpPr>
            <a:stCxn id="11" idx="5"/>
            <a:endCxn id="166" idx="0"/>
          </p:cNvCxnSpPr>
          <p:nvPr/>
        </p:nvCxnSpPr>
        <p:spPr>
          <a:xfrm>
            <a:off x="1590042" y="3773746"/>
            <a:ext cx="285750" cy="5976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0" name="Oval 169"/>
          <p:cNvSpPr/>
          <p:nvPr/>
        </p:nvSpPr>
        <p:spPr>
          <a:xfrm>
            <a:off x="5523421" y="2035432"/>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3</a:t>
            </a:r>
            <a:endParaRPr lang="en-GB" dirty="0">
              <a:solidFill>
                <a:srgbClr val="FFFFFF"/>
              </a:solidFill>
            </a:endParaRPr>
          </a:p>
        </p:txBody>
      </p:sp>
      <p:sp>
        <p:nvSpPr>
          <p:cNvPr id="171" name="Oval 170"/>
          <p:cNvSpPr/>
          <p:nvPr/>
        </p:nvSpPr>
        <p:spPr>
          <a:xfrm>
            <a:off x="4807138" y="3338920"/>
            <a:ext cx="544894" cy="5487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2</a:t>
            </a:r>
            <a:endParaRPr lang="en-GB" dirty="0">
              <a:solidFill>
                <a:srgbClr val="FFFFFF"/>
              </a:solidFill>
            </a:endParaRPr>
          </a:p>
        </p:txBody>
      </p:sp>
      <p:cxnSp>
        <p:nvCxnSpPr>
          <p:cNvPr id="172" name="Straight Arrow Connector 171"/>
          <p:cNvCxnSpPr>
            <a:stCxn id="170" idx="3"/>
            <a:endCxn id="171" idx="0"/>
          </p:cNvCxnSpPr>
          <p:nvPr/>
        </p:nvCxnSpPr>
        <p:spPr>
          <a:xfrm flipH="1">
            <a:off x="5079585" y="2523238"/>
            <a:ext cx="527530" cy="81568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171" idx="5"/>
            <a:endCxn id="174" idx="0"/>
          </p:cNvCxnSpPr>
          <p:nvPr/>
        </p:nvCxnSpPr>
        <p:spPr>
          <a:xfrm>
            <a:off x="5272234" y="3807285"/>
            <a:ext cx="163492" cy="52313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4" name="Oval 173"/>
          <p:cNvSpPr/>
          <p:nvPr/>
        </p:nvSpPr>
        <p:spPr>
          <a:xfrm>
            <a:off x="5149976" y="4330421"/>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0</a:t>
            </a:r>
            <a:endParaRPr lang="en-GB" dirty="0">
              <a:solidFill>
                <a:srgbClr val="FFFFFF"/>
              </a:solidFill>
            </a:endParaRPr>
          </a:p>
        </p:txBody>
      </p:sp>
      <p:sp>
        <p:nvSpPr>
          <p:cNvPr id="175" name="Oval 174"/>
          <p:cNvSpPr/>
          <p:nvPr/>
        </p:nvSpPr>
        <p:spPr>
          <a:xfrm>
            <a:off x="4403261" y="4341043"/>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76" name="Straight Arrow Connector 175"/>
          <p:cNvCxnSpPr>
            <a:stCxn id="171" idx="3"/>
            <a:endCxn id="175" idx="0"/>
          </p:cNvCxnSpPr>
          <p:nvPr/>
        </p:nvCxnSpPr>
        <p:spPr>
          <a:xfrm flipH="1">
            <a:off x="4689011" y="3807285"/>
            <a:ext cx="197925" cy="533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7" name="Oval 176"/>
          <p:cNvSpPr/>
          <p:nvPr/>
        </p:nvSpPr>
        <p:spPr>
          <a:xfrm>
            <a:off x="6303532" y="3316144"/>
            <a:ext cx="571500" cy="5715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dirty="0">
                <a:solidFill>
                  <a:srgbClr val="FFFFFF"/>
                </a:solidFill>
              </a:rPr>
              <a:t>1</a:t>
            </a:r>
            <a:endParaRPr lang="en-GB" dirty="0">
              <a:solidFill>
                <a:srgbClr val="FFFFFF"/>
              </a:solidFill>
            </a:endParaRPr>
          </a:p>
        </p:txBody>
      </p:sp>
      <p:cxnSp>
        <p:nvCxnSpPr>
          <p:cNvPr id="178" name="Straight Arrow Connector 177"/>
          <p:cNvCxnSpPr>
            <a:stCxn id="170" idx="5"/>
            <a:endCxn id="177" idx="0"/>
          </p:cNvCxnSpPr>
          <p:nvPr/>
        </p:nvCxnSpPr>
        <p:spPr>
          <a:xfrm>
            <a:off x="6011227" y="2523238"/>
            <a:ext cx="578055" cy="7929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2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50" grpId="0" animBg="1"/>
      <p:bldP spid="70" grpId="0" animBg="1"/>
      <p:bldP spid="120" grpId="0" animBg="1"/>
      <p:bldP spid="170" grpId="0" animBg="1"/>
      <p:bldP spid="17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Key Idea: Value Function</a:t>
            </a:r>
          </a:p>
        </p:txBody>
      </p:sp>
      <mc:AlternateContent xmlns:mc="http://schemas.openxmlformats.org/markup-compatibility/2006" xmlns:a14="http://schemas.microsoft.com/office/drawing/2010/main">
        <mc:Choice Requires="a14">
          <p:sp>
            <p:nvSpPr>
              <p:cNvPr id="109571" name="Rectangle 3"/>
              <p:cNvSpPr>
                <a:spLocks noGrp="1" noChangeArrowheads="1"/>
              </p:cNvSpPr>
              <p:nvPr>
                <p:ph type="body" idx="1"/>
              </p:nvPr>
            </p:nvSpPr>
            <p:spPr>
              <a:xfrm>
                <a:off x="0" y="542246"/>
                <a:ext cx="9110663" cy="5472113"/>
              </a:xfrm>
            </p:spPr>
            <p:txBody>
              <a:bodyPr/>
              <a:lstStyle/>
              <a:p>
                <a:pPr marL="0" indent="0">
                  <a:buNone/>
                  <a:defRPr/>
                </a:pPr>
                <a:endParaRPr lang="en-US" altLang="zh-CN" dirty="0">
                  <a:ea typeface="宋体" pitchFamily="2" charset="-122"/>
                </a:endParaRPr>
              </a:p>
              <a:p>
                <a:pPr>
                  <a:defRPr/>
                </a:pPr>
                <a14:m>
                  <m:oMath xmlns:m="http://schemas.openxmlformats.org/officeDocument/2006/math">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𝒌</m:t>
                        </m:r>
                      </m:sub>
                    </m:sSub>
                    <m:r>
                      <a:rPr lang="en-US" altLang="en-US" sz="2800" b="1" i="1" smtClean="0">
                        <a:effectLst/>
                        <a:latin typeface="Cambria Math" panose="02040503050406030204" pitchFamily="18" charset="0"/>
                      </a:rPr>
                      <m:t>, </m:t>
                    </m:r>
                    <m:r>
                      <a:rPr lang="en-US" altLang="en-US" sz="2800" b="1" i="1" smtClean="0">
                        <a:effectLst/>
                        <a:latin typeface="Cambria Math" panose="02040503050406030204" pitchFamily="18" charset="0"/>
                      </a:rPr>
                      <m:t>𝟎</m:t>
                    </m:r>
                    <m:r>
                      <a:rPr lang="en-US" altLang="en-US" sz="2800" b="1" i="1" smtClean="0">
                        <a:effectLst/>
                        <a:latin typeface="Cambria Math" panose="02040503050406030204" pitchFamily="18" charset="0"/>
                        <a:ea typeface="Cambria Math" panose="02040503050406030204" pitchFamily="18" charset="0"/>
                      </a:rPr>
                      <m:t>≤</m:t>
                    </m:r>
                    <m:r>
                      <a:rPr lang="en-US" altLang="en-US" sz="2800" b="1" i="1" smtClean="0">
                        <a:effectLst/>
                        <a:latin typeface="Cambria Math" panose="02040503050406030204" pitchFamily="18" charset="0"/>
                        <a:ea typeface="Cambria Math" panose="02040503050406030204" pitchFamily="18" charset="0"/>
                      </a:rPr>
                      <m:t>𝒌</m:t>
                    </m:r>
                    <m:r>
                      <a:rPr lang="en-US" altLang="en-US" sz="2800" b="1" i="1" smtClean="0">
                        <a:effectLst/>
                        <a:latin typeface="Cambria Math" panose="02040503050406030204" pitchFamily="18" charset="0"/>
                        <a:ea typeface="Cambria Math" panose="02040503050406030204" pitchFamily="18" charset="0"/>
                      </a:rPr>
                      <m:t>≤</m:t>
                    </m:r>
                    <m:r>
                      <a:rPr lang="en-US" altLang="en-US" sz="2800" b="1" i="1" smtClean="0">
                        <a:effectLst/>
                        <a:latin typeface="Cambria Math" panose="02040503050406030204" pitchFamily="18" charset="0"/>
                        <a:ea typeface="Cambria Math" panose="02040503050406030204" pitchFamily="18" charset="0"/>
                      </a:rPr>
                      <m:t>𝒏</m:t>
                    </m:r>
                  </m:oMath>
                </a14:m>
                <a:r>
                  <a:rPr lang="en-US" altLang="zh-CN" sz="2800" dirty="0">
                    <a:effectLst/>
                    <a:ea typeface="宋体" pitchFamily="2" charset="-122"/>
                  </a:rPr>
                  <a:t> is called the </a:t>
                </a:r>
                <a:r>
                  <a:rPr lang="en-US" altLang="zh-CN" sz="2800" dirty="0">
                    <a:solidFill>
                      <a:srgbClr val="FF0000"/>
                    </a:solidFill>
                    <a:effectLst/>
                    <a:ea typeface="宋体" pitchFamily="2" charset="-122"/>
                  </a:rPr>
                  <a:t>values</a:t>
                </a:r>
                <a:r>
                  <a:rPr lang="en-US" altLang="zh-CN" sz="2800" dirty="0">
                    <a:effectLst/>
                    <a:ea typeface="宋体" pitchFamily="2" charset="-122"/>
                  </a:rPr>
                  <a:t> or </a:t>
                </a:r>
                <a:r>
                  <a:rPr lang="en-US" altLang="zh-CN" sz="2800" dirty="0">
                    <a:solidFill>
                      <a:srgbClr val="FF0000"/>
                    </a:solidFill>
                    <a:effectLst/>
                    <a:ea typeface="宋体" pitchFamily="2" charset="-122"/>
                  </a:rPr>
                  <a:t>value functions</a:t>
                </a:r>
                <a:r>
                  <a:rPr lang="en-US" altLang="zh-CN" sz="2800" dirty="0">
                    <a:effectLst/>
                    <a:ea typeface="宋体" pitchFamily="2" charset="-122"/>
                  </a:rPr>
                  <a:t>, </a:t>
                </a:r>
                <a14:m>
                  <m:oMath xmlns:m="http://schemas.openxmlformats.org/officeDocument/2006/math">
                    <m:r>
                      <a:rPr lang="en-US" altLang="en-US" sz="2800" i="1">
                        <a:effectLst/>
                        <a:latin typeface="Cambria Math" panose="02040503050406030204" pitchFamily="18" charset="0"/>
                        <a:ea typeface="Cambria Math" panose="02040503050406030204" pitchFamily="18" charset="0"/>
                      </a:rPr>
                      <m:t>𝒌</m:t>
                    </m:r>
                  </m:oMath>
                </a14:m>
                <a:r>
                  <a:rPr lang="en-US" altLang="zh-CN" sz="2800" dirty="0">
                    <a:effectLst/>
                    <a:ea typeface="宋体" pitchFamily="2" charset="-122"/>
                  </a:rPr>
                  <a:t> is called the </a:t>
                </a:r>
                <a:r>
                  <a:rPr lang="en-US" altLang="zh-CN" sz="2800" dirty="0">
                    <a:solidFill>
                      <a:srgbClr val="FF0000"/>
                    </a:solidFill>
                    <a:effectLst/>
                    <a:ea typeface="宋体" pitchFamily="2" charset="-122"/>
                  </a:rPr>
                  <a:t>stage</a:t>
                </a:r>
                <a:r>
                  <a:rPr lang="en-US" altLang="zh-CN" sz="2800" dirty="0">
                    <a:effectLst/>
                    <a:ea typeface="宋体" pitchFamily="2" charset="-122"/>
                  </a:rPr>
                  <a:t>.</a:t>
                </a:r>
              </a:p>
              <a:p>
                <a:pPr lvl="1">
                  <a:defRPr/>
                </a:pPr>
                <a:r>
                  <a:rPr lang="en-US" altLang="zh-CN" sz="2400" dirty="0">
                    <a:effectLst/>
                    <a:ea typeface="宋体" pitchFamily="2" charset="-122"/>
                  </a:rPr>
                  <a:t>Our goal is to solve the value for final stage </a:t>
                </a:r>
                <a14:m>
                  <m:oMath xmlns:m="http://schemas.openxmlformats.org/officeDocument/2006/math">
                    <m:sSub>
                      <m:sSubPr>
                        <m:ctrlPr>
                          <a:rPr lang="en-US" altLang="en-US" sz="2400" i="1">
                            <a:effectLst/>
                            <a:latin typeface="Cambria Math" panose="02040503050406030204" pitchFamily="18" charset="0"/>
                          </a:rPr>
                        </m:ctrlPr>
                      </m:sSubPr>
                      <m:e>
                        <m:r>
                          <a:rPr lang="en-US" altLang="en-US" sz="2400" i="1">
                            <a:effectLst/>
                            <a:latin typeface="Cambria Math" panose="02040503050406030204" pitchFamily="18" charset="0"/>
                          </a:rPr>
                          <m:t>𝑭</m:t>
                        </m:r>
                      </m:e>
                      <m:sub>
                        <m:r>
                          <a:rPr lang="en-US" altLang="en-US" sz="2400" b="1" i="1" smtClean="0">
                            <a:effectLst/>
                            <a:latin typeface="Cambria Math" panose="02040503050406030204" pitchFamily="18" charset="0"/>
                          </a:rPr>
                          <m:t>𝒏</m:t>
                        </m:r>
                      </m:sub>
                    </m:sSub>
                  </m:oMath>
                </a14:m>
                <a:r>
                  <a:rPr lang="en-US" altLang="zh-CN" sz="2400" dirty="0">
                    <a:effectLst/>
                    <a:ea typeface="宋体" pitchFamily="2" charset="-122"/>
                  </a:rPr>
                  <a:t>.</a:t>
                </a:r>
              </a:p>
              <a:p>
                <a:pPr lvl="1">
                  <a:defRPr/>
                </a:pPr>
                <a14:m>
                  <m:oMath xmlns:m="http://schemas.openxmlformats.org/officeDocument/2006/math">
                    <m:sSub>
                      <m:sSubPr>
                        <m:ctrlPr>
                          <a:rPr lang="en-US" altLang="en-US" sz="2400" i="1">
                            <a:effectLst/>
                            <a:latin typeface="Cambria Math" panose="02040503050406030204" pitchFamily="18" charset="0"/>
                          </a:rPr>
                        </m:ctrlPr>
                      </m:sSubPr>
                      <m:e>
                        <m:r>
                          <a:rPr lang="en-US" altLang="en-US" sz="2400" i="1">
                            <a:effectLst/>
                            <a:latin typeface="Cambria Math" panose="02040503050406030204" pitchFamily="18" charset="0"/>
                          </a:rPr>
                          <m:t>𝑭</m:t>
                        </m:r>
                      </m:e>
                      <m:sub>
                        <m:r>
                          <a:rPr lang="en-US" altLang="en-US" sz="2400" i="1">
                            <a:effectLst/>
                            <a:latin typeface="Cambria Math" panose="02040503050406030204" pitchFamily="18" charset="0"/>
                          </a:rPr>
                          <m:t>𝒌</m:t>
                        </m:r>
                      </m:sub>
                    </m:sSub>
                    <m:r>
                      <a:rPr lang="en-US" altLang="en-US" sz="2400" i="1">
                        <a:effectLst/>
                        <a:latin typeface="Cambria Math" panose="02040503050406030204" pitchFamily="18" charset="0"/>
                      </a:rPr>
                      <m:t>, </m:t>
                    </m:r>
                    <m:r>
                      <a:rPr lang="en-US" altLang="en-US" sz="2400" i="1">
                        <a:effectLst/>
                        <a:latin typeface="Cambria Math" panose="02040503050406030204" pitchFamily="18" charset="0"/>
                      </a:rPr>
                      <m:t>𝟎</m:t>
                    </m:r>
                    <m:r>
                      <a:rPr lang="en-US" altLang="en-US" sz="2400" i="1">
                        <a:effectLst/>
                        <a:latin typeface="Cambria Math" panose="02040503050406030204" pitchFamily="18" charset="0"/>
                        <a:ea typeface="Cambria Math" panose="02040503050406030204" pitchFamily="18" charset="0"/>
                      </a:rPr>
                      <m:t>≤</m:t>
                    </m:r>
                    <m:r>
                      <a:rPr lang="en-US" altLang="en-US" sz="2400" i="1">
                        <a:effectLst/>
                        <a:latin typeface="Cambria Math" panose="02040503050406030204" pitchFamily="18" charset="0"/>
                        <a:ea typeface="Cambria Math" panose="02040503050406030204" pitchFamily="18" charset="0"/>
                      </a:rPr>
                      <m:t>𝒌</m:t>
                    </m:r>
                    <m:r>
                      <a:rPr lang="en-US" altLang="en-US" sz="2400" i="1">
                        <a:effectLst/>
                        <a:latin typeface="Cambria Math" panose="02040503050406030204" pitchFamily="18" charset="0"/>
                        <a:ea typeface="Cambria Math" panose="02040503050406030204" pitchFamily="18" charset="0"/>
                      </a:rPr>
                      <m:t>≤</m:t>
                    </m:r>
                    <m:r>
                      <a:rPr lang="en-US" altLang="en-US" sz="2400" i="1">
                        <a:effectLst/>
                        <a:latin typeface="Cambria Math" panose="02040503050406030204" pitchFamily="18" charset="0"/>
                        <a:ea typeface="Cambria Math" panose="02040503050406030204" pitchFamily="18" charset="0"/>
                      </a:rPr>
                      <m:t>𝒏</m:t>
                    </m:r>
                  </m:oMath>
                </a14:m>
                <a:r>
                  <a:rPr lang="en-US" altLang="zh-CN" sz="2400" dirty="0">
                    <a:effectLst/>
                    <a:ea typeface="宋体" pitchFamily="2" charset="-122"/>
                  </a:rPr>
                  <a:t> represents a (optimal) value for a sub-problem at stage </a:t>
                </a:r>
                <a14:m>
                  <m:oMath xmlns:m="http://schemas.openxmlformats.org/officeDocument/2006/math">
                    <m:r>
                      <a:rPr lang="en-US" altLang="en-US" sz="2400" i="1">
                        <a:effectLst/>
                        <a:latin typeface="Cambria Math" panose="02040503050406030204" pitchFamily="18" charset="0"/>
                        <a:ea typeface="Cambria Math" panose="02040503050406030204" pitchFamily="18" charset="0"/>
                      </a:rPr>
                      <m:t>𝒌</m:t>
                    </m:r>
                  </m:oMath>
                </a14:m>
                <a:r>
                  <a:rPr lang="en-US" altLang="zh-CN" sz="2400" i="1" dirty="0">
                    <a:effectLst/>
                    <a:latin typeface="Cambria Math" panose="02040503050406030204" pitchFamily="18" charset="0"/>
                    <a:ea typeface="Cambria Math" panose="02040503050406030204" pitchFamily="18" charset="0"/>
                  </a:rPr>
                  <a:t>.</a:t>
                </a:r>
              </a:p>
              <a:p>
                <a:pPr lvl="1">
                  <a:defRPr/>
                </a:pPr>
                <a:r>
                  <a:rPr lang="en-US" altLang="zh-CN" sz="2400" dirty="0">
                    <a:effectLst/>
                    <a:ea typeface="宋体" pitchFamily="2" charset="-122"/>
                  </a:rPr>
                  <a:t>The crux of DP: </a:t>
                </a:r>
                <a:r>
                  <a:rPr lang="en-US" altLang="zh-CN" sz="2400" dirty="0">
                    <a:solidFill>
                      <a:srgbClr val="FF0000"/>
                    </a:solidFill>
                    <a:effectLst/>
                    <a:ea typeface="宋体" pitchFamily="2" charset="-122"/>
                  </a:rPr>
                  <a:t>all information we need is contained in </a:t>
                </a:r>
                <a14:m>
                  <m:oMath xmlns:m="http://schemas.openxmlformats.org/officeDocument/2006/math">
                    <m:sSub>
                      <m:sSubPr>
                        <m:ctrlPr>
                          <a:rPr lang="en-US" altLang="en-US" sz="2400" i="1">
                            <a:solidFill>
                              <a:srgbClr val="FF0000"/>
                            </a:solidFill>
                            <a:effectLst/>
                            <a:latin typeface="Cambria Math" panose="02040503050406030204" pitchFamily="18" charset="0"/>
                          </a:rPr>
                        </m:ctrlPr>
                      </m:sSubPr>
                      <m:e>
                        <m:r>
                          <a:rPr lang="en-US" altLang="en-US" sz="2400" i="1">
                            <a:solidFill>
                              <a:srgbClr val="FF0000"/>
                            </a:solidFill>
                            <a:effectLst/>
                            <a:latin typeface="Cambria Math" panose="02040503050406030204" pitchFamily="18" charset="0"/>
                          </a:rPr>
                          <m:t>𝑭</m:t>
                        </m:r>
                      </m:e>
                      <m:sub>
                        <m:r>
                          <a:rPr lang="en-US" altLang="en-US" sz="2400" i="1">
                            <a:solidFill>
                              <a:srgbClr val="FF0000"/>
                            </a:solidFill>
                            <a:effectLst/>
                            <a:latin typeface="Cambria Math" panose="02040503050406030204" pitchFamily="18" charset="0"/>
                          </a:rPr>
                          <m:t>𝒌</m:t>
                        </m:r>
                      </m:sub>
                    </m:sSub>
                  </m:oMath>
                </a14:m>
                <a:r>
                  <a:rPr lang="en-US" altLang="zh-CN" sz="2400" dirty="0">
                    <a:solidFill>
                      <a:srgbClr val="FF0000"/>
                    </a:solidFill>
                    <a:effectLst/>
                    <a:ea typeface="宋体" pitchFamily="2" charset="-122"/>
                  </a:rPr>
                  <a:t>; after one solved sub-problem at stage </a:t>
                </a:r>
                <a14:m>
                  <m:oMath xmlns:m="http://schemas.openxmlformats.org/officeDocument/2006/math">
                    <m:r>
                      <a:rPr lang="en-US" altLang="en-US" sz="2400" i="1">
                        <a:solidFill>
                          <a:srgbClr val="FF0000"/>
                        </a:solidFill>
                        <a:effectLst/>
                        <a:latin typeface="Cambria Math" panose="02040503050406030204" pitchFamily="18" charset="0"/>
                        <a:ea typeface="Cambria Math" panose="02040503050406030204" pitchFamily="18" charset="0"/>
                      </a:rPr>
                      <m:t>𝒌</m:t>
                    </m:r>
                  </m:oMath>
                </a14:m>
                <a:r>
                  <a:rPr lang="en-US" altLang="zh-CN" sz="2400" dirty="0">
                    <a:solidFill>
                      <a:srgbClr val="FF0000"/>
                    </a:solidFill>
                    <a:effectLst/>
                    <a:ea typeface="宋体" pitchFamily="2" charset="-122"/>
                  </a:rPr>
                  <a:t>, one saves value in </a:t>
                </a:r>
                <a14:m>
                  <m:oMath xmlns:m="http://schemas.openxmlformats.org/officeDocument/2006/math">
                    <m:sSub>
                      <m:sSubPr>
                        <m:ctrlPr>
                          <a:rPr lang="en-US" altLang="en-US" sz="2400" i="1">
                            <a:solidFill>
                              <a:srgbClr val="FF0000"/>
                            </a:solidFill>
                            <a:effectLst/>
                            <a:latin typeface="Cambria Math" panose="02040503050406030204" pitchFamily="18" charset="0"/>
                          </a:rPr>
                        </m:ctrlPr>
                      </m:sSubPr>
                      <m:e>
                        <m:r>
                          <a:rPr lang="en-US" altLang="en-US" sz="2400" i="1">
                            <a:solidFill>
                              <a:srgbClr val="FF0000"/>
                            </a:solidFill>
                            <a:effectLst/>
                            <a:latin typeface="Cambria Math" panose="02040503050406030204" pitchFamily="18" charset="0"/>
                          </a:rPr>
                          <m:t>𝑭</m:t>
                        </m:r>
                      </m:e>
                      <m:sub>
                        <m:r>
                          <a:rPr lang="en-US" altLang="en-US" sz="2400" i="1">
                            <a:solidFill>
                              <a:srgbClr val="FF0000"/>
                            </a:solidFill>
                            <a:effectLst/>
                            <a:latin typeface="Cambria Math" panose="02040503050406030204" pitchFamily="18" charset="0"/>
                          </a:rPr>
                          <m:t>𝒌</m:t>
                        </m:r>
                      </m:sub>
                    </m:sSub>
                  </m:oMath>
                </a14:m>
                <a:r>
                  <a:rPr lang="en-US" altLang="zh-CN" sz="2400" dirty="0">
                    <a:solidFill>
                      <a:srgbClr val="FF0000"/>
                    </a:solidFill>
                    <a:effectLst/>
                    <a:ea typeface="宋体" pitchFamily="2" charset="-122"/>
                  </a:rPr>
                  <a:t> and never revisits how it is solved.</a:t>
                </a:r>
              </a:p>
              <a:p>
                <a:pPr>
                  <a:defRPr/>
                </a:pPr>
                <a:r>
                  <a:rPr lang="en-US" altLang="zh-CN" sz="2800" dirty="0">
                    <a:effectLst/>
                    <a:ea typeface="宋体" pitchFamily="2" charset="-122"/>
                  </a:rPr>
                  <a:t>The relation used for computation: </a:t>
                </a:r>
              </a:p>
              <a:p>
                <a:pPr marL="0" indent="0">
                  <a:buNone/>
                  <a:defRPr/>
                </a:pPr>
                <a14:m>
                  <m:oMathPara xmlns:m="http://schemas.openxmlformats.org/officeDocument/2006/math">
                    <m:oMath>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𝒌</m:t>
                          </m:r>
                        </m:sub>
                      </m:sSub>
                      <m:r>
                        <a:rPr lang="en-US" altLang="en-US" sz="2800" i="1">
                          <a:effectLst/>
                          <a:latin typeface="Cambria Math" panose="02040503050406030204" pitchFamily="18" charset="0"/>
                        </a:rPr>
                        <m:t>=</m:t>
                      </m:r>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𝒌</m:t>
                          </m:r>
                          <m:r>
                            <a:rPr lang="en-US" altLang="en-US" sz="2800" i="1">
                              <a:effectLst/>
                              <a:latin typeface="Cambria Math" panose="02040503050406030204" pitchFamily="18" charset="0"/>
                            </a:rPr>
                            <m:t>−</m:t>
                          </m:r>
                          <m:r>
                            <a:rPr lang="en-US" altLang="en-US" sz="2800" i="1">
                              <a:effectLst/>
                              <a:latin typeface="Cambria Math" panose="02040503050406030204" pitchFamily="18" charset="0"/>
                            </a:rPr>
                            <m:t>𝟏</m:t>
                          </m:r>
                        </m:sub>
                      </m:sSub>
                      <m:r>
                        <a:rPr lang="en-US" altLang="en-US" sz="2800" i="1">
                          <a:effectLst/>
                          <a:latin typeface="Cambria Math" panose="02040503050406030204" pitchFamily="18" charset="0"/>
                        </a:rPr>
                        <m:t>+</m:t>
                      </m:r>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𝒌</m:t>
                          </m:r>
                          <m:r>
                            <a:rPr lang="en-US" altLang="en-US" sz="2800" i="1">
                              <a:effectLst/>
                              <a:latin typeface="Cambria Math" panose="02040503050406030204" pitchFamily="18" charset="0"/>
                            </a:rPr>
                            <m:t>−</m:t>
                          </m:r>
                          <m:r>
                            <a:rPr lang="en-US" altLang="en-US" sz="2800" i="1">
                              <a:effectLst/>
                              <a:latin typeface="Cambria Math" panose="02040503050406030204" pitchFamily="18" charset="0"/>
                            </a:rPr>
                            <m:t>𝟐</m:t>
                          </m:r>
                        </m:sub>
                      </m:sSub>
                      <m:r>
                        <a:rPr lang="en-US" altLang="en-US" sz="2800" b="1" i="1" smtClean="0">
                          <a:effectLst/>
                          <a:latin typeface="Cambria Math" panose="02040503050406030204" pitchFamily="18" charset="0"/>
                        </a:rPr>
                        <m:t>, </m:t>
                      </m:r>
                      <m:r>
                        <a:rPr lang="en-US" altLang="en-US" sz="2800" b="1" i="1" smtClean="0">
                          <a:effectLst/>
                          <a:latin typeface="Cambria Math" panose="02040503050406030204" pitchFamily="18" charset="0"/>
                        </a:rPr>
                        <m:t>𝟐</m:t>
                      </m:r>
                      <m:r>
                        <a:rPr lang="en-US" altLang="en-US" sz="2800" i="1">
                          <a:effectLst/>
                          <a:latin typeface="Cambria Math" panose="02040503050406030204" pitchFamily="18" charset="0"/>
                          <a:ea typeface="Cambria Math" panose="02040503050406030204" pitchFamily="18" charset="0"/>
                        </a:rPr>
                        <m:t>≤</m:t>
                      </m:r>
                      <m:r>
                        <a:rPr lang="en-US" altLang="en-US" sz="2800" i="1">
                          <a:effectLst/>
                          <a:latin typeface="Cambria Math" panose="02040503050406030204" pitchFamily="18" charset="0"/>
                          <a:ea typeface="Cambria Math" panose="02040503050406030204" pitchFamily="18" charset="0"/>
                        </a:rPr>
                        <m:t>𝒌</m:t>
                      </m:r>
                      <m:r>
                        <a:rPr lang="en-US" altLang="en-US" sz="2800" i="1">
                          <a:effectLst/>
                          <a:latin typeface="Cambria Math" panose="02040503050406030204" pitchFamily="18" charset="0"/>
                          <a:ea typeface="Cambria Math" panose="02040503050406030204" pitchFamily="18" charset="0"/>
                        </a:rPr>
                        <m:t>≤</m:t>
                      </m:r>
                      <m:r>
                        <a:rPr lang="en-US" altLang="en-US" sz="2800" i="1">
                          <a:effectLst/>
                          <a:latin typeface="Cambria Math" panose="02040503050406030204" pitchFamily="18" charset="0"/>
                          <a:ea typeface="Cambria Math" panose="02040503050406030204" pitchFamily="18" charset="0"/>
                        </a:rPr>
                        <m:t>𝒏</m:t>
                      </m:r>
                    </m:oMath>
                  </m:oMathPara>
                </a14:m>
                <a:endParaRPr lang="en-US" altLang="zh-CN" sz="2800" dirty="0">
                  <a:effectLst/>
                  <a:ea typeface="宋体" pitchFamily="2" charset="-122"/>
                </a:endParaRPr>
              </a:p>
              <a:p>
                <a:pPr marL="0" indent="0">
                  <a:buNone/>
                  <a:defRPr/>
                </a:pPr>
                <a:r>
                  <a:rPr lang="en-US" altLang="zh-CN" sz="2800" dirty="0">
                    <a:effectLst/>
                    <a:ea typeface="宋体" pitchFamily="2" charset="-122"/>
                  </a:rPr>
                  <a:t>is called the </a:t>
                </a:r>
                <a:r>
                  <a:rPr lang="en-US" altLang="zh-CN" sz="2800" dirty="0">
                    <a:solidFill>
                      <a:srgbClr val="FF0000"/>
                    </a:solidFill>
                    <a:effectLst/>
                    <a:ea typeface="宋体" pitchFamily="2" charset="-122"/>
                  </a:rPr>
                  <a:t>Bellman Equation</a:t>
                </a:r>
                <a:r>
                  <a:rPr lang="en-US" altLang="zh-CN" sz="2800" dirty="0">
                    <a:effectLst/>
                    <a:ea typeface="宋体" pitchFamily="2" charset="-122"/>
                  </a:rPr>
                  <a:t> with </a:t>
                </a:r>
                <a14:m>
                  <m:oMath xmlns:m="http://schemas.openxmlformats.org/officeDocument/2006/math">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𝟎</m:t>
                        </m:r>
                      </m:sub>
                    </m:sSub>
                    <m:r>
                      <a:rPr lang="en-US" altLang="en-US" sz="2800" b="1" i="1" smtClean="0">
                        <a:effectLst/>
                        <a:latin typeface="Cambria Math" panose="02040503050406030204" pitchFamily="18" charset="0"/>
                      </a:rPr>
                      <m:t>=</m:t>
                    </m:r>
                    <m:r>
                      <a:rPr lang="en-US" altLang="en-US" sz="2800" b="1" i="1" smtClean="0">
                        <a:effectLst/>
                        <a:latin typeface="Cambria Math" panose="02040503050406030204" pitchFamily="18" charset="0"/>
                      </a:rPr>
                      <m:t>𝟎</m:t>
                    </m:r>
                    <m:r>
                      <a:rPr lang="en-US" altLang="en-US" sz="2800" b="1" i="1" smtClean="0">
                        <a:effectLst/>
                        <a:latin typeface="Cambria Math" panose="02040503050406030204" pitchFamily="18" charset="0"/>
                      </a:rPr>
                      <m:t>,</m:t>
                    </m:r>
                    <m:sSub>
                      <m:sSubPr>
                        <m:ctrlPr>
                          <a:rPr lang="en-US" altLang="en-US" sz="2800" i="1">
                            <a:effectLst/>
                            <a:latin typeface="Cambria Math" panose="02040503050406030204" pitchFamily="18" charset="0"/>
                          </a:rPr>
                        </m:ctrlPr>
                      </m:sSubPr>
                      <m:e>
                        <m:r>
                          <a:rPr lang="en-US" altLang="en-US" sz="2800" i="1">
                            <a:effectLst/>
                            <a:latin typeface="Cambria Math" panose="02040503050406030204" pitchFamily="18" charset="0"/>
                          </a:rPr>
                          <m:t>𝑭</m:t>
                        </m:r>
                      </m:e>
                      <m:sub>
                        <m:r>
                          <a:rPr lang="en-US" altLang="en-US" sz="2800" b="1" i="1" smtClean="0">
                            <a:effectLst/>
                            <a:latin typeface="Cambria Math" panose="02040503050406030204" pitchFamily="18" charset="0"/>
                          </a:rPr>
                          <m:t>𝟏</m:t>
                        </m:r>
                      </m:sub>
                    </m:sSub>
                    <m:r>
                      <a:rPr lang="en-US" altLang="en-US" sz="2800" b="1" i="1" smtClean="0">
                        <a:effectLst/>
                        <a:latin typeface="Cambria Math" panose="02040503050406030204" pitchFamily="18" charset="0"/>
                      </a:rPr>
                      <m:t>=</m:t>
                    </m:r>
                    <m:r>
                      <a:rPr lang="en-US" altLang="en-US" sz="2800" b="1" i="1" smtClean="0">
                        <a:effectLst/>
                        <a:latin typeface="Cambria Math" panose="02040503050406030204" pitchFamily="18" charset="0"/>
                      </a:rPr>
                      <m:t>𝟏</m:t>
                    </m:r>
                  </m:oMath>
                </a14:m>
                <a:r>
                  <a:rPr lang="en-US" altLang="zh-CN" sz="2800" dirty="0">
                    <a:effectLst/>
                    <a:ea typeface="宋体" pitchFamily="2" charset="-122"/>
                  </a:rPr>
                  <a:t> called the boundary conditions.</a:t>
                </a:r>
              </a:p>
            </p:txBody>
          </p:sp>
        </mc:Choice>
        <mc:Fallback xmlns="">
          <p:sp>
            <p:nvSpPr>
              <p:cNvPr id="109571" name="Rectangle 3"/>
              <p:cNvSpPr>
                <a:spLocks noGrp="1" noRot="1" noChangeAspect="1" noMove="1" noResize="1" noEditPoints="1" noAdjustHandles="1" noChangeArrowheads="1" noChangeShapeType="1" noTextEdit="1"/>
              </p:cNvSpPr>
              <p:nvPr>
                <p:ph type="body" idx="1"/>
              </p:nvPr>
            </p:nvSpPr>
            <p:spPr>
              <a:xfrm>
                <a:off x="0" y="542246"/>
                <a:ext cx="9110663" cy="5472113"/>
              </a:xfrm>
              <a:blipFill rotWithShape="0">
                <a:blip r:embed="rId3"/>
                <a:stretch>
                  <a:fillRect l="-1338" b="-8352"/>
                </a:stretch>
              </a:blipFill>
            </p:spPr>
            <p:txBody>
              <a:bodyPr/>
              <a:lstStyle/>
              <a:p>
                <a:r>
                  <a:rPr lang="en-SG">
                    <a:noFill/>
                  </a:rPr>
                  <a:t> </a:t>
                </a:r>
              </a:p>
            </p:txBody>
          </p:sp>
        </mc:Fallback>
      </mc:AlternateContent>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3197714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dirty="0"/>
              <a:t>Shortest Path Problem</a:t>
            </a:r>
            <a:endParaRPr lang="en-GB" altLang="en-US" dirty="0"/>
          </a:p>
        </p:txBody>
      </p:sp>
      <p:sp>
        <p:nvSpPr>
          <p:cNvPr id="7" name="Oval 6"/>
          <p:cNvSpPr/>
          <p:nvPr/>
        </p:nvSpPr>
        <p:spPr>
          <a:xfrm>
            <a:off x="1285875" y="33575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8" name="Oval 7"/>
          <p:cNvSpPr/>
          <p:nvPr/>
        </p:nvSpPr>
        <p:spPr>
          <a:xfrm>
            <a:off x="2500313" y="2000250"/>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3575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464343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000250"/>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3575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464343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2643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000500"/>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3575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stCxn id="7" idx="7"/>
            <a:endCxn id="8" idx="3"/>
          </p:cNvCxnSpPr>
          <p:nvPr/>
        </p:nvCxnSpPr>
        <p:spPr>
          <a:xfrm rot="5400000" flipH="1" flipV="1">
            <a:off x="1458912" y="2316163"/>
            <a:ext cx="1154113"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9" idx="2"/>
          </p:cNvCxnSpPr>
          <p:nvPr/>
        </p:nvCxnSpPr>
        <p:spPr>
          <a:xfrm>
            <a:off x="1571625" y="3500438"/>
            <a:ext cx="9286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rot="16200000" flipH="1">
            <a:off x="1494631" y="3637757"/>
            <a:ext cx="1082675"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a:off x="2786063" y="2143125"/>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143125"/>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244725"/>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500438"/>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3571875"/>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352007"/>
            <a:ext cx="1082675" cy="1582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3994944"/>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143125"/>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2786063"/>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137694"/>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500438"/>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16" idx="1"/>
          </p:cNvCxnSpPr>
          <p:nvPr/>
        </p:nvCxnSpPr>
        <p:spPr>
          <a:xfrm rot="16200000" flipH="1">
            <a:off x="4280694" y="2494756"/>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244975"/>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2786063"/>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3602038"/>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54" name="TextBox 55"/>
          <p:cNvSpPr txBox="1">
            <a:spLocks noChangeArrowheads="1"/>
          </p:cNvSpPr>
          <p:nvPr/>
        </p:nvSpPr>
        <p:spPr bwMode="auto">
          <a:xfrm>
            <a:off x="928688" y="32734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endParaRPr lang="en-GB" altLang="en-US"/>
          </a:p>
        </p:txBody>
      </p:sp>
      <p:sp>
        <p:nvSpPr>
          <p:cNvPr id="30755" name="TextBox 56"/>
          <p:cNvSpPr txBox="1">
            <a:spLocks noChangeArrowheads="1"/>
          </p:cNvSpPr>
          <p:nvPr/>
        </p:nvSpPr>
        <p:spPr bwMode="auto">
          <a:xfrm>
            <a:off x="2500313" y="163036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0756" name="TextBox 57"/>
          <p:cNvSpPr txBox="1">
            <a:spLocks noChangeArrowheads="1"/>
          </p:cNvSpPr>
          <p:nvPr/>
        </p:nvSpPr>
        <p:spPr bwMode="auto">
          <a:xfrm>
            <a:off x="2500313" y="30591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0757" name="TextBox 58"/>
          <p:cNvSpPr txBox="1">
            <a:spLocks noChangeArrowheads="1"/>
          </p:cNvSpPr>
          <p:nvPr/>
        </p:nvSpPr>
        <p:spPr bwMode="auto">
          <a:xfrm>
            <a:off x="2500313" y="4344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0758" name="TextBox 59"/>
          <p:cNvSpPr txBox="1">
            <a:spLocks noChangeArrowheads="1"/>
          </p:cNvSpPr>
          <p:nvPr/>
        </p:nvSpPr>
        <p:spPr bwMode="auto">
          <a:xfrm>
            <a:off x="4286250" y="16430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0759" name="TextBox 60"/>
          <p:cNvSpPr txBox="1">
            <a:spLocks noChangeArrowheads="1"/>
          </p:cNvSpPr>
          <p:nvPr/>
        </p:nvSpPr>
        <p:spPr bwMode="auto">
          <a:xfrm>
            <a:off x="4286250" y="30591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0760" name="TextBox 61"/>
          <p:cNvSpPr txBox="1">
            <a:spLocks noChangeArrowheads="1"/>
          </p:cNvSpPr>
          <p:nvPr/>
        </p:nvSpPr>
        <p:spPr bwMode="auto">
          <a:xfrm>
            <a:off x="4286250" y="43449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0761" name="TextBox 62"/>
          <p:cNvSpPr txBox="1">
            <a:spLocks noChangeArrowheads="1"/>
          </p:cNvSpPr>
          <p:nvPr/>
        </p:nvSpPr>
        <p:spPr bwMode="auto">
          <a:xfrm>
            <a:off x="5786438" y="227330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0762" name="TextBox 63"/>
          <p:cNvSpPr txBox="1">
            <a:spLocks noChangeArrowheads="1"/>
          </p:cNvSpPr>
          <p:nvPr/>
        </p:nvSpPr>
        <p:spPr bwMode="auto">
          <a:xfrm>
            <a:off x="5786438" y="3702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0763" name="TextBox 64"/>
          <p:cNvSpPr txBox="1">
            <a:spLocks noChangeArrowheads="1"/>
          </p:cNvSpPr>
          <p:nvPr/>
        </p:nvSpPr>
        <p:spPr bwMode="auto">
          <a:xfrm>
            <a:off x="7429500" y="3000375"/>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spTree>
    <p:extLst>
      <p:ext uri="{BB962C8B-B14F-4D97-AF65-F5344CB8AC3E}">
        <p14:creationId xmlns:p14="http://schemas.microsoft.com/office/powerpoint/2010/main" val="862405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Cost on the Edges</a:t>
            </a:r>
            <a:endParaRPr lang="en-GB" altLang="en-US" dirty="0"/>
          </a:p>
        </p:txBody>
      </p:sp>
      <p:graphicFrame>
        <p:nvGraphicFramePr>
          <p:cNvPr id="7" name="Table 6"/>
          <p:cNvGraphicFramePr>
            <a:graphicFrameLocks noGrp="1"/>
          </p:cNvGraphicFramePr>
          <p:nvPr/>
        </p:nvGraphicFramePr>
        <p:xfrm>
          <a:off x="642938" y="1357313"/>
          <a:ext cx="7786687" cy="4651380"/>
        </p:xfrm>
        <a:graphic>
          <a:graphicData uri="http://schemas.openxmlformats.org/drawingml/2006/table">
            <a:tbl>
              <a:tblPr/>
              <a:tblGrid>
                <a:gridCol w="779462">
                  <a:extLst>
                    <a:ext uri="{9D8B030D-6E8A-4147-A177-3AD203B41FA5}">
                      <a16:colId xmlns:a16="http://schemas.microsoft.com/office/drawing/2014/main" val="20000"/>
                    </a:ext>
                  </a:extLst>
                </a:gridCol>
                <a:gridCol w="777875">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77875">
                  <a:extLst>
                    <a:ext uri="{9D8B030D-6E8A-4147-A177-3AD203B41FA5}">
                      <a16:colId xmlns:a16="http://schemas.microsoft.com/office/drawing/2014/main" val="20003"/>
                    </a:ext>
                  </a:extLst>
                </a:gridCol>
                <a:gridCol w="779462">
                  <a:extLst>
                    <a:ext uri="{9D8B030D-6E8A-4147-A177-3AD203B41FA5}">
                      <a16:colId xmlns:a16="http://schemas.microsoft.com/office/drawing/2014/main" val="20004"/>
                    </a:ext>
                  </a:extLst>
                </a:gridCol>
                <a:gridCol w="777875">
                  <a:extLst>
                    <a:ext uri="{9D8B030D-6E8A-4147-A177-3AD203B41FA5}">
                      <a16:colId xmlns:a16="http://schemas.microsoft.com/office/drawing/2014/main" val="20005"/>
                    </a:ext>
                  </a:extLst>
                </a:gridCol>
                <a:gridCol w="779463">
                  <a:extLst>
                    <a:ext uri="{9D8B030D-6E8A-4147-A177-3AD203B41FA5}">
                      <a16:colId xmlns:a16="http://schemas.microsoft.com/office/drawing/2014/main" val="20006"/>
                    </a:ext>
                  </a:extLst>
                </a:gridCol>
                <a:gridCol w="777875">
                  <a:extLst>
                    <a:ext uri="{9D8B030D-6E8A-4147-A177-3AD203B41FA5}">
                      <a16:colId xmlns:a16="http://schemas.microsoft.com/office/drawing/2014/main" val="20007"/>
                    </a:ext>
                  </a:extLst>
                </a:gridCol>
                <a:gridCol w="779462">
                  <a:extLst>
                    <a:ext uri="{9D8B030D-6E8A-4147-A177-3AD203B41FA5}">
                      <a16:colId xmlns:a16="http://schemas.microsoft.com/office/drawing/2014/main" val="20008"/>
                    </a:ext>
                  </a:extLst>
                </a:gridCol>
                <a:gridCol w="777875">
                  <a:extLst>
                    <a:ext uri="{9D8B030D-6E8A-4147-A177-3AD203B41FA5}">
                      <a16:colId xmlns:a16="http://schemas.microsoft.com/office/drawing/2014/main" val="20009"/>
                    </a:ext>
                  </a:extLst>
                </a:gridCol>
              </a:tblGrid>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B</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C</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D</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E</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F</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G</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H</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I</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J</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A</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22</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B</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16</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C</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22</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16</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22</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D</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22</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4"/>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E</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16</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18</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5"/>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F</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18</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11</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6"/>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G</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13</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7"/>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H</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a:noFill/>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23</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8"/>
                  </a:ext>
                </a:extLst>
              </a:tr>
              <a:tr h="4651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I</a:t>
                      </a:r>
                      <a:endParaRPr kumimoji="0" lang="en-GB" sz="1800" b="1" i="0" u="none" strike="noStrike" cap="none" normalizeH="0" baseline="0">
                        <a:ln>
                          <a:noFill/>
                        </a:ln>
                        <a:solidFill>
                          <a:srgbClr val="FFFFFF"/>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29</a:t>
                      </a:r>
                      <a:endParaRPr kumimoji="0" lang="en-GB" sz="1800" b="0" i="0" u="none" strike="noStrike" cap="none" normalizeH="0" baseline="0">
                        <a:ln>
                          <a:noFill/>
                        </a:ln>
                        <a:solidFill>
                          <a:srgbClr val="000000"/>
                        </a:solidFill>
                        <a:effectLst/>
                        <a:latin typeface="Gill Sans MT" pitchFamily="34" charset="0"/>
                      </a:endParaRPr>
                    </a:p>
                  </a:txBody>
                  <a:tcPr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45187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Decomposition</a:t>
            </a:r>
            <a:endParaRPr lang="en-GB" altLang="en-US"/>
          </a:p>
        </p:txBody>
      </p:sp>
      <p:sp>
        <p:nvSpPr>
          <p:cNvPr id="7" name="Oval 6"/>
          <p:cNvSpPr/>
          <p:nvPr/>
        </p:nvSpPr>
        <p:spPr>
          <a:xfrm>
            <a:off x="1285875"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8" name="Oval 7"/>
          <p:cNvSpPr/>
          <p:nvPr/>
        </p:nvSpPr>
        <p:spPr>
          <a:xfrm>
            <a:off x="2500313"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stCxn id="7" idx="7"/>
            <a:endCxn id="8" idx="3"/>
          </p:cNvCxnSpPr>
          <p:nvPr/>
        </p:nvCxnSpPr>
        <p:spPr>
          <a:xfrm rot="5400000" flipH="1" flipV="1">
            <a:off x="1458912" y="2744788"/>
            <a:ext cx="1154113"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9" idx="2"/>
          </p:cNvCxnSpPr>
          <p:nvPr/>
        </p:nvCxnSpPr>
        <p:spPr>
          <a:xfrm>
            <a:off x="1571625" y="3929063"/>
            <a:ext cx="9286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rot="16200000" flipH="1">
            <a:off x="1494631" y="4066382"/>
            <a:ext cx="1082675"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a:off x="2786063" y="2571750"/>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5717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6733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929063"/>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4000500"/>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780632"/>
            <a:ext cx="1082675" cy="1582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4423569"/>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16" idx="1"/>
          </p:cNvCxnSpPr>
          <p:nvPr/>
        </p:nvCxnSpPr>
        <p:spPr>
          <a:xfrm rot="16200000" flipH="1">
            <a:off x="4280694"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2" name="TextBox 55"/>
          <p:cNvSpPr txBox="1">
            <a:spLocks noChangeArrowheads="1"/>
          </p:cNvSpPr>
          <p:nvPr/>
        </p:nvSpPr>
        <p:spPr bwMode="auto">
          <a:xfrm>
            <a:off x="928688" y="3702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endParaRPr lang="en-GB" altLang="en-US"/>
          </a:p>
        </p:txBody>
      </p:sp>
      <p:sp>
        <p:nvSpPr>
          <p:cNvPr id="32803" name="TextBox 56"/>
          <p:cNvSpPr txBox="1">
            <a:spLocks noChangeArrowheads="1"/>
          </p:cNvSpPr>
          <p:nvPr/>
        </p:nvSpPr>
        <p:spPr bwMode="auto">
          <a:xfrm>
            <a:off x="2500313" y="2058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2804" name="TextBox 57"/>
          <p:cNvSpPr txBox="1">
            <a:spLocks noChangeArrowheads="1"/>
          </p:cNvSpPr>
          <p:nvPr/>
        </p:nvSpPr>
        <p:spPr bwMode="auto">
          <a:xfrm>
            <a:off x="2500313" y="348773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2805" name="TextBox 58"/>
          <p:cNvSpPr txBox="1">
            <a:spLocks noChangeArrowheads="1"/>
          </p:cNvSpPr>
          <p:nvPr/>
        </p:nvSpPr>
        <p:spPr bwMode="auto">
          <a:xfrm>
            <a:off x="2500313" y="47736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2806"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2807"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2808"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2809"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2810"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2811"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009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42144" y="3713957"/>
            <a:ext cx="5000625"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2817"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2818"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p:sp>
        <p:nvSpPr>
          <p:cNvPr id="32819" name="TextBox 67"/>
          <p:cNvSpPr txBox="1">
            <a:spLocks noChangeArrowheads="1"/>
          </p:cNvSpPr>
          <p:nvPr/>
        </p:nvSpPr>
        <p:spPr bwMode="auto">
          <a:xfrm>
            <a:off x="2286000" y="1344613"/>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3</a:t>
            </a:r>
            <a:endParaRPr lang="en-GB" altLang="en-US"/>
          </a:p>
        </p:txBody>
      </p:sp>
      <p:sp>
        <p:nvSpPr>
          <p:cNvPr id="32820" name="TextBox 68"/>
          <p:cNvSpPr txBox="1">
            <a:spLocks noChangeArrowheads="1"/>
          </p:cNvSpPr>
          <p:nvPr/>
        </p:nvSpPr>
        <p:spPr bwMode="auto">
          <a:xfrm>
            <a:off x="785813" y="13446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4</a:t>
            </a:r>
            <a:endParaRPr lang="en-GB" altLang="en-US"/>
          </a:p>
        </p:txBody>
      </p:sp>
    </p:spTree>
    <p:extLst>
      <p:ext uri="{BB962C8B-B14F-4D97-AF65-F5344CB8AC3E}">
        <p14:creationId xmlns:p14="http://schemas.microsoft.com/office/powerpoint/2010/main" val="383500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a:t>Decomposition</a:t>
            </a:r>
            <a:endParaRPr lang="en-GB" altLang="en-US"/>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9"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2810"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2811"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2817" name="TextBox 65"/>
          <p:cNvSpPr txBox="1">
            <a:spLocks noChangeArrowheads="1"/>
          </p:cNvSpPr>
          <p:nvPr/>
        </p:nvSpPr>
        <p:spPr bwMode="auto">
          <a:xfrm>
            <a:off x="5250657"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p:sp>
        <p:nvSpPr>
          <p:cNvPr id="54" name="TextBox 53"/>
          <p:cNvSpPr txBox="1">
            <a:spLocks noChangeArrowheads="1"/>
          </p:cNvSpPr>
          <p:nvPr/>
        </p:nvSpPr>
        <p:spPr bwMode="auto">
          <a:xfrm>
            <a:off x="6241562" y="312634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23</a:t>
            </a:r>
            <a:endParaRPr lang="en-GB" altLang="en-US" dirty="0">
              <a:solidFill>
                <a:srgbClr val="0070C0"/>
              </a:solidFill>
            </a:endParaRPr>
          </a:p>
        </p:txBody>
      </p:sp>
      <p:sp>
        <p:nvSpPr>
          <p:cNvPr id="56" name="TextBox 55"/>
          <p:cNvSpPr txBox="1">
            <a:spLocks noChangeArrowheads="1"/>
          </p:cNvSpPr>
          <p:nvPr/>
        </p:nvSpPr>
        <p:spPr bwMode="auto">
          <a:xfrm>
            <a:off x="6245607" y="404033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29</a:t>
            </a:r>
            <a:endParaRPr lang="en-GB" altLang="en-US" dirty="0">
              <a:solidFill>
                <a:srgbClr val="0070C0"/>
              </a:solidFill>
            </a:endParaRPr>
          </a:p>
        </p:txBody>
      </p:sp>
      <p:sp>
        <p:nvSpPr>
          <p:cNvPr id="2" name="Rectangle 1"/>
          <p:cNvSpPr/>
          <p:nvPr/>
        </p:nvSpPr>
        <p:spPr>
          <a:xfrm>
            <a:off x="70364" y="1961438"/>
            <a:ext cx="4572000" cy="369332"/>
          </a:xfrm>
          <a:prstGeom prst="rect">
            <a:avLst/>
          </a:prstGeom>
        </p:spPr>
        <p:txBody>
          <a:bodyPr>
            <a:spAutoFit/>
          </a:bodyPr>
          <a:lstStyle/>
          <a:p>
            <a:r>
              <a:rPr lang="en-US" altLang="en-US" dirty="0"/>
              <a:t>What is the shortest path from H to J?</a:t>
            </a:r>
          </a:p>
        </p:txBody>
      </p:sp>
      <p:sp>
        <p:nvSpPr>
          <p:cNvPr id="57" name="Rectangle 56"/>
          <p:cNvSpPr/>
          <p:nvPr/>
        </p:nvSpPr>
        <p:spPr>
          <a:xfrm>
            <a:off x="17463" y="2435114"/>
            <a:ext cx="4572000" cy="369332"/>
          </a:xfrm>
          <a:prstGeom prst="rect">
            <a:avLst/>
          </a:prstGeom>
        </p:spPr>
        <p:txBody>
          <a:bodyPr>
            <a:spAutoFit/>
          </a:bodyPr>
          <a:lstStyle/>
          <a:p>
            <a:r>
              <a:rPr lang="en-US" altLang="en-US" dirty="0"/>
              <a:t>What is the shortest path from I to J?</a:t>
            </a:r>
          </a:p>
        </p:txBody>
      </p:sp>
      <p:sp>
        <p:nvSpPr>
          <p:cNvPr id="58" name="Rectangle 57"/>
          <p:cNvSpPr/>
          <p:nvPr/>
        </p:nvSpPr>
        <p:spPr>
          <a:xfrm>
            <a:off x="-343991" y="2981488"/>
            <a:ext cx="4572000" cy="369332"/>
          </a:xfrm>
          <a:prstGeom prst="rect">
            <a:avLst/>
          </a:prstGeom>
        </p:spPr>
        <p:txBody>
          <a:bodyPr>
            <a:spAutoFit/>
          </a:bodyPr>
          <a:lstStyle/>
          <a:p>
            <a:r>
              <a:rPr lang="en-US" altLang="en-US" dirty="0"/>
              <a:t>How do we save them down?</a:t>
            </a:r>
          </a:p>
        </p:txBody>
      </p:sp>
    </p:spTree>
    <p:extLst>
      <p:ext uri="{BB962C8B-B14F-4D97-AF65-F5344CB8AC3E}">
        <p14:creationId xmlns:p14="http://schemas.microsoft.com/office/powerpoint/2010/main" val="788512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State</a:t>
            </a:r>
            <a:endParaRPr lang="en-GB" altLang="en-US" sz="2800" dirty="0"/>
          </a:p>
        </p:txBody>
      </p:sp>
      <p:sp>
        <p:nvSpPr>
          <p:cNvPr id="47107" name="Content Placeholder 2"/>
          <p:cNvSpPr>
            <a:spLocks noGrp="1"/>
          </p:cNvSpPr>
          <p:nvPr>
            <p:ph sz="quarter" idx="1"/>
          </p:nvPr>
        </p:nvSpPr>
        <p:spPr>
          <a:xfrm>
            <a:off x="94464" y="1653657"/>
            <a:ext cx="8741527" cy="3967497"/>
          </a:xfrm>
        </p:spPr>
        <p:txBody>
          <a:bodyPr/>
          <a:lstStyle/>
          <a:p>
            <a:r>
              <a:rPr lang="en-US" altLang="en-US" dirty="0">
                <a:effectLst/>
              </a:rPr>
              <a:t>State: An information set upon which the decisions are based.</a:t>
            </a:r>
          </a:p>
          <a:p>
            <a:endParaRPr lang="en-US" altLang="en-US" dirty="0">
              <a:effectLst/>
            </a:endParaRPr>
          </a:p>
          <a:p>
            <a:r>
              <a:rPr lang="en-US" altLang="en-US" dirty="0">
                <a:effectLst/>
              </a:rPr>
              <a:t>Finding a good state representation is the </a:t>
            </a:r>
            <a:r>
              <a:rPr lang="en-US" altLang="en-US" dirty="0">
                <a:solidFill>
                  <a:srgbClr val="FF0000"/>
                </a:solidFill>
                <a:effectLst/>
              </a:rPr>
              <a:t>art </a:t>
            </a:r>
            <a:r>
              <a:rPr lang="en-US" altLang="en-US" dirty="0">
                <a:effectLst/>
              </a:rPr>
              <a:t>of dynamic programming</a:t>
            </a:r>
          </a:p>
          <a:p>
            <a:endParaRPr lang="en-US" altLang="en-US" dirty="0"/>
          </a:p>
          <a:p>
            <a:endParaRPr lang="en-US" altLang="en-US" dirty="0"/>
          </a:p>
        </p:txBody>
      </p:sp>
    </p:spTree>
    <p:extLst>
      <p:ext uri="{BB962C8B-B14F-4D97-AF65-F5344CB8AC3E}">
        <p14:creationId xmlns:p14="http://schemas.microsoft.com/office/powerpoint/2010/main" val="43848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State</a:t>
            </a:r>
            <a:endParaRPr lang="en-GB" altLang="en-US" dirty="0"/>
          </a:p>
        </p:txBody>
      </p:sp>
      <p:sp>
        <p:nvSpPr>
          <p:cNvPr id="7" name="Oval 6"/>
          <p:cNvSpPr/>
          <p:nvPr/>
        </p:nvSpPr>
        <p:spPr>
          <a:xfrm>
            <a:off x="1285875"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8" name="Oval 7"/>
          <p:cNvSpPr/>
          <p:nvPr/>
        </p:nvSpPr>
        <p:spPr>
          <a:xfrm>
            <a:off x="2500313"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stCxn id="7" idx="7"/>
            <a:endCxn id="8" idx="3"/>
          </p:cNvCxnSpPr>
          <p:nvPr/>
        </p:nvCxnSpPr>
        <p:spPr>
          <a:xfrm rot="5400000" flipH="1" flipV="1">
            <a:off x="1458912" y="2744788"/>
            <a:ext cx="1154113"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9" idx="2"/>
          </p:cNvCxnSpPr>
          <p:nvPr/>
        </p:nvCxnSpPr>
        <p:spPr>
          <a:xfrm>
            <a:off x="1571625" y="3929063"/>
            <a:ext cx="9286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rot="16200000" flipH="1">
            <a:off x="1494631" y="4066382"/>
            <a:ext cx="1082675"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a:off x="2786063" y="2571750"/>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5717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6733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929063"/>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4000500"/>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780632"/>
            <a:ext cx="1082675" cy="1582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4423569"/>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16" idx="1"/>
          </p:cNvCxnSpPr>
          <p:nvPr/>
        </p:nvCxnSpPr>
        <p:spPr>
          <a:xfrm rot="16200000" flipH="1">
            <a:off x="4280694"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2" name="TextBox 55"/>
          <p:cNvSpPr txBox="1">
            <a:spLocks noChangeArrowheads="1"/>
          </p:cNvSpPr>
          <p:nvPr/>
        </p:nvSpPr>
        <p:spPr bwMode="auto">
          <a:xfrm>
            <a:off x="928688" y="3702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endParaRPr lang="en-GB" altLang="en-US"/>
          </a:p>
        </p:txBody>
      </p:sp>
      <p:sp>
        <p:nvSpPr>
          <p:cNvPr id="32803" name="TextBox 56"/>
          <p:cNvSpPr txBox="1">
            <a:spLocks noChangeArrowheads="1"/>
          </p:cNvSpPr>
          <p:nvPr/>
        </p:nvSpPr>
        <p:spPr bwMode="auto">
          <a:xfrm>
            <a:off x="2500313" y="2058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2804" name="TextBox 57"/>
          <p:cNvSpPr txBox="1">
            <a:spLocks noChangeArrowheads="1"/>
          </p:cNvSpPr>
          <p:nvPr/>
        </p:nvSpPr>
        <p:spPr bwMode="auto">
          <a:xfrm>
            <a:off x="2500313" y="348773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2805" name="TextBox 58"/>
          <p:cNvSpPr txBox="1">
            <a:spLocks noChangeArrowheads="1"/>
          </p:cNvSpPr>
          <p:nvPr/>
        </p:nvSpPr>
        <p:spPr bwMode="auto">
          <a:xfrm>
            <a:off x="2500313" y="47736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2806"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2807"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2808"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2809"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2810"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2811"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009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42144" y="3713957"/>
            <a:ext cx="5000625"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2817"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2818"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p:sp>
        <p:nvSpPr>
          <p:cNvPr id="32819" name="TextBox 67"/>
          <p:cNvSpPr txBox="1">
            <a:spLocks noChangeArrowheads="1"/>
          </p:cNvSpPr>
          <p:nvPr/>
        </p:nvSpPr>
        <p:spPr bwMode="auto">
          <a:xfrm>
            <a:off x="2286000" y="1344613"/>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3</a:t>
            </a:r>
            <a:endParaRPr lang="en-GB" altLang="en-US"/>
          </a:p>
        </p:txBody>
      </p:sp>
      <p:sp>
        <p:nvSpPr>
          <p:cNvPr id="32820" name="TextBox 68"/>
          <p:cNvSpPr txBox="1">
            <a:spLocks noChangeArrowheads="1"/>
          </p:cNvSpPr>
          <p:nvPr/>
        </p:nvSpPr>
        <p:spPr bwMode="auto">
          <a:xfrm>
            <a:off x="785813" y="13446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4</a:t>
            </a:r>
            <a:endParaRPr lang="en-GB" altLang="en-US"/>
          </a:p>
        </p:txBody>
      </p:sp>
      <p:cxnSp>
        <p:nvCxnSpPr>
          <p:cNvPr id="71" name="Straight Arrow Connector 70"/>
          <p:cNvCxnSpPr>
            <a:endCxn id="32809" idx="2"/>
          </p:cNvCxnSpPr>
          <p:nvPr/>
        </p:nvCxnSpPr>
        <p:spPr>
          <a:xfrm rot="10800000" flipV="1">
            <a:off x="6037263" y="2286000"/>
            <a:ext cx="1106487" cy="78581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endCxn id="32810" idx="2"/>
          </p:cNvCxnSpPr>
          <p:nvPr/>
        </p:nvCxnSpPr>
        <p:spPr>
          <a:xfrm rot="5400000">
            <a:off x="5483225" y="2840038"/>
            <a:ext cx="2214563" cy="110648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rot="16200000" flipH="1">
            <a:off x="6607969" y="2821781"/>
            <a:ext cx="1500188" cy="4286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6" name="TextBox 75"/>
          <p:cNvSpPr txBox="1">
            <a:spLocks noChangeArrowheads="1"/>
          </p:cNvSpPr>
          <p:nvPr/>
        </p:nvSpPr>
        <p:spPr bwMode="auto">
          <a:xfrm>
            <a:off x="6858000" y="1928813"/>
            <a:ext cx="12144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States</a:t>
            </a:r>
            <a:endParaRPr lang="en-GB" altLang="en-US"/>
          </a:p>
        </p:txBody>
      </p:sp>
      <p:cxnSp>
        <p:nvCxnSpPr>
          <p:cNvPr id="54" name="Straight Arrow Connector 53"/>
          <p:cNvCxnSpPr/>
          <p:nvPr/>
        </p:nvCxnSpPr>
        <p:spPr>
          <a:xfrm flipH="1">
            <a:off x="4652319" y="2298700"/>
            <a:ext cx="2491431" cy="19736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endCxn id="32804" idx="2"/>
          </p:cNvCxnSpPr>
          <p:nvPr/>
        </p:nvCxnSpPr>
        <p:spPr>
          <a:xfrm flipH="1">
            <a:off x="2750344" y="2316163"/>
            <a:ext cx="4321969" cy="154146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972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blinds(horizontal)">
                                      <p:cBhvr>
                                        <p:cTn id="7" dur="500"/>
                                        <p:tgtEl>
                                          <p:spTgt spid="76"/>
                                        </p:tgtEl>
                                      </p:cBhvr>
                                    </p:animEffect>
                                  </p:childTnLst>
                                </p:cTn>
                              </p:par>
                              <p:par>
                                <p:cTn id="8" presetID="3" presetClass="entr" presetSubtype="10"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blinds(horizontal)">
                                      <p:cBhvr>
                                        <p:cTn id="10" dur="500"/>
                                        <p:tgtEl>
                                          <p:spTgt spid="71"/>
                                        </p:tgtEl>
                                      </p:cBhvr>
                                    </p:animEffect>
                                  </p:childTnLst>
                                </p:cTn>
                              </p:par>
                              <p:par>
                                <p:cTn id="11" presetID="3" presetClass="entr" presetSubtype="1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blinds(horizontal)">
                                      <p:cBhvr>
                                        <p:cTn id="13" dur="500"/>
                                        <p:tgtEl>
                                          <p:spTgt spid="73"/>
                                        </p:tgtEl>
                                      </p:cBhvr>
                                    </p:animEffect>
                                  </p:childTnLst>
                                </p:cTn>
                              </p:par>
                              <p:par>
                                <p:cTn id="14" presetID="3" presetClass="entr" presetSubtype="10" fill="hold"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blinds(horizontal)">
                                      <p:cBhvr>
                                        <p:cTn id="16" dur="500"/>
                                        <p:tgtEl>
                                          <p:spTgt spid="75"/>
                                        </p:tgtEl>
                                      </p:cBhvr>
                                    </p:animEffect>
                                  </p:childTnLst>
                                </p:cTn>
                              </p:par>
                              <p:par>
                                <p:cTn id="17" presetID="3" presetClass="entr" presetSubtype="10" fill="hold"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blinds(horizontal)">
                                      <p:cBhvr>
                                        <p:cTn id="19" dur="500"/>
                                        <p:tgtEl>
                                          <p:spTgt spid="54"/>
                                        </p:tgtEl>
                                      </p:cBhvr>
                                    </p:animEffect>
                                  </p:childTnLst>
                                </p:cTn>
                              </p:par>
                              <p:par>
                                <p:cTn id="20" presetID="3" presetClass="entr" presetSubtype="10"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blinds(horizontal)">
                                      <p:cBhvr>
                                        <p:cTn id="2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Value Function</a:t>
            </a:r>
          </a:p>
        </p:txBody>
      </p:sp>
      <mc:AlternateContent xmlns:mc="http://schemas.openxmlformats.org/markup-compatibility/2006" xmlns:a14="http://schemas.microsoft.com/office/drawing/2010/main">
        <mc:Choice Requires="a14">
          <p:sp>
            <p:nvSpPr>
              <p:cNvPr id="109571" name="Rectangle 3"/>
              <p:cNvSpPr>
                <a:spLocks noGrp="1" noChangeArrowheads="1"/>
              </p:cNvSpPr>
              <p:nvPr>
                <p:ph type="body" idx="1"/>
              </p:nvPr>
            </p:nvSpPr>
            <p:spPr>
              <a:xfrm>
                <a:off x="0" y="542246"/>
                <a:ext cx="9110663" cy="5472113"/>
              </a:xfrm>
            </p:spPr>
            <p:txBody>
              <a:bodyPr/>
              <a:lstStyle/>
              <a:p>
                <a:pPr marL="0" indent="0">
                  <a:buNone/>
                  <a:defRPr/>
                </a:pPr>
                <a:endParaRPr lang="en-US" altLang="zh-CN" dirty="0">
                  <a:ea typeface="宋体" pitchFamily="2" charset="-122"/>
                </a:endParaRPr>
              </a:p>
              <a:p>
                <a:r>
                  <a:rPr lang="en-US" altLang="en-US" sz="2800" dirty="0">
                    <a:effectLst/>
                  </a:rPr>
                  <a:t>The value function now depends on both stage and state: </a:t>
                </a:r>
              </a:p>
              <a:p>
                <a:pPr marL="0" indent="0">
                  <a:buNone/>
                </a:pPr>
                <a:r>
                  <a:rPr lang="en-US" altLang="zh-CN" sz="2800" dirty="0">
                    <a:effectLst/>
                    <a:ea typeface="宋体" pitchFamily="2" charset="-122"/>
                  </a:rPr>
                  <a:t>                                      </a:t>
                </a:r>
                <a14:m>
                  <m:oMath xmlns:m="http://schemas.openxmlformats.org/officeDocument/2006/math">
                    <m:r>
                      <a:rPr lang="en-US" altLang="zh-CN" sz="2800" i="1" dirty="0">
                        <a:effectLst/>
                        <a:latin typeface="Cambria Math" panose="02040503050406030204" pitchFamily="18" charset="0"/>
                        <a:ea typeface="宋体" pitchFamily="2" charset="-122"/>
                      </a:rPr>
                      <m:t>𝑽</m:t>
                    </m:r>
                    <m:d>
                      <m:dPr>
                        <m:ctrlPr>
                          <a:rPr lang="en-US" altLang="zh-CN" sz="2800" i="1" dirty="0">
                            <a:effectLst/>
                            <a:latin typeface="Cambria Math" panose="02040503050406030204" pitchFamily="18" charset="0"/>
                            <a:ea typeface="宋体" pitchFamily="2" charset="-122"/>
                          </a:rPr>
                        </m:ctrlPr>
                      </m:dPr>
                      <m:e>
                        <m:r>
                          <a:rPr lang="en-US" altLang="zh-CN" sz="2800" i="1" dirty="0">
                            <a:effectLst/>
                            <a:latin typeface="Cambria Math" panose="02040503050406030204" pitchFamily="18" charset="0"/>
                            <a:ea typeface="宋体" pitchFamily="2" charset="-122"/>
                          </a:rPr>
                          <m:t>𝒌</m:t>
                        </m:r>
                        <m:r>
                          <a:rPr lang="en-US" altLang="zh-CN" sz="2800" i="1" dirty="0">
                            <a:effectLst/>
                            <a:latin typeface="Cambria Math" panose="02040503050406030204" pitchFamily="18" charset="0"/>
                            <a:ea typeface="宋体" pitchFamily="2" charset="-122"/>
                          </a:rPr>
                          <m:t>, </m:t>
                        </m:r>
                        <m:r>
                          <a:rPr lang="en-US" altLang="zh-CN" sz="2800" i="1" dirty="0">
                            <a:effectLst/>
                            <a:latin typeface="Cambria Math" panose="02040503050406030204" pitchFamily="18" charset="0"/>
                            <a:ea typeface="宋体" pitchFamily="2" charset="-122"/>
                          </a:rPr>
                          <m:t>𝒊</m:t>
                        </m:r>
                      </m:e>
                    </m:d>
                  </m:oMath>
                </a14:m>
                <a:endParaRPr lang="en-US" altLang="en-US" sz="2800" dirty="0">
                  <a:effectLst/>
                </a:endParaRPr>
              </a:p>
              <a:p>
                <a:pPr marL="0" indent="0">
                  <a:buNone/>
                </a:pPr>
                <a:endParaRPr lang="en-US" altLang="en-US" sz="2800" dirty="0">
                  <a:effectLst/>
                </a:endParaRPr>
              </a:p>
              <a:p>
                <a:pPr marL="0" indent="0">
                  <a:buNone/>
                </a:pPr>
                <a:endParaRPr lang="en-US" altLang="en-US" sz="2800" dirty="0">
                  <a:effectLst/>
                </a:endParaRPr>
              </a:p>
              <a:p>
                <a:pPr marL="0" indent="0">
                  <a:buNone/>
                </a:pPr>
                <a:endParaRPr lang="en-US" altLang="en-US" sz="2800" dirty="0">
                  <a:effectLst/>
                </a:endParaRPr>
              </a:p>
              <a:p>
                <a:pPr marL="396875" lvl="1" indent="0">
                  <a:buNone/>
                </a:pPr>
                <a:r>
                  <a:rPr lang="en-US" altLang="en-US" sz="2600">
                    <a:effectLst/>
                  </a:rPr>
                  <a:t>Sometimes </a:t>
                </a:r>
                <a:r>
                  <a:rPr lang="en-US" altLang="en-US" sz="2600" dirty="0">
                    <a:effectLst/>
                  </a:rPr>
                  <a:t>also written as </a:t>
                </a:r>
                <a14:m>
                  <m:oMath xmlns:m="http://schemas.openxmlformats.org/officeDocument/2006/math">
                    <m:sSub>
                      <m:sSubPr>
                        <m:ctrlPr>
                          <a:rPr lang="en-US" altLang="zh-CN" sz="2400" b="1" i="1" dirty="0" smtClean="0">
                            <a:effectLst/>
                            <a:latin typeface="Cambria Math" panose="02040503050406030204" pitchFamily="18" charset="0"/>
                            <a:ea typeface="宋体" pitchFamily="2" charset="-122"/>
                          </a:rPr>
                        </m:ctrlPr>
                      </m:sSubPr>
                      <m:e>
                        <m:r>
                          <a:rPr lang="en-US" altLang="zh-CN" sz="2400" b="1" i="1" dirty="0" smtClean="0">
                            <a:effectLst/>
                            <a:latin typeface="Cambria Math" panose="02040503050406030204" pitchFamily="18" charset="0"/>
                            <a:ea typeface="宋体" pitchFamily="2" charset="-122"/>
                          </a:rPr>
                          <m:t>𝑽</m:t>
                        </m:r>
                      </m:e>
                      <m:sub>
                        <m:r>
                          <a:rPr lang="en-US" altLang="zh-CN" sz="2400" b="1" i="1" dirty="0" smtClean="0">
                            <a:effectLst/>
                            <a:latin typeface="Cambria Math" panose="02040503050406030204" pitchFamily="18" charset="0"/>
                            <a:ea typeface="宋体" pitchFamily="2" charset="-122"/>
                          </a:rPr>
                          <m:t>𝒌</m:t>
                        </m:r>
                      </m:sub>
                    </m:sSub>
                    <m:d>
                      <m:dPr>
                        <m:ctrlPr>
                          <a:rPr lang="en-US" altLang="zh-CN" sz="2400" i="1" dirty="0">
                            <a:effectLst/>
                            <a:latin typeface="Cambria Math" panose="02040503050406030204" pitchFamily="18" charset="0"/>
                            <a:ea typeface="宋体" pitchFamily="2" charset="-122"/>
                          </a:rPr>
                        </m:ctrlPr>
                      </m:dPr>
                      <m:e>
                        <m:r>
                          <a:rPr lang="en-US" altLang="zh-CN" sz="2400" i="1" dirty="0">
                            <a:effectLst/>
                            <a:latin typeface="Cambria Math" panose="02040503050406030204" pitchFamily="18" charset="0"/>
                            <a:ea typeface="宋体" pitchFamily="2" charset="-122"/>
                          </a:rPr>
                          <m:t>𝒊</m:t>
                        </m:r>
                      </m:e>
                    </m:d>
                  </m:oMath>
                </a14:m>
                <a:endParaRPr lang="en-US" altLang="en-US" sz="2600" dirty="0"/>
              </a:p>
            </p:txBody>
          </p:sp>
        </mc:Choice>
        <mc:Fallback xmlns="">
          <p:sp>
            <p:nvSpPr>
              <p:cNvPr id="109571" name="Rectangle 3"/>
              <p:cNvSpPr>
                <a:spLocks noGrp="1" noRot="1" noChangeAspect="1" noMove="1" noResize="1" noEditPoints="1" noAdjustHandles="1" noChangeArrowheads="1" noChangeShapeType="1" noTextEdit="1"/>
              </p:cNvSpPr>
              <p:nvPr>
                <p:ph type="body" idx="1"/>
              </p:nvPr>
            </p:nvSpPr>
            <p:spPr>
              <a:xfrm>
                <a:off x="0" y="542246"/>
                <a:ext cx="9110663" cy="5472113"/>
              </a:xfrm>
              <a:blipFill rotWithShape="0">
                <a:blip r:embed="rId3"/>
                <a:stretch>
                  <a:fillRect l="-1204"/>
                </a:stretch>
              </a:blipFill>
            </p:spPr>
            <p:txBody>
              <a:bodyPr/>
              <a:lstStyle/>
              <a:p>
                <a:r>
                  <a:rPr lang="en-SG">
                    <a:noFill/>
                  </a:rPr>
                  <a:t> </a:t>
                </a:r>
              </a:p>
            </p:txBody>
          </p:sp>
        </mc:Fallback>
      </mc:AlternateContent>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cxnSp>
        <p:nvCxnSpPr>
          <p:cNvPr id="3" name="Straight Arrow Connector 2"/>
          <p:cNvCxnSpPr>
            <a:stCxn id="10" idx="0"/>
          </p:cNvCxnSpPr>
          <p:nvPr/>
        </p:nvCxnSpPr>
        <p:spPr bwMode="auto">
          <a:xfrm flipV="1">
            <a:off x="3100625" y="2434281"/>
            <a:ext cx="1230418" cy="945922"/>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sp>
        <p:nvSpPr>
          <p:cNvPr id="10" name="TextBox 9"/>
          <p:cNvSpPr txBox="1">
            <a:spLocks noChangeArrowheads="1"/>
          </p:cNvSpPr>
          <p:nvPr/>
        </p:nvSpPr>
        <p:spPr bwMode="auto">
          <a:xfrm>
            <a:off x="2213107" y="3380203"/>
            <a:ext cx="177503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i="1" dirty="0">
                <a:solidFill>
                  <a:srgbClr val="FF0000"/>
                </a:solidFill>
              </a:rPr>
              <a:t>Stage k</a:t>
            </a:r>
          </a:p>
        </p:txBody>
      </p:sp>
      <p:sp>
        <p:nvSpPr>
          <p:cNvPr id="11" name="TextBox 10"/>
          <p:cNvSpPr txBox="1">
            <a:spLocks noChangeArrowheads="1"/>
          </p:cNvSpPr>
          <p:nvPr/>
        </p:nvSpPr>
        <p:spPr bwMode="auto">
          <a:xfrm>
            <a:off x="5213740" y="3380203"/>
            <a:ext cx="177503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i="1" dirty="0">
                <a:solidFill>
                  <a:srgbClr val="FF0000"/>
                </a:solidFill>
              </a:rPr>
              <a:t>State </a:t>
            </a:r>
            <a:r>
              <a:rPr lang="en-GB" altLang="en-US" b="1" i="1" dirty="0" err="1">
                <a:solidFill>
                  <a:srgbClr val="FF0000"/>
                </a:solidFill>
              </a:rPr>
              <a:t>i</a:t>
            </a:r>
            <a:endParaRPr lang="en-GB" altLang="en-US" b="1" i="1" dirty="0">
              <a:solidFill>
                <a:srgbClr val="FF0000"/>
              </a:solidFill>
            </a:endParaRPr>
          </a:p>
        </p:txBody>
      </p:sp>
      <p:cxnSp>
        <p:nvCxnSpPr>
          <p:cNvPr id="12" name="Straight Arrow Connector 11"/>
          <p:cNvCxnSpPr>
            <a:stCxn id="11" idx="0"/>
          </p:cNvCxnSpPr>
          <p:nvPr/>
        </p:nvCxnSpPr>
        <p:spPr bwMode="auto">
          <a:xfrm flipH="1" flipV="1">
            <a:off x="4583079" y="2434281"/>
            <a:ext cx="1518179" cy="945922"/>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spTree>
    <p:extLst>
      <p:ext uri="{BB962C8B-B14F-4D97-AF65-F5344CB8AC3E}">
        <p14:creationId xmlns:p14="http://schemas.microsoft.com/office/powerpoint/2010/main" val="3213532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Stage 1</a:t>
            </a:r>
            <a:endParaRPr lang="en-GB" altLang="en-US" dirty="0"/>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9"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2810"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2811"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2817" name="TextBox 65"/>
          <p:cNvSpPr txBox="1">
            <a:spLocks noChangeArrowheads="1"/>
          </p:cNvSpPr>
          <p:nvPr/>
        </p:nvSpPr>
        <p:spPr bwMode="auto">
          <a:xfrm>
            <a:off x="5250657"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p:sp>
        <p:nvSpPr>
          <p:cNvPr id="54" name="TextBox 53"/>
          <p:cNvSpPr txBox="1">
            <a:spLocks noChangeArrowheads="1"/>
          </p:cNvSpPr>
          <p:nvPr/>
        </p:nvSpPr>
        <p:spPr bwMode="auto">
          <a:xfrm>
            <a:off x="6241562" y="312634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23</a:t>
            </a:r>
            <a:endParaRPr lang="en-GB" altLang="en-US" dirty="0">
              <a:solidFill>
                <a:srgbClr val="0070C0"/>
              </a:solidFill>
            </a:endParaRPr>
          </a:p>
        </p:txBody>
      </p:sp>
      <p:sp>
        <p:nvSpPr>
          <p:cNvPr id="56" name="TextBox 55"/>
          <p:cNvSpPr txBox="1">
            <a:spLocks noChangeArrowheads="1"/>
          </p:cNvSpPr>
          <p:nvPr/>
        </p:nvSpPr>
        <p:spPr bwMode="auto">
          <a:xfrm>
            <a:off x="6245607" y="404033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29</a:t>
            </a:r>
            <a:endParaRPr lang="en-GB" altLang="en-US" dirty="0">
              <a:solidFill>
                <a:srgbClr val="0070C0"/>
              </a:solidFill>
            </a:endParaRPr>
          </a:p>
        </p:txBody>
      </p:sp>
      <p:sp>
        <p:nvSpPr>
          <p:cNvPr id="2" name="Rectangle 1"/>
          <p:cNvSpPr/>
          <p:nvPr/>
        </p:nvSpPr>
        <p:spPr>
          <a:xfrm>
            <a:off x="70364" y="1961438"/>
            <a:ext cx="4572000" cy="369332"/>
          </a:xfrm>
          <a:prstGeom prst="rect">
            <a:avLst/>
          </a:prstGeom>
        </p:spPr>
        <p:txBody>
          <a:bodyPr>
            <a:spAutoFit/>
          </a:bodyPr>
          <a:lstStyle/>
          <a:p>
            <a:r>
              <a:rPr lang="en-US" altLang="en-US" dirty="0"/>
              <a:t>What is the shortest path from H to J?</a:t>
            </a:r>
          </a:p>
        </p:txBody>
      </p:sp>
      <p:sp>
        <p:nvSpPr>
          <p:cNvPr id="57" name="Rectangle 56"/>
          <p:cNvSpPr/>
          <p:nvPr/>
        </p:nvSpPr>
        <p:spPr>
          <a:xfrm>
            <a:off x="17463" y="2435114"/>
            <a:ext cx="4572000" cy="369332"/>
          </a:xfrm>
          <a:prstGeom prst="rect">
            <a:avLst/>
          </a:prstGeom>
        </p:spPr>
        <p:txBody>
          <a:bodyPr>
            <a:spAutoFit/>
          </a:bodyPr>
          <a:lstStyle/>
          <a:p>
            <a:r>
              <a:rPr lang="en-US" altLang="en-US" dirty="0"/>
              <a:t>What is the shortest path from I to J?</a:t>
            </a:r>
          </a:p>
        </p:txBody>
      </p:sp>
      <p:sp>
        <p:nvSpPr>
          <p:cNvPr id="58" name="Rectangle 57"/>
          <p:cNvSpPr/>
          <p:nvPr/>
        </p:nvSpPr>
        <p:spPr>
          <a:xfrm>
            <a:off x="-343991" y="2981488"/>
            <a:ext cx="4572000" cy="369332"/>
          </a:xfrm>
          <a:prstGeom prst="rect">
            <a:avLst/>
          </a:prstGeom>
        </p:spPr>
        <p:txBody>
          <a:bodyPr>
            <a:spAutoFit/>
          </a:bodyPr>
          <a:lstStyle/>
          <a:p>
            <a:r>
              <a:rPr lang="en-US" altLang="en-US" dirty="0"/>
              <a:t>How do we save them down?</a:t>
            </a:r>
          </a:p>
        </p:txBody>
      </p:sp>
      <mc:AlternateContent xmlns:mc="http://schemas.openxmlformats.org/markup-compatibility/2006" xmlns:a14="http://schemas.microsoft.com/office/drawing/2010/main">
        <mc:Choice Requires="a14">
          <p:sp>
            <p:nvSpPr>
              <p:cNvPr id="19" name="TextBox 18"/>
              <p:cNvSpPr txBox="1">
                <a:spLocks noChangeArrowheads="1"/>
              </p:cNvSpPr>
              <p:nvPr/>
            </p:nvSpPr>
            <p:spPr bwMode="auto">
              <a:xfrm>
                <a:off x="7362393" y="4202668"/>
                <a:ext cx="1528039"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𝑱</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19" name="TextBox 18"/>
              <p:cNvSpPr txBox="1">
                <a:spLocks noRot="1" noChangeAspect="1" noMove="1" noResize="1" noEditPoints="1" noAdjustHandles="1" noChangeArrowheads="1" noChangeShapeType="1" noTextEdit="1"/>
              </p:cNvSpPr>
              <p:nvPr/>
            </p:nvSpPr>
            <p:spPr bwMode="auto">
              <a:xfrm>
                <a:off x="7362393" y="4202668"/>
                <a:ext cx="1528039" cy="369332"/>
              </a:xfrm>
              <a:prstGeom prst="rect">
                <a:avLst/>
              </a:prstGeom>
              <a:blipFill rotWithShape="0">
                <a:blip r:embed="rId2"/>
                <a:stretch>
                  <a:fillRect b="-1147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0" name="TextBox 19"/>
              <p:cNvSpPr txBox="1">
                <a:spLocks noChangeArrowheads="1"/>
              </p:cNvSpPr>
              <p:nvPr/>
            </p:nvSpPr>
            <p:spPr bwMode="auto">
              <a:xfrm>
                <a:off x="5062433" y="225299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𝑯</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𝟐𝟑</m:t>
                    </m:r>
                  </m:oMath>
                </a14:m>
                <a:endParaRPr lang="en-GB" altLang="en-US" b="1" i="1" dirty="0">
                  <a:solidFill>
                    <a:srgbClr val="FF0000"/>
                  </a:solidFill>
                  <a:effectLst/>
                </a:endParaRPr>
              </a:p>
            </p:txBody>
          </p:sp>
        </mc:Choice>
        <mc:Fallback xmlns="">
          <p:sp>
            <p:nvSpPr>
              <p:cNvPr id="20" name="TextBox 19"/>
              <p:cNvSpPr txBox="1">
                <a:spLocks noRot="1" noChangeAspect="1" noMove="1" noResize="1" noEditPoints="1" noAdjustHandles="1" noChangeArrowheads="1" noChangeShapeType="1" noTextEdit="1"/>
              </p:cNvSpPr>
              <p:nvPr/>
            </p:nvSpPr>
            <p:spPr bwMode="auto">
              <a:xfrm>
                <a:off x="5062433" y="2252990"/>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a:spLocks noChangeArrowheads="1"/>
              </p:cNvSpPr>
              <p:nvPr/>
            </p:nvSpPr>
            <p:spPr bwMode="auto">
              <a:xfrm>
                <a:off x="5010943" y="476416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𝑰</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𝟐𝟗</m:t>
                    </m:r>
                  </m:oMath>
                </a14:m>
                <a:endParaRPr lang="en-GB" altLang="en-US" b="1" i="1" dirty="0">
                  <a:solidFill>
                    <a:srgbClr val="FF0000"/>
                  </a:solidFill>
                  <a:effectLst/>
                </a:endParaRPr>
              </a:p>
            </p:txBody>
          </p:sp>
        </mc:Choice>
        <mc:Fallback xmlns="">
          <p:sp>
            <p:nvSpPr>
              <p:cNvPr id="21" name="TextBox 20"/>
              <p:cNvSpPr txBox="1">
                <a:spLocks noRot="1" noChangeAspect="1" noMove="1" noResize="1" noEditPoints="1" noAdjustHandles="1" noChangeArrowheads="1" noChangeShapeType="1" noTextEdit="1"/>
              </p:cNvSpPr>
              <p:nvPr/>
            </p:nvSpPr>
            <p:spPr bwMode="auto">
              <a:xfrm>
                <a:off x="5010943" y="4764160"/>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1383437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Stage 2</a:t>
            </a:r>
            <a:endParaRPr lang="en-GB" altLang="en-US" dirty="0"/>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6200000" flipH="1">
            <a:off x="4254978"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854"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4855"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4856"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4857"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4858"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4859"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J</a:t>
            </a:r>
            <a:endParaRPr lang="en-GB" altLang="en-US" dirty="0"/>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4864"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4865"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4866"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mc:AlternateContent xmlns:mc="http://schemas.openxmlformats.org/markup-compatibility/2006" xmlns:a14="http://schemas.microsoft.com/office/drawing/2010/main">
        <mc:Choice Requires="a14">
          <p:sp>
            <p:nvSpPr>
              <p:cNvPr id="54" name="TextBox 53"/>
              <p:cNvSpPr txBox="1">
                <a:spLocks noChangeArrowheads="1"/>
              </p:cNvSpPr>
              <p:nvPr/>
            </p:nvSpPr>
            <p:spPr bwMode="auto">
              <a:xfrm>
                <a:off x="6856413" y="2936841"/>
                <a:ext cx="1528039"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𝑱</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54" name="TextBox 53"/>
              <p:cNvSpPr txBox="1">
                <a:spLocks noRot="1" noChangeAspect="1" noMove="1" noResize="1" noEditPoints="1" noAdjustHandles="1" noChangeArrowheads="1" noChangeShapeType="1" noTextEdit="1"/>
              </p:cNvSpPr>
              <p:nvPr/>
            </p:nvSpPr>
            <p:spPr bwMode="auto">
              <a:xfrm>
                <a:off x="6856413" y="2936841"/>
                <a:ext cx="1528039" cy="369332"/>
              </a:xfrm>
              <a:prstGeom prst="rect">
                <a:avLst/>
              </a:prstGeom>
              <a:blipFill rotWithShape="0">
                <a:blip r:embed="rId2"/>
                <a:stretch>
                  <a:fillRect b="-11667"/>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56" name="TextBox 55"/>
          <p:cNvSpPr txBox="1">
            <a:spLocks noChangeArrowheads="1"/>
          </p:cNvSpPr>
          <p:nvPr/>
        </p:nvSpPr>
        <p:spPr bwMode="auto">
          <a:xfrm>
            <a:off x="6241562" y="312634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23</a:t>
            </a:r>
            <a:endParaRPr lang="en-GB" altLang="en-US" dirty="0">
              <a:solidFill>
                <a:srgbClr val="0070C0"/>
              </a:solidFill>
            </a:endParaRPr>
          </a:p>
        </p:txBody>
      </p:sp>
      <p:sp>
        <p:nvSpPr>
          <p:cNvPr id="57" name="TextBox 56"/>
          <p:cNvSpPr txBox="1">
            <a:spLocks noChangeArrowheads="1"/>
          </p:cNvSpPr>
          <p:nvPr/>
        </p:nvSpPr>
        <p:spPr bwMode="auto">
          <a:xfrm>
            <a:off x="6245607" y="404033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29</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58" name="TextBox 57"/>
              <p:cNvSpPr txBox="1">
                <a:spLocks noChangeArrowheads="1"/>
              </p:cNvSpPr>
              <p:nvPr/>
            </p:nvSpPr>
            <p:spPr bwMode="auto">
              <a:xfrm>
                <a:off x="5062433" y="225299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𝑯</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𝟐𝟑</m:t>
                    </m:r>
                  </m:oMath>
                </a14:m>
                <a:endParaRPr lang="en-GB" altLang="en-US" b="1" i="1" dirty="0">
                  <a:solidFill>
                    <a:srgbClr val="FF0000"/>
                  </a:solidFill>
                  <a:effectLst/>
                </a:endParaRPr>
              </a:p>
            </p:txBody>
          </p:sp>
        </mc:Choice>
        <mc:Fallback xmlns="">
          <p:sp>
            <p:nvSpPr>
              <p:cNvPr id="58" name="TextBox 57"/>
              <p:cNvSpPr txBox="1">
                <a:spLocks noRot="1" noChangeAspect="1" noMove="1" noResize="1" noEditPoints="1" noAdjustHandles="1" noChangeArrowheads="1" noChangeShapeType="1" noTextEdit="1"/>
              </p:cNvSpPr>
              <p:nvPr/>
            </p:nvSpPr>
            <p:spPr bwMode="auto">
              <a:xfrm>
                <a:off x="5062433" y="2252990"/>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p:cNvSpPr txBox="1">
                <a:spLocks noChangeArrowheads="1"/>
              </p:cNvSpPr>
              <p:nvPr/>
            </p:nvSpPr>
            <p:spPr bwMode="auto">
              <a:xfrm>
                <a:off x="5010943" y="476416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𝑰</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𝟐𝟗</m:t>
                    </m:r>
                  </m:oMath>
                </a14:m>
                <a:endParaRPr lang="en-GB" altLang="en-US" b="1" i="1" dirty="0">
                  <a:solidFill>
                    <a:srgbClr val="FF0000"/>
                  </a:solidFill>
                  <a:effectLst/>
                </a:endParaRPr>
              </a:p>
            </p:txBody>
          </p:sp>
        </mc:Choice>
        <mc:Fallback xmlns="">
          <p:sp>
            <p:nvSpPr>
              <p:cNvPr id="59" name="TextBox 58"/>
              <p:cNvSpPr txBox="1">
                <a:spLocks noRot="1" noChangeAspect="1" noMove="1" noResize="1" noEditPoints="1" noAdjustHandles="1" noChangeArrowheads="1" noChangeShapeType="1" noTextEdit="1"/>
              </p:cNvSpPr>
              <p:nvPr/>
            </p:nvSpPr>
            <p:spPr bwMode="auto">
              <a:xfrm>
                <a:off x="5010943" y="4764160"/>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60" name="TextBox 59"/>
          <p:cNvSpPr txBox="1">
            <a:spLocks noChangeArrowheads="1"/>
          </p:cNvSpPr>
          <p:nvPr/>
        </p:nvSpPr>
        <p:spPr bwMode="auto">
          <a:xfrm>
            <a:off x="4775200" y="265698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16</a:t>
            </a:r>
            <a:endParaRPr lang="en-GB" altLang="en-US" dirty="0">
              <a:solidFill>
                <a:srgbClr val="0070C0"/>
              </a:solidFill>
            </a:endParaRPr>
          </a:p>
        </p:txBody>
      </p:sp>
      <p:sp>
        <p:nvSpPr>
          <p:cNvPr id="61" name="TextBox 60"/>
          <p:cNvSpPr txBox="1">
            <a:spLocks noChangeArrowheads="1"/>
          </p:cNvSpPr>
          <p:nvPr/>
        </p:nvSpPr>
        <p:spPr bwMode="auto">
          <a:xfrm>
            <a:off x="4390022" y="2919358"/>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18</a:t>
            </a:r>
            <a:endParaRPr lang="en-GB" altLang="en-US" dirty="0">
              <a:solidFill>
                <a:srgbClr val="0070C0"/>
              </a:solidFill>
            </a:endParaRPr>
          </a:p>
        </p:txBody>
      </p:sp>
      <p:sp>
        <p:nvSpPr>
          <p:cNvPr id="62" name="TextBox 61"/>
          <p:cNvSpPr txBox="1">
            <a:spLocks noChangeArrowheads="1"/>
          </p:cNvSpPr>
          <p:nvPr/>
        </p:nvSpPr>
        <p:spPr bwMode="auto">
          <a:xfrm>
            <a:off x="4425908" y="3415508"/>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18</a:t>
            </a:r>
            <a:endParaRPr lang="en-GB" altLang="en-US" dirty="0">
              <a:solidFill>
                <a:srgbClr val="0070C0"/>
              </a:solidFill>
            </a:endParaRPr>
          </a:p>
        </p:txBody>
      </p:sp>
      <p:sp>
        <p:nvSpPr>
          <p:cNvPr id="63" name="TextBox 62"/>
          <p:cNvSpPr txBox="1">
            <a:spLocks noChangeArrowheads="1"/>
          </p:cNvSpPr>
          <p:nvPr/>
        </p:nvSpPr>
        <p:spPr bwMode="auto">
          <a:xfrm>
            <a:off x="4431346" y="3943391"/>
            <a:ext cx="799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11</a:t>
            </a:r>
            <a:endParaRPr lang="en-GB" altLang="en-US" dirty="0">
              <a:solidFill>
                <a:srgbClr val="0070C0"/>
              </a:solidFill>
            </a:endParaRPr>
          </a:p>
        </p:txBody>
      </p:sp>
      <p:sp>
        <p:nvSpPr>
          <p:cNvPr id="64" name="TextBox 63"/>
          <p:cNvSpPr txBox="1">
            <a:spLocks noChangeArrowheads="1"/>
          </p:cNvSpPr>
          <p:nvPr/>
        </p:nvSpPr>
        <p:spPr bwMode="auto">
          <a:xfrm>
            <a:off x="4227146" y="452904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15</a:t>
            </a:r>
            <a:endParaRPr lang="en-GB" altLang="en-US" dirty="0">
              <a:solidFill>
                <a:srgbClr val="0070C0"/>
              </a:solidFill>
            </a:endParaRPr>
          </a:p>
        </p:txBody>
      </p:sp>
      <p:sp>
        <p:nvSpPr>
          <p:cNvPr id="65" name="TextBox 64"/>
          <p:cNvSpPr txBox="1">
            <a:spLocks noChangeArrowheads="1"/>
          </p:cNvSpPr>
          <p:nvPr/>
        </p:nvSpPr>
        <p:spPr bwMode="auto">
          <a:xfrm>
            <a:off x="4398437" y="510544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13</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66" name="TextBox 65"/>
              <p:cNvSpPr txBox="1">
                <a:spLocks noChangeArrowheads="1"/>
              </p:cNvSpPr>
              <p:nvPr/>
            </p:nvSpPr>
            <p:spPr bwMode="auto">
              <a:xfrm>
                <a:off x="3364909" y="1708478"/>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𝑬</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𝟑𝟗</m:t>
                    </m:r>
                  </m:oMath>
                </a14:m>
                <a:endParaRPr lang="en-GB" altLang="en-US" b="1" i="1" dirty="0">
                  <a:solidFill>
                    <a:srgbClr val="FF0000"/>
                  </a:solidFill>
                  <a:effectLst>
                    <a:outerShdw blurRad="38100" dist="38100" dir="2700000" algn="tl">
                      <a:srgbClr val="000000">
                        <a:alpha val="43137"/>
                      </a:srgbClr>
                    </a:outerShdw>
                  </a:effectLst>
                </a:endParaRPr>
              </a:p>
            </p:txBody>
          </p:sp>
        </mc:Choice>
        <mc:Fallback xmlns="">
          <p:sp>
            <p:nvSpPr>
              <p:cNvPr id="66" name="TextBox 65"/>
              <p:cNvSpPr txBox="1">
                <a:spLocks noRot="1" noChangeAspect="1" noMove="1" noResize="1" noEditPoints="1" noAdjustHandles="1" noChangeArrowheads="1" noChangeShapeType="1" noTextEdit="1"/>
              </p:cNvSpPr>
              <p:nvPr/>
            </p:nvSpPr>
            <p:spPr bwMode="auto">
              <a:xfrm>
                <a:off x="3364909" y="1708478"/>
                <a:ext cx="1775036"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7" name="TextBox 66"/>
              <p:cNvSpPr txBox="1">
                <a:spLocks noChangeArrowheads="1"/>
              </p:cNvSpPr>
              <p:nvPr/>
            </p:nvSpPr>
            <p:spPr bwMode="auto">
              <a:xfrm>
                <a:off x="3312439" y="3040643"/>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𝑭</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𝟒𝟎</m:t>
                    </m:r>
                  </m:oMath>
                </a14:m>
                <a:endParaRPr lang="en-GB" altLang="en-US" b="1" i="1" dirty="0">
                  <a:solidFill>
                    <a:srgbClr val="FF0000"/>
                  </a:solidFill>
                  <a:effectLst>
                    <a:outerShdw blurRad="38100" dist="38100" dir="2700000" algn="tl">
                      <a:srgbClr val="000000">
                        <a:alpha val="43137"/>
                      </a:srgbClr>
                    </a:outerShdw>
                  </a:effectLst>
                </a:endParaRPr>
              </a:p>
            </p:txBody>
          </p:sp>
        </mc:Choice>
        <mc:Fallback xmlns="">
          <p:sp>
            <p:nvSpPr>
              <p:cNvPr id="67" name="TextBox 66"/>
              <p:cNvSpPr txBox="1">
                <a:spLocks noRot="1" noChangeAspect="1" noMove="1" noResize="1" noEditPoints="1" noAdjustHandles="1" noChangeArrowheads="1" noChangeShapeType="1" noTextEdit="1"/>
              </p:cNvSpPr>
              <p:nvPr/>
            </p:nvSpPr>
            <p:spPr bwMode="auto">
              <a:xfrm>
                <a:off x="3312439" y="3040643"/>
                <a:ext cx="1775036" cy="523220"/>
              </a:xfrm>
              <a:prstGeom prst="rect">
                <a:avLst/>
              </a:prstGeom>
              <a:blipFill rotWithShape="0">
                <a:blip r:embed="rId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8" name="TextBox 67"/>
              <p:cNvSpPr txBox="1">
                <a:spLocks noChangeArrowheads="1"/>
              </p:cNvSpPr>
              <p:nvPr/>
            </p:nvSpPr>
            <p:spPr bwMode="auto">
              <a:xfrm>
                <a:off x="3337905" y="5355478"/>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𝑮</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𝟑𝟖</m:t>
                    </m:r>
                  </m:oMath>
                </a14:m>
                <a:endParaRPr lang="en-GB" altLang="en-US" b="1" i="1" dirty="0">
                  <a:solidFill>
                    <a:srgbClr val="FF0000"/>
                  </a:solidFill>
                  <a:effectLst/>
                </a:endParaRPr>
              </a:p>
            </p:txBody>
          </p:sp>
        </mc:Choice>
        <mc:Fallback xmlns="">
          <p:sp>
            <p:nvSpPr>
              <p:cNvPr id="68" name="TextBox 67"/>
              <p:cNvSpPr txBox="1">
                <a:spLocks noRot="1" noChangeAspect="1" noMove="1" noResize="1" noEditPoints="1" noAdjustHandles="1" noChangeArrowheads="1" noChangeShapeType="1" noTextEdit="1"/>
              </p:cNvSpPr>
              <p:nvPr/>
            </p:nvSpPr>
            <p:spPr bwMode="auto">
              <a:xfrm>
                <a:off x="3337905" y="5355478"/>
                <a:ext cx="1775036" cy="523220"/>
              </a:xfrm>
              <a:prstGeom prst="rect">
                <a:avLst/>
              </a:prstGeom>
              <a:blipFill rotWithShape="0">
                <a:blip r:embed="rId7"/>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cxnSp>
        <p:nvCxnSpPr>
          <p:cNvPr id="69" name="Straight Arrow Connector 68"/>
          <p:cNvCxnSpPr/>
          <p:nvPr/>
        </p:nvCxnSpPr>
        <p:spPr>
          <a:xfrm flipV="1">
            <a:off x="6072187" y="3974477"/>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12" idx="6"/>
            <a:endCxn id="15" idx="1"/>
          </p:cNvCxnSpPr>
          <p:nvPr/>
        </p:nvCxnSpPr>
        <p:spPr>
          <a:xfrm>
            <a:off x="4572000" y="2571750"/>
            <a:ext cx="1256285" cy="54191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13" idx="6"/>
            <a:endCxn id="16" idx="2"/>
          </p:cNvCxnSpPr>
          <p:nvPr/>
        </p:nvCxnSpPr>
        <p:spPr>
          <a:xfrm>
            <a:off x="4572000" y="3929063"/>
            <a:ext cx="1214438" cy="6429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endCxn id="15" idx="3"/>
          </p:cNvCxnSpPr>
          <p:nvPr/>
        </p:nvCxnSpPr>
        <p:spPr>
          <a:xfrm flipV="1">
            <a:off x="4542765" y="3315716"/>
            <a:ext cx="1285520" cy="1797622"/>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734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46"/>
                                        </p:tgtEl>
                                        <p:attrNameLst>
                                          <p:attrName>ppt_x</p:attrName>
                                        </p:attrNameLst>
                                      </p:cBhvr>
                                      <p:tavLst>
                                        <p:tav tm="0">
                                          <p:val>
                                            <p:strVal val="ppt_x"/>
                                          </p:val>
                                        </p:tav>
                                        <p:tav tm="100000">
                                          <p:val>
                                            <p:strVal val="ppt_x"/>
                                          </p:val>
                                        </p:tav>
                                      </p:tavLst>
                                    </p:anim>
                                    <p:anim calcmode="lin" valueType="num">
                                      <p:cBhvr additive="base">
                                        <p:cTn id="7" dur="500"/>
                                        <p:tgtEl>
                                          <p:spTgt spid="46"/>
                                        </p:tgtEl>
                                        <p:attrNameLst>
                                          <p:attrName>ppt_y</p:attrName>
                                        </p:attrNameLst>
                                      </p:cBhvr>
                                      <p:tavLst>
                                        <p:tav tm="0">
                                          <p:val>
                                            <p:strVal val="ppt_y"/>
                                          </p:val>
                                        </p:tav>
                                        <p:tav tm="100000">
                                          <p:val>
                                            <p:strVal val="1+ppt_h/2"/>
                                          </p:val>
                                        </p:tav>
                                      </p:tavLst>
                                    </p:anim>
                                    <p:set>
                                      <p:cBhvr>
                                        <p:cTn id="8" dur="1" fill="hold">
                                          <p:stCondLst>
                                            <p:cond delay="499"/>
                                          </p:stCondLst>
                                        </p:cTn>
                                        <p:tgtEl>
                                          <p:spTgt spid="46"/>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69"/>
                                        </p:tgtEl>
                                        <p:attrNameLst>
                                          <p:attrName>ppt_x</p:attrName>
                                        </p:attrNameLst>
                                      </p:cBhvr>
                                      <p:tavLst>
                                        <p:tav tm="0">
                                          <p:val>
                                            <p:strVal val="ppt_x"/>
                                          </p:val>
                                        </p:tav>
                                        <p:tav tm="100000">
                                          <p:val>
                                            <p:strVal val="ppt_x"/>
                                          </p:val>
                                        </p:tav>
                                      </p:tavLst>
                                    </p:anim>
                                    <p:anim calcmode="lin" valueType="num">
                                      <p:cBhvr additive="base">
                                        <p:cTn id="11" dur="500"/>
                                        <p:tgtEl>
                                          <p:spTgt spid="69"/>
                                        </p:tgtEl>
                                        <p:attrNameLst>
                                          <p:attrName>ppt_y</p:attrName>
                                        </p:attrNameLst>
                                      </p:cBhvr>
                                      <p:tavLst>
                                        <p:tav tm="0">
                                          <p:val>
                                            <p:strVal val="ppt_y"/>
                                          </p:val>
                                        </p:tav>
                                        <p:tav tm="100000">
                                          <p:val>
                                            <p:strVal val="1+ppt_h/2"/>
                                          </p:val>
                                        </p:tav>
                                      </p:tavLst>
                                    </p:anim>
                                    <p:set>
                                      <p:cBhvr>
                                        <p:cTn id="12" dur="1" fill="hold">
                                          <p:stCondLst>
                                            <p:cond delay="499"/>
                                          </p:stCondLst>
                                        </p:cTn>
                                        <p:tgtEl>
                                          <p:spTgt spid="69"/>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57"/>
                                        </p:tgtEl>
                                        <p:attrNameLst>
                                          <p:attrName>ppt_x</p:attrName>
                                        </p:attrNameLst>
                                      </p:cBhvr>
                                      <p:tavLst>
                                        <p:tav tm="0">
                                          <p:val>
                                            <p:strVal val="ppt_x"/>
                                          </p:val>
                                        </p:tav>
                                        <p:tav tm="100000">
                                          <p:val>
                                            <p:strVal val="ppt_x"/>
                                          </p:val>
                                        </p:tav>
                                      </p:tavLst>
                                    </p:anim>
                                    <p:anim calcmode="lin" valueType="num">
                                      <p:cBhvr additive="base">
                                        <p:cTn id="15" dur="500"/>
                                        <p:tgtEl>
                                          <p:spTgt spid="57"/>
                                        </p:tgtEl>
                                        <p:attrNameLst>
                                          <p:attrName>ppt_y</p:attrName>
                                        </p:attrNameLst>
                                      </p:cBhvr>
                                      <p:tavLst>
                                        <p:tav tm="0">
                                          <p:val>
                                            <p:strVal val="ppt_y"/>
                                          </p:val>
                                        </p:tav>
                                        <p:tav tm="100000">
                                          <p:val>
                                            <p:strVal val="1+ppt_h/2"/>
                                          </p:val>
                                        </p:tav>
                                      </p:tavLst>
                                    </p:anim>
                                    <p:set>
                                      <p:cBhvr>
                                        <p:cTn id="16" dur="1" fill="hold">
                                          <p:stCondLst>
                                            <p:cond delay="499"/>
                                          </p:stCondLst>
                                        </p:cTn>
                                        <p:tgtEl>
                                          <p:spTgt spid="57"/>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17"/>
                                        </p:tgtEl>
                                        <p:attrNameLst>
                                          <p:attrName>ppt_x</p:attrName>
                                        </p:attrNameLst>
                                      </p:cBhvr>
                                      <p:tavLst>
                                        <p:tav tm="0">
                                          <p:val>
                                            <p:strVal val="ppt_x"/>
                                          </p:val>
                                        </p:tav>
                                        <p:tav tm="100000">
                                          <p:val>
                                            <p:strVal val="ppt_x"/>
                                          </p:val>
                                        </p:tav>
                                      </p:tavLst>
                                    </p:anim>
                                    <p:anim calcmode="lin" valueType="num">
                                      <p:cBhvr additive="base">
                                        <p:cTn id="19" dur="500"/>
                                        <p:tgtEl>
                                          <p:spTgt spid="17"/>
                                        </p:tgtEl>
                                        <p:attrNameLst>
                                          <p:attrName>ppt_y</p:attrName>
                                        </p:attrNameLst>
                                      </p:cBhvr>
                                      <p:tavLst>
                                        <p:tav tm="0">
                                          <p:val>
                                            <p:strVal val="ppt_y"/>
                                          </p:val>
                                        </p:tav>
                                        <p:tav tm="100000">
                                          <p:val>
                                            <p:strVal val="1+ppt_h/2"/>
                                          </p:val>
                                        </p:tav>
                                      </p:tavLst>
                                    </p:anim>
                                    <p:set>
                                      <p:cBhvr>
                                        <p:cTn id="20" dur="1" fill="hold">
                                          <p:stCondLst>
                                            <p:cond delay="499"/>
                                          </p:stCondLst>
                                        </p:cTn>
                                        <p:tgtEl>
                                          <p:spTgt spid="17"/>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34859"/>
                                        </p:tgtEl>
                                        <p:attrNameLst>
                                          <p:attrName>ppt_x</p:attrName>
                                        </p:attrNameLst>
                                      </p:cBhvr>
                                      <p:tavLst>
                                        <p:tav tm="0">
                                          <p:val>
                                            <p:strVal val="ppt_x"/>
                                          </p:val>
                                        </p:tav>
                                        <p:tav tm="100000">
                                          <p:val>
                                            <p:strVal val="ppt_x"/>
                                          </p:val>
                                        </p:tav>
                                      </p:tavLst>
                                    </p:anim>
                                    <p:anim calcmode="lin" valueType="num">
                                      <p:cBhvr additive="base">
                                        <p:cTn id="23" dur="500"/>
                                        <p:tgtEl>
                                          <p:spTgt spid="34859"/>
                                        </p:tgtEl>
                                        <p:attrNameLst>
                                          <p:attrName>ppt_y</p:attrName>
                                        </p:attrNameLst>
                                      </p:cBhvr>
                                      <p:tavLst>
                                        <p:tav tm="0">
                                          <p:val>
                                            <p:strVal val="ppt_y"/>
                                          </p:val>
                                        </p:tav>
                                        <p:tav tm="100000">
                                          <p:val>
                                            <p:strVal val="1+ppt_h/2"/>
                                          </p:val>
                                        </p:tav>
                                      </p:tavLst>
                                    </p:anim>
                                    <p:set>
                                      <p:cBhvr>
                                        <p:cTn id="24" dur="1" fill="hold">
                                          <p:stCondLst>
                                            <p:cond delay="499"/>
                                          </p:stCondLst>
                                        </p:cTn>
                                        <p:tgtEl>
                                          <p:spTgt spid="34859"/>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53"/>
                                        </p:tgtEl>
                                        <p:attrNameLst>
                                          <p:attrName>ppt_x</p:attrName>
                                        </p:attrNameLst>
                                      </p:cBhvr>
                                      <p:tavLst>
                                        <p:tav tm="0">
                                          <p:val>
                                            <p:strVal val="ppt_x"/>
                                          </p:val>
                                        </p:tav>
                                        <p:tav tm="100000">
                                          <p:val>
                                            <p:strVal val="ppt_x"/>
                                          </p:val>
                                        </p:tav>
                                      </p:tavLst>
                                    </p:anim>
                                    <p:anim calcmode="lin" valueType="num">
                                      <p:cBhvr additive="base">
                                        <p:cTn id="27" dur="500"/>
                                        <p:tgtEl>
                                          <p:spTgt spid="53"/>
                                        </p:tgtEl>
                                        <p:attrNameLst>
                                          <p:attrName>ppt_y</p:attrName>
                                        </p:attrNameLst>
                                      </p:cBhvr>
                                      <p:tavLst>
                                        <p:tav tm="0">
                                          <p:val>
                                            <p:strVal val="ppt_y"/>
                                          </p:val>
                                        </p:tav>
                                        <p:tav tm="100000">
                                          <p:val>
                                            <p:strVal val="1+ppt_h/2"/>
                                          </p:val>
                                        </p:tav>
                                      </p:tavLst>
                                    </p:anim>
                                    <p:set>
                                      <p:cBhvr>
                                        <p:cTn id="28" dur="1" fill="hold">
                                          <p:stCondLst>
                                            <p:cond delay="499"/>
                                          </p:stCondLst>
                                        </p:cTn>
                                        <p:tgtEl>
                                          <p:spTgt spid="53"/>
                                        </p:tgtEl>
                                        <p:attrNameLst>
                                          <p:attrName>style.visibility</p:attrName>
                                        </p:attrNameLst>
                                      </p:cBhvr>
                                      <p:to>
                                        <p:strVal val="hidden"/>
                                      </p:to>
                                    </p:set>
                                  </p:childTnLst>
                                </p:cTn>
                              </p:par>
                              <p:par>
                                <p:cTn id="29" presetID="2" presetClass="exit" presetSubtype="4" fill="hold" grpId="0" nodeType="withEffect">
                                  <p:stCondLst>
                                    <p:cond delay="0"/>
                                  </p:stCondLst>
                                  <p:childTnLst>
                                    <p:anim calcmode="lin" valueType="num">
                                      <p:cBhvr additive="base">
                                        <p:cTn id="30" dur="500"/>
                                        <p:tgtEl>
                                          <p:spTgt spid="56"/>
                                        </p:tgtEl>
                                        <p:attrNameLst>
                                          <p:attrName>ppt_x</p:attrName>
                                        </p:attrNameLst>
                                      </p:cBhvr>
                                      <p:tavLst>
                                        <p:tav tm="0">
                                          <p:val>
                                            <p:strVal val="ppt_x"/>
                                          </p:val>
                                        </p:tav>
                                        <p:tav tm="100000">
                                          <p:val>
                                            <p:strVal val="ppt_x"/>
                                          </p:val>
                                        </p:tav>
                                      </p:tavLst>
                                    </p:anim>
                                    <p:anim calcmode="lin" valueType="num">
                                      <p:cBhvr additive="base">
                                        <p:cTn id="31" dur="500"/>
                                        <p:tgtEl>
                                          <p:spTgt spid="56"/>
                                        </p:tgtEl>
                                        <p:attrNameLst>
                                          <p:attrName>ppt_y</p:attrName>
                                        </p:attrNameLst>
                                      </p:cBhvr>
                                      <p:tavLst>
                                        <p:tav tm="0">
                                          <p:val>
                                            <p:strVal val="ppt_y"/>
                                          </p:val>
                                        </p:tav>
                                        <p:tav tm="100000">
                                          <p:val>
                                            <p:strVal val="1+ppt_h/2"/>
                                          </p:val>
                                        </p:tav>
                                      </p:tavLst>
                                    </p:anim>
                                    <p:set>
                                      <p:cBhvr>
                                        <p:cTn id="32" dur="1" fill="hold">
                                          <p:stCondLst>
                                            <p:cond delay="499"/>
                                          </p:stCondLst>
                                        </p:cTn>
                                        <p:tgtEl>
                                          <p:spTgt spid="56"/>
                                        </p:tgtEl>
                                        <p:attrNameLst>
                                          <p:attrName>style.visibility</p:attrName>
                                        </p:attrNameLst>
                                      </p:cBhvr>
                                      <p:to>
                                        <p:strVal val="hidden"/>
                                      </p:to>
                                    </p:set>
                                  </p:childTnLst>
                                </p:cTn>
                              </p:par>
                              <p:par>
                                <p:cTn id="33" presetID="2" presetClass="exit" presetSubtype="4" fill="hold" grpId="0" nodeType="withEffect">
                                  <p:stCondLst>
                                    <p:cond delay="0"/>
                                  </p:stCondLst>
                                  <p:childTnLst>
                                    <p:anim calcmode="lin" valueType="num">
                                      <p:cBhvr additive="base">
                                        <p:cTn id="34" dur="500"/>
                                        <p:tgtEl>
                                          <p:spTgt spid="34864"/>
                                        </p:tgtEl>
                                        <p:attrNameLst>
                                          <p:attrName>ppt_x</p:attrName>
                                        </p:attrNameLst>
                                      </p:cBhvr>
                                      <p:tavLst>
                                        <p:tav tm="0">
                                          <p:val>
                                            <p:strVal val="ppt_x"/>
                                          </p:val>
                                        </p:tav>
                                        <p:tav tm="100000">
                                          <p:val>
                                            <p:strVal val="ppt_x"/>
                                          </p:val>
                                        </p:tav>
                                      </p:tavLst>
                                    </p:anim>
                                    <p:anim calcmode="lin" valueType="num">
                                      <p:cBhvr additive="base">
                                        <p:cTn id="35" dur="500"/>
                                        <p:tgtEl>
                                          <p:spTgt spid="34864"/>
                                        </p:tgtEl>
                                        <p:attrNameLst>
                                          <p:attrName>ppt_y</p:attrName>
                                        </p:attrNameLst>
                                      </p:cBhvr>
                                      <p:tavLst>
                                        <p:tav tm="0">
                                          <p:val>
                                            <p:strVal val="ppt_y"/>
                                          </p:val>
                                        </p:tav>
                                        <p:tav tm="100000">
                                          <p:val>
                                            <p:strVal val="1+ppt_h/2"/>
                                          </p:val>
                                        </p:tav>
                                      </p:tavLst>
                                    </p:anim>
                                    <p:set>
                                      <p:cBhvr>
                                        <p:cTn id="36" dur="1" fill="hold">
                                          <p:stCondLst>
                                            <p:cond delay="499"/>
                                          </p:stCondLst>
                                        </p:cTn>
                                        <p:tgtEl>
                                          <p:spTgt spid="34864"/>
                                        </p:tgtEl>
                                        <p:attrNameLst>
                                          <p:attrName>style.visibility</p:attrName>
                                        </p:attrNameLst>
                                      </p:cBhvr>
                                      <p:to>
                                        <p:strVal val="hidden"/>
                                      </p:to>
                                    </p:set>
                                  </p:childTnLst>
                                </p:cTn>
                              </p:par>
                              <p:par>
                                <p:cTn id="37" presetID="2" presetClass="exit" presetSubtype="4" fill="hold" grpId="0" nodeType="withEffect">
                                  <p:stCondLst>
                                    <p:cond delay="0"/>
                                  </p:stCondLst>
                                  <p:childTnLst>
                                    <p:anim calcmode="lin" valueType="num">
                                      <p:cBhvr additive="base">
                                        <p:cTn id="38" dur="500"/>
                                        <p:tgtEl>
                                          <p:spTgt spid="54"/>
                                        </p:tgtEl>
                                        <p:attrNameLst>
                                          <p:attrName>ppt_x</p:attrName>
                                        </p:attrNameLst>
                                      </p:cBhvr>
                                      <p:tavLst>
                                        <p:tav tm="0">
                                          <p:val>
                                            <p:strVal val="ppt_x"/>
                                          </p:val>
                                        </p:tav>
                                        <p:tav tm="100000">
                                          <p:val>
                                            <p:strVal val="ppt_x"/>
                                          </p:val>
                                        </p:tav>
                                      </p:tavLst>
                                    </p:anim>
                                    <p:anim calcmode="lin" valueType="num">
                                      <p:cBhvr additive="base">
                                        <p:cTn id="39" dur="500"/>
                                        <p:tgtEl>
                                          <p:spTgt spid="54"/>
                                        </p:tgtEl>
                                        <p:attrNameLst>
                                          <p:attrName>ppt_y</p:attrName>
                                        </p:attrNameLst>
                                      </p:cBhvr>
                                      <p:tavLst>
                                        <p:tav tm="0">
                                          <p:val>
                                            <p:strVal val="ppt_y"/>
                                          </p:val>
                                        </p:tav>
                                        <p:tav tm="100000">
                                          <p:val>
                                            <p:strVal val="1+ppt_h/2"/>
                                          </p:val>
                                        </p:tav>
                                      </p:tavLst>
                                    </p:anim>
                                    <p:set>
                                      <p:cBhvr>
                                        <p:cTn id="40" dur="1" fill="hold">
                                          <p:stCondLst>
                                            <p:cond delay="499"/>
                                          </p:stCondLst>
                                        </p:cTn>
                                        <p:tgtEl>
                                          <p:spTgt spid="5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34859" grpId="0"/>
      <p:bldP spid="34864" grpId="0"/>
      <p:bldP spid="54" grpId="0"/>
      <p:bldP spid="56" grpId="0"/>
      <p:bldP spid="57" grpId="0"/>
      <p:bldP spid="66" grpId="0"/>
      <p:bldP spid="67" grpId="0"/>
      <p:bldP spid="6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Stage 3</a:t>
            </a:r>
            <a:endParaRPr lang="en-GB" altLang="en-US" dirty="0"/>
          </a:p>
        </p:txBody>
      </p:sp>
      <p:sp>
        <p:nvSpPr>
          <p:cNvPr id="8" name="Oval 7"/>
          <p:cNvSpPr/>
          <p:nvPr/>
        </p:nvSpPr>
        <p:spPr>
          <a:xfrm>
            <a:off x="2500313"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27" name="Straight Arrow Connector 26"/>
          <p:cNvCxnSpPr>
            <a:stCxn id="8" idx="6"/>
            <a:endCxn id="12" idx="2"/>
          </p:cNvCxnSpPr>
          <p:nvPr/>
        </p:nvCxnSpPr>
        <p:spPr>
          <a:xfrm>
            <a:off x="2786063" y="2571750"/>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5717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6733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929063"/>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4000500"/>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780632"/>
            <a:ext cx="1082675" cy="1582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4423569"/>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16200000" flipH="1">
            <a:off x="4254978"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851" name="TextBox 56"/>
          <p:cNvSpPr txBox="1">
            <a:spLocks noChangeArrowheads="1"/>
          </p:cNvSpPr>
          <p:nvPr/>
        </p:nvSpPr>
        <p:spPr bwMode="auto">
          <a:xfrm>
            <a:off x="2500313" y="2058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4852" name="TextBox 57"/>
          <p:cNvSpPr txBox="1">
            <a:spLocks noChangeArrowheads="1"/>
          </p:cNvSpPr>
          <p:nvPr/>
        </p:nvSpPr>
        <p:spPr bwMode="auto">
          <a:xfrm>
            <a:off x="2500313" y="348773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4853" name="TextBox 58"/>
          <p:cNvSpPr txBox="1">
            <a:spLocks noChangeArrowheads="1"/>
          </p:cNvSpPr>
          <p:nvPr/>
        </p:nvSpPr>
        <p:spPr bwMode="auto">
          <a:xfrm>
            <a:off x="2500313" y="47736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4854"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4855"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4856"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4857"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4858"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4859"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35844" y="3858762"/>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4864"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4865"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4866"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p:sp>
        <p:nvSpPr>
          <p:cNvPr id="34867" name="TextBox 67"/>
          <p:cNvSpPr txBox="1">
            <a:spLocks noChangeArrowheads="1"/>
          </p:cNvSpPr>
          <p:nvPr/>
        </p:nvSpPr>
        <p:spPr bwMode="auto">
          <a:xfrm>
            <a:off x="2286000" y="1344613"/>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3</a:t>
            </a:r>
            <a:endParaRPr lang="en-GB" altLang="en-US"/>
          </a:p>
        </p:txBody>
      </p:sp>
      <mc:AlternateContent xmlns:mc="http://schemas.openxmlformats.org/markup-compatibility/2006" xmlns:a14="http://schemas.microsoft.com/office/drawing/2010/main">
        <mc:Choice Requires="a14">
          <p:sp>
            <p:nvSpPr>
              <p:cNvPr id="58" name="TextBox 57"/>
              <p:cNvSpPr txBox="1">
                <a:spLocks noChangeArrowheads="1"/>
              </p:cNvSpPr>
              <p:nvPr/>
            </p:nvSpPr>
            <p:spPr bwMode="auto">
              <a:xfrm>
                <a:off x="5062433" y="225299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𝑯</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𝟐𝟑</m:t>
                    </m:r>
                  </m:oMath>
                </a14:m>
                <a:endParaRPr lang="en-GB" altLang="en-US" b="1" i="1" dirty="0">
                  <a:solidFill>
                    <a:srgbClr val="FF0000"/>
                  </a:solidFill>
                  <a:effectLst/>
                </a:endParaRPr>
              </a:p>
            </p:txBody>
          </p:sp>
        </mc:Choice>
        <mc:Fallback xmlns="">
          <p:sp>
            <p:nvSpPr>
              <p:cNvPr id="58" name="TextBox 57"/>
              <p:cNvSpPr txBox="1">
                <a:spLocks noRot="1" noChangeAspect="1" noMove="1" noResize="1" noEditPoints="1" noAdjustHandles="1" noChangeArrowheads="1" noChangeShapeType="1" noTextEdit="1"/>
              </p:cNvSpPr>
              <p:nvPr/>
            </p:nvSpPr>
            <p:spPr bwMode="auto">
              <a:xfrm>
                <a:off x="5062433" y="2252990"/>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9" name="TextBox 58"/>
              <p:cNvSpPr txBox="1">
                <a:spLocks noChangeArrowheads="1"/>
              </p:cNvSpPr>
              <p:nvPr/>
            </p:nvSpPr>
            <p:spPr bwMode="auto">
              <a:xfrm>
                <a:off x="5010943" y="476416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𝑰</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𝟐𝟗</m:t>
                    </m:r>
                  </m:oMath>
                </a14:m>
                <a:endParaRPr lang="en-GB" altLang="en-US" b="1" i="1" dirty="0">
                  <a:solidFill>
                    <a:srgbClr val="FF0000"/>
                  </a:solidFill>
                  <a:effectLst/>
                </a:endParaRPr>
              </a:p>
            </p:txBody>
          </p:sp>
        </mc:Choice>
        <mc:Fallback xmlns="">
          <p:sp>
            <p:nvSpPr>
              <p:cNvPr id="59" name="TextBox 58"/>
              <p:cNvSpPr txBox="1">
                <a:spLocks noRot="1" noChangeAspect="1" noMove="1" noResize="1" noEditPoints="1" noAdjustHandles="1" noChangeArrowheads="1" noChangeShapeType="1" noTextEdit="1"/>
              </p:cNvSpPr>
              <p:nvPr/>
            </p:nvSpPr>
            <p:spPr bwMode="auto">
              <a:xfrm>
                <a:off x="5010943" y="4764160"/>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60" name="TextBox 59"/>
          <p:cNvSpPr txBox="1">
            <a:spLocks noChangeArrowheads="1"/>
          </p:cNvSpPr>
          <p:nvPr/>
        </p:nvSpPr>
        <p:spPr bwMode="auto">
          <a:xfrm>
            <a:off x="4775200" y="265698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16</a:t>
            </a:r>
            <a:endParaRPr lang="en-GB" altLang="en-US" dirty="0">
              <a:solidFill>
                <a:srgbClr val="0070C0"/>
              </a:solidFill>
            </a:endParaRPr>
          </a:p>
        </p:txBody>
      </p:sp>
      <p:sp>
        <p:nvSpPr>
          <p:cNvPr id="61" name="TextBox 60"/>
          <p:cNvSpPr txBox="1">
            <a:spLocks noChangeArrowheads="1"/>
          </p:cNvSpPr>
          <p:nvPr/>
        </p:nvSpPr>
        <p:spPr bwMode="auto">
          <a:xfrm>
            <a:off x="4390022" y="2919358"/>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18</a:t>
            </a:r>
            <a:endParaRPr lang="en-GB" altLang="en-US" dirty="0">
              <a:solidFill>
                <a:srgbClr val="0070C0"/>
              </a:solidFill>
            </a:endParaRPr>
          </a:p>
        </p:txBody>
      </p:sp>
      <p:sp>
        <p:nvSpPr>
          <p:cNvPr id="62" name="TextBox 61"/>
          <p:cNvSpPr txBox="1">
            <a:spLocks noChangeArrowheads="1"/>
          </p:cNvSpPr>
          <p:nvPr/>
        </p:nvSpPr>
        <p:spPr bwMode="auto">
          <a:xfrm>
            <a:off x="4425908" y="3415508"/>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18</a:t>
            </a:r>
            <a:endParaRPr lang="en-GB" altLang="en-US" dirty="0">
              <a:solidFill>
                <a:srgbClr val="0070C0"/>
              </a:solidFill>
            </a:endParaRPr>
          </a:p>
        </p:txBody>
      </p:sp>
      <p:sp>
        <p:nvSpPr>
          <p:cNvPr id="63" name="TextBox 62"/>
          <p:cNvSpPr txBox="1">
            <a:spLocks noChangeArrowheads="1"/>
          </p:cNvSpPr>
          <p:nvPr/>
        </p:nvSpPr>
        <p:spPr bwMode="auto">
          <a:xfrm>
            <a:off x="4431346" y="3943391"/>
            <a:ext cx="799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11</a:t>
            </a:r>
            <a:endParaRPr lang="en-GB" altLang="en-US" dirty="0">
              <a:solidFill>
                <a:srgbClr val="0070C0"/>
              </a:solidFill>
            </a:endParaRPr>
          </a:p>
        </p:txBody>
      </p:sp>
      <p:sp>
        <p:nvSpPr>
          <p:cNvPr id="64" name="TextBox 63"/>
          <p:cNvSpPr txBox="1">
            <a:spLocks noChangeArrowheads="1"/>
          </p:cNvSpPr>
          <p:nvPr/>
        </p:nvSpPr>
        <p:spPr bwMode="auto">
          <a:xfrm>
            <a:off x="4227146" y="452904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15</a:t>
            </a:r>
            <a:endParaRPr lang="en-GB" altLang="en-US" dirty="0">
              <a:solidFill>
                <a:srgbClr val="0070C0"/>
              </a:solidFill>
            </a:endParaRPr>
          </a:p>
        </p:txBody>
      </p:sp>
      <p:sp>
        <p:nvSpPr>
          <p:cNvPr id="65" name="TextBox 64"/>
          <p:cNvSpPr txBox="1">
            <a:spLocks noChangeArrowheads="1"/>
          </p:cNvSpPr>
          <p:nvPr/>
        </p:nvSpPr>
        <p:spPr bwMode="auto">
          <a:xfrm>
            <a:off x="4398437" y="510544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13</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66" name="TextBox 65"/>
              <p:cNvSpPr txBox="1">
                <a:spLocks noChangeArrowheads="1"/>
              </p:cNvSpPr>
              <p:nvPr/>
            </p:nvSpPr>
            <p:spPr bwMode="auto">
              <a:xfrm>
                <a:off x="3364909" y="1708478"/>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𝑬</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𝟑𝟗</m:t>
                    </m:r>
                  </m:oMath>
                </a14:m>
                <a:endParaRPr lang="en-GB" altLang="en-US" b="1" i="1" dirty="0">
                  <a:solidFill>
                    <a:srgbClr val="FF0000"/>
                  </a:solidFill>
                  <a:effectLst>
                    <a:outerShdw blurRad="38100" dist="38100" dir="2700000" algn="tl">
                      <a:srgbClr val="000000">
                        <a:alpha val="43137"/>
                      </a:srgbClr>
                    </a:outerShdw>
                  </a:effectLst>
                </a:endParaRPr>
              </a:p>
            </p:txBody>
          </p:sp>
        </mc:Choice>
        <mc:Fallback xmlns="">
          <p:sp>
            <p:nvSpPr>
              <p:cNvPr id="66" name="TextBox 65"/>
              <p:cNvSpPr txBox="1">
                <a:spLocks noRot="1" noChangeAspect="1" noMove="1" noResize="1" noEditPoints="1" noAdjustHandles="1" noChangeArrowheads="1" noChangeShapeType="1" noTextEdit="1"/>
              </p:cNvSpPr>
              <p:nvPr/>
            </p:nvSpPr>
            <p:spPr bwMode="auto">
              <a:xfrm>
                <a:off x="3364909" y="1708478"/>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7" name="TextBox 66"/>
              <p:cNvSpPr txBox="1">
                <a:spLocks noChangeArrowheads="1"/>
              </p:cNvSpPr>
              <p:nvPr/>
            </p:nvSpPr>
            <p:spPr bwMode="auto">
              <a:xfrm>
                <a:off x="3312439" y="3040643"/>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𝑭</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𝟒𝟎</m:t>
                    </m:r>
                  </m:oMath>
                </a14:m>
                <a:endParaRPr lang="en-GB" altLang="en-US" b="1" i="1" dirty="0">
                  <a:solidFill>
                    <a:srgbClr val="FF0000"/>
                  </a:solidFill>
                  <a:effectLst/>
                </a:endParaRPr>
              </a:p>
            </p:txBody>
          </p:sp>
        </mc:Choice>
        <mc:Fallback xmlns="">
          <p:sp>
            <p:nvSpPr>
              <p:cNvPr id="67" name="TextBox 66"/>
              <p:cNvSpPr txBox="1">
                <a:spLocks noRot="1" noChangeAspect="1" noMove="1" noResize="1" noEditPoints="1" noAdjustHandles="1" noChangeArrowheads="1" noChangeShapeType="1" noTextEdit="1"/>
              </p:cNvSpPr>
              <p:nvPr/>
            </p:nvSpPr>
            <p:spPr bwMode="auto">
              <a:xfrm>
                <a:off x="3312439" y="3040643"/>
                <a:ext cx="1775036"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8" name="TextBox 67"/>
              <p:cNvSpPr txBox="1">
                <a:spLocks noChangeArrowheads="1"/>
              </p:cNvSpPr>
              <p:nvPr/>
            </p:nvSpPr>
            <p:spPr bwMode="auto">
              <a:xfrm>
                <a:off x="3337905" y="5355478"/>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𝑮</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𝟑𝟖</m:t>
                    </m:r>
                  </m:oMath>
                </a14:m>
                <a:endParaRPr lang="en-GB" altLang="en-US" b="1" i="1" dirty="0">
                  <a:solidFill>
                    <a:srgbClr val="FF0000"/>
                  </a:solidFill>
                  <a:effectLst/>
                </a:endParaRPr>
              </a:p>
            </p:txBody>
          </p:sp>
        </mc:Choice>
        <mc:Fallback xmlns="">
          <p:sp>
            <p:nvSpPr>
              <p:cNvPr id="68" name="TextBox 67"/>
              <p:cNvSpPr txBox="1">
                <a:spLocks noRot="1" noChangeAspect="1" noMove="1" noResize="1" noEditPoints="1" noAdjustHandles="1" noChangeArrowheads="1" noChangeShapeType="1" noTextEdit="1"/>
              </p:cNvSpPr>
              <p:nvPr/>
            </p:nvSpPr>
            <p:spPr bwMode="auto">
              <a:xfrm>
                <a:off x="3337905" y="5355478"/>
                <a:ext cx="1775036" cy="523220"/>
              </a:xfrm>
              <a:prstGeom prst="rect">
                <a:avLst/>
              </a:prstGeom>
              <a:blipFill rotWithShape="0">
                <a:blip r:embed="rId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69" name="TextBox 68"/>
          <p:cNvSpPr txBox="1">
            <a:spLocks noChangeArrowheads="1"/>
          </p:cNvSpPr>
          <p:nvPr/>
        </p:nvSpPr>
        <p:spPr bwMode="auto">
          <a:xfrm>
            <a:off x="3071157" y="226186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16</a:t>
            </a:r>
            <a:endParaRPr lang="en-GB" altLang="en-US" dirty="0">
              <a:solidFill>
                <a:srgbClr val="0070C0"/>
              </a:solidFill>
            </a:endParaRPr>
          </a:p>
        </p:txBody>
      </p:sp>
      <p:sp>
        <p:nvSpPr>
          <p:cNvPr id="70" name="TextBox 69"/>
          <p:cNvSpPr txBox="1">
            <a:spLocks noChangeArrowheads="1"/>
          </p:cNvSpPr>
          <p:nvPr/>
        </p:nvSpPr>
        <p:spPr bwMode="auto">
          <a:xfrm>
            <a:off x="2867281" y="2710156"/>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15</a:t>
            </a:r>
            <a:endParaRPr lang="en-GB" altLang="en-US" dirty="0">
              <a:solidFill>
                <a:srgbClr val="0070C0"/>
              </a:solidFill>
            </a:endParaRPr>
          </a:p>
        </p:txBody>
      </p:sp>
      <p:sp>
        <p:nvSpPr>
          <p:cNvPr id="71" name="TextBox 70"/>
          <p:cNvSpPr txBox="1">
            <a:spLocks noChangeArrowheads="1"/>
          </p:cNvSpPr>
          <p:nvPr/>
        </p:nvSpPr>
        <p:spPr bwMode="auto">
          <a:xfrm>
            <a:off x="2748074" y="3359278"/>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p:sp>
        <p:nvSpPr>
          <p:cNvPr id="72" name="TextBox 71"/>
          <p:cNvSpPr txBox="1">
            <a:spLocks noChangeArrowheads="1"/>
          </p:cNvSpPr>
          <p:nvPr/>
        </p:nvSpPr>
        <p:spPr bwMode="auto">
          <a:xfrm>
            <a:off x="2962435" y="361394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16</a:t>
            </a:r>
            <a:endParaRPr lang="en-GB" altLang="en-US" dirty="0">
              <a:solidFill>
                <a:srgbClr val="0070C0"/>
              </a:solidFill>
            </a:endParaRPr>
          </a:p>
        </p:txBody>
      </p:sp>
      <p:sp>
        <p:nvSpPr>
          <p:cNvPr id="73" name="TextBox 72"/>
          <p:cNvSpPr txBox="1">
            <a:spLocks noChangeArrowheads="1"/>
          </p:cNvSpPr>
          <p:nvPr/>
        </p:nvSpPr>
        <p:spPr bwMode="auto">
          <a:xfrm>
            <a:off x="2765825" y="40907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p:sp>
        <p:nvSpPr>
          <p:cNvPr id="74" name="TextBox 73"/>
          <p:cNvSpPr txBox="1">
            <a:spLocks noChangeArrowheads="1"/>
          </p:cNvSpPr>
          <p:nvPr/>
        </p:nvSpPr>
        <p:spPr bwMode="auto">
          <a:xfrm>
            <a:off x="2792552" y="460786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19</a:t>
            </a:r>
            <a:endParaRPr lang="en-GB" altLang="en-US" dirty="0">
              <a:solidFill>
                <a:srgbClr val="0070C0"/>
              </a:solidFill>
            </a:endParaRPr>
          </a:p>
        </p:txBody>
      </p:sp>
      <p:sp>
        <p:nvSpPr>
          <p:cNvPr id="75" name="TextBox 74"/>
          <p:cNvSpPr txBox="1">
            <a:spLocks noChangeArrowheads="1"/>
          </p:cNvSpPr>
          <p:nvPr/>
        </p:nvSpPr>
        <p:spPr bwMode="auto">
          <a:xfrm>
            <a:off x="2805982" y="513138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76" name="TextBox 75"/>
              <p:cNvSpPr txBox="1">
                <a:spLocks noChangeArrowheads="1"/>
              </p:cNvSpPr>
              <p:nvPr/>
            </p:nvSpPr>
            <p:spPr bwMode="auto">
              <a:xfrm>
                <a:off x="1650353" y="1642055"/>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𝑩</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𝟓𝟓</m:t>
                    </m:r>
                  </m:oMath>
                </a14:m>
                <a:endParaRPr lang="en-GB" altLang="en-US" b="1" i="1" dirty="0">
                  <a:solidFill>
                    <a:srgbClr val="FF0000"/>
                  </a:solidFill>
                  <a:effectLst/>
                </a:endParaRPr>
              </a:p>
            </p:txBody>
          </p:sp>
        </mc:Choice>
        <mc:Fallback xmlns="">
          <p:sp>
            <p:nvSpPr>
              <p:cNvPr id="76" name="TextBox 75"/>
              <p:cNvSpPr txBox="1">
                <a:spLocks noRot="1" noChangeAspect="1" noMove="1" noResize="1" noEditPoints="1" noAdjustHandles="1" noChangeArrowheads="1" noChangeShapeType="1" noTextEdit="1"/>
              </p:cNvSpPr>
              <p:nvPr/>
            </p:nvSpPr>
            <p:spPr bwMode="auto">
              <a:xfrm>
                <a:off x="1650353" y="1642055"/>
                <a:ext cx="1775036" cy="523220"/>
              </a:xfrm>
              <a:prstGeom prst="rect">
                <a:avLst/>
              </a:prstGeom>
              <a:blipFill rotWithShape="0">
                <a:blip r:embed="rId7"/>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7" name="TextBox 76"/>
              <p:cNvSpPr txBox="1">
                <a:spLocks noChangeArrowheads="1"/>
              </p:cNvSpPr>
              <p:nvPr/>
            </p:nvSpPr>
            <p:spPr bwMode="auto">
              <a:xfrm>
                <a:off x="1585520" y="2982869"/>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𝑪</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𝟓𝟔</m:t>
                    </m:r>
                  </m:oMath>
                </a14:m>
                <a:endParaRPr lang="en-GB" altLang="en-US" b="1" i="1" dirty="0">
                  <a:solidFill>
                    <a:srgbClr val="FF0000"/>
                  </a:solidFill>
                  <a:effectLst/>
                </a:endParaRPr>
              </a:p>
            </p:txBody>
          </p:sp>
        </mc:Choice>
        <mc:Fallback xmlns="">
          <p:sp>
            <p:nvSpPr>
              <p:cNvPr id="77" name="TextBox 76"/>
              <p:cNvSpPr txBox="1">
                <a:spLocks noRot="1" noChangeAspect="1" noMove="1" noResize="1" noEditPoints="1" noAdjustHandles="1" noChangeArrowheads="1" noChangeShapeType="1" noTextEdit="1"/>
              </p:cNvSpPr>
              <p:nvPr/>
            </p:nvSpPr>
            <p:spPr bwMode="auto">
              <a:xfrm>
                <a:off x="1585520" y="2982869"/>
                <a:ext cx="1775036" cy="523220"/>
              </a:xfrm>
              <a:prstGeom prst="rect">
                <a:avLst/>
              </a:prstGeom>
              <a:blipFill rotWithShape="0">
                <a:blip r:embed="rId8"/>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8" name="TextBox 77"/>
              <p:cNvSpPr txBox="1">
                <a:spLocks noChangeArrowheads="1"/>
              </p:cNvSpPr>
              <p:nvPr/>
            </p:nvSpPr>
            <p:spPr bwMode="auto">
              <a:xfrm>
                <a:off x="1618756" y="5277357"/>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𝑫</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𝟓𝟗</m:t>
                    </m:r>
                  </m:oMath>
                </a14:m>
                <a:endParaRPr lang="en-GB" altLang="en-US" b="1" i="1" dirty="0">
                  <a:solidFill>
                    <a:srgbClr val="FF0000"/>
                  </a:solidFill>
                  <a:effectLst/>
                </a:endParaRPr>
              </a:p>
            </p:txBody>
          </p:sp>
        </mc:Choice>
        <mc:Fallback xmlns="">
          <p:sp>
            <p:nvSpPr>
              <p:cNvPr id="78" name="TextBox 77"/>
              <p:cNvSpPr txBox="1">
                <a:spLocks noRot="1" noChangeAspect="1" noMove="1" noResize="1" noEditPoints="1" noAdjustHandles="1" noChangeArrowheads="1" noChangeShapeType="1" noTextEdit="1"/>
              </p:cNvSpPr>
              <p:nvPr/>
            </p:nvSpPr>
            <p:spPr bwMode="auto">
              <a:xfrm>
                <a:off x="1618756" y="5277357"/>
                <a:ext cx="1775036" cy="523220"/>
              </a:xfrm>
              <a:prstGeom prst="rect">
                <a:avLst/>
              </a:prstGeom>
              <a:blipFill rotWithShape="0">
                <a:blip r:embed="rId9"/>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9" name="TextBox 78"/>
              <p:cNvSpPr txBox="1">
                <a:spLocks noChangeArrowheads="1"/>
              </p:cNvSpPr>
              <p:nvPr/>
            </p:nvSpPr>
            <p:spPr bwMode="auto">
              <a:xfrm>
                <a:off x="6856413" y="2936841"/>
                <a:ext cx="1528039"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𝑱</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79" name="TextBox 78"/>
              <p:cNvSpPr txBox="1">
                <a:spLocks noRot="1" noChangeAspect="1" noMove="1" noResize="1" noEditPoints="1" noAdjustHandles="1" noChangeArrowheads="1" noChangeShapeType="1" noTextEdit="1"/>
              </p:cNvSpPr>
              <p:nvPr/>
            </p:nvSpPr>
            <p:spPr bwMode="auto">
              <a:xfrm>
                <a:off x="6856413" y="2936841"/>
                <a:ext cx="1528039" cy="369332"/>
              </a:xfrm>
              <a:prstGeom prst="rect">
                <a:avLst/>
              </a:prstGeom>
              <a:blipFill rotWithShape="0">
                <a:blip r:embed="rId10"/>
                <a:stretch>
                  <a:fillRect b="-11667"/>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cxnSp>
        <p:nvCxnSpPr>
          <p:cNvPr id="80" name="Straight Arrow Connector 79"/>
          <p:cNvCxnSpPr/>
          <p:nvPr/>
        </p:nvCxnSpPr>
        <p:spPr>
          <a:xfrm rot="5400000" flipH="1" flipV="1">
            <a:off x="3005826" y="3772738"/>
            <a:ext cx="1082675" cy="15827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endCxn id="13" idx="2"/>
          </p:cNvCxnSpPr>
          <p:nvPr/>
        </p:nvCxnSpPr>
        <p:spPr>
          <a:xfrm>
            <a:off x="2863126" y="3925349"/>
            <a:ext cx="1423124" cy="3714"/>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8" idx="6"/>
          </p:cNvCxnSpPr>
          <p:nvPr/>
        </p:nvCxnSpPr>
        <p:spPr>
          <a:xfrm>
            <a:off x="2786063" y="2571750"/>
            <a:ext cx="1539473" cy="127170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425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1"/>
                                        </p:tgtEl>
                                        <p:attrNameLst>
                                          <p:attrName>ppt_x</p:attrName>
                                        </p:attrNameLst>
                                      </p:cBhvr>
                                      <p:tavLst>
                                        <p:tav tm="0">
                                          <p:val>
                                            <p:strVal val="ppt_x"/>
                                          </p:val>
                                        </p:tav>
                                        <p:tav tm="100000">
                                          <p:val>
                                            <p:strVal val="ppt_x"/>
                                          </p:val>
                                        </p:tav>
                                      </p:tavLst>
                                    </p:anim>
                                    <p:anim calcmode="lin" valueType="num">
                                      <p:cBhvr additive="base">
                                        <p:cTn id="7" dur="500"/>
                                        <p:tgtEl>
                                          <p:spTgt spid="61"/>
                                        </p:tgtEl>
                                        <p:attrNameLst>
                                          <p:attrName>ppt_y</p:attrName>
                                        </p:attrNameLst>
                                      </p:cBhvr>
                                      <p:tavLst>
                                        <p:tav tm="0">
                                          <p:val>
                                            <p:strVal val="ppt_y"/>
                                          </p:val>
                                        </p:tav>
                                        <p:tav tm="100000">
                                          <p:val>
                                            <p:strVal val="1+ppt_h/2"/>
                                          </p:val>
                                        </p:tav>
                                      </p:tavLst>
                                    </p:anim>
                                    <p:set>
                                      <p:cBhvr>
                                        <p:cTn id="8" dur="1" fill="hold">
                                          <p:stCondLst>
                                            <p:cond delay="499"/>
                                          </p:stCondLst>
                                        </p:cTn>
                                        <p:tgtEl>
                                          <p:spTgt spid="61"/>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62"/>
                                        </p:tgtEl>
                                        <p:attrNameLst>
                                          <p:attrName>ppt_x</p:attrName>
                                        </p:attrNameLst>
                                      </p:cBhvr>
                                      <p:tavLst>
                                        <p:tav tm="0">
                                          <p:val>
                                            <p:strVal val="ppt_x"/>
                                          </p:val>
                                        </p:tav>
                                        <p:tav tm="100000">
                                          <p:val>
                                            <p:strVal val="ppt_x"/>
                                          </p:val>
                                        </p:tav>
                                      </p:tavLst>
                                    </p:anim>
                                    <p:anim calcmode="lin" valueType="num">
                                      <p:cBhvr additive="base">
                                        <p:cTn id="11" dur="500"/>
                                        <p:tgtEl>
                                          <p:spTgt spid="62"/>
                                        </p:tgtEl>
                                        <p:attrNameLst>
                                          <p:attrName>ppt_y</p:attrName>
                                        </p:attrNameLst>
                                      </p:cBhvr>
                                      <p:tavLst>
                                        <p:tav tm="0">
                                          <p:val>
                                            <p:strVal val="ppt_y"/>
                                          </p:val>
                                        </p:tav>
                                        <p:tav tm="100000">
                                          <p:val>
                                            <p:strVal val="1+ppt_h/2"/>
                                          </p:val>
                                        </p:tav>
                                      </p:tavLst>
                                    </p:anim>
                                    <p:set>
                                      <p:cBhvr>
                                        <p:cTn id="12" dur="1" fill="hold">
                                          <p:stCondLst>
                                            <p:cond delay="499"/>
                                          </p:stCondLst>
                                        </p:cTn>
                                        <p:tgtEl>
                                          <p:spTgt spid="62"/>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63"/>
                                        </p:tgtEl>
                                        <p:attrNameLst>
                                          <p:attrName>ppt_x</p:attrName>
                                        </p:attrNameLst>
                                      </p:cBhvr>
                                      <p:tavLst>
                                        <p:tav tm="0">
                                          <p:val>
                                            <p:strVal val="ppt_x"/>
                                          </p:val>
                                        </p:tav>
                                        <p:tav tm="100000">
                                          <p:val>
                                            <p:strVal val="ppt_x"/>
                                          </p:val>
                                        </p:tav>
                                      </p:tavLst>
                                    </p:anim>
                                    <p:anim calcmode="lin" valueType="num">
                                      <p:cBhvr additive="base">
                                        <p:cTn id="15" dur="500"/>
                                        <p:tgtEl>
                                          <p:spTgt spid="63"/>
                                        </p:tgtEl>
                                        <p:attrNameLst>
                                          <p:attrName>ppt_y</p:attrName>
                                        </p:attrNameLst>
                                      </p:cBhvr>
                                      <p:tavLst>
                                        <p:tav tm="0">
                                          <p:val>
                                            <p:strVal val="ppt_y"/>
                                          </p:val>
                                        </p:tav>
                                        <p:tav tm="100000">
                                          <p:val>
                                            <p:strVal val="1+ppt_h/2"/>
                                          </p:val>
                                        </p:tav>
                                      </p:tavLst>
                                    </p:anim>
                                    <p:set>
                                      <p:cBhvr>
                                        <p:cTn id="16" dur="1" fill="hold">
                                          <p:stCondLst>
                                            <p:cond delay="499"/>
                                          </p:stCondLst>
                                        </p:cTn>
                                        <p:tgtEl>
                                          <p:spTgt spid="63"/>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64"/>
                                        </p:tgtEl>
                                        <p:attrNameLst>
                                          <p:attrName>ppt_x</p:attrName>
                                        </p:attrNameLst>
                                      </p:cBhvr>
                                      <p:tavLst>
                                        <p:tav tm="0">
                                          <p:val>
                                            <p:strVal val="ppt_x"/>
                                          </p:val>
                                        </p:tav>
                                        <p:tav tm="100000">
                                          <p:val>
                                            <p:strVal val="ppt_x"/>
                                          </p:val>
                                        </p:tav>
                                      </p:tavLst>
                                    </p:anim>
                                    <p:anim calcmode="lin" valueType="num">
                                      <p:cBhvr additive="base">
                                        <p:cTn id="19" dur="500"/>
                                        <p:tgtEl>
                                          <p:spTgt spid="64"/>
                                        </p:tgtEl>
                                        <p:attrNameLst>
                                          <p:attrName>ppt_y</p:attrName>
                                        </p:attrNameLst>
                                      </p:cBhvr>
                                      <p:tavLst>
                                        <p:tav tm="0">
                                          <p:val>
                                            <p:strVal val="ppt_y"/>
                                          </p:val>
                                        </p:tav>
                                        <p:tav tm="100000">
                                          <p:val>
                                            <p:strVal val="1+ppt_h/2"/>
                                          </p:val>
                                        </p:tav>
                                      </p:tavLst>
                                    </p:anim>
                                    <p:set>
                                      <p:cBhvr>
                                        <p:cTn id="20" dur="1" fill="hold">
                                          <p:stCondLst>
                                            <p:cond delay="499"/>
                                          </p:stCondLst>
                                        </p:cTn>
                                        <p:tgtEl>
                                          <p:spTgt spid="64"/>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59"/>
                                        </p:tgtEl>
                                        <p:attrNameLst>
                                          <p:attrName>ppt_x</p:attrName>
                                        </p:attrNameLst>
                                      </p:cBhvr>
                                      <p:tavLst>
                                        <p:tav tm="0">
                                          <p:val>
                                            <p:strVal val="ppt_x"/>
                                          </p:val>
                                        </p:tav>
                                        <p:tav tm="100000">
                                          <p:val>
                                            <p:strVal val="ppt_x"/>
                                          </p:val>
                                        </p:tav>
                                      </p:tavLst>
                                    </p:anim>
                                    <p:anim calcmode="lin" valueType="num">
                                      <p:cBhvr additive="base">
                                        <p:cTn id="23" dur="500"/>
                                        <p:tgtEl>
                                          <p:spTgt spid="59"/>
                                        </p:tgtEl>
                                        <p:attrNameLst>
                                          <p:attrName>ppt_y</p:attrName>
                                        </p:attrNameLst>
                                      </p:cBhvr>
                                      <p:tavLst>
                                        <p:tav tm="0">
                                          <p:val>
                                            <p:strVal val="ppt_y"/>
                                          </p:val>
                                        </p:tav>
                                        <p:tav tm="100000">
                                          <p:val>
                                            <p:strVal val="1+ppt_h/2"/>
                                          </p:val>
                                        </p:tav>
                                      </p:tavLst>
                                    </p:anim>
                                    <p:set>
                                      <p:cBhvr>
                                        <p:cTn id="24" dur="1" fill="hold">
                                          <p:stCondLst>
                                            <p:cond delay="499"/>
                                          </p:stCondLst>
                                        </p:cTn>
                                        <p:tgtEl>
                                          <p:spTgt spid="59"/>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47"/>
                                        </p:tgtEl>
                                        <p:attrNameLst>
                                          <p:attrName>ppt_x</p:attrName>
                                        </p:attrNameLst>
                                      </p:cBhvr>
                                      <p:tavLst>
                                        <p:tav tm="0">
                                          <p:val>
                                            <p:strVal val="ppt_x"/>
                                          </p:val>
                                        </p:tav>
                                        <p:tav tm="100000">
                                          <p:val>
                                            <p:strVal val="ppt_x"/>
                                          </p:val>
                                        </p:tav>
                                      </p:tavLst>
                                    </p:anim>
                                    <p:anim calcmode="lin" valueType="num">
                                      <p:cBhvr additive="base">
                                        <p:cTn id="27" dur="500"/>
                                        <p:tgtEl>
                                          <p:spTgt spid="47"/>
                                        </p:tgtEl>
                                        <p:attrNameLst>
                                          <p:attrName>ppt_y</p:attrName>
                                        </p:attrNameLst>
                                      </p:cBhvr>
                                      <p:tavLst>
                                        <p:tav tm="0">
                                          <p:val>
                                            <p:strVal val="ppt_y"/>
                                          </p:val>
                                        </p:tav>
                                        <p:tav tm="100000">
                                          <p:val>
                                            <p:strVal val="1+ppt_h/2"/>
                                          </p:val>
                                        </p:tav>
                                      </p:tavLst>
                                    </p:anim>
                                    <p:set>
                                      <p:cBhvr>
                                        <p:cTn id="28" dur="1" fill="hold">
                                          <p:stCondLst>
                                            <p:cond delay="499"/>
                                          </p:stCondLst>
                                        </p:cTn>
                                        <p:tgtEl>
                                          <p:spTgt spid="47"/>
                                        </p:tgtEl>
                                        <p:attrNameLst>
                                          <p:attrName>style.visibility</p:attrName>
                                        </p:attrNameLst>
                                      </p:cBhvr>
                                      <p:to>
                                        <p:strVal val="hidden"/>
                                      </p:to>
                                    </p:set>
                                  </p:childTnLst>
                                </p:cTn>
                              </p:par>
                              <p:par>
                                <p:cTn id="29" presetID="2" presetClass="exit" presetSubtype="4" fill="hold" nodeType="withEffect">
                                  <p:stCondLst>
                                    <p:cond delay="0"/>
                                  </p:stCondLst>
                                  <p:childTnLst>
                                    <p:anim calcmode="lin" valueType="num">
                                      <p:cBhvr additive="base">
                                        <p:cTn id="30" dur="500"/>
                                        <p:tgtEl>
                                          <p:spTgt spid="51"/>
                                        </p:tgtEl>
                                        <p:attrNameLst>
                                          <p:attrName>ppt_x</p:attrName>
                                        </p:attrNameLst>
                                      </p:cBhvr>
                                      <p:tavLst>
                                        <p:tav tm="0">
                                          <p:val>
                                            <p:strVal val="ppt_x"/>
                                          </p:val>
                                        </p:tav>
                                        <p:tav tm="100000">
                                          <p:val>
                                            <p:strVal val="ppt_x"/>
                                          </p:val>
                                        </p:tav>
                                      </p:tavLst>
                                    </p:anim>
                                    <p:anim calcmode="lin" valueType="num">
                                      <p:cBhvr additive="base">
                                        <p:cTn id="31" dur="500"/>
                                        <p:tgtEl>
                                          <p:spTgt spid="51"/>
                                        </p:tgtEl>
                                        <p:attrNameLst>
                                          <p:attrName>ppt_y</p:attrName>
                                        </p:attrNameLst>
                                      </p:cBhvr>
                                      <p:tavLst>
                                        <p:tav tm="0">
                                          <p:val>
                                            <p:strVal val="ppt_y"/>
                                          </p:val>
                                        </p:tav>
                                        <p:tav tm="100000">
                                          <p:val>
                                            <p:strVal val="1+ppt_h/2"/>
                                          </p:val>
                                        </p:tav>
                                      </p:tavLst>
                                    </p:anim>
                                    <p:set>
                                      <p:cBhvr>
                                        <p:cTn id="32" dur="1" fill="hold">
                                          <p:stCondLst>
                                            <p:cond delay="499"/>
                                          </p:stCondLst>
                                        </p:cTn>
                                        <p:tgtEl>
                                          <p:spTgt spid="51"/>
                                        </p:tgtEl>
                                        <p:attrNameLst>
                                          <p:attrName>style.visibility</p:attrName>
                                        </p:attrNameLst>
                                      </p:cBhvr>
                                      <p:to>
                                        <p:strVal val="hidden"/>
                                      </p:to>
                                    </p:set>
                                  </p:childTnLst>
                                </p:cTn>
                              </p:par>
                              <p:par>
                                <p:cTn id="33" presetID="2" presetClass="exit" presetSubtype="4" fill="hold" grpId="0" nodeType="withEffect">
                                  <p:stCondLst>
                                    <p:cond delay="0"/>
                                  </p:stCondLst>
                                  <p:childTnLst>
                                    <p:anim calcmode="lin" valueType="num">
                                      <p:cBhvr additive="base">
                                        <p:cTn id="34" dur="500"/>
                                        <p:tgtEl>
                                          <p:spTgt spid="65"/>
                                        </p:tgtEl>
                                        <p:attrNameLst>
                                          <p:attrName>ppt_x</p:attrName>
                                        </p:attrNameLst>
                                      </p:cBhvr>
                                      <p:tavLst>
                                        <p:tav tm="0">
                                          <p:val>
                                            <p:strVal val="ppt_x"/>
                                          </p:val>
                                        </p:tav>
                                        <p:tav tm="100000">
                                          <p:val>
                                            <p:strVal val="ppt_x"/>
                                          </p:val>
                                        </p:tav>
                                      </p:tavLst>
                                    </p:anim>
                                    <p:anim calcmode="lin" valueType="num">
                                      <p:cBhvr additive="base">
                                        <p:cTn id="35" dur="500"/>
                                        <p:tgtEl>
                                          <p:spTgt spid="65"/>
                                        </p:tgtEl>
                                        <p:attrNameLst>
                                          <p:attrName>ppt_y</p:attrName>
                                        </p:attrNameLst>
                                      </p:cBhvr>
                                      <p:tavLst>
                                        <p:tav tm="0">
                                          <p:val>
                                            <p:strVal val="ppt_y"/>
                                          </p:val>
                                        </p:tav>
                                        <p:tav tm="100000">
                                          <p:val>
                                            <p:strVal val="1+ppt_h/2"/>
                                          </p:val>
                                        </p:tav>
                                      </p:tavLst>
                                    </p:anim>
                                    <p:set>
                                      <p:cBhvr>
                                        <p:cTn id="36" dur="1" fill="hold">
                                          <p:stCondLst>
                                            <p:cond delay="499"/>
                                          </p:stCondLst>
                                        </p:cTn>
                                        <p:tgtEl>
                                          <p:spTgt spid="65"/>
                                        </p:tgtEl>
                                        <p:attrNameLst>
                                          <p:attrName>style.visibility</p:attrName>
                                        </p:attrNameLst>
                                      </p:cBhvr>
                                      <p:to>
                                        <p:strVal val="hidden"/>
                                      </p:to>
                                    </p:set>
                                  </p:childTnLst>
                                </p:cTn>
                              </p:par>
                              <p:par>
                                <p:cTn id="37" presetID="2" presetClass="exit" presetSubtype="4" fill="hold" grpId="0" nodeType="withEffect">
                                  <p:stCondLst>
                                    <p:cond delay="0"/>
                                  </p:stCondLst>
                                  <p:childTnLst>
                                    <p:anim calcmode="lin" valueType="num">
                                      <p:cBhvr additive="base">
                                        <p:cTn id="38" dur="500"/>
                                        <p:tgtEl>
                                          <p:spTgt spid="16"/>
                                        </p:tgtEl>
                                        <p:attrNameLst>
                                          <p:attrName>ppt_x</p:attrName>
                                        </p:attrNameLst>
                                      </p:cBhvr>
                                      <p:tavLst>
                                        <p:tav tm="0">
                                          <p:val>
                                            <p:strVal val="ppt_x"/>
                                          </p:val>
                                        </p:tav>
                                        <p:tav tm="100000">
                                          <p:val>
                                            <p:strVal val="ppt_x"/>
                                          </p:val>
                                        </p:tav>
                                      </p:tavLst>
                                    </p:anim>
                                    <p:anim calcmode="lin" valueType="num">
                                      <p:cBhvr additive="base">
                                        <p:cTn id="39" dur="500"/>
                                        <p:tgtEl>
                                          <p:spTgt spid="16"/>
                                        </p:tgtEl>
                                        <p:attrNameLst>
                                          <p:attrName>ppt_y</p:attrName>
                                        </p:attrNameLst>
                                      </p:cBhvr>
                                      <p:tavLst>
                                        <p:tav tm="0">
                                          <p:val>
                                            <p:strVal val="ppt_y"/>
                                          </p:val>
                                        </p:tav>
                                        <p:tav tm="100000">
                                          <p:val>
                                            <p:strVal val="1+ppt_h/2"/>
                                          </p:val>
                                        </p:tav>
                                      </p:tavLst>
                                    </p:anim>
                                    <p:set>
                                      <p:cBhvr>
                                        <p:cTn id="40" dur="1" fill="hold">
                                          <p:stCondLst>
                                            <p:cond delay="499"/>
                                          </p:stCondLst>
                                        </p:cTn>
                                        <p:tgtEl>
                                          <p:spTgt spid="16"/>
                                        </p:tgtEl>
                                        <p:attrNameLst>
                                          <p:attrName>style.visibility</p:attrName>
                                        </p:attrNameLst>
                                      </p:cBhvr>
                                      <p:to>
                                        <p:strVal val="hidden"/>
                                      </p:to>
                                    </p:set>
                                  </p:childTnLst>
                                </p:cTn>
                              </p:par>
                              <p:par>
                                <p:cTn id="41" presetID="2" presetClass="exit" presetSubtype="4" fill="hold" grpId="0" nodeType="withEffect">
                                  <p:stCondLst>
                                    <p:cond delay="0"/>
                                  </p:stCondLst>
                                  <p:childTnLst>
                                    <p:anim calcmode="lin" valueType="num">
                                      <p:cBhvr additive="base">
                                        <p:cTn id="42" dur="500"/>
                                        <p:tgtEl>
                                          <p:spTgt spid="15"/>
                                        </p:tgtEl>
                                        <p:attrNameLst>
                                          <p:attrName>ppt_x</p:attrName>
                                        </p:attrNameLst>
                                      </p:cBhvr>
                                      <p:tavLst>
                                        <p:tav tm="0">
                                          <p:val>
                                            <p:strVal val="ppt_x"/>
                                          </p:val>
                                        </p:tav>
                                        <p:tav tm="100000">
                                          <p:val>
                                            <p:strVal val="ppt_x"/>
                                          </p:val>
                                        </p:tav>
                                      </p:tavLst>
                                    </p:anim>
                                    <p:anim calcmode="lin" valueType="num">
                                      <p:cBhvr additive="base">
                                        <p:cTn id="43" dur="500"/>
                                        <p:tgtEl>
                                          <p:spTgt spid="15"/>
                                        </p:tgtEl>
                                        <p:attrNameLst>
                                          <p:attrName>ppt_y</p:attrName>
                                        </p:attrNameLst>
                                      </p:cBhvr>
                                      <p:tavLst>
                                        <p:tav tm="0">
                                          <p:val>
                                            <p:strVal val="ppt_y"/>
                                          </p:val>
                                        </p:tav>
                                        <p:tav tm="100000">
                                          <p:val>
                                            <p:strVal val="1+ppt_h/2"/>
                                          </p:val>
                                        </p:tav>
                                      </p:tavLst>
                                    </p:anim>
                                    <p:set>
                                      <p:cBhvr>
                                        <p:cTn id="44" dur="1" fill="hold">
                                          <p:stCondLst>
                                            <p:cond delay="499"/>
                                          </p:stCondLst>
                                        </p:cTn>
                                        <p:tgtEl>
                                          <p:spTgt spid="15"/>
                                        </p:tgtEl>
                                        <p:attrNameLst>
                                          <p:attrName>style.visibility</p:attrName>
                                        </p:attrNameLst>
                                      </p:cBhvr>
                                      <p:to>
                                        <p:strVal val="hidden"/>
                                      </p:to>
                                    </p:set>
                                  </p:childTnLst>
                                </p:cTn>
                              </p:par>
                              <p:par>
                                <p:cTn id="45" presetID="2" presetClass="exit" presetSubtype="4" fill="hold" grpId="0" nodeType="withEffect">
                                  <p:stCondLst>
                                    <p:cond delay="0"/>
                                  </p:stCondLst>
                                  <p:childTnLst>
                                    <p:anim calcmode="lin" valueType="num">
                                      <p:cBhvr additive="base">
                                        <p:cTn id="46" dur="500"/>
                                        <p:tgtEl>
                                          <p:spTgt spid="34857"/>
                                        </p:tgtEl>
                                        <p:attrNameLst>
                                          <p:attrName>ppt_x</p:attrName>
                                        </p:attrNameLst>
                                      </p:cBhvr>
                                      <p:tavLst>
                                        <p:tav tm="0">
                                          <p:val>
                                            <p:strVal val="ppt_x"/>
                                          </p:val>
                                        </p:tav>
                                        <p:tav tm="100000">
                                          <p:val>
                                            <p:strVal val="ppt_x"/>
                                          </p:val>
                                        </p:tav>
                                      </p:tavLst>
                                    </p:anim>
                                    <p:anim calcmode="lin" valueType="num">
                                      <p:cBhvr additive="base">
                                        <p:cTn id="47" dur="500"/>
                                        <p:tgtEl>
                                          <p:spTgt spid="34857"/>
                                        </p:tgtEl>
                                        <p:attrNameLst>
                                          <p:attrName>ppt_y</p:attrName>
                                        </p:attrNameLst>
                                      </p:cBhvr>
                                      <p:tavLst>
                                        <p:tav tm="0">
                                          <p:val>
                                            <p:strVal val="ppt_y"/>
                                          </p:val>
                                        </p:tav>
                                        <p:tav tm="100000">
                                          <p:val>
                                            <p:strVal val="1+ppt_h/2"/>
                                          </p:val>
                                        </p:tav>
                                      </p:tavLst>
                                    </p:anim>
                                    <p:set>
                                      <p:cBhvr>
                                        <p:cTn id="48" dur="1" fill="hold">
                                          <p:stCondLst>
                                            <p:cond delay="499"/>
                                          </p:stCondLst>
                                        </p:cTn>
                                        <p:tgtEl>
                                          <p:spTgt spid="34857"/>
                                        </p:tgtEl>
                                        <p:attrNameLst>
                                          <p:attrName>style.visibility</p:attrName>
                                        </p:attrNameLst>
                                      </p:cBhvr>
                                      <p:to>
                                        <p:strVal val="hidden"/>
                                      </p:to>
                                    </p:set>
                                  </p:childTnLst>
                                </p:cTn>
                              </p:par>
                              <p:par>
                                <p:cTn id="49" presetID="2" presetClass="exit" presetSubtype="4" fill="hold" grpId="0" nodeType="withEffect">
                                  <p:stCondLst>
                                    <p:cond delay="0"/>
                                  </p:stCondLst>
                                  <p:childTnLst>
                                    <p:anim calcmode="lin" valueType="num">
                                      <p:cBhvr additive="base">
                                        <p:cTn id="50" dur="500"/>
                                        <p:tgtEl>
                                          <p:spTgt spid="34858"/>
                                        </p:tgtEl>
                                        <p:attrNameLst>
                                          <p:attrName>ppt_x</p:attrName>
                                        </p:attrNameLst>
                                      </p:cBhvr>
                                      <p:tavLst>
                                        <p:tav tm="0">
                                          <p:val>
                                            <p:strVal val="ppt_x"/>
                                          </p:val>
                                        </p:tav>
                                        <p:tav tm="100000">
                                          <p:val>
                                            <p:strVal val="ppt_x"/>
                                          </p:val>
                                        </p:tav>
                                      </p:tavLst>
                                    </p:anim>
                                    <p:anim calcmode="lin" valueType="num">
                                      <p:cBhvr additive="base">
                                        <p:cTn id="51" dur="500"/>
                                        <p:tgtEl>
                                          <p:spTgt spid="34858"/>
                                        </p:tgtEl>
                                        <p:attrNameLst>
                                          <p:attrName>ppt_y</p:attrName>
                                        </p:attrNameLst>
                                      </p:cBhvr>
                                      <p:tavLst>
                                        <p:tav tm="0">
                                          <p:val>
                                            <p:strVal val="ppt_y"/>
                                          </p:val>
                                        </p:tav>
                                        <p:tav tm="100000">
                                          <p:val>
                                            <p:strVal val="1+ppt_h/2"/>
                                          </p:val>
                                        </p:tav>
                                      </p:tavLst>
                                    </p:anim>
                                    <p:set>
                                      <p:cBhvr>
                                        <p:cTn id="52" dur="1" fill="hold">
                                          <p:stCondLst>
                                            <p:cond delay="499"/>
                                          </p:stCondLst>
                                        </p:cTn>
                                        <p:tgtEl>
                                          <p:spTgt spid="34858"/>
                                        </p:tgtEl>
                                        <p:attrNameLst>
                                          <p:attrName>style.visibility</p:attrName>
                                        </p:attrNameLst>
                                      </p:cBhvr>
                                      <p:to>
                                        <p:strVal val="hidden"/>
                                      </p:to>
                                    </p:set>
                                  </p:childTnLst>
                                </p:cTn>
                              </p:par>
                              <p:par>
                                <p:cTn id="53" presetID="2" presetClass="exit" presetSubtype="4" fill="hold" nodeType="withEffect">
                                  <p:stCondLst>
                                    <p:cond delay="0"/>
                                  </p:stCondLst>
                                  <p:childTnLst>
                                    <p:anim calcmode="lin" valueType="num">
                                      <p:cBhvr additive="base">
                                        <p:cTn id="54" dur="500"/>
                                        <p:tgtEl>
                                          <p:spTgt spid="49"/>
                                        </p:tgtEl>
                                        <p:attrNameLst>
                                          <p:attrName>ppt_x</p:attrName>
                                        </p:attrNameLst>
                                      </p:cBhvr>
                                      <p:tavLst>
                                        <p:tav tm="0">
                                          <p:val>
                                            <p:strVal val="ppt_x"/>
                                          </p:val>
                                        </p:tav>
                                        <p:tav tm="100000">
                                          <p:val>
                                            <p:strVal val="ppt_x"/>
                                          </p:val>
                                        </p:tav>
                                      </p:tavLst>
                                    </p:anim>
                                    <p:anim calcmode="lin" valueType="num">
                                      <p:cBhvr additive="base">
                                        <p:cTn id="55" dur="500"/>
                                        <p:tgtEl>
                                          <p:spTgt spid="49"/>
                                        </p:tgtEl>
                                        <p:attrNameLst>
                                          <p:attrName>ppt_y</p:attrName>
                                        </p:attrNameLst>
                                      </p:cBhvr>
                                      <p:tavLst>
                                        <p:tav tm="0">
                                          <p:val>
                                            <p:strVal val="ppt_y"/>
                                          </p:val>
                                        </p:tav>
                                        <p:tav tm="100000">
                                          <p:val>
                                            <p:strVal val="1+ppt_h/2"/>
                                          </p:val>
                                        </p:tav>
                                      </p:tavLst>
                                    </p:anim>
                                    <p:set>
                                      <p:cBhvr>
                                        <p:cTn id="56" dur="1" fill="hold">
                                          <p:stCondLst>
                                            <p:cond delay="499"/>
                                          </p:stCondLst>
                                        </p:cTn>
                                        <p:tgtEl>
                                          <p:spTgt spid="49"/>
                                        </p:tgtEl>
                                        <p:attrNameLst>
                                          <p:attrName>style.visibility</p:attrName>
                                        </p:attrNameLst>
                                      </p:cBhvr>
                                      <p:to>
                                        <p:strVal val="hidden"/>
                                      </p:to>
                                    </p:set>
                                  </p:childTnLst>
                                </p:cTn>
                              </p:par>
                              <p:par>
                                <p:cTn id="57" presetID="2" presetClass="exit" presetSubtype="4" fill="hold" nodeType="withEffect">
                                  <p:stCondLst>
                                    <p:cond delay="0"/>
                                  </p:stCondLst>
                                  <p:childTnLst>
                                    <p:anim calcmode="lin" valueType="num">
                                      <p:cBhvr additive="base">
                                        <p:cTn id="58" dur="500"/>
                                        <p:tgtEl>
                                          <p:spTgt spid="43"/>
                                        </p:tgtEl>
                                        <p:attrNameLst>
                                          <p:attrName>ppt_x</p:attrName>
                                        </p:attrNameLst>
                                      </p:cBhvr>
                                      <p:tavLst>
                                        <p:tav tm="0">
                                          <p:val>
                                            <p:strVal val="ppt_x"/>
                                          </p:val>
                                        </p:tav>
                                        <p:tav tm="100000">
                                          <p:val>
                                            <p:strVal val="ppt_x"/>
                                          </p:val>
                                        </p:tav>
                                      </p:tavLst>
                                    </p:anim>
                                    <p:anim calcmode="lin" valueType="num">
                                      <p:cBhvr additive="base">
                                        <p:cTn id="59" dur="500"/>
                                        <p:tgtEl>
                                          <p:spTgt spid="43"/>
                                        </p:tgtEl>
                                        <p:attrNameLst>
                                          <p:attrName>ppt_y</p:attrName>
                                        </p:attrNameLst>
                                      </p:cBhvr>
                                      <p:tavLst>
                                        <p:tav tm="0">
                                          <p:val>
                                            <p:strVal val="ppt_y"/>
                                          </p:val>
                                        </p:tav>
                                        <p:tav tm="100000">
                                          <p:val>
                                            <p:strVal val="1+ppt_h/2"/>
                                          </p:val>
                                        </p:tav>
                                      </p:tavLst>
                                    </p:anim>
                                    <p:set>
                                      <p:cBhvr>
                                        <p:cTn id="60" dur="1" fill="hold">
                                          <p:stCondLst>
                                            <p:cond delay="499"/>
                                          </p:stCondLst>
                                        </p:cTn>
                                        <p:tgtEl>
                                          <p:spTgt spid="43"/>
                                        </p:tgtEl>
                                        <p:attrNameLst>
                                          <p:attrName>style.visibility</p:attrName>
                                        </p:attrNameLst>
                                      </p:cBhvr>
                                      <p:to>
                                        <p:strVal val="hidden"/>
                                      </p:to>
                                    </p:set>
                                  </p:childTnLst>
                                </p:cTn>
                              </p:par>
                              <p:par>
                                <p:cTn id="61" presetID="2" presetClass="exit" presetSubtype="4" fill="hold" grpId="0" nodeType="withEffect">
                                  <p:stCondLst>
                                    <p:cond delay="0"/>
                                  </p:stCondLst>
                                  <p:childTnLst>
                                    <p:anim calcmode="lin" valueType="num">
                                      <p:cBhvr additive="base">
                                        <p:cTn id="62" dur="500"/>
                                        <p:tgtEl>
                                          <p:spTgt spid="60"/>
                                        </p:tgtEl>
                                        <p:attrNameLst>
                                          <p:attrName>ppt_x</p:attrName>
                                        </p:attrNameLst>
                                      </p:cBhvr>
                                      <p:tavLst>
                                        <p:tav tm="0">
                                          <p:val>
                                            <p:strVal val="ppt_x"/>
                                          </p:val>
                                        </p:tav>
                                        <p:tav tm="100000">
                                          <p:val>
                                            <p:strVal val="ppt_x"/>
                                          </p:val>
                                        </p:tav>
                                      </p:tavLst>
                                    </p:anim>
                                    <p:anim calcmode="lin" valueType="num">
                                      <p:cBhvr additive="base">
                                        <p:cTn id="63" dur="500"/>
                                        <p:tgtEl>
                                          <p:spTgt spid="60"/>
                                        </p:tgtEl>
                                        <p:attrNameLst>
                                          <p:attrName>ppt_y</p:attrName>
                                        </p:attrNameLst>
                                      </p:cBhvr>
                                      <p:tavLst>
                                        <p:tav tm="0">
                                          <p:val>
                                            <p:strVal val="ppt_y"/>
                                          </p:val>
                                        </p:tav>
                                        <p:tav tm="100000">
                                          <p:val>
                                            <p:strVal val="1+ppt_h/2"/>
                                          </p:val>
                                        </p:tav>
                                      </p:tavLst>
                                    </p:anim>
                                    <p:set>
                                      <p:cBhvr>
                                        <p:cTn id="64" dur="1" fill="hold">
                                          <p:stCondLst>
                                            <p:cond delay="499"/>
                                          </p:stCondLst>
                                        </p:cTn>
                                        <p:tgtEl>
                                          <p:spTgt spid="60"/>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41"/>
                                        </p:tgtEl>
                                        <p:attrNameLst>
                                          <p:attrName>ppt_x</p:attrName>
                                        </p:attrNameLst>
                                      </p:cBhvr>
                                      <p:tavLst>
                                        <p:tav tm="0">
                                          <p:val>
                                            <p:strVal val="ppt_x"/>
                                          </p:val>
                                        </p:tav>
                                        <p:tav tm="100000">
                                          <p:val>
                                            <p:strVal val="ppt_x"/>
                                          </p:val>
                                        </p:tav>
                                      </p:tavLst>
                                    </p:anim>
                                    <p:anim calcmode="lin" valueType="num">
                                      <p:cBhvr additive="base">
                                        <p:cTn id="67" dur="500"/>
                                        <p:tgtEl>
                                          <p:spTgt spid="41"/>
                                        </p:tgtEl>
                                        <p:attrNameLst>
                                          <p:attrName>ppt_y</p:attrName>
                                        </p:attrNameLst>
                                      </p:cBhvr>
                                      <p:tavLst>
                                        <p:tav tm="0">
                                          <p:val>
                                            <p:strVal val="ppt_y"/>
                                          </p:val>
                                        </p:tav>
                                        <p:tav tm="100000">
                                          <p:val>
                                            <p:strVal val="1+ppt_h/2"/>
                                          </p:val>
                                        </p:tav>
                                      </p:tavLst>
                                    </p:anim>
                                    <p:set>
                                      <p:cBhvr>
                                        <p:cTn id="68" dur="1" fill="hold">
                                          <p:stCondLst>
                                            <p:cond delay="499"/>
                                          </p:stCondLst>
                                        </p:cTn>
                                        <p:tgtEl>
                                          <p:spTgt spid="41"/>
                                        </p:tgtEl>
                                        <p:attrNameLst>
                                          <p:attrName>style.visibility</p:attrName>
                                        </p:attrNameLst>
                                      </p:cBhvr>
                                      <p:to>
                                        <p:strVal val="hidden"/>
                                      </p:to>
                                    </p:set>
                                  </p:childTnLst>
                                </p:cTn>
                              </p:par>
                              <p:par>
                                <p:cTn id="69" presetID="2" presetClass="exit" presetSubtype="4" fill="hold" grpId="0" nodeType="withEffect">
                                  <p:stCondLst>
                                    <p:cond delay="0"/>
                                  </p:stCondLst>
                                  <p:childTnLst>
                                    <p:anim calcmode="lin" valueType="num">
                                      <p:cBhvr additive="base">
                                        <p:cTn id="70" dur="500"/>
                                        <p:tgtEl>
                                          <p:spTgt spid="58"/>
                                        </p:tgtEl>
                                        <p:attrNameLst>
                                          <p:attrName>ppt_x</p:attrName>
                                        </p:attrNameLst>
                                      </p:cBhvr>
                                      <p:tavLst>
                                        <p:tav tm="0">
                                          <p:val>
                                            <p:strVal val="ppt_x"/>
                                          </p:val>
                                        </p:tav>
                                        <p:tav tm="100000">
                                          <p:val>
                                            <p:strVal val="ppt_x"/>
                                          </p:val>
                                        </p:tav>
                                      </p:tavLst>
                                    </p:anim>
                                    <p:anim calcmode="lin" valueType="num">
                                      <p:cBhvr additive="base">
                                        <p:cTn id="71" dur="500"/>
                                        <p:tgtEl>
                                          <p:spTgt spid="58"/>
                                        </p:tgtEl>
                                        <p:attrNameLst>
                                          <p:attrName>ppt_y</p:attrName>
                                        </p:attrNameLst>
                                      </p:cBhvr>
                                      <p:tavLst>
                                        <p:tav tm="0">
                                          <p:val>
                                            <p:strVal val="ppt_y"/>
                                          </p:val>
                                        </p:tav>
                                        <p:tav tm="100000">
                                          <p:val>
                                            <p:strVal val="1+ppt_h/2"/>
                                          </p:val>
                                        </p:tav>
                                      </p:tavLst>
                                    </p:anim>
                                    <p:set>
                                      <p:cBhvr>
                                        <p:cTn id="72" dur="1" fill="hold">
                                          <p:stCondLst>
                                            <p:cond delay="499"/>
                                          </p:stCondLst>
                                        </p:cTn>
                                        <p:tgtEl>
                                          <p:spTgt spid="58"/>
                                        </p:tgtEl>
                                        <p:attrNameLst>
                                          <p:attrName>style.visibility</p:attrName>
                                        </p:attrNameLst>
                                      </p:cBhvr>
                                      <p:to>
                                        <p:strVal val="hidden"/>
                                      </p:to>
                                    </p:set>
                                  </p:childTnLst>
                                </p:cTn>
                              </p:par>
                              <p:par>
                                <p:cTn id="73" presetID="2" presetClass="exit" presetSubtype="4" fill="hold" nodeType="withEffect">
                                  <p:stCondLst>
                                    <p:cond delay="0"/>
                                  </p:stCondLst>
                                  <p:childTnLst>
                                    <p:anim calcmode="lin" valueType="num">
                                      <p:cBhvr additive="base">
                                        <p:cTn id="74" dur="500"/>
                                        <p:tgtEl>
                                          <p:spTgt spid="45"/>
                                        </p:tgtEl>
                                        <p:attrNameLst>
                                          <p:attrName>ppt_x</p:attrName>
                                        </p:attrNameLst>
                                      </p:cBhvr>
                                      <p:tavLst>
                                        <p:tav tm="0">
                                          <p:val>
                                            <p:strVal val="ppt_x"/>
                                          </p:val>
                                        </p:tav>
                                        <p:tav tm="100000">
                                          <p:val>
                                            <p:strVal val="ppt_x"/>
                                          </p:val>
                                        </p:tav>
                                      </p:tavLst>
                                    </p:anim>
                                    <p:anim calcmode="lin" valueType="num">
                                      <p:cBhvr additive="base">
                                        <p:cTn id="75" dur="500"/>
                                        <p:tgtEl>
                                          <p:spTgt spid="45"/>
                                        </p:tgtEl>
                                        <p:attrNameLst>
                                          <p:attrName>ppt_y</p:attrName>
                                        </p:attrNameLst>
                                      </p:cBhvr>
                                      <p:tavLst>
                                        <p:tav tm="0">
                                          <p:val>
                                            <p:strVal val="ppt_y"/>
                                          </p:val>
                                        </p:tav>
                                        <p:tav tm="100000">
                                          <p:val>
                                            <p:strVal val="1+ppt_h/2"/>
                                          </p:val>
                                        </p:tav>
                                      </p:tavLst>
                                    </p:anim>
                                    <p:set>
                                      <p:cBhvr>
                                        <p:cTn id="76" dur="1" fill="hold">
                                          <p:stCondLst>
                                            <p:cond delay="499"/>
                                          </p:stCondLst>
                                        </p:cTn>
                                        <p:tgtEl>
                                          <p:spTgt spid="45"/>
                                        </p:tgtEl>
                                        <p:attrNameLst>
                                          <p:attrName>style.visibility</p:attrName>
                                        </p:attrNameLst>
                                      </p:cBhvr>
                                      <p:to>
                                        <p:strVal val="hidden"/>
                                      </p:to>
                                    </p:set>
                                  </p:childTnLst>
                                </p:cTn>
                              </p:par>
                              <p:par>
                                <p:cTn id="77" presetID="2" presetClass="exit" presetSubtype="4" fill="hold" grpId="0" nodeType="withEffect">
                                  <p:stCondLst>
                                    <p:cond delay="0"/>
                                  </p:stCondLst>
                                  <p:childTnLst>
                                    <p:anim calcmode="lin" valueType="num">
                                      <p:cBhvr additive="base">
                                        <p:cTn id="78" dur="500"/>
                                        <p:tgtEl>
                                          <p:spTgt spid="17"/>
                                        </p:tgtEl>
                                        <p:attrNameLst>
                                          <p:attrName>ppt_x</p:attrName>
                                        </p:attrNameLst>
                                      </p:cBhvr>
                                      <p:tavLst>
                                        <p:tav tm="0">
                                          <p:val>
                                            <p:strVal val="ppt_x"/>
                                          </p:val>
                                        </p:tav>
                                        <p:tav tm="100000">
                                          <p:val>
                                            <p:strVal val="ppt_x"/>
                                          </p:val>
                                        </p:tav>
                                      </p:tavLst>
                                    </p:anim>
                                    <p:anim calcmode="lin" valueType="num">
                                      <p:cBhvr additive="base">
                                        <p:cTn id="79" dur="500"/>
                                        <p:tgtEl>
                                          <p:spTgt spid="17"/>
                                        </p:tgtEl>
                                        <p:attrNameLst>
                                          <p:attrName>ppt_y</p:attrName>
                                        </p:attrNameLst>
                                      </p:cBhvr>
                                      <p:tavLst>
                                        <p:tav tm="0">
                                          <p:val>
                                            <p:strVal val="ppt_y"/>
                                          </p:val>
                                        </p:tav>
                                        <p:tav tm="100000">
                                          <p:val>
                                            <p:strVal val="1+ppt_h/2"/>
                                          </p:val>
                                        </p:tav>
                                      </p:tavLst>
                                    </p:anim>
                                    <p:set>
                                      <p:cBhvr>
                                        <p:cTn id="80" dur="1" fill="hold">
                                          <p:stCondLst>
                                            <p:cond delay="499"/>
                                          </p:stCondLst>
                                        </p:cTn>
                                        <p:tgtEl>
                                          <p:spTgt spid="17"/>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48"/>
                                        </p:tgtEl>
                                        <p:attrNameLst>
                                          <p:attrName>ppt_x</p:attrName>
                                        </p:attrNameLst>
                                      </p:cBhvr>
                                      <p:tavLst>
                                        <p:tav tm="0">
                                          <p:val>
                                            <p:strVal val="ppt_x"/>
                                          </p:val>
                                        </p:tav>
                                        <p:tav tm="100000">
                                          <p:val>
                                            <p:strVal val="ppt_x"/>
                                          </p:val>
                                        </p:tav>
                                      </p:tavLst>
                                    </p:anim>
                                    <p:anim calcmode="lin" valueType="num">
                                      <p:cBhvr additive="base">
                                        <p:cTn id="83" dur="500"/>
                                        <p:tgtEl>
                                          <p:spTgt spid="48"/>
                                        </p:tgtEl>
                                        <p:attrNameLst>
                                          <p:attrName>ppt_y</p:attrName>
                                        </p:attrNameLst>
                                      </p:cBhvr>
                                      <p:tavLst>
                                        <p:tav tm="0">
                                          <p:val>
                                            <p:strVal val="ppt_y"/>
                                          </p:val>
                                        </p:tav>
                                        <p:tav tm="100000">
                                          <p:val>
                                            <p:strVal val="1+ppt_h/2"/>
                                          </p:val>
                                        </p:tav>
                                      </p:tavLst>
                                    </p:anim>
                                    <p:set>
                                      <p:cBhvr>
                                        <p:cTn id="84" dur="1" fill="hold">
                                          <p:stCondLst>
                                            <p:cond delay="499"/>
                                          </p:stCondLst>
                                        </p:cTn>
                                        <p:tgtEl>
                                          <p:spTgt spid="48"/>
                                        </p:tgtEl>
                                        <p:attrNameLst>
                                          <p:attrName>style.visibility</p:attrName>
                                        </p:attrNameLst>
                                      </p:cBhvr>
                                      <p:to>
                                        <p:strVal val="hidden"/>
                                      </p:to>
                                    </p:set>
                                  </p:childTnLst>
                                </p:cTn>
                              </p:par>
                              <p:par>
                                <p:cTn id="85" presetID="2" presetClass="exit" presetSubtype="4" fill="hold" nodeType="withEffect">
                                  <p:stCondLst>
                                    <p:cond delay="0"/>
                                  </p:stCondLst>
                                  <p:childTnLst>
                                    <p:anim calcmode="lin" valueType="num">
                                      <p:cBhvr additive="base">
                                        <p:cTn id="86" dur="500"/>
                                        <p:tgtEl>
                                          <p:spTgt spid="53"/>
                                        </p:tgtEl>
                                        <p:attrNameLst>
                                          <p:attrName>ppt_x</p:attrName>
                                        </p:attrNameLst>
                                      </p:cBhvr>
                                      <p:tavLst>
                                        <p:tav tm="0">
                                          <p:val>
                                            <p:strVal val="ppt_x"/>
                                          </p:val>
                                        </p:tav>
                                        <p:tav tm="100000">
                                          <p:val>
                                            <p:strVal val="ppt_x"/>
                                          </p:val>
                                        </p:tav>
                                      </p:tavLst>
                                    </p:anim>
                                    <p:anim calcmode="lin" valueType="num">
                                      <p:cBhvr additive="base">
                                        <p:cTn id="87" dur="500"/>
                                        <p:tgtEl>
                                          <p:spTgt spid="53"/>
                                        </p:tgtEl>
                                        <p:attrNameLst>
                                          <p:attrName>ppt_y</p:attrName>
                                        </p:attrNameLst>
                                      </p:cBhvr>
                                      <p:tavLst>
                                        <p:tav tm="0">
                                          <p:val>
                                            <p:strVal val="ppt_y"/>
                                          </p:val>
                                        </p:tav>
                                        <p:tav tm="100000">
                                          <p:val>
                                            <p:strVal val="1+ppt_h/2"/>
                                          </p:val>
                                        </p:tav>
                                      </p:tavLst>
                                    </p:anim>
                                    <p:set>
                                      <p:cBhvr>
                                        <p:cTn id="88" dur="1" fill="hold">
                                          <p:stCondLst>
                                            <p:cond delay="499"/>
                                          </p:stCondLst>
                                        </p:cTn>
                                        <p:tgtEl>
                                          <p:spTgt spid="53"/>
                                        </p:tgtEl>
                                        <p:attrNameLst>
                                          <p:attrName>style.visibility</p:attrName>
                                        </p:attrNameLst>
                                      </p:cBhvr>
                                      <p:to>
                                        <p:strVal val="hidden"/>
                                      </p:to>
                                    </p:set>
                                  </p:childTnLst>
                                </p:cTn>
                              </p:par>
                              <p:par>
                                <p:cTn id="89" presetID="2" presetClass="exit" presetSubtype="4" fill="hold" nodeType="withEffect">
                                  <p:stCondLst>
                                    <p:cond delay="0"/>
                                  </p:stCondLst>
                                  <p:childTnLst>
                                    <p:anim calcmode="lin" valueType="num">
                                      <p:cBhvr additive="base">
                                        <p:cTn id="90" dur="500"/>
                                        <p:tgtEl>
                                          <p:spTgt spid="55"/>
                                        </p:tgtEl>
                                        <p:attrNameLst>
                                          <p:attrName>ppt_x</p:attrName>
                                        </p:attrNameLst>
                                      </p:cBhvr>
                                      <p:tavLst>
                                        <p:tav tm="0">
                                          <p:val>
                                            <p:strVal val="ppt_x"/>
                                          </p:val>
                                        </p:tav>
                                        <p:tav tm="100000">
                                          <p:val>
                                            <p:strVal val="ppt_x"/>
                                          </p:val>
                                        </p:tav>
                                      </p:tavLst>
                                    </p:anim>
                                    <p:anim calcmode="lin" valueType="num">
                                      <p:cBhvr additive="base">
                                        <p:cTn id="91" dur="500"/>
                                        <p:tgtEl>
                                          <p:spTgt spid="55"/>
                                        </p:tgtEl>
                                        <p:attrNameLst>
                                          <p:attrName>ppt_y</p:attrName>
                                        </p:attrNameLst>
                                      </p:cBhvr>
                                      <p:tavLst>
                                        <p:tav tm="0">
                                          <p:val>
                                            <p:strVal val="ppt_y"/>
                                          </p:val>
                                        </p:tav>
                                        <p:tav tm="100000">
                                          <p:val>
                                            <p:strVal val="1+ppt_h/2"/>
                                          </p:val>
                                        </p:tav>
                                      </p:tavLst>
                                    </p:anim>
                                    <p:set>
                                      <p:cBhvr>
                                        <p:cTn id="92" dur="1" fill="hold">
                                          <p:stCondLst>
                                            <p:cond delay="499"/>
                                          </p:stCondLst>
                                        </p:cTn>
                                        <p:tgtEl>
                                          <p:spTgt spid="55"/>
                                        </p:tgtEl>
                                        <p:attrNameLst>
                                          <p:attrName>style.visibility</p:attrName>
                                        </p:attrNameLst>
                                      </p:cBhvr>
                                      <p:to>
                                        <p:strVal val="hidden"/>
                                      </p:to>
                                    </p:set>
                                  </p:childTnLst>
                                </p:cTn>
                              </p:par>
                              <p:par>
                                <p:cTn id="93" presetID="2" presetClass="exit" presetSubtype="4" fill="hold" nodeType="withEffect">
                                  <p:stCondLst>
                                    <p:cond delay="0"/>
                                  </p:stCondLst>
                                  <p:childTnLst>
                                    <p:anim calcmode="lin" valueType="num">
                                      <p:cBhvr additive="base">
                                        <p:cTn id="94" dur="500"/>
                                        <p:tgtEl>
                                          <p:spTgt spid="46"/>
                                        </p:tgtEl>
                                        <p:attrNameLst>
                                          <p:attrName>ppt_x</p:attrName>
                                        </p:attrNameLst>
                                      </p:cBhvr>
                                      <p:tavLst>
                                        <p:tav tm="0">
                                          <p:val>
                                            <p:strVal val="ppt_x"/>
                                          </p:val>
                                        </p:tav>
                                        <p:tav tm="100000">
                                          <p:val>
                                            <p:strVal val="ppt_x"/>
                                          </p:val>
                                        </p:tav>
                                      </p:tavLst>
                                    </p:anim>
                                    <p:anim calcmode="lin" valueType="num">
                                      <p:cBhvr additive="base">
                                        <p:cTn id="95" dur="500"/>
                                        <p:tgtEl>
                                          <p:spTgt spid="46"/>
                                        </p:tgtEl>
                                        <p:attrNameLst>
                                          <p:attrName>ppt_y</p:attrName>
                                        </p:attrNameLst>
                                      </p:cBhvr>
                                      <p:tavLst>
                                        <p:tav tm="0">
                                          <p:val>
                                            <p:strVal val="ppt_y"/>
                                          </p:val>
                                        </p:tav>
                                        <p:tav tm="100000">
                                          <p:val>
                                            <p:strVal val="1+ppt_h/2"/>
                                          </p:val>
                                        </p:tav>
                                      </p:tavLst>
                                    </p:anim>
                                    <p:set>
                                      <p:cBhvr>
                                        <p:cTn id="96" dur="1" fill="hold">
                                          <p:stCondLst>
                                            <p:cond delay="499"/>
                                          </p:stCondLst>
                                        </p:cTn>
                                        <p:tgtEl>
                                          <p:spTgt spid="46"/>
                                        </p:tgtEl>
                                        <p:attrNameLst>
                                          <p:attrName>style.visibility</p:attrName>
                                        </p:attrNameLst>
                                      </p:cBhvr>
                                      <p:to>
                                        <p:strVal val="hidden"/>
                                      </p:to>
                                    </p:set>
                                  </p:childTnLst>
                                </p:cTn>
                              </p:par>
                              <p:par>
                                <p:cTn id="97" presetID="2" presetClass="exit" presetSubtype="4" fill="hold" grpId="0" nodeType="withEffect">
                                  <p:stCondLst>
                                    <p:cond delay="0"/>
                                  </p:stCondLst>
                                  <p:childTnLst>
                                    <p:anim calcmode="lin" valueType="num">
                                      <p:cBhvr additive="base">
                                        <p:cTn id="98" dur="500"/>
                                        <p:tgtEl>
                                          <p:spTgt spid="34865"/>
                                        </p:tgtEl>
                                        <p:attrNameLst>
                                          <p:attrName>ppt_x</p:attrName>
                                        </p:attrNameLst>
                                      </p:cBhvr>
                                      <p:tavLst>
                                        <p:tav tm="0">
                                          <p:val>
                                            <p:strVal val="ppt_x"/>
                                          </p:val>
                                        </p:tav>
                                        <p:tav tm="100000">
                                          <p:val>
                                            <p:strVal val="ppt_x"/>
                                          </p:val>
                                        </p:tav>
                                      </p:tavLst>
                                    </p:anim>
                                    <p:anim calcmode="lin" valueType="num">
                                      <p:cBhvr additive="base">
                                        <p:cTn id="99" dur="500"/>
                                        <p:tgtEl>
                                          <p:spTgt spid="34865"/>
                                        </p:tgtEl>
                                        <p:attrNameLst>
                                          <p:attrName>ppt_y</p:attrName>
                                        </p:attrNameLst>
                                      </p:cBhvr>
                                      <p:tavLst>
                                        <p:tav tm="0">
                                          <p:val>
                                            <p:strVal val="ppt_y"/>
                                          </p:val>
                                        </p:tav>
                                        <p:tav tm="100000">
                                          <p:val>
                                            <p:strVal val="1+ppt_h/2"/>
                                          </p:val>
                                        </p:tav>
                                      </p:tavLst>
                                    </p:anim>
                                    <p:set>
                                      <p:cBhvr>
                                        <p:cTn id="100" dur="1" fill="hold">
                                          <p:stCondLst>
                                            <p:cond delay="499"/>
                                          </p:stCondLst>
                                        </p:cTn>
                                        <p:tgtEl>
                                          <p:spTgt spid="34865"/>
                                        </p:tgtEl>
                                        <p:attrNameLst>
                                          <p:attrName>style.visibility</p:attrName>
                                        </p:attrNameLst>
                                      </p:cBhvr>
                                      <p:to>
                                        <p:strVal val="hidden"/>
                                      </p:to>
                                    </p:set>
                                  </p:childTnLst>
                                </p:cTn>
                              </p:par>
                              <p:par>
                                <p:cTn id="101" presetID="2" presetClass="exit" presetSubtype="4" fill="hold" grpId="0" nodeType="withEffect">
                                  <p:stCondLst>
                                    <p:cond delay="0"/>
                                  </p:stCondLst>
                                  <p:childTnLst>
                                    <p:anim calcmode="lin" valueType="num">
                                      <p:cBhvr additive="base">
                                        <p:cTn id="102" dur="500"/>
                                        <p:tgtEl>
                                          <p:spTgt spid="34864"/>
                                        </p:tgtEl>
                                        <p:attrNameLst>
                                          <p:attrName>ppt_x</p:attrName>
                                        </p:attrNameLst>
                                      </p:cBhvr>
                                      <p:tavLst>
                                        <p:tav tm="0">
                                          <p:val>
                                            <p:strVal val="ppt_x"/>
                                          </p:val>
                                        </p:tav>
                                        <p:tav tm="100000">
                                          <p:val>
                                            <p:strVal val="ppt_x"/>
                                          </p:val>
                                        </p:tav>
                                      </p:tavLst>
                                    </p:anim>
                                    <p:anim calcmode="lin" valueType="num">
                                      <p:cBhvr additive="base">
                                        <p:cTn id="103" dur="500"/>
                                        <p:tgtEl>
                                          <p:spTgt spid="34864"/>
                                        </p:tgtEl>
                                        <p:attrNameLst>
                                          <p:attrName>ppt_y</p:attrName>
                                        </p:attrNameLst>
                                      </p:cBhvr>
                                      <p:tavLst>
                                        <p:tav tm="0">
                                          <p:val>
                                            <p:strVal val="ppt_y"/>
                                          </p:val>
                                        </p:tav>
                                        <p:tav tm="100000">
                                          <p:val>
                                            <p:strVal val="1+ppt_h/2"/>
                                          </p:val>
                                        </p:tav>
                                      </p:tavLst>
                                    </p:anim>
                                    <p:set>
                                      <p:cBhvr>
                                        <p:cTn id="104" dur="1" fill="hold">
                                          <p:stCondLst>
                                            <p:cond delay="499"/>
                                          </p:stCondLst>
                                        </p:cTn>
                                        <p:tgtEl>
                                          <p:spTgt spid="34864"/>
                                        </p:tgtEl>
                                        <p:attrNameLst>
                                          <p:attrName>style.visibility</p:attrName>
                                        </p:attrNameLst>
                                      </p:cBhvr>
                                      <p:to>
                                        <p:strVal val="hidden"/>
                                      </p:to>
                                    </p:set>
                                  </p:childTnLst>
                                </p:cTn>
                              </p:par>
                              <p:par>
                                <p:cTn id="105" presetID="2" presetClass="exit" presetSubtype="4" fill="hold" grpId="0" nodeType="withEffect">
                                  <p:stCondLst>
                                    <p:cond delay="0"/>
                                  </p:stCondLst>
                                  <p:childTnLst>
                                    <p:anim calcmode="lin" valueType="num">
                                      <p:cBhvr additive="base">
                                        <p:cTn id="106" dur="500"/>
                                        <p:tgtEl>
                                          <p:spTgt spid="79"/>
                                        </p:tgtEl>
                                        <p:attrNameLst>
                                          <p:attrName>ppt_x</p:attrName>
                                        </p:attrNameLst>
                                      </p:cBhvr>
                                      <p:tavLst>
                                        <p:tav tm="0">
                                          <p:val>
                                            <p:strVal val="ppt_x"/>
                                          </p:val>
                                        </p:tav>
                                        <p:tav tm="100000">
                                          <p:val>
                                            <p:strVal val="ppt_x"/>
                                          </p:val>
                                        </p:tav>
                                      </p:tavLst>
                                    </p:anim>
                                    <p:anim calcmode="lin" valueType="num">
                                      <p:cBhvr additive="base">
                                        <p:cTn id="107" dur="500"/>
                                        <p:tgtEl>
                                          <p:spTgt spid="79"/>
                                        </p:tgtEl>
                                        <p:attrNameLst>
                                          <p:attrName>ppt_y</p:attrName>
                                        </p:attrNameLst>
                                      </p:cBhvr>
                                      <p:tavLst>
                                        <p:tav tm="0">
                                          <p:val>
                                            <p:strVal val="ppt_y"/>
                                          </p:val>
                                        </p:tav>
                                        <p:tav tm="100000">
                                          <p:val>
                                            <p:strVal val="1+ppt_h/2"/>
                                          </p:val>
                                        </p:tav>
                                      </p:tavLst>
                                    </p:anim>
                                    <p:set>
                                      <p:cBhvr>
                                        <p:cTn id="108" dur="1" fill="hold">
                                          <p:stCondLst>
                                            <p:cond delay="499"/>
                                          </p:stCondLst>
                                        </p:cTn>
                                        <p:tgtEl>
                                          <p:spTgt spid="79"/>
                                        </p:tgtEl>
                                        <p:attrNameLst>
                                          <p:attrName>style.visibility</p:attrName>
                                        </p:attrNameLst>
                                      </p:cBhvr>
                                      <p:to>
                                        <p:strVal val="hidden"/>
                                      </p:to>
                                    </p:set>
                                  </p:childTnLst>
                                </p:cTn>
                              </p:par>
                              <p:par>
                                <p:cTn id="109" presetID="2" presetClass="exit" presetSubtype="4" fill="hold" grpId="0" nodeType="withEffect">
                                  <p:stCondLst>
                                    <p:cond delay="0"/>
                                  </p:stCondLst>
                                  <p:childTnLst>
                                    <p:anim calcmode="lin" valueType="num">
                                      <p:cBhvr additive="base">
                                        <p:cTn id="110" dur="500"/>
                                        <p:tgtEl>
                                          <p:spTgt spid="34859"/>
                                        </p:tgtEl>
                                        <p:attrNameLst>
                                          <p:attrName>ppt_x</p:attrName>
                                        </p:attrNameLst>
                                      </p:cBhvr>
                                      <p:tavLst>
                                        <p:tav tm="0">
                                          <p:val>
                                            <p:strVal val="ppt_x"/>
                                          </p:val>
                                        </p:tav>
                                        <p:tav tm="100000">
                                          <p:val>
                                            <p:strVal val="ppt_x"/>
                                          </p:val>
                                        </p:tav>
                                      </p:tavLst>
                                    </p:anim>
                                    <p:anim calcmode="lin" valueType="num">
                                      <p:cBhvr additive="base">
                                        <p:cTn id="111" dur="500"/>
                                        <p:tgtEl>
                                          <p:spTgt spid="34859"/>
                                        </p:tgtEl>
                                        <p:attrNameLst>
                                          <p:attrName>ppt_y</p:attrName>
                                        </p:attrNameLst>
                                      </p:cBhvr>
                                      <p:tavLst>
                                        <p:tav tm="0">
                                          <p:val>
                                            <p:strVal val="ppt_y"/>
                                          </p:val>
                                        </p:tav>
                                        <p:tav tm="100000">
                                          <p:val>
                                            <p:strVal val="1+ppt_h/2"/>
                                          </p:val>
                                        </p:tav>
                                      </p:tavLst>
                                    </p:anim>
                                    <p:set>
                                      <p:cBhvr>
                                        <p:cTn id="112" dur="1" fill="hold">
                                          <p:stCondLst>
                                            <p:cond delay="499"/>
                                          </p:stCondLst>
                                        </p:cTn>
                                        <p:tgtEl>
                                          <p:spTgt spid="3485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 calcmode="lin" valueType="num">
                                      <p:cBhvr additive="base">
                                        <p:cTn id="117" dur="500" fill="hold"/>
                                        <p:tgtEl>
                                          <p:spTgt spid="78"/>
                                        </p:tgtEl>
                                        <p:attrNameLst>
                                          <p:attrName>ppt_x</p:attrName>
                                        </p:attrNameLst>
                                      </p:cBhvr>
                                      <p:tavLst>
                                        <p:tav tm="0">
                                          <p:val>
                                            <p:strVal val="#ppt_x"/>
                                          </p:val>
                                        </p:tav>
                                        <p:tav tm="100000">
                                          <p:val>
                                            <p:strVal val="#ppt_x"/>
                                          </p:val>
                                        </p:tav>
                                      </p:tavLst>
                                    </p:anim>
                                    <p:anim calcmode="lin" valueType="num">
                                      <p:cBhvr additive="base">
                                        <p:cTn id="118" dur="500" fill="hold"/>
                                        <p:tgtEl>
                                          <p:spTgt spid="78"/>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77"/>
                                        </p:tgtEl>
                                        <p:attrNameLst>
                                          <p:attrName>style.visibility</p:attrName>
                                        </p:attrNameLst>
                                      </p:cBhvr>
                                      <p:to>
                                        <p:strVal val="visible"/>
                                      </p:to>
                                    </p:set>
                                    <p:anim calcmode="lin" valueType="num">
                                      <p:cBhvr additive="base">
                                        <p:cTn id="121" dur="500" fill="hold"/>
                                        <p:tgtEl>
                                          <p:spTgt spid="77"/>
                                        </p:tgtEl>
                                        <p:attrNameLst>
                                          <p:attrName>ppt_x</p:attrName>
                                        </p:attrNameLst>
                                      </p:cBhvr>
                                      <p:tavLst>
                                        <p:tav tm="0">
                                          <p:val>
                                            <p:strVal val="#ppt_x"/>
                                          </p:val>
                                        </p:tav>
                                        <p:tav tm="100000">
                                          <p:val>
                                            <p:strVal val="#ppt_x"/>
                                          </p:val>
                                        </p:tav>
                                      </p:tavLst>
                                    </p:anim>
                                    <p:anim calcmode="lin" valueType="num">
                                      <p:cBhvr additive="base">
                                        <p:cTn id="122" dur="500" fill="hold"/>
                                        <p:tgtEl>
                                          <p:spTgt spid="77"/>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76"/>
                                        </p:tgtEl>
                                        <p:attrNameLst>
                                          <p:attrName>style.visibility</p:attrName>
                                        </p:attrNameLst>
                                      </p:cBhvr>
                                      <p:to>
                                        <p:strVal val="visible"/>
                                      </p:to>
                                    </p:set>
                                    <p:anim calcmode="lin" valueType="num">
                                      <p:cBhvr additive="base">
                                        <p:cTn id="125" dur="500" fill="hold"/>
                                        <p:tgtEl>
                                          <p:spTgt spid="76"/>
                                        </p:tgtEl>
                                        <p:attrNameLst>
                                          <p:attrName>ppt_x</p:attrName>
                                        </p:attrNameLst>
                                      </p:cBhvr>
                                      <p:tavLst>
                                        <p:tav tm="0">
                                          <p:val>
                                            <p:strVal val="#ppt_x"/>
                                          </p:val>
                                        </p:tav>
                                        <p:tav tm="100000">
                                          <p:val>
                                            <p:strVal val="#ppt_x"/>
                                          </p:val>
                                        </p:tav>
                                      </p:tavLst>
                                    </p:anim>
                                    <p:anim calcmode="lin" valueType="num">
                                      <p:cBhvr additive="base">
                                        <p:cTn id="126"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82"/>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8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34857" grpId="0"/>
      <p:bldP spid="34858" grpId="0"/>
      <p:bldP spid="34859" grpId="0"/>
      <p:bldP spid="34864" grpId="0"/>
      <p:bldP spid="34865" grpId="0"/>
      <p:bldP spid="58" grpId="0"/>
      <p:bldP spid="59" grpId="0"/>
      <p:bldP spid="60" grpId="0"/>
      <p:bldP spid="61" grpId="0"/>
      <p:bldP spid="62" grpId="0"/>
      <p:bldP spid="63" grpId="0"/>
      <p:bldP spid="64" grpId="0"/>
      <p:bldP spid="65" grpId="0"/>
      <p:bldP spid="76" grpId="0"/>
      <p:bldP spid="77" grpId="0"/>
      <p:bldP spid="78" grpId="0"/>
      <p:bldP spid="7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Final Stage</a:t>
            </a:r>
            <a:endParaRPr lang="en-GB" altLang="en-US" dirty="0"/>
          </a:p>
        </p:txBody>
      </p:sp>
      <p:sp>
        <p:nvSpPr>
          <p:cNvPr id="7" name="Oval 6"/>
          <p:cNvSpPr/>
          <p:nvPr/>
        </p:nvSpPr>
        <p:spPr>
          <a:xfrm>
            <a:off x="1285875"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8" name="Oval 7"/>
          <p:cNvSpPr/>
          <p:nvPr/>
        </p:nvSpPr>
        <p:spPr>
          <a:xfrm>
            <a:off x="2500313"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stCxn id="7" idx="7"/>
            <a:endCxn id="8" idx="3"/>
          </p:cNvCxnSpPr>
          <p:nvPr/>
        </p:nvCxnSpPr>
        <p:spPr>
          <a:xfrm rot="5400000" flipH="1" flipV="1">
            <a:off x="1458912" y="2744788"/>
            <a:ext cx="1154113"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9" idx="2"/>
          </p:cNvCxnSpPr>
          <p:nvPr/>
        </p:nvCxnSpPr>
        <p:spPr>
          <a:xfrm>
            <a:off x="1571625" y="3929063"/>
            <a:ext cx="9286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rot="16200000" flipH="1">
            <a:off x="1494631" y="4066382"/>
            <a:ext cx="1082675"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a:off x="2786063" y="2571750"/>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5717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6733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929063"/>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4000500"/>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780632"/>
            <a:ext cx="1082675" cy="15827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4423569"/>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16" idx="1"/>
          </p:cNvCxnSpPr>
          <p:nvPr/>
        </p:nvCxnSpPr>
        <p:spPr>
          <a:xfrm rot="16200000" flipH="1">
            <a:off x="4280694"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850" name="TextBox 55"/>
          <p:cNvSpPr txBox="1">
            <a:spLocks noChangeArrowheads="1"/>
          </p:cNvSpPr>
          <p:nvPr/>
        </p:nvSpPr>
        <p:spPr bwMode="auto">
          <a:xfrm>
            <a:off x="928688" y="3702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endParaRPr lang="en-GB" altLang="en-US"/>
          </a:p>
        </p:txBody>
      </p:sp>
      <p:sp>
        <p:nvSpPr>
          <p:cNvPr id="34851" name="TextBox 56"/>
          <p:cNvSpPr txBox="1">
            <a:spLocks noChangeArrowheads="1"/>
          </p:cNvSpPr>
          <p:nvPr/>
        </p:nvSpPr>
        <p:spPr bwMode="auto">
          <a:xfrm>
            <a:off x="2500313" y="2058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4852" name="TextBox 57"/>
          <p:cNvSpPr txBox="1">
            <a:spLocks noChangeArrowheads="1"/>
          </p:cNvSpPr>
          <p:nvPr/>
        </p:nvSpPr>
        <p:spPr bwMode="auto">
          <a:xfrm>
            <a:off x="2500313" y="348773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4853" name="TextBox 58"/>
          <p:cNvSpPr txBox="1">
            <a:spLocks noChangeArrowheads="1"/>
          </p:cNvSpPr>
          <p:nvPr/>
        </p:nvSpPr>
        <p:spPr bwMode="auto">
          <a:xfrm>
            <a:off x="2500313" y="47736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4854"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4855"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4856"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4857"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4858"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4859"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009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42144" y="3713957"/>
            <a:ext cx="5000625"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4864"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4865"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4866"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p:sp>
        <p:nvSpPr>
          <p:cNvPr id="34867" name="TextBox 67"/>
          <p:cNvSpPr txBox="1">
            <a:spLocks noChangeArrowheads="1"/>
          </p:cNvSpPr>
          <p:nvPr/>
        </p:nvSpPr>
        <p:spPr bwMode="auto">
          <a:xfrm>
            <a:off x="2286000" y="1344613"/>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3</a:t>
            </a:r>
            <a:endParaRPr lang="en-GB" altLang="en-US" dirty="0"/>
          </a:p>
        </p:txBody>
      </p:sp>
      <p:sp>
        <p:nvSpPr>
          <p:cNvPr id="34868" name="TextBox 68"/>
          <p:cNvSpPr txBox="1">
            <a:spLocks noChangeArrowheads="1"/>
          </p:cNvSpPr>
          <p:nvPr/>
        </p:nvSpPr>
        <p:spPr bwMode="auto">
          <a:xfrm>
            <a:off x="785813" y="13446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4</a:t>
            </a:r>
            <a:endParaRPr lang="en-GB" altLang="en-US"/>
          </a:p>
        </p:txBody>
      </p:sp>
      <mc:AlternateContent xmlns:mc="http://schemas.openxmlformats.org/markup-compatibility/2006" xmlns:a14="http://schemas.microsoft.com/office/drawing/2010/main">
        <mc:Choice Requires="a14">
          <p:sp>
            <p:nvSpPr>
              <p:cNvPr id="56" name="TextBox 55"/>
              <p:cNvSpPr txBox="1">
                <a:spLocks noChangeArrowheads="1"/>
              </p:cNvSpPr>
              <p:nvPr/>
            </p:nvSpPr>
            <p:spPr bwMode="auto">
              <a:xfrm>
                <a:off x="1650353" y="1642055"/>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𝑩</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𝟓𝟓</m:t>
                    </m:r>
                  </m:oMath>
                </a14:m>
                <a:endParaRPr lang="en-GB" altLang="en-US" b="1" i="1" dirty="0">
                  <a:solidFill>
                    <a:srgbClr val="FF0000"/>
                  </a:solidFill>
                  <a:effectLst/>
                </a:endParaRPr>
              </a:p>
            </p:txBody>
          </p:sp>
        </mc:Choice>
        <mc:Fallback xmlns="">
          <p:sp>
            <p:nvSpPr>
              <p:cNvPr id="56" name="TextBox 55"/>
              <p:cNvSpPr txBox="1">
                <a:spLocks noRot="1" noChangeAspect="1" noMove="1" noResize="1" noEditPoints="1" noAdjustHandles="1" noChangeArrowheads="1" noChangeShapeType="1" noTextEdit="1"/>
              </p:cNvSpPr>
              <p:nvPr/>
            </p:nvSpPr>
            <p:spPr bwMode="auto">
              <a:xfrm>
                <a:off x="1650353" y="1642055"/>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7" name="TextBox 56"/>
              <p:cNvSpPr txBox="1">
                <a:spLocks noChangeArrowheads="1"/>
              </p:cNvSpPr>
              <p:nvPr/>
            </p:nvSpPr>
            <p:spPr bwMode="auto">
              <a:xfrm>
                <a:off x="1585520" y="2982869"/>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𝑪</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𝟓𝟔</m:t>
                    </m:r>
                  </m:oMath>
                </a14:m>
                <a:endParaRPr lang="en-GB" altLang="en-US" b="1" i="1" dirty="0">
                  <a:solidFill>
                    <a:srgbClr val="FF0000"/>
                  </a:solidFill>
                  <a:effectLst/>
                </a:endParaRPr>
              </a:p>
            </p:txBody>
          </p:sp>
        </mc:Choice>
        <mc:Fallback xmlns="">
          <p:sp>
            <p:nvSpPr>
              <p:cNvPr id="57" name="TextBox 56"/>
              <p:cNvSpPr txBox="1">
                <a:spLocks noRot="1" noChangeAspect="1" noMove="1" noResize="1" noEditPoints="1" noAdjustHandles="1" noChangeArrowheads="1" noChangeShapeType="1" noTextEdit="1"/>
              </p:cNvSpPr>
              <p:nvPr/>
            </p:nvSpPr>
            <p:spPr bwMode="auto">
              <a:xfrm>
                <a:off x="1585520" y="2982869"/>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8" name="TextBox 57"/>
              <p:cNvSpPr txBox="1">
                <a:spLocks noChangeArrowheads="1"/>
              </p:cNvSpPr>
              <p:nvPr/>
            </p:nvSpPr>
            <p:spPr bwMode="auto">
              <a:xfrm>
                <a:off x="1618756" y="5277357"/>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𝑫</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𝟓𝟗</m:t>
                    </m:r>
                  </m:oMath>
                </a14:m>
                <a:endParaRPr lang="en-GB" altLang="en-US" b="1" i="1" dirty="0">
                  <a:solidFill>
                    <a:srgbClr val="FF0000"/>
                  </a:solidFill>
                  <a:effectLst/>
                </a:endParaRPr>
              </a:p>
            </p:txBody>
          </p:sp>
        </mc:Choice>
        <mc:Fallback xmlns="">
          <p:sp>
            <p:nvSpPr>
              <p:cNvPr id="58" name="TextBox 57"/>
              <p:cNvSpPr txBox="1">
                <a:spLocks noRot="1" noChangeAspect="1" noMove="1" noResize="1" noEditPoints="1" noAdjustHandles="1" noChangeArrowheads="1" noChangeShapeType="1" noTextEdit="1"/>
              </p:cNvSpPr>
              <p:nvPr/>
            </p:nvSpPr>
            <p:spPr bwMode="auto">
              <a:xfrm>
                <a:off x="1618756" y="5277357"/>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59" name="TextBox 58"/>
          <p:cNvSpPr txBox="1">
            <a:spLocks noChangeArrowheads="1"/>
          </p:cNvSpPr>
          <p:nvPr/>
        </p:nvSpPr>
        <p:spPr bwMode="auto">
          <a:xfrm>
            <a:off x="1134273" y="32657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p:sp>
        <p:nvSpPr>
          <p:cNvPr id="60" name="TextBox 59"/>
          <p:cNvSpPr txBox="1">
            <a:spLocks noChangeArrowheads="1"/>
          </p:cNvSpPr>
          <p:nvPr/>
        </p:nvSpPr>
        <p:spPr bwMode="auto">
          <a:xfrm>
            <a:off x="1631870" y="360610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19</a:t>
            </a:r>
            <a:endParaRPr lang="en-GB" altLang="en-US" dirty="0">
              <a:solidFill>
                <a:srgbClr val="0070C0"/>
              </a:solidFill>
            </a:endParaRPr>
          </a:p>
        </p:txBody>
      </p:sp>
      <p:sp>
        <p:nvSpPr>
          <p:cNvPr id="61" name="TextBox 60"/>
          <p:cNvSpPr txBox="1">
            <a:spLocks noChangeArrowheads="1"/>
          </p:cNvSpPr>
          <p:nvPr/>
        </p:nvSpPr>
        <p:spPr bwMode="auto">
          <a:xfrm>
            <a:off x="1221395" y="4387334"/>
            <a:ext cx="880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15</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62" name="TextBox 61"/>
              <p:cNvSpPr txBox="1">
                <a:spLocks noChangeArrowheads="1"/>
              </p:cNvSpPr>
              <p:nvPr/>
            </p:nvSpPr>
            <p:spPr bwMode="auto">
              <a:xfrm>
                <a:off x="-17566" y="4025711"/>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𝟒</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𝑨</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𝟕𝟒</m:t>
                    </m:r>
                  </m:oMath>
                </a14:m>
                <a:endParaRPr lang="en-GB" altLang="en-US" b="1" i="1" dirty="0">
                  <a:solidFill>
                    <a:srgbClr val="FF0000"/>
                  </a:solidFill>
                  <a:effectLst/>
                </a:endParaRPr>
              </a:p>
            </p:txBody>
          </p:sp>
        </mc:Choice>
        <mc:Fallback xmlns="">
          <p:sp>
            <p:nvSpPr>
              <p:cNvPr id="62" name="TextBox 61"/>
              <p:cNvSpPr txBox="1">
                <a:spLocks noRot="1" noChangeAspect="1" noMove="1" noResize="1" noEditPoints="1" noAdjustHandles="1" noChangeArrowheads="1" noChangeShapeType="1" noTextEdit="1"/>
              </p:cNvSpPr>
              <p:nvPr/>
            </p:nvSpPr>
            <p:spPr bwMode="auto">
              <a:xfrm>
                <a:off x="-17566" y="4025711"/>
                <a:ext cx="1775036"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418641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7"/>
                                        </p:tgtEl>
                                        <p:attrNameLst>
                                          <p:attrName>ppt_x</p:attrName>
                                        </p:attrNameLst>
                                      </p:cBhvr>
                                      <p:tavLst>
                                        <p:tav tm="0">
                                          <p:val>
                                            <p:strVal val="ppt_x"/>
                                          </p:val>
                                        </p:tav>
                                        <p:tav tm="100000">
                                          <p:val>
                                            <p:strVal val="ppt_x"/>
                                          </p:val>
                                        </p:tav>
                                      </p:tavLst>
                                    </p:anim>
                                    <p:anim calcmode="lin" valueType="num">
                                      <p:cBhvr additive="base">
                                        <p:cTn id="7" dur="500"/>
                                        <p:tgtEl>
                                          <p:spTgt spid="27"/>
                                        </p:tgtEl>
                                        <p:attrNameLst>
                                          <p:attrName>ppt_y</p:attrName>
                                        </p:attrNameLst>
                                      </p:cBhvr>
                                      <p:tavLst>
                                        <p:tav tm="0">
                                          <p:val>
                                            <p:strVal val="ppt_y"/>
                                          </p:val>
                                        </p:tav>
                                        <p:tav tm="100000">
                                          <p:val>
                                            <p:strVal val="1+ppt_h/2"/>
                                          </p:val>
                                        </p:tav>
                                      </p:tavLst>
                                    </p:anim>
                                    <p:set>
                                      <p:cBhvr>
                                        <p:cTn id="8" dur="1" fill="hold">
                                          <p:stCondLst>
                                            <p:cond delay="499"/>
                                          </p:stCondLst>
                                        </p:cTn>
                                        <p:tgtEl>
                                          <p:spTgt spid="27"/>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29"/>
                                        </p:tgtEl>
                                        <p:attrNameLst>
                                          <p:attrName>ppt_x</p:attrName>
                                        </p:attrNameLst>
                                      </p:cBhvr>
                                      <p:tavLst>
                                        <p:tav tm="0">
                                          <p:val>
                                            <p:strVal val="ppt_x"/>
                                          </p:val>
                                        </p:tav>
                                        <p:tav tm="100000">
                                          <p:val>
                                            <p:strVal val="ppt_x"/>
                                          </p:val>
                                        </p:tav>
                                      </p:tavLst>
                                    </p:anim>
                                    <p:anim calcmode="lin" valueType="num">
                                      <p:cBhvr additive="base">
                                        <p:cTn id="11" dur="500"/>
                                        <p:tgtEl>
                                          <p:spTgt spid="29"/>
                                        </p:tgtEl>
                                        <p:attrNameLst>
                                          <p:attrName>ppt_y</p:attrName>
                                        </p:attrNameLst>
                                      </p:cBhvr>
                                      <p:tavLst>
                                        <p:tav tm="0">
                                          <p:val>
                                            <p:strVal val="ppt_y"/>
                                          </p:val>
                                        </p:tav>
                                        <p:tav tm="100000">
                                          <p:val>
                                            <p:strVal val="1+ppt_h/2"/>
                                          </p:val>
                                        </p:tav>
                                      </p:tavLst>
                                    </p:anim>
                                    <p:set>
                                      <p:cBhvr>
                                        <p:cTn id="12" dur="1" fill="hold">
                                          <p:stCondLst>
                                            <p:cond delay="499"/>
                                          </p:stCondLst>
                                        </p:cTn>
                                        <p:tgtEl>
                                          <p:spTgt spid="29"/>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31"/>
                                        </p:tgtEl>
                                        <p:attrNameLst>
                                          <p:attrName>ppt_x</p:attrName>
                                        </p:attrNameLst>
                                      </p:cBhvr>
                                      <p:tavLst>
                                        <p:tav tm="0">
                                          <p:val>
                                            <p:strVal val="ppt_x"/>
                                          </p:val>
                                        </p:tav>
                                        <p:tav tm="100000">
                                          <p:val>
                                            <p:strVal val="ppt_x"/>
                                          </p:val>
                                        </p:tav>
                                      </p:tavLst>
                                    </p:anim>
                                    <p:anim calcmode="lin" valueType="num">
                                      <p:cBhvr additive="base">
                                        <p:cTn id="15" dur="500"/>
                                        <p:tgtEl>
                                          <p:spTgt spid="31"/>
                                        </p:tgtEl>
                                        <p:attrNameLst>
                                          <p:attrName>ppt_y</p:attrName>
                                        </p:attrNameLst>
                                      </p:cBhvr>
                                      <p:tavLst>
                                        <p:tav tm="0">
                                          <p:val>
                                            <p:strVal val="ppt_y"/>
                                          </p:val>
                                        </p:tav>
                                        <p:tav tm="100000">
                                          <p:val>
                                            <p:strVal val="1+ppt_h/2"/>
                                          </p:val>
                                        </p:tav>
                                      </p:tavLst>
                                    </p:anim>
                                    <p:set>
                                      <p:cBhvr>
                                        <p:cTn id="16" dur="1" fill="hold">
                                          <p:stCondLst>
                                            <p:cond delay="499"/>
                                          </p:stCondLst>
                                        </p:cTn>
                                        <p:tgtEl>
                                          <p:spTgt spid="31"/>
                                        </p:tgtEl>
                                        <p:attrNameLst>
                                          <p:attrName>style.visibility</p:attrName>
                                        </p:attrNameLst>
                                      </p:cBhvr>
                                      <p:to>
                                        <p:strVal val="hidden"/>
                                      </p:to>
                                    </p:set>
                                  </p:childTnLst>
                                </p:cTn>
                              </p:par>
                              <p:par>
                                <p:cTn id="17" presetID="2" presetClass="exit" presetSubtype="4" fill="hold" nodeType="withEffect">
                                  <p:stCondLst>
                                    <p:cond delay="0"/>
                                  </p:stCondLst>
                                  <p:childTnLst>
                                    <p:anim calcmode="lin" valueType="num">
                                      <p:cBhvr additive="base">
                                        <p:cTn id="18" dur="500"/>
                                        <p:tgtEl>
                                          <p:spTgt spid="33"/>
                                        </p:tgtEl>
                                        <p:attrNameLst>
                                          <p:attrName>ppt_x</p:attrName>
                                        </p:attrNameLst>
                                      </p:cBhvr>
                                      <p:tavLst>
                                        <p:tav tm="0">
                                          <p:val>
                                            <p:strVal val="ppt_x"/>
                                          </p:val>
                                        </p:tav>
                                        <p:tav tm="100000">
                                          <p:val>
                                            <p:strVal val="ppt_x"/>
                                          </p:val>
                                        </p:tav>
                                      </p:tavLst>
                                    </p:anim>
                                    <p:anim calcmode="lin" valueType="num">
                                      <p:cBhvr additive="base">
                                        <p:cTn id="19" dur="500"/>
                                        <p:tgtEl>
                                          <p:spTgt spid="33"/>
                                        </p:tgtEl>
                                        <p:attrNameLst>
                                          <p:attrName>ppt_y</p:attrName>
                                        </p:attrNameLst>
                                      </p:cBhvr>
                                      <p:tavLst>
                                        <p:tav tm="0">
                                          <p:val>
                                            <p:strVal val="ppt_y"/>
                                          </p:val>
                                        </p:tav>
                                        <p:tav tm="100000">
                                          <p:val>
                                            <p:strVal val="1+ppt_h/2"/>
                                          </p:val>
                                        </p:tav>
                                      </p:tavLst>
                                    </p:anim>
                                    <p:set>
                                      <p:cBhvr>
                                        <p:cTn id="20" dur="1" fill="hold">
                                          <p:stCondLst>
                                            <p:cond delay="499"/>
                                          </p:stCondLst>
                                        </p:cTn>
                                        <p:tgtEl>
                                          <p:spTgt spid="33"/>
                                        </p:tgtEl>
                                        <p:attrNameLst>
                                          <p:attrName>style.visibility</p:attrName>
                                        </p:attrNameLst>
                                      </p:cBhvr>
                                      <p:to>
                                        <p:strVal val="hidden"/>
                                      </p:to>
                                    </p:set>
                                  </p:childTnLst>
                                </p:cTn>
                              </p:par>
                              <p:par>
                                <p:cTn id="21" presetID="2" presetClass="exit" presetSubtype="4" fill="hold" nodeType="withEffect">
                                  <p:stCondLst>
                                    <p:cond delay="0"/>
                                  </p:stCondLst>
                                  <p:childTnLst>
                                    <p:anim calcmode="lin" valueType="num">
                                      <p:cBhvr additive="base">
                                        <p:cTn id="22" dur="500"/>
                                        <p:tgtEl>
                                          <p:spTgt spid="35"/>
                                        </p:tgtEl>
                                        <p:attrNameLst>
                                          <p:attrName>ppt_x</p:attrName>
                                        </p:attrNameLst>
                                      </p:cBhvr>
                                      <p:tavLst>
                                        <p:tav tm="0">
                                          <p:val>
                                            <p:strVal val="ppt_x"/>
                                          </p:val>
                                        </p:tav>
                                        <p:tav tm="100000">
                                          <p:val>
                                            <p:strVal val="ppt_x"/>
                                          </p:val>
                                        </p:tav>
                                      </p:tavLst>
                                    </p:anim>
                                    <p:anim calcmode="lin" valueType="num">
                                      <p:cBhvr additive="base">
                                        <p:cTn id="23" dur="500"/>
                                        <p:tgtEl>
                                          <p:spTgt spid="35"/>
                                        </p:tgtEl>
                                        <p:attrNameLst>
                                          <p:attrName>ppt_y</p:attrName>
                                        </p:attrNameLst>
                                      </p:cBhvr>
                                      <p:tavLst>
                                        <p:tav tm="0">
                                          <p:val>
                                            <p:strVal val="ppt_y"/>
                                          </p:val>
                                        </p:tav>
                                        <p:tav tm="100000">
                                          <p:val>
                                            <p:strVal val="1+ppt_h/2"/>
                                          </p:val>
                                        </p:tav>
                                      </p:tavLst>
                                    </p:anim>
                                    <p:set>
                                      <p:cBhvr>
                                        <p:cTn id="24" dur="1" fill="hold">
                                          <p:stCondLst>
                                            <p:cond delay="499"/>
                                          </p:stCondLst>
                                        </p:cTn>
                                        <p:tgtEl>
                                          <p:spTgt spid="35"/>
                                        </p:tgtEl>
                                        <p:attrNameLst>
                                          <p:attrName>style.visibility</p:attrName>
                                        </p:attrNameLst>
                                      </p:cBhvr>
                                      <p:to>
                                        <p:strVal val="hidden"/>
                                      </p:to>
                                    </p:set>
                                  </p:childTnLst>
                                </p:cTn>
                              </p:par>
                              <p:par>
                                <p:cTn id="25" presetID="2" presetClass="exit" presetSubtype="4" fill="hold" nodeType="withEffect">
                                  <p:stCondLst>
                                    <p:cond delay="0"/>
                                  </p:stCondLst>
                                  <p:childTnLst>
                                    <p:anim calcmode="lin" valueType="num">
                                      <p:cBhvr additive="base">
                                        <p:cTn id="26" dur="500"/>
                                        <p:tgtEl>
                                          <p:spTgt spid="37"/>
                                        </p:tgtEl>
                                        <p:attrNameLst>
                                          <p:attrName>ppt_x</p:attrName>
                                        </p:attrNameLst>
                                      </p:cBhvr>
                                      <p:tavLst>
                                        <p:tav tm="0">
                                          <p:val>
                                            <p:strVal val="ppt_x"/>
                                          </p:val>
                                        </p:tav>
                                        <p:tav tm="100000">
                                          <p:val>
                                            <p:strVal val="ppt_x"/>
                                          </p:val>
                                        </p:tav>
                                      </p:tavLst>
                                    </p:anim>
                                    <p:anim calcmode="lin" valueType="num">
                                      <p:cBhvr additive="base">
                                        <p:cTn id="27" dur="500"/>
                                        <p:tgtEl>
                                          <p:spTgt spid="37"/>
                                        </p:tgtEl>
                                        <p:attrNameLst>
                                          <p:attrName>ppt_y</p:attrName>
                                        </p:attrNameLst>
                                      </p:cBhvr>
                                      <p:tavLst>
                                        <p:tav tm="0">
                                          <p:val>
                                            <p:strVal val="ppt_y"/>
                                          </p:val>
                                        </p:tav>
                                        <p:tav tm="100000">
                                          <p:val>
                                            <p:strVal val="1+ppt_h/2"/>
                                          </p:val>
                                        </p:tav>
                                      </p:tavLst>
                                    </p:anim>
                                    <p:set>
                                      <p:cBhvr>
                                        <p:cTn id="28" dur="1" fill="hold">
                                          <p:stCondLst>
                                            <p:cond delay="499"/>
                                          </p:stCondLst>
                                        </p:cTn>
                                        <p:tgtEl>
                                          <p:spTgt spid="37"/>
                                        </p:tgtEl>
                                        <p:attrNameLst>
                                          <p:attrName>style.visibility</p:attrName>
                                        </p:attrNameLst>
                                      </p:cBhvr>
                                      <p:to>
                                        <p:strVal val="hidden"/>
                                      </p:to>
                                    </p:set>
                                  </p:childTnLst>
                                </p:cTn>
                              </p:par>
                              <p:par>
                                <p:cTn id="29" presetID="2" presetClass="exit" presetSubtype="4" fill="hold" nodeType="withEffect">
                                  <p:stCondLst>
                                    <p:cond delay="0"/>
                                  </p:stCondLst>
                                  <p:childTnLst>
                                    <p:anim calcmode="lin" valueType="num">
                                      <p:cBhvr additive="base">
                                        <p:cTn id="30" dur="500"/>
                                        <p:tgtEl>
                                          <p:spTgt spid="39"/>
                                        </p:tgtEl>
                                        <p:attrNameLst>
                                          <p:attrName>ppt_x</p:attrName>
                                        </p:attrNameLst>
                                      </p:cBhvr>
                                      <p:tavLst>
                                        <p:tav tm="0">
                                          <p:val>
                                            <p:strVal val="ppt_x"/>
                                          </p:val>
                                        </p:tav>
                                        <p:tav tm="100000">
                                          <p:val>
                                            <p:strVal val="ppt_x"/>
                                          </p:val>
                                        </p:tav>
                                      </p:tavLst>
                                    </p:anim>
                                    <p:anim calcmode="lin" valueType="num">
                                      <p:cBhvr additive="base">
                                        <p:cTn id="31" dur="500"/>
                                        <p:tgtEl>
                                          <p:spTgt spid="39"/>
                                        </p:tgtEl>
                                        <p:attrNameLst>
                                          <p:attrName>ppt_y</p:attrName>
                                        </p:attrNameLst>
                                      </p:cBhvr>
                                      <p:tavLst>
                                        <p:tav tm="0">
                                          <p:val>
                                            <p:strVal val="ppt_y"/>
                                          </p:val>
                                        </p:tav>
                                        <p:tav tm="100000">
                                          <p:val>
                                            <p:strVal val="1+ppt_h/2"/>
                                          </p:val>
                                        </p:tav>
                                      </p:tavLst>
                                    </p:anim>
                                    <p:set>
                                      <p:cBhvr>
                                        <p:cTn id="32" dur="1" fill="hold">
                                          <p:stCondLst>
                                            <p:cond delay="499"/>
                                          </p:stCondLst>
                                        </p:cTn>
                                        <p:tgtEl>
                                          <p:spTgt spid="39"/>
                                        </p:tgtEl>
                                        <p:attrNameLst>
                                          <p:attrName>style.visibility</p:attrName>
                                        </p:attrNameLst>
                                      </p:cBhvr>
                                      <p:to>
                                        <p:strVal val="hidden"/>
                                      </p:to>
                                    </p:set>
                                  </p:childTnLst>
                                </p:cTn>
                              </p:par>
                              <p:par>
                                <p:cTn id="33" presetID="2" presetClass="exit" presetSubtype="4" fill="hold" nodeType="withEffect">
                                  <p:stCondLst>
                                    <p:cond delay="0"/>
                                  </p:stCondLst>
                                  <p:childTnLst>
                                    <p:anim calcmode="lin" valueType="num">
                                      <p:cBhvr additive="base">
                                        <p:cTn id="34" dur="500"/>
                                        <p:tgtEl>
                                          <p:spTgt spid="50"/>
                                        </p:tgtEl>
                                        <p:attrNameLst>
                                          <p:attrName>ppt_x</p:attrName>
                                        </p:attrNameLst>
                                      </p:cBhvr>
                                      <p:tavLst>
                                        <p:tav tm="0">
                                          <p:val>
                                            <p:strVal val="ppt_x"/>
                                          </p:val>
                                        </p:tav>
                                        <p:tav tm="100000">
                                          <p:val>
                                            <p:strVal val="ppt_x"/>
                                          </p:val>
                                        </p:tav>
                                      </p:tavLst>
                                    </p:anim>
                                    <p:anim calcmode="lin" valueType="num">
                                      <p:cBhvr additive="base">
                                        <p:cTn id="35" dur="500"/>
                                        <p:tgtEl>
                                          <p:spTgt spid="50"/>
                                        </p:tgtEl>
                                        <p:attrNameLst>
                                          <p:attrName>ppt_y</p:attrName>
                                        </p:attrNameLst>
                                      </p:cBhvr>
                                      <p:tavLst>
                                        <p:tav tm="0">
                                          <p:val>
                                            <p:strVal val="ppt_y"/>
                                          </p:val>
                                        </p:tav>
                                        <p:tav tm="100000">
                                          <p:val>
                                            <p:strVal val="1+ppt_h/2"/>
                                          </p:val>
                                        </p:tav>
                                      </p:tavLst>
                                    </p:anim>
                                    <p:set>
                                      <p:cBhvr>
                                        <p:cTn id="36" dur="1" fill="hold">
                                          <p:stCondLst>
                                            <p:cond delay="499"/>
                                          </p:stCondLst>
                                        </p:cTn>
                                        <p:tgtEl>
                                          <p:spTgt spid="50"/>
                                        </p:tgtEl>
                                        <p:attrNameLst>
                                          <p:attrName>style.visibility</p:attrName>
                                        </p:attrNameLst>
                                      </p:cBhvr>
                                      <p:to>
                                        <p:strVal val="hidden"/>
                                      </p:to>
                                    </p:set>
                                  </p:childTnLst>
                                </p:cTn>
                              </p:par>
                              <p:par>
                                <p:cTn id="37" presetID="2" presetClass="exit" presetSubtype="4" fill="hold" grpId="0" nodeType="withEffect">
                                  <p:stCondLst>
                                    <p:cond delay="0"/>
                                  </p:stCondLst>
                                  <p:childTnLst>
                                    <p:anim calcmode="lin" valueType="num">
                                      <p:cBhvr additive="base">
                                        <p:cTn id="38" dur="500"/>
                                        <p:tgtEl>
                                          <p:spTgt spid="34866"/>
                                        </p:tgtEl>
                                        <p:attrNameLst>
                                          <p:attrName>ppt_x</p:attrName>
                                        </p:attrNameLst>
                                      </p:cBhvr>
                                      <p:tavLst>
                                        <p:tav tm="0">
                                          <p:val>
                                            <p:strVal val="ppt_x"/>
                                          </p:val>
                                        </p:tav>
                                        <p:tav tm="100000">
                                          <p:val>
                                            <p:strVal val="ppt_x"/>
                                          </p:val>
                                        </p:tav>
                                      </p:tavLst>
                                    </p:anim>
                                    <p:anim calcmode="lin" valueType="num">
                                      <p:cBhvr additive="base">
                                        <p:cTn id="39" dur="500"/>
                                        <p:tgtEl>
                                          <p:spTgt spid="34866"/>
                                        </p:tgtEl>
                                        <p:attrNameLst>
                                          <p:attrName>ppt_y</p:attrName>
                                        </p:attrNameLst>
                                      </p:cBhvr>
                                      <p:tavLst>
                                        <p:tav tm="0">
                                          <p:val>
                                            <p:strVal val="ppt_y"/>
                                          </p:val>
                                        </p:tav>
                                        <p:tav tm="100000">
                                          <p:val>
                                            <p:strVal val="1+ppt_h/2"/>
                                          </p:val>
                                        </p:tav>
                                      </p:tavLst>
                                    </p:anim>
                                    <p:set>
                                      <p:cBhvr>
                                        <p:cTn id="40" dur="1" fill="hold">
                                          <p:stCondLst>
                                            <p:cond delay="499"/>
                                          </p:stCondLst>
                                        </p:cTn>
                                        <p:tgtEl>
                                          <p:spTgt spid="34866"/>
                                        </p:tgtEl>
                                        <p:attrNameLst>
                                          <p:attrName>style.visibility</p:attrName>
                                        </p:attrNameLst>
                                      </p:cBhvr>
                                      <p:to>
                                        <p:strVal val="hidden"/>
                                      </p:to>
                                    </p:set>
                                  </p:childTnLst>
                                </p:cTn>
                              </p:par>
                              <p:par>
                                <p:cTn id="41" presetID="2" presetClass="exit" presetSubtype="4" fill="hold" grpId="0" nodeType="withEffect">
                                  <p:stCondLst>
                                    <p:cond delay="0"/>
                                  </p:stCondLst>
                                  <p:childTnLst>
                                    <p:anim calcmode="lin" valueType="num">
                                      <p:cBhvr additive="base">
                                        <p:cTn id="42" dur="500"/>
                                        <p:tgtEl>
                                          <p:spTgt spid="12"/>
                                        </p:tgtEl>
                                        <p:attrNameLst>
                                          <p:attrName>ppt_x</p:attrName>
                                        </p:attrNameLst>
                                      </p:cBhvr>
                                      <p:tavLst>
                                        <p:tav tm="0">
                                          <p:val>
                                            <p:strVal val="ppt_x"/>
                                          </p:val>
                                        </p:tav>
                                        <p:tav tm="100000">
                                          <p:val>
                                            <p:strVal val="ppt_x"/>
                                          </p:val>
                                        </p:tav>
                                      </p:tavLst>
                                    </p:anim>
                                    <p:anim calcmode="lin" valueType="num">
                                      <p:cBhvr additive="base">
                                        <p:cTn id="43" dur="500"/>
                                        <p:tgtEl>
                                          <p:spTgt spid="12"/>
                                        </p:tgtEl>
                                        <p:attrNameLst>
                                          <p:attrName>ppt_y</p:attrName>
                                        </p:attrNameLst>
                                      </p:cBhvr>
                                      <p:tavLst>
                                        <p:tav tm="0">
                                          <p:val>
                                            <p:strVal val="ppt_y"/>
                                          </p:val>
                                        </p:tav>
                                        <p:tav tm="100000">
                                          <p:val>
                                            <p:strVal val="1+ppt_h/2"/>
                                          </p:val>
                                        </p:tav>
                                      </p:tavLst>
                                    </p:anim>
                                    <p:set>
                                      <p:cBhvr>
                                        <p:cTn id="44" dur="1" fill="hold">
                                          <p:stCondLst>
                                            <p:cond delay="499"/>
                                          </p:stCondLst>
                                        </p:cTn>
                                        <p:tgtEl>
                                          <p:spTgt spid="12"/>
                                        </p:tgtEl>
                                        <p:attrNameLst>
                                          <p:attrName>style.visibility</p:attrName>
                                        </p:attrNameLst>
                                      </p:cBhvr>
                                      <p:to>
                                        <p:strVal val="hidden"/>
                                      </p:to>
                                    </p:set>
                                  </p:childTnLst>
                                </p:cTn>
                              </p:par>
                              <p:par>
                                <p:cTn id="45" presetID="2" presetClass="exit" presetSubtype="4" fill="hold" grpId="0" nodeType="withEffect">
                                  <p:stCondLst>
                                    <p:cond delay="0"/>
                                  </p:stCondLst>
                                  <p:childTnLst>
                                    <p:anim calcmode="lin" valueType="num">
                                      <p:cBhvr additive="base">
                                        <p:cTn id="46" dur="500"/>
                                        <p:tgtEl>
                                          <p:spTgt spid="13"/>
                                        </p:tgtEl>
                                        <p:attrNameLst>
                                          <p:attrName>ppt_x</p:attrName>
                                        </p:attrNameLst>
                                      </p:cBhvr>
                                      <p:tavLst>
                                        <p:tav tm="0">
                                          <p:val>
                                            <p:strVal val="ppt_x"/>
                                          </p:val>
                                        </p:tav>
                                        <p:tav tm="100000">
                                          <p:val>
                                            <p:strVal val="ppt_x"/>
                                          </p:val>
                                        </p:tav>
                                      </p:tavLst>
                                    </p:anim>
                                    <p:anim calcmode="lin" valueType="num">
                                      <p:cBhvr additive="base">
                                        <p:cTn id="47" dur="500"/>
                                        <p:tgtEl>
                                          <p:spTgt spid="13"/>
                                        </p:tgtEl>
                                        <p:attrNameLst>
                                          <p:attrName>ppt_y</p:attrName>
                                        </p:attrNameLst>
                                      </p:cBhvr>
                                      <p:tavLst>
                                        <p:tav tm="0">
                                          <p:val>
                                            <p:strVal val="ppt_y"/>
                                          </p:val>
                                        </p:tav>
                                        <p:tav tm="100000">
                                          <p:val>
                                            <p:strVal val="1+ppt_h/2"/>
                                          </p:val>
                                        </p:tav>
                                      </p:tavLst>
                                    </p:anim>
                                    <p:set>
                                      <p:cBhvr>
                                        <p:cTn id="48" dur="1" fill="hold">
                                          <p:stCondLst>
                                            <p:cond delay="499"/>
                                          </p:stCondLst>
                                        </p:cTn>
                                        <p:tgtEl>
                                          <p:spTgt spid="13"/>
                                        </p:tgtEl>
                                        <p:attrNameLst>
                                          <p:attrName>style.visibility</p:attrName>
                                        </p:attrNameLst>
                                      </p:cBhvr>
                                      <p:to>
                                        <p:strVal val="hidden"/>
                                      </p:to>
                                    </p:set>
                                  </p:childTnLst>
                                </p:cTn>
                              </p:par>
                              <p:par>
                                <p:cTn id="49" presetID="2" presetClass="exit" presetSubtype="4" fill="hold" grpId="0" nodeType="withEffect">
                                  <p:stCondLst>
                                    <p:cond delay="0"/>
                                  </p:stCondLst>
                                  <p:childTnLst>
                                    <p:anim calcmode="lin" valueType="num">
                                      <p:cBhvr additive="base">
                                        <p:cTn id="50" dur="500"/>
                                        <p:tgtEl>
                                          <p:spTgt spid="14"/>
                                        </p:tgtEl>
                                        <p:attrNameLst>
                                          <p:attrName>ppt_x</p:attrName>
                                        </p:attrNameLst>
                                      </p:cBhvr>
                                      <p:tavLst>
                                        <p:tav tm="0">
                                          <p:val>
                                            <p:strVal val="ppt_x"/>
                                          </p:val>
                                        </p:tav>
                                        <p:tav tm="100000">
                                          <p:val>
                                            <p:strVal val="ppt_x"/>
                                          </p:val>
                                        </p:tav>
                                      </p:tavLst>
                                    </p:anim>
                                    <p:anim calcmode="lin" valueType="num">
                                      <p:cBhvr additive="base">
                                        <p:cTn id="51" dur="500"/>
                                        <p:tgtEl>
                                          <p:spTgt spid="14"/>
                                        </p:tgtEl>
                                        <p:attrNameLst>
                                          <p:attrName>ppt_y</p:attrName>
                                        </p:attrNameLst>
                                      </p:cBhvr>
                                      <p:tavLst>
                                        <p:tav tm="0">
                                          <p:val>
                                            <p:strVal val="ppt_y"/>
                                          </p:val>
                                        </p:tav>
                                        <p:tav tm="100000">
                                          <p:val>
                                            <p:strVal val="1+ppt_h/2"/>
                                          </p:val>
                                        </p:tav>
                                      </p:tavLst>
                                    </p:anim>
                                    <p:set>
                                      <p:cBhvr>
                                        <p:cTn id="52" dur="1" fill="hold">
                                          <p:stCondLst>
                                            <p:cond delay="499"/>
                                          </p:stCondLst>
                                        </p:cTn>
                                        <p:tgtEl>
                                          <p:spTgt spid="14"/>
                                        </p:tgtEl>
                                        <p:attrNameLst>
                                          <p:attrName>style.visibility</p:attrName>
                                        </p:attrNameLst>
                                      </p:cBhvr>
                                      <p:to>
                                        <p:strVal val="hidden"/>
                                      </p:to>
                                    </p:set>
                                  </p:childTnLst>
                                </p:cTn>
                              </p:par>
                              <p:par>
                                <p:cTn id="53" presetID="2" presetClass="exit" presetSubtype="4" fill="hold" grpId="0" nodeType="withEffect">
                                  <p:stCondLst>
                                    <p:cond delay="0"/>
                                  </p:stCondLst>
                                  <p:childTnLst>
                                    <p:anim calcmode="lin" valueType="num">
                                      <p:cBhvr additive="base">
                                        <p:cTn id="54" dur="500"/>
                                        <p:tgtEl>
                                          <p:spTgt spid="34856"/>
                                        </p:tgtEl>
                                        <p:attrNameLst>
                                          <p:attrName>ppt_x</p:attrName>
                                        </p:attrNameLst>
                                      </p:cBhvr>
                                      <p:tavLst>
                                        <p:tav tm="0">
                                          <p:val>
                                            <p:strVal val="ppt_x"/>
                                          </p:val>
                                        </p:tav>
                                        <p:tav tm="100000">
                                          <p:val>
                                            <p:strVal val="ppt_x"/>
                                          </p:val>
                                        </p:tav>
                                      </p:tavLst>
                                    </p:anim>
                                    <p:anim calcmode="lin" valueType="num">
                                      <p:cBhvr additive="base">
                                        <p:cTn id="55" dur="500"/>
                                        <p:tgtEl>
                                          <p:spTgt spid="34856"/>
                                        </p:tgtEl>
                                        <p:attrNameLst>
                                          <p:attrName>ppt_y</p:attrName>
                                        </p:attrNameLst>
                                      </p:cBhvr>
                                      <p:tavLst>
                                        <p:tav tm="0">
                                          <p:val>
                                            <p:strVal val="ppt_y"/>
                                          </p:val>
                                        </p:tav>
                                        <p:tav tm="100000">
                                          <p:val>
                                            <p:strVal val="1+ppt_h/2"/>
                                          </p:val>
                                        </p:tav>
                                      </p:tavLst>
                                    </p:anim>
                                    <p:set>
                                      <p:cBhvr>
                                        <p:cTn id="56" dur="1" fill="hold">
                                          <p:stCondLst>
                                            <p:cond delay="499"/>
                                          </p:stCondLst>
                                        </p:cTn>
                                        <p:tgtEl>
                                          <p:spTgt spid="34856"/>
                                        </p:tgtEl>
                                        <p:attrNameLst>
                                          <p:attrName>style.visibility</p:attrName>
                                        </p:attrNameLst>
                                      </p:cBhvr>
                                      <p:to>
                                        <p:strVal val="hidden"/>
                                      </p:to>
                                    </p:set>
                                  </p:childTnLst>
                                </p:cTn>
                              </p:par>
                              <p:par>
                                <p:cTn id="57" presetID="2" presetClass="exit" presetSubtype="4" fill="hold" grpId="0" nodeType="withEffect">
                                  <p:stCondLst>
                                    <p:cond delay="0"/>
                                  </p:stCondLst>
                                  <p:childTnLst>
                                    <p:anim calcmode="lin" valueType="num">
                                      <p:cBhvr additive="base">
                                        <p:cTn id="58" dur="500"/>
                                        <p:tgtEl>
                                          <p:spTgt spid="34855"/>
                                        </p:tgtEl>
                                        <p:attrNameLst>
                                          <p:attrName>ppt_x</p:attrName>
                                        </p:attrNameLst>
                                      </p:cBhvr>
                                      <p:tavLst>
                                        <p:tav tm="0">
                                          <p:val>
                                            <p:strVal val="ppt_x"/>
                                          </p:val>
                                        </p:tav>
                                        <p:tav tm="100000">
                                          <p:val>
                                            <p:strVal val="ppt_x"/>
                                          </p:val>
                                        </p:tav>
                                      </p:tavLst>
                                    </p:anim>
                                    <p:anim calcmode="lin" valueType="num">
                                      <p:cBhvr additive="base">
                                        <p:cTn id="59" dur="500"/>
                                        <p:tgtEl>
                                          <p:spTgt spid="34855"/>
                                        </p:tgtEl>
                                        <p:attrNameLst>
                                          <p:attrName>ppt_y</p:attrName>
                                        </p:attrNameLst>
                                      </p:cBhvr>
                                      <p:tavLst>
                                        <p:tav tm="0">
                                          <p:val>
                                            <p:strVal val="ppt_y"/>
                                          </p:val>
                                        </p:tav>
                                        <p:tav tm="100000">
                                          <p:val>
                                            <p:strVal val="1+ppt_h/2"/>
                                          </p:val>
                                        </p:tav>
                                      </p:tavLst>
                                    </p:anim>
                                    <p:set>
                                      <p:cBhvr>
                                        <p:cTn id="60" dur="1" fill="hold">
                                          <p:stCondLst>
                                            <p:cond delay="499"/>
                                          </p:stCondLst>
                                        </p:cTn>
                                        <p:tgtEl>
                                          <p:spTgt spid="34855"/>
                                        </p:tgtEl>
                                        <p:attrNameLst>
                                          <p:attrName>style.visibility</p:attrName>
                                        </p:attrNameLst>
                                      </p:cBhvr>
                                      <p:to>
                                        <p:strVal val="hidden"/>
                                      </p:to>
                                    </p:set>
                                  </p:childTnLst>
                                </p:cTn>
                              </p:par>
                              <p:par>
                                <p:cTn id="61" presetID="2" presetClass="exit" presetSubtype="4" fill="hold" grpId="0" nodeType="withEffect">
                                  <p:stCondLst>
                                    <p:cond delay="0"/>
                                  </p:stCondLst>
                                  <p:childTnLst>
                                    <p:anim calcmode="lin" valueType="num">
                                      <p:cBhvr additive="base">
                                        <p:cTn id="62" dur="500"/>
                                        <p:tgtEl>
                                          <p:spTgt spid="34854"/>
                                        </p:tgtEl>
                                        <p:attrNameLst>
                                          <p:attrName>ppt_x</p:attrName>
                                        </p:attrNameLst>
                                      </p:cBhvr>
                                      <p:tavLst>
                                        <p:tav tm="0">
                                          <p:val>
                                            <p:strVal val="ppt_x"/>
                                          </p:val>
                                        </p:tav>
                                        <p:tav tm="100000">
                                          <p:val>
                                            <p:strVal val="ppt_x"/>
                                          </p:val>
                                        </p:tav>
                                      </p:tavLst>
                                    </p:anim>
                                    <p:anim calcmode="lin" valueType="num">
                                      <p:cBhvr additive="base">
                                        <p:cTn id="63" dur="500"/>
                                        <p:tgtEl>
                                          <p:spTgt spid="34854"/>
                                        </p:tgtEl>
                                        <p:attrNameLst>
                                          <p:attrName>ppt_y</p:attrName>
                                        </p:attrNameLst>
                                      </p:cBhvr>
                                      <p:tavLst>
                                        <p:tav tm="0">
                                          <p:val>
                                            <p:strVal val="ppt_y"/>
                                          </p:val>
                                        </p:tav>
                                        <p:tav tm="100000">
                                          <p:val>
                                            <p:strVal val="1+ppt_h/2"/>
                                          </p:val>
                                        </p:tav>
                                      </p:tavLst>
                                    </p:anim>
                                    <p:set>
                                      <p:cBhvr>
                                        <p:cTn id="64" dur="1" fill="hold">
                                          <p:stCondLst>
                                            <p:cond delay="499"/>
                                          </p:stCondLst>
                                        </p:cTn>
                                        <p:tgtEl>
                                          <p:spTgt spid="34854"/>
                                        </p:tgtEl>
                                        <p:attrNameLst>
                                          <p:attrName>style.visibility</p:attrName>
                                        </p:attrNameLst>
                                      </p:cBhvr>
                                      <p:to>
                                        <p:strVal val="hidden"/>
                                      </p:to>
                                    </p:set>
                                  </p:childTnLst>
                                </p:cTn>
                              </p:par>
                              <p:par>
                                <p:cTn id="65" presetID="2" presetClass="exit" presetSubtype="4" fill="hold" nodeType="withEffect">
                                  <p:stCondLst>
                                    <p:cond delay="0"/>
                                  </p:stCondLst>
                                  <p:childTnLst>
                                    <p:anim calcmode="lin" valueType="num">
                                      <p:cBhvr additive="base">
                                        <p:cTn id="66" dur="500"/>
                                        <p:tgtEl>
                                          <p:spTgt spid="41"/>
                                        </p:tgtEl>
                                        <p:attrNameLst>
                                          <p:attrName>ppt_x</p:attrName>
                                        </p:attrNameLst>
                                      </p:cBhvr>
                                      <p:tavLst>
                                        <p:tav tm="0">
                                          <p:val>
                                            <p:strVal val="ppt_x"/>
                                          </p:val>
                                        </p:tav>
                                        <p:tav tm="100000">
                                          <p:val>
                                            <p:strVal val="ppt_x"/>
                                          </p:val>
                                        </p:tav>
                                      </p:tavLst>
                                    </p:anim>
                                    <p:anim calcmode="lin" valueType="num">
                                      <p:cBhvr additive="base">
                                        <p:cTn id="67" dur="500"/>
                                        <p:tgtEl>
                                          <p:spTgt spid="41"/>
                                        </p:tgtEl>
                                        <p:attrNameLst>
                                          <p:attrName>ppt_y</p:attrName>
                                        </p:attrNameLst>
                                      </p:cBhvr>
                                      <p:tavLst>
                                        <p:tav tm="0">
                                          <p:val>
                                            <p:strVal val="ppt_y"/>
                                          </p:val>
                                        </p:tav>
                                        <p:tav tm="100000">
                                          <p:val>
                                            <p:strVal val="1+ppt_h/2"/>
                                          </p:val>
                                        </p:tav>
                                      </p:tavLst>
                                    </p:anim>
                                    <p:set>
                                      <p:cBhvr>
                                        <p:cTn id="68" dur="1" fill="hold">
                                          <p:stCondLst>
                                            <p:cond delay="499"/>
                                          </p:stCondLst>
                                        </p:cTn>
                                        <p:tgtEl>
                                          <p:spTgt spid="41"/>
                                        </p:tgtEl>
                                        <p:attrNameLst>
                                          <p:attrName>style.visibility</p:attrName>
                                        </p:attrNameLst>
                                      </p:cBhvr>
                                      <p:to>
                                        <p:strVal val="hidden"/>
                                      </p:to>
                                    </p:set>
                                  </p:childTnLst>
                                </p:cTn>
                              </p:par>
                              <p:par>
                                <p:cTn id="69" presetID="2" presetClass="exit" presetSubtype="4" fill="hold" nodeType="withEffect">
                                  <p:stCondLst>
                                    <p:cond delay="0"/>
                                  </p:stCondLst>
                                  <p:childTnLst>
                                    <p:anim calcmode="lin" valueType="num">
                                      <p:cBhvr additive="base">
                                        <p:cTn id="70" dur="500"/>
                                        <p:tgtEl>
                                          <p:spTgt spid="49"/>
                                        </p:tgtEl>
                                        <p:attrNameLst>
                                          <p:attrName>ppt_x</p:attrName>
                                        </p:attrNameLst>
                                      </p:cBhvr>
                                      <p:tavLst>
                                        <p:tav tm="0">
                                          <p:val>
                                            <p:strVal val="ppt_x"/>
                                          </p:val>
                                        </p:tav>
                                        <p:tav tm="100000">
                                          <p:val>
                                            <p:strVal val="ppt_x"/>
                                          </p:val>
                                        </p:tav>
                                      </p:tavLst>
                                    </p:anim>
                                    <p:anim calcmode="lin" valueType="num">
                                      <p:cBhvr additive="base">
                                        <p:cTn id="71" dur="500"/>
                                        <p:tgtEl>
                                          <p:spTgt spid="49"/>
                                        </p:tgtEl>
                                        <p:attrNameLst>
                                          <p:attrName>ppt_y</p:attrName>
                                        </p:attrNameLst>
                                      </p:cBhvr>
                                      <p:tavLst>
                                        <p:tav tm="0">
                                          <p:val>
                                            <p:strVal val="ppt_y"/>
                                          </p:val>
                                        </p:tav>
                                        <p:tav tm="100000">
                                          <p:val>
                                            <p:strVal val="1+ppt_h/2"/>
                                          </p:val>
                                        </p:tav>
                                      </p:tavLst>
                                    </p:anim>
                                    <p:set>
                                      <p:cBhvr>
                                        <p:cTn id="72" dur="1" fill="hold">
                                          <p:stCondLst>
                                            <p:cond delay="499"/>
                                          </p:stCondLst>
                                        </p:cTn>
                                        <p:tgtEl>
                                          <p:spTgt spid="49"/>
                                        </p:tgtEl>
                                        <p:attrNameLst>
                                          <p:attrName>style.visibility</p:attrName>
                                        </p:attrNameLst>
                                      </p:cBhvr>
                                      <p:to>
                                        <p:strVal val="hidden"/>
                                      </p:to>
                                    </p:set>
                                  </p:childTnLst>
                                </p:cTn>
                              </p:par>
                              <p:par>
                                <p:cTn id="73" presetID="2" presetClass="exit" presetSubtype="4" fill="hold" nodeType="withEffect">
                                  <p:stCondLst>
                                    <p:cond delay="0"/>
                                  </p:stCondLst>
                                  <p:childTnLst>
                                    <p:anim calcmode="lin" valueType="num">
                                      <p:cBhvr additive="base">
                                        <p:cTn id="74" dur="500"/>
                                        <p:tgtEl>
                                          <p:spTgt spid="43"/>
                                        </p:tgtEl>
                                        <p:attrNameLst>
                                          <p:attrName>ppt_x</p:attrName>
                                        </p:attrNameLst>
                                      </p:cBhvr>
                                      <p:tavLst>
                                        <p:tav tm="0">
                                          <p:val>
                                            <p:strVal val="ppt_x"/>
                                          </p:val>
                                        </p:tav>
                                        <p:tav tm="100000">
                                          <p:val>
                                            <p:strVal val="ppt_x"/>
                                          </p:val>
                                        </p:tav>
                                      </p:tavLst>
                                    </p:anim>
                                    <p:anim calcmode="lin" valueType="num">
                                      <p:cBhvr additive="base">
                                        <p:cTn id="75" dur="500"/>
                                        <p:tgtEl>
                                          <p:spTgt spid="43"/>
                                        </p:tgtEl>
                                        <p:attrNameLst>
                                          <p:attrName>ppt_y</p:attrName>
                                        </p:attrNameLst>
                                      </p:cBhvr>
                                      <p:tavLst>
                                        <p:tav tm="0">
                                          <p:val>
                                            <p:strVal val="ppt_y"/>
                                          </p:val>
                                        </p:tav>
                                        <p:tav tm="100000">
                                          <p:val>
                                            <p:strVal val="1+ppt_h/2"/>
                                          </p:val>
                                        </p:tav>
                                      </p:tavLst>
                                    </p:anim>
                                    <p:set>
                                      <p:cBhvr>
                                        <p:cTn id="76" dur="1" fill="hold">
                                          <p:stCondLst>
                                            <p:cond delay="499"/>
                                          </p:stCondLst>
                                        </p:cTn>
                                        <p:tgtEl>
                                          <p:spTgt spid="43"/>
                                        </p:tgtEl>
                                        <p:attrNameLst>
                                          <p:attrName>style.visibility</p:attrName>
                                        </p:attrNameLst>
                                      </p:cBhvr>
                                      <p:to>
                                        <p:strVal val="hidden"/>
                                      </p:to>
                                    </p:set>
                                  </p:childTnLst>
                                </p:cTn>
                              </p:par>
                              <p:par>
                                <p:cTn id="77" presetID="2" presetClass="exit" presetSubtype="4" fill="hold" nodeType="withEffect">
                                  <p:stCondLst>
                                    <p:cond delay="0"/>
                                  </p:stCondLst>
                                  <p:childTnLst>
                                    <p:anim calcmode="lin" valueType="num">
                                      <p:cBhvr additive="base">
                                        <p:cTn id="78" dur="500"/>
                                        <p:tgtEl>
                                          <p:spTgt spid="47"/>
                                        </p:tgtEl>
                                        <p:attrNameLst>
                                          <p:attrName>ppt_x</p:attrName>
                                        </p:attrNameLst>
                                      </p:cBhvr>
                                      <p:tavLst>
                                        <p:tav tm="0">
                                          <p:val>
                                            <p:strVal val="ppt_x"/>
                                          </p:val>
                                        </p:tav>
                                        <p:tav tm="100000">
                                          <p:val>
                                            <p:strVal val="ppt_x"/>
                                          </p:val>
                                        </p:tav>
                                      </p:tavLst>
                                    </p:anim>
                                    <p:anim calcmode="lin" valueType="num">
                                      <p:cBhvr additive="base">
                                        <p:cTn id="79" dur="500"/>
                                        <p:tgtEl>
                                          <p:spTgt spid="47"/>
                                        </p:tgtEl>
                                        <p:attrNameLst>
                                          <p:attrName>ppt_y</p:attrName>
                                        </p:attrNameLst>
                                      </p:cBhvr>
                                      <p:tavLst>
                                        <p:tav tm="0">
                                          <p:val>
                                            <p:strVal val="ppt_y"/>
                                          </p:val>
                                        </p:tav>
                                        <p:tav tm="100000">
                                          <p:val>
                                            <p:strVal val="1+ppt_h/2"/>
                                          </p:val>
                                        </p:tav>
                                      </p:tavLst>
                                    </p:anim>
                                    <p:set>
                                      <p:cBhvr>
                                        <p:cTn id="80" dur="1" fill="hold">
                                          <p:stCondLst>
                                            <p:cond delay="499"/>
                                          </p:stCondLst>
                                        </p:cTn>
                                        <p:tgtEl>
                                          <p:spTgt spid="47"/>
                                        </p:tgtEl>
                                        <p:attrNameLst>
                                          <p:attrName>style.visibility</p:attrName>
                                        </p:attrNameLst>
                                      </p:cBhvr>
                                      <p:to>
                                        <p:strVal val="hidden"/>
                                      </p:to>
                                    </p:set>
                                  </p:childTnLst>
                                </p:cTn>
                              </p:par>
                              <p:par>
                                <p:cTn id="81" presetID="2" presetClass="exit" presetSubtype="4" fill="hold" nodeType="withEffect">
                                  <p:stCondLst>
                                    <p:cond delay="0"/>
                                  </p:stCondLst>
                                  <p:childTnLst>
                                    <p:anim calcmode="lin" valueType="num">
                                      <p:cBhvr additive="base">
                                        <p:cTn id="82" dur="500"/>
                                        <p:tgtEl>
                                          <p:spTgt spid="45"/>
                                        </p:tgtEl>
                                        <p:attrNameLst>
                                          <p:attrName>ppt_x</p:attrName>
                                        </p:attrNameLst>
                                      </p:cBhvr>
                                      <p:tavLst>
                                        <p:tav tm="0">
                                          <p:val>
                                            <p:strVal val="ppt_x"/>
                                          </p:val>
                                        </p:tav>
                                        <p:tav tm="100000">
                                          <p:val>
                                            <p:strVal val="ppt_x"/>
                                          </p:val>
                                        </p:tav>
                                      </p:tavLst>
                                    </p:anim>
                                    <p:anim calcmode="lin" valueType="num">
                                      <p:cBhvr additive="base">
                                        <p:cTn id="83" dur="500"/>
                                        <p:tgtEl>
                                          <p:spTgt spid="45"/>
                                        </p:tgtEl>
                                        <p:attrNameLst>
                                          <p:attrName>ppt_y</p:attrName>
                                        </p:attrNameLst>
                                      </p:cBhvr>
                                      <p:tavLst>
                                        <p:tav tm="0">
                                          <p:val>
                                            <p:strVal val="ppt_y"/>
                                          </p:val>
                                        </p:tav>
                                        <p:tav tm="100000">
                                          <p:val>
                                            <p:strVal val="1+ppt_h/2"/>
                                          </p:val>
                                        </p:tav>
                                      </p:tavLst>
                                    </p:anim>
                                    <p:set>
                                      <p:cBhvr>
                                        <p:cTn id="84" dur="1" fill="hold">
                                          <p:stCondLst>
                                            <p:cond delay="499"/>
                                          </p:stCondLst>
                                        </p:cTn>
                                        <p:tgtEl>
                                          <p:spTgt spid="45"/>
                                        </p:tgtEl>
                                        <p:attrNameLst>
                                          <p:attrName>style.visibility</p:attrName>
                                        </p:attrNameLst>
                                      </p:cBhvr>
                                      <p:to>
                                        <p:strVal val="hidden"/>
                                      </p:to>
                                    </p:set>
                                  </p:childTnLst>
                                </p:cTn>
                              </p:par>
                              <p:par>
                                <p:cTn id="85" presetID="2" presetClass="exit" presetSubtype="4" fill="hold" nodeType="withEffect">
                                  <p:stCondLst>
                                    <p:cond delay="0"/>
                                  </p:stCondLst>
                                  <p:childTnLst>
                                    <p:anim calcmode="lin" valueType="num">
                                      <p:cBhvr additive="base">
                                        <p:cTn id="86" dur="500"/>
                                        <p:tgtEl>
                                          <p:spTgt spid="51"/>
                                        </p:tgtEl>
                                        <p:attrNameLst>
                                          <p:attrName>ppt_x</p:attrName>
                                        </p:attrNameLst>
                                      </p:cBhvr>
                                      <p:tavLst>
                                        <p:tav tm="0">
                                          <p:val>
                                            <p:strVal val="ppt_x"/>
                                          </p:val>
                                        </p:tav>
                                        <p:tav tm="100000">
                                          <p:val>
                                            <p:strVal val="ppt_x"/>
                                          </p:val>
                                        </p:tav>
                                      </p:tavLst>
                                    </p:anim>
                                    <p:anim calcmode="lin" valueType="num">
                                      <p:cBhvr additive="base">
                                        <p:cTn id="87" dur="500"/>
                                        <p:tgtEl>
                                          <p:spTgt spid="51"/>
                                        </p:tgtEl>
                                        <p:attrNameLst>
                                          <p:attrName>ppt_y</p:attrName>
                                        </p:attrNameLst>
                                      </p:cBhvr>
                                      <p:tavLst>
                                        <p:tav tm="0">
                                          <p:val>
                                            <p:strVal val="ppt_y"/>
                                          </p:val>
                                        </p:tav>
                                        <p:tav tm="100000">
                                          <p:val>
                                            <p:strVal val="1+ppt_h/2"/>
                                          </p:val>
                                        </p:tav>
                                      </p:tavLst>
                                    </p:anim>
                                    <p:set>
                                      <p:cBhvr>
                                        <p:cTn id="88" dur="1" fill="hold">
                                          <p:stCondLst>
                                            <p:cond delay="499"/>
                                          </p:stCondLst>
                                        </p:cTn>
                                        <p:tgtEl>
                                          <p:spTgt spid="51"/>
                                        </p:tgtEl>
                                        <p:attrNameLst>
                                          <p:attrName>style.visibility</p:attrName>
                                        </p:attrNameLst>
                                      </p:cBhvr>
                                      <p:to>
                                        <p:strVal val="hidden"/>
                                      </p:to>
                                    </p:set>
                                  </p:childTnLst>
                                </p:cTn>
                              </p:par>
                              <p:par>
                                <p:cTn id="89" presetID="2" presetClass="exit" presetSubtype="4" fill="hold" nodeType="withEffect">
                                  <p:stCondLst>
                                    <p:cond delay="0"/>
                                  </p:stCondLst>
                                  <p:childTnLst>
                                    <p:anim calcmode="lin" valueType="num">
                                      <p:cBhvr additive="base">
                                        <p:cTn id="90" dur="500"/>
                                        <p:tgtEl>
                                          <p:spTgt spid="48"/>
                                        </p:tgtEl>
                                        <p:attrNameLst>
                                          <p:attrName>ppt_x</p:attrName>
                                        </p:attrNameLst>
                                      </p:cBhvr>
                                      <p:tavLst>
                                        <p:tav tm="0">
                                          <p:val>
                                            <p:strVal val="ppt_x"/>
                                          </p:val>
                                        </p:tav>
                                        <p:tav tm="100000">
                                          <p:val>
                                            <p:strVal val="ppt_x"/>
                                          </p:val>
                                        </p:tav>
                                      </p:tavLst>
                                    </p:anim>
                                    <p:anim calcmode="lin" valueType="num">
                                      <p:cBhvr additive="base">
                                        <p:cTn id="91" dur="500"/>
                                        <p:tgtEl>
                                          <p:spTgt spid="48"/>
                                        </p:tgtEl>
                                        <p:attrNameLst>
                                          <p:attrName>ppt_y</p:attrName>
                                        </p:attrNameLst>
                                      </p:cBhvr>
                                      <p:tavLst>
                                        <p:tav tm="0">
                                          <p:val>
                                            <p:strVal val="ppt_y"/>
                                          </p:val>
                                        </p:tav>
                                        <p:tav tm="100000">
                                          <p:val>
                                            <p:strVal val="1+ppt_h/2"/>
                                          </p:val>
                                        </p:tav>
                                      </p:tavLst>
                                    </p:anim>
                                    <p:set>
                                      <p:cBhvr>
                                        <p:cTn id="92" dur="1" fill="hold">
                                          <p:stCondLst>
                                            <p:cond delay="499"/>
                                          </p:stCondLst>
                                        </p:cTn>
                                        <p:tgtEl>
                                          <p:spTgt spid="48"/>
                                        </p:tgtEl>
                                        <p:attrNameLst>
                                          <p:attrName>style.visibility</p:attrName>
                                        </p:attrNameLst>
                                      </p:cBhvr>
                                      <p:to>
                                        <p:strVal val="hidden"/>
                                      </p:to>
                                    </p:set>
                                  </p:childTnLst>
                                </p:cTn>
                              </p:par>
                              <p:par>
                                <p:cTn id="93" presetID="2" presetClass="exit" presetSubtype="4" fill="hold" grpId="0" nodeType="withEffect">
                                  <p:stCondLst>
                                    <p:cond delay="0"/>
                                  </p:stCondLst>
                                  <p:childTnLst>
                                    <p:anim calcmode="lin" valueType="num">
                                      <p:cBhvr additive="base">
                                        <p:cTn id="94" dur="500"/>
                                        <p:tgtEl>
                                          <p:spTgt spid="16"/>
                                        </p:tgtEl>
                                        <p:attrNameLst>
                                          <p:attrName>ppt_x</p:attrName>
                                        </p:attrNameLst>
                                      </p:cBhvr>
                                      <p:tavLst>
                                        <p:tav tm="0">
                                          <p:val>
                                            <p:strVal val="ppt_x"/>
                                          </p:val>
                                        </p:tav>
                                        <p:tav tm="100000">
                                          <p:val>
                                            <p:strVal val="ppt_x"/>
                                          </p:val>
                                        </p:tav>
                                      </p:tavLst>
                                    </p:anim>
                                    <p:anim calcmode="lin" valueType="num">
                                      <p:cBhvr additive="base">
                                        <p:cTn id="95" dur="500"/>
                                        <p:tgtEl>
                                          <p:spTgt spid="16"/>
                                        </p:tgtEl>
                                        <p:attrNameLst>
                                          <p:attrName>ppt_y</p:attrName>
                                        </p:attrNameLst>
                                      </p:cBhvr>
                                      <p:tavLst>
                                        <p:tav tm="0">
                                          <p:val>
                                            <p:strVal val="ppt_y"/>
                                          </p:val>
                                        </p:tav>
                                        <p:tav tm="100000">
                                          <p:val>
                                            <p:strVal val="1+ppt_h/2"/>
                                          </p:val>
                                        </p:tav>
                                      </p:tavLst>
                                    </p:anim>
                                    <p:set>
                                      <p:cBhvr>
                                        <p:cTn id="96" dur="1" fill="hold">
                                          <p:stCondLst>
                                            <p:cond delay="499"/>
                                          </p:stCondLst>
                                        </p:cTn>
                                        <p:tgtEl>
                                          <p:spTgt spid="16"/>
                                        </p:tgtEl>
                                        <p:attrNameLst>
                                          <p:attrName>style.visibility</p:attrName>
                                        </p:attrNameLst>
                                      </p:cBhvr>
                                      <p:to>
                                        <p:strVal val="hidden"/>
                                      </p:to>
                                    </p:set>
                                  </p:childTnLst>
                                </p:cTn>
                              </p:par>
                              <p:par>
                                <p:cTn id="97" presetID="2" presetClass="exit" presetSubtype="4" fill="hold" grpId="0" nodeType="withEffect">
                                  <p:stCondLst>
                                    <p:cond delay="0"/>
                                  </p:stCondLst>
                                  <p:childTnLst>
                                    <p:anim calcmode="lin" valueType="num">
                                      <p:cBhvr additive="base">
                                        <p:cTn id="98" dur="500"/>
                                        <p:tgtEl>
                                          <p:spTgt spid="34858"/>
                                        </p:tgtEl>
                                        <p:attrNameLst>
                                          <p:attrName>ppt_x</p:attrName>
                                        </p:attrNameLst>
                                      </p:cBhvr>
                                      <p:tavLst>
                                        <p:tav tm="0">
                                          <p:val>
                                            <p:strVal val="ppt_x"/>
                                          </p:val>
                                        </p:tav>
                                        <p:tav tm="100000">
                                          <p:val>
                                            <p:strVal val="ppt_x"/>
                                          </p:val>
                                        </p:tav>
                                      </p:tavLst>
                                    </p:anim>
                                    <p:anim calcmode="lin" valueType="num">
                                      <p:cBhvr additive="base">
                                        <p:cTn id="99" dur="500"/>
                                        <p:tgtEl>
                                          <p:spTgt spid="34858"/>
                                        </p:tgtEl>
                                        <p:attrNameLst>
                                          <p:attrName>ppt_y</p:attrName>
                                        </p:attrNameLst>
                                      </p:cBhvr>
                                      <p:tavLst>
                                        <p:tav tm="0">
                                          <p:val>
                                            <p:strVal val="ppt_y"/>
                                          </p:val>
                                        </p:tav>
                                        <p:tav tm="100000">
                                          <p:val>
                                            <p:strVal val="1+ppt_h/2"/>
                                          </p:val>
                                        </p:tav>
                                      </p:tavLst>
                                    </p:anim>
                                    <p:set>
                                      <p:cBhvr>
                                        <p:cTn id="100" dur="1" fill="hold">
                                          <p:stCondLst>
                                            <p:cond delay="499"/>
                                          </p:stCondLst>
                                        </p:cTn>
                                        <p:tgtEl>
                                          <p:spTgt spid="34858"/>
                                        </p:tgtEl>
                                        <p:attrNameLst>
                                          <p:attrName>style.visibility</p:attrName>
                                        </p:attrNameLst>
                                      </p:cBhvr>
                                      <p:to>
                                        <p:strVal val="hidden"/>
                                      </p:to>
                                    </p:set>
                                  </p:childTnLst>
                                </p:cTn>
                              </p:par>
                              <p:par>
                                <p:cTn id="101" presetID="2" presetClass="exit" presetSubtype="4" fill="hold" grpId="0" nodeType="withEffect">
                                  <p:stCondLst>
                                    <p:cond delay="0"/>
                                  </p:stCondLst>
                                  <p:childTnLst>
                                    <p:anim calcmode="lin" valueType="num">
                                      <p:cBhvr additive="base">
                                        <p:cTn id="102" dur="500"/>
                                        <p:tgtEl>
                                          <p:spTgt spid="34857"/>
                                        </p:tgtEl>
                                        <p:attrNameLst>
                                          <p:attrName>ppt_x</p:attrName>
                                        </p:attrNameLst>
                                      </p:cBhvr>
                                      <p:tavLst>
                                        <p:tav tm="0">
                                          <p:val>
                                            <p:strVal val="ppt_x"/>
                                          </p:val>
                                        </p:tav>
                                        <p:tav tm="100000">
                                          <p:val>
                                            <p:strVal val="ppt_x"/>
                                          </p:val>
                                        </p:tav>
                                      </p:tavLst>
                                    </p:anim>
                                    <p:anim calcmode="lin" valueType="num">
                                      <p:cBhvr additive="base">
                                        <p:cTn id="103" dur="500"/>
                                        <p:tgtEl>
                                          <p:spTgt spid="34857"/>
                                        </p:tgtEl>
                                        <p:attrNameLst>
                                          <p:attrName>ppt_y</p:attrName>
                                        </p:attrNameLst>
                                      </p:cBhvr>
                                      <p:tavLst>
                                        <p:tav tm="0">
                                          <p:val>
                                            <p:strVal val="ppt_y"/>
                                          </p:val>
                                        </p:tav>
                                        <p:tav tm="100000">
                                          <p:val>
                                            <p:strVal val="1+ppt_h/2"/>
                                          </p:val>
                                        </p:tav>
                                      </p:tavLst>
                                    </p:anim>
                                    <p:set>
                                      <p:cBhvr>
                                        <p:cTn id="104" dur="1" fill="hold">
                                          <p:stCondLst>
                                            <p:cond delay="499"/>
                                          </p:stCondLst>
                                        </p:cTn>
                                        <p:tgtEl>
                                          <p:spTgt spid="34857"/>
                                        </p:tgtEl>
                                        <p:attrNameLst>
                                          <p:attrName>style.visibility</p:attrName>
                                        </p:attrNameLst>
                                      </p:cBhvr>
                                      <p:to>
                                        <p:strVal val="hidden"/>
                                      </p:to>
                                    </p:set>
                                  </p:childTnLst>
                                </p:cTn>
                              </p:par>
                              <p:par>
                                <p:cTn id="105" presetID="2" presetClass="exit" presetSubtype="4" fill="hold" grpId="0" nodeType="withEffect">
                                  <p:stCondLst>
                                    <p:cond delay="0"/>
                                  </p:stCondLst>
                                  <p:childTnLst>
                                    <p:anim calcmode="lin" valueType="num">
                                      <p:cBhvr additive="base">
                                        <p:cTn id="106" dur="500"/>
                                        <p:tgtEl>
                                          <p:spTgt spid="15"/>
                                        </p:tgtEl>
                                        <p:attrNameLst>
                                          <p:attrName>ppt_x</p:attrName>
                                        </p:attrNameLst>
                                      </p:cBhvr>
                                      <p:tavLst>
                                        <p:tav tm="0">
                                          <p:val>
                                            <p:strVal val="ppt_x"/>
                                          </p:val>
                                        </p:tav>
                                        <p:tav tm="100000">
                                          <p:val>
                                            <p:strVal val="ppt_x"/>
                                          </p:val>
                                        </p:tav>
                                      </p:tavLst>
                                    </p:anim>
                                    <p:anim calcmode="lin" valueType="num">
                                      <p:cBhvr additive="base">
                                        <p:cTn id="107" dur="500"/>
                                        <p:tgtEl>
                                          <p:spTgt spid="15"/>
                                        </p:tgtEl>
                                        <p:attrNameLst>
                                          <p:attrName>ppt_y</p:attrName>
                                        </p:attrNameLst>
                                      </p:cBhvr>
                                      <p:tavLst>
                                        <p:tav tm="0">
                                          <p:val>
                                            <p:strVal val="ppt_y"/>
                                          </p:val>
                                        </p:tav>
                                        <p:tav tm="100000">
                                          <p:val>
                                            <p:strVal val="1+ppt_h/2"/>
                                          </p:val>
                                        </p:tav>
                                      </p:tavLst>
                                    </p:anim>
                                    <p:set>
                                      <p:cBhvr>
                                        <p:cTn id="108" dur="1" fill="hold">
                                          <p:stCondLst>
                                            <p:cond delay="499"/>
                                          </p:stCondLst>
                                        </p:cTn>
                                        <p:tgtEl>
                                          <p:spTgt spid="15"/>
                                        </p:tgtEl>
                                        <p:attrNameLst>
                                          <p:attrName>style.visibility</p:attrName>
                                        </p:attrNameLst>
                                      </p:cBhvr>
                                      <p:to>
                                        <p:strVal val="hidden"/>
                                      </p:to>
                                    </p:set>
                                  </p:childTnLst>
                                </p:cTn>
                              </p:par>
                              <p:par>
                                <p:cTn id="109" presetID="2" presetClass="exit" presetSubtype="4" fill="hold" grpId="0" nodeType="withEffect">
                                  <p:stCondLst>
                                    <p:cond delay="0"/>
                                  </p:stCondLst>
                                  <p:childTnLst>
                                    <p:anim calcmode="lin" valueType="num">
                                      <p:cBhvr additive="base">
                                        <p:cTn id="110" dur="500"/>
                                        <p:tgtEl>
                                          <p:spTgt spid="34865"/>
                                        </p:tgtEl>
                                        <p:attrNameLst>
                                          <p:attrName>ppt_x</p:attrName>
                                        </p:attrNameLst>
                                      </p:cBhvr>
                                      <p:tavLst>
                                        <p:tav tm="0">
                                          <p:val>
                                            <p:strVal val="ppt_x"/>
                                          </p:val>
                                        </p:tav>
                                        <p:tav tm="100000">
                                          <p:val>
                                            <p:strVal val="ppt_x"/>
                                          </p:val>
                                        </p:tav>
                                      </p:tavLst>
                                    </p:anim>
                                    <p:anim calcmode="lin" valueType="num">
                                      <p:cBhvr additive="base">
                                        <p:cTn id="111" dur="500"/>
                                        <p:tgtEl>
                                          <p:spTgt spid="34865"/>
                                        </p:tgtEl>
                                        <p:attrNameLst>
                                          <p:attrName>ppt_y</p:attrName>
                                        </p:attrNameLst>
                                      </p:cBhvr>
                                      <p:tavLst>
                                        <p:tav tm="0">
                                          <p:val>
                                            <p:strVal val="ppt_y"/>
                                          </p:val>
                                        </p:tav>
                                        <p:tav tm="100000">
                                          <p:val>
                                            <p:strVal val="1+ppt_h/2"/>
                                          </p:val>
                                        </p:tav>
                                      </p:tavLst>
                                    </p:anim>
                                    <p:set>
                                      <p:cBhvr>
                                        <p:cTn id="112" dur="1" fill="hold">
                                          <p:stCondLst>
                                            <p:cond delay="499"/>
                                          </p:stCondLst>
                                        </p:cTn>
                                        <p:tgtEl>
                                          <p:spTgt spid="34865"/>
                                        </p:tgtEl>
                                        <p:attrNameLst>
                                          <p:attrName>style.visibility</p:attrName>
                                        </p:attrNameLst>
                                      </p:cBhvr>
                                      <p:to>
                                        <p:strVal val="hidden"/>
                                      </p:to>
                                    </p:set>
                                  </p:childTnLst>
                                </p:cTn>
                              </p:par>
                              <p:par>
                                <p:cTn id="113" presetID="2" presetClass="exit" presetSubtype="4" fill="hold" nodeType="withEffect">
                                  <p:stCondLst>
                                    <p:cond delay="0"/>
                                  </p:stCondLst>
                                  <p:childTnLst>
                                    <p:anim calcmode="lin" valueType="num">
                                      <p:cBhvr additive="base">
                                        <p:cTn id="114" dur="500"/>
                                        <p:tgtEl>
                                          <p:spTgt spid="46"/>
                                        </p:tgtEl>
                                        <p:attrNameLst>
                                          <p:attrName>ppt_x</p:attrName>
                                        </p:attrNameLst>
                                      </p:cBhvr>
                                      <p:tavLst>
                                        <p:tav tm="0">
                                          <p:val>
                                            <p:strVal val="ppt_x"/>
                                          </p:val>
                                        </p:tav>
                                        <p:tav tm="100000">
                                          <p:val>
                                            <p:strVal val="ppt_x"/>
                                          </p:val>
                                        </p:tav>
                                      </p:tavLst>
                                    </p:anim>
                                    <p:anim calcmode="lin" valueType="num">
                                      <p:cBhvr additive="base">
                                        <p:cTn id="115" dur="500"/>
                                        <p:tgtEl>
                                          <p:spTgt spid="46"/>
                                        </p:tgtEl>
                                        <p:attrNameLst>
                                          <p:attrName>ppt_y</p:attrName>
                                        </p:attrNameLst>
                                      </p:cBhvr>
                                      <p:tavLst>
                                        <p:tav tm="0">
                                          <p:val>
                                            <p:strVal val="ppt_y"/>
                                          </p:val>
                                        </p:tav>
                                        <p:tav tm="100000">
                                          <p:val>
                                            <p:strVal val="1+ppt_h/2"/>
                                          </p:val>
                                        </p:tav>
                                      </p:tavLst>
                                    </p:anim>
                                    <p:set>
                                      <p:cBhvr>
                                        <p:cTn id="116" dur="1" fill="hold">
                                          <p:stCondLst>
                                            <p:cond delay="499"/>
                                          </p:stCondLst>
                                        </p:cTn>
                                        <p:tgtEl>
                                          <p:spTgt spid="46"/>
                                        </p:tgtEl>
                                        <p:attrNameLst>
                                          <p:attrName>style.visibility</p:attrName>
                                        </p:attrNameLst>
                                      </p:cBhvr>
                                      <p:to>
                                        <p:strVal val="hidden"/>
                                      </p:to>
                                    </p:set>
                                  </p:childTnLst>
                                </p:cTn>
                              </p:par>
                              <p:par>
                                <p:cTn id="117" presetID="2" presetClass="exit" presetSubtype="4" fill="hold" nodeType="withEffect">
                                  <p:stCondLst>
                                    <p:cond delay="0"/>
                                  </p:stCondLst>
                                  <p:childTnLst>
                                    <p:anim calcmode="lin" valueType="num">
                                      <p:cBhvr additive="base">
                                        <p:cTn id="118" dur="500"/>
                                        <p:tgtEl>
                                          <p:spTgt spid="53"/>
                                        </p:tgtEl>
                                        <p:attrNameLst>
                                          <p:attrName>ppt_x</p:attrName>
                                        </p:attrNameLst>
                                      </p:cBhvr>
                                      <p:tavLst>
                                        <p:tav tm="0">
                                          <p:val>
                                            <p:strVal val="ppt_x"/>
                                          </p:val>
                                        </p:tav>
                                        <p:tav tm="100000">
                                          <p:val>
                                            <p:strVal val="ppt_x"/>
                                          </p:val>
                                        </p:tav>
                                      </p:tavLst>
                                    </p:anim>
                                    <p:anim calcmode="lin" valueType="num">
                                      <p:cBhvr additive="base">
                                        <p:cTn id="119" dur="500"/>
                                        <p:tgtEl>
                                          <p:spTgt spid="53"/>
                                        </p:tgtEl>
                                        <p:attrNameLst>
                                          <p:attrName>ppt_y</p:attrName>
                                        </p:attrNameLst>
                                      </p:cBhvr>
                                      <p:tavLst>
                                        <p:tav tm="0">
                                          <p:val>
                                            <p:strVal val="ppt_y"/>
                                          </p:val>
                                        </p:tav>
                                        <p:tav tm="100000">
                                          <p:val>
                                            <p:strVal val="1+ppt_h/2"/>
                                          </p:val>
                                        </p:tav>
                                      </p:tavLst>
                                    </p:anim>
                                    <p:set>
                                      <p:cBhvr>
                                        <p:cTn id="120" dur="1" fill="hold">
                                          <p:stCondLst>
                                            <p:cond delay="499"/>
                                          </p:stCondLst>
                                        </p:cTn>
                                        <p:tgtEl>
                                          <p:spTgt spid="53"/>
                                        </p:tgtEl>
                                        <p:attrNameLst>
                                          <p:attrName>style.visibility</p:attrName>
                                        </p:attrNameLst>
                                      </p:cBhvr>
                                      <p:to>
                                        <p:strVal val="hidden"/>
                                      </p:to>
                                    </p:set>
                                  </p:childTnLst>
                                </p:cTn>
                              </p:par>
                              <p:par>
                                <p:cTn id="121" presetID="2" presetClass="exit" presetSubtype="4" fill="hold" nodeType="withEffect">
                                  <p:stCondLst>
                                    <p:cond delay="0"/>
                                  </p:stCondLst>
                                  <p:childTnLst>
                                    <p:anim calcmode="lin" valueType="num">
                                      <p:cBhvr additive="base">
                                        <p:cTn id="122" dur="500"/>
                                        <p:tgtEl>
                                          <p:spTgt spid="55"/>
                                        </p:tgtEl>
                                        <p:attrNameLst>
                                          <p:attrName>ppt_x</p:attrName>
                                        </p:attrNameLst>
                                      </p:cBhvr>
                                      <p:tavLst>
                                        <p:tav tm="0">
                                          <p:val>
                                            <p:strVal val="ppt_x"/>
                                          </p:val>
                                        </p:tav>
                                        <p:tav tm="100000">
                                          <p:val>
                                            <p:strVal val="ppt_x"/>
                                          </p:val>
                                        </p:tav>
                                      </p:tavLst>
                                    </p:anim>
                                    <p:anim calcmode="lin" valueType="num">
                                      <p:cBhvr additive="base">
                                        <p:cTn id="123" dur="500"/>
                                        <p:tgtEl>
                                          <p:spTgt spid="55"/>
                                        </p:tgtEl>
                                        <p:attrNameLst>
                                          <p:attrName>ppt_y</p:attrName>
                                        </p:attrNameLst>
                                      </p:cBhvr>
                                      <p:tavLst>
                                        <p:tav tm="0">
                                          <p:val>
                                            <p:strVal val="ppt_y"/>
                                          </p:val>
                                        </p:tav>
                                        <p:tav tm="100000">
                                          <p:val>
                                            <p:strVal val="1+ppt_h/2"/>
                                          </p:val>
                                        </p:tav>
                                      </p:tavLst>
                                    </p:anim>
                                    <p:set>
                                      <p:cBhvr>
                                        <p:cTn id="124" dur="1" fill="hold">
                                          <p:stCondLst>
                                            <p:cond delay="499"/>
                                          </p:stCondLst>
                                        </p:cTn>
                                        <p:tgtEl>
                                          <p:spTgt spid="55"/>
                                        </p:tgtEl>
                                        <p:attrNameLst>
                                          <p:attrName>style.visibility</p:attrName>
                                        </p:attrNameLst>
                                      </p:cBhvr>
                                      <p:to>
                                        <p:strVal val="hidden"/>
                                      </p:to>
                                    </p:set>
                                  </p:childTnLst>
                                </p:cTn>
                              </p:par>
                              <p:par>
                                <p:cTn id="125" presetID="2" presetClass="exit" presetSubtype="4" fill="hold" grpId="0" nodeType="withEffect">
                                  <p:stCondLst>
                                    <p:cond delay="0"/>
                                  </p:stCondLst>
                                  <p:childTnLst>
                                    <p:anim calcmode="lin" valueType="num">
                                      <p:cBhvr additive="base">
                                        <p:cTn id="126" dur="500"/>
                                        <p:tgtEl>
                                          <p:spTgt spid="17"/>
                                        </p:tgtEl>
                                        <p:attrNameLst>
                                          <p:attrName>ppt_x</p:attrName>
                                        </p:attrNameLst>
                                      </p:cBhvr>
                                      <p:tavLst>
                                        <p:tav tm="0">
                                          <p:val>
                                            <p:strVal val="ppt_x"/>
                                          </p:val>
                                        </p:tav>
                                        <p:tav tm="100000">
                                          <p:val>
                                            <p:strVal val="ppt_x"/>
                                          </p:val>
                                        </p:tav>
                                      </p:tavLst>
                                    </p:anim>
                                    <p:anim calcmode="lin" valueType="num">
                                      <p:cBhvr additive="base">
                                        <p:cTn id="127" dur="500"/>
                                        <p:tgtEl>
                                          <p:spTgt spid="17"/>
                                        </p:tgtEl>
                                        <p:attrNameLst>
                                          <p:attrName>ppt_y</p:attrName>
                                        </p:attrNameLst>
                                      </p:cBhvr>
                                      <p:tavLst>
                                        <p:tav tm="0">
                                          <p:val>
                                            <p:strVal val="ppt_y"/>
                                          </p:val>
                                        </p:tav>
                                        <p:tav tm="100000">
                                          <p:val>
                                            <p:strVal val="1+ppt_h/2"/>
                                          </p:val>
                                        </p:tav>
                                      </p:tavLst>
                                    </p:anim>
                                    <p:set>
                                      <p:cBhvr>
                                        <p:cTn id="128" dur="1" fill="hold">
                                          <p:stCondLst>
                                            <p:cond delay="499"/>
                                          </p:stCondLst>
                                        </p:cTn>
                                        <p:tgtEl>
                                          <p:spTgt spid="17"/>
                                        </p:tgtEl>
                                        <p:attrNameLst>
                                          <p:attrName>style.visibility</p:attrName>
                                        </p:attrNameLst>
                                      </p:cBhvr>
                                      <p:to>
                                        <p:strVal val="hidden"/>
                                      </p:to>
                                    </p:set>
                                  </p:childTnLst>
                                </p:cTn>
                              </p:par>
                              <p:par>
                                <p:cTn id="129" presetID="2" presetClass="exit" presetSubtype="4" fill="hold" grpId="0" nodeType="withEffect">
                                  <p:stCondLst>
                                    <p:cond delay="0"/>
                                  </p:stCondLst>
                                  <p:childTnLst>
                                    <p:anim calcmode="lin" valueType="num">
                                      <p:cBhvr additive="base">
                                        <p:cTn id="130" dur="500"/>
                                        <p:tgtEl>
                                          <p:spTgt spid="34859"/>
                                        </p:tgtEl>
                                        <p:attrNameLst>
                                          <p:attrName>ppt_x</p:attrName>
                                        </p:attrNameLst>
                                      </p:cBhvr>
                                      <p:tavLst>
                                        <p:tav tm="0">
                                          <p:val>
                                            <p:strVal val="ppt_x"/>
                                          </p:val>
                                        </p:tav>
                                        <p:tav tm="100000">
                                          <p:val>
                                            <p:strVal val="ppt_x"/>
                                          </p:val>
                                        </p:tav>
                                      </p:tavLst>
                                    </p:anim>
                                    <p:anim calcmode="lin" valueType="num">
                                      <p:cBhvr additive="base">
                                        <p:cTn id="131" dur="500"/>
                                        <p:tgtEl>
                                          <p:spTgt spid="34859"/>
                                        </p:tgtEl>
                                        <p:attrNameLst>
                                          <p:attrName>ppt_y</p:attrName>
                                        </p:attrNameLst>
                                      </p:cBhvr>
                                      <p:tavLst>
                                        <p:tav tm="0">
                                          <p:val>
                                            <p:strVal val="ppt_y"/>
                                          </p:val>
                                        </p:tav>
                                        <p:tav tm="100000">
                                          <p:val>
                                            <p:strVal val="1+ppt_h/2"/>
                                          </p:val>
                                        </p:tav>
                                      </p:tavLst>
                                    </p:anim>
                                    <p:set>
                                      <p:cBhvr>
                                        <p:cTn id="132" dur="1" fill="hold">
                                          <p:stCondLst>
                                            <p:cond delay="499"/>
                                          </p:stCondLst>
                                        </p:cTn>
                                        <p:tgtEl>
                                          <p:spTgt spid="34859"/>
                                        </p:tgtEl>
                                        <p:attrNameLst>
                                          <p:attrName>style.visibility</p:attrName>
                                        </p:attrNameLst>
                                      </p:cBhvr>
                                      <p:to>
                                        <p:strVal val="hidden"/>
                                      </p:to>
                                    </p:set>
                                  </p:childTnLst>
                                </p:cTn>
                              </p:par>
                              <p:par>
                                <p:cTn id="133" presetID="2" presetClass="exit" presetSubtype="4" fill="hold" grpId="0" nodeType="withEffect">
                                  <p:stCondLst>
                                    <p:cond delay="0"/>
                                  </p:stCondLst>
                                  <p:childTnLst>
                                    <p:anim calcmode="lin" valueType="num">
                                      <p:cBhvr additive="base">
                                        <p:cTn id="134" dur="500"/>
                                        <p:tgtEl>
                                          <p:spTgt spid="34864"/>
                                        </p:tgtEl>
                                        <p:attrNameLst>
                                          <p:attrName>ppt_x</p:attrName>
                                        </p:attrNameLst>
                                      </p:cBhvr>
                                      <p:tavLst>
                                        <p:tav tm="0">
                                          <p:val>
                                            <p:strVal val="ppt_x"/>
                                          </p:val>
                                        </p:tav>
                                        <p:tav tm="100000">
                                          <p:val>
                                            <p:strVal val="ppt_x"/>
                                          </p:val>
                                        </p:tav>
                                      </p:tavLst>
                                    </p:anim>
                                    <p:anim calcmode="lin" valueType="num">
                                      <p:cBhvr additive="base">
                                        <p:cTn id="135" dur="500"/>
                                        <p:tgtEl>
                                          <p:spTgt spid="34864"/>
                                        </p:tgtEl>
                                        <p:attrNameLst>
                                          <p:attrName>ppt_y</p:attrName>
                                        </p:attrNameLst>
                                      </p:cBhvr>
                                      <p:tavLst>
                                        <p:tav tm="0">
                                          <p:val>
                                            <p:strVal val="ppt_y"/>
                                          </p:val>
                                        </p:tav>
                                        <p:tav tm="100000">
                                          <p:val>
                                            <p:strVal val="1+ppt_h/2"/>
                                          </p:val>
                                        </p:tav>
                                      </p:tavLst>
                                    </p:anim>
                                    <p:set>
                                      <p:cBhvr>
                                        <p:cTn id="136" dur="1" fill="hold">
                                          <p:stCondLst>
                                            <p:cond delay="499"/>
                                          </p:stCondLst>
                                        </p:cTn>
                                        <p:tgtEl>
                                          <p:spTgt spid="34864"/>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grpId="0" nodeType="clickEffect">
                                  <p:stCondLst>
                                    <p:cond delay="0"/>
                                  </p:stCondLst>
                                  <p:childTnLst>
                                    <p:set>
                                      <p:cBhvr>
                                        <p:cTn id="140" dur="1" fill="hold">
                                          <p:stCondLst>
                                            <p:cond delay="0"/>
                                          </p:stCondLst>
                                        </p:cTn>
                                        <p:tgtEl>
                                          <p:spTgt spid="62"/>
                                        </p:tgtEl>
                                        <p:attrNameLst>
                                          <p:attrName>style.visibility</p:attrName>
                                        </p:attrNameLst>
                                      </p:cBhvr>
                                      <p:to>
                                        <p:strVal val="visible"/>
                                      </p:to>
                                    </p:set>
                                    <p:animEffect transition="in" filter="fade">
                                      <p:cBhvr>
                                        <p:cTn id="141"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34854" grpId="0"/>
      <p:bldP spid="34855" grpId="0"/>
      <p:bldP spid="34856" grpId="0"/>
      <p:bldP spid="34857" grpId="0"/>
      <p:bldP spid="34858" grpId="0"/>
      <p:bldP spid="34859" grpId="0"/>
      <p:bldP spid="34864" grpId="0"/>
      <p:bldP spid="34865" grpId="0"/>
      <p:bldP spid="34866" grpId="0"/>
      <p:bldP spid="6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tLang="en-US" dirty="0"/>
              <a:t>Solution</a:t>
            </a:r>
            <a:endParaRPr lang="en-GB" altLang="en-US" dirty="0"/>
          </a:p>
        </p:txBody>
      </p:sp>
      <p:sp>
        <p:nvSpPr>
          <p:cNvPr id="7" name="Oval 6"/>
          <p:cNvSpPr/>
          <p:nvPr/>
        </p:nvSpPr>
        <p:spPr>
          <a:xfrm>
            <a:off x="1285875"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8" name="Oval 7"/>
          <p:cNvSpPr/>
          <p:nvPr/>
        </p:nvSpPr>
        <p:spPr>
          <a:xfrm>
            <a:off x="2500313"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2500313"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2500313"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4286250" y="242887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428625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4286250" y="50720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5786438" y="307181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5786438" y="442912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429500" y="3786188"/>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stCxn id="7" idx="7"/>
            <a:endCxn id="8" idx="3"/>
          </p:cNvCxnSpPr>
          <p:nvPr/>
        </p:nvCxnSpPr>
        <p:spPr>
          <a:xfrm rot="5400000" flipH="1" flipV="1">
            <a:off x="1458912" y="2744788"/>
            <a:ext cx="1154113" cy="1011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9" idx="2"/>
          </p:cNvCxnSpPr>
          <p:nvPr/>
        </p:nvCxnSpPr>
        <p:spPr>
          <a:xfrm>
            <a:off x="1571625" y="3929063"/>
            <a:ext cx="928688"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10" idx="1"/>
          </p:cNvCxnSpPr>
          <p:nvPr/>
        </p:nvCxnSpPr>
        <p:spPr>
          <a:xfrm rot="16200000" flipH="1">
            <a:off x="1494631" y="4066382"/>
            <a:ext cx="1082675" cy="101123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8" idx="6"/>
            <a:endCxn id="12" idx="2"/>
          </p:cNvCxnSpPr>
          <p:nvPr/>
        </p:nvCxnSpPr>
        <p:spPr>
          <a:xfrm>
            <a:off x="2786063" y="2571750"/>
            <a:ext cx="1500187"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6"/>
            <a:endCxn id="13" idx="1"/>
          </p:cNvCxnSpPr>
          <p:nvPr/>
        </p:nvCxnSpPr>
        <p:spPr>
          <a:xfrm>
            <a:off x="2786063" y="25717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9" idx="6"/>
            <a:endCxn id="12" idx="3"/>
          </p:cNvCxnSpPr>
          <p:nvPr/>
        </p:nvCxnSpPr>
        <p:spPr>
          <a:xfrm flipV="1">
            <a:off x="2786063" y="2673350"/>
            <a:ext cx="1541462"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endCxn id="13" idx="2"/>
          </p:cNvCxnSpPr>
          <p:nvPr/>
        </p:nvCxnSpPr>
        <p:spPr>
          <a:xfrm>
            <a:off x="2857500" y="3929063"/>
            <a:ext cx="142875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14" idx="1"/>
          </p:cNvCxnSpPr>
          <p:nvPr/>
        </p:nvCxnSpPr>
        <p:spPr>
          <a:xfrm>
            <a:off x="2857500" y="4000500"/>
            <a:ext cx="1470025" cy="11128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7"/>
            <a:endCxn id="13" idx="3"/>
          </p:cNvCxnSpPr>
          <p:nvPr/>
        </p:nvCxnSpPr>
        <p:spPr>
          <a:xfrm rot="5400000" flipH="1" flipV="1">
            <a:off x="2994819" y="3780632"/>
            <a:ext cx="1082675" cy="15827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16200000" flipH="1">
            <a:off x="3536157" y="4423569"/>
            <a:ext cx="1587" cy="1584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15" idx="1"/>
          </p:cNvCxnSpPr>
          <p:nvPr/>
        </p:nvCxnSpPr>
        <p:spPr>
          <a:xfrm>
            <a:off x="4572000" y="257175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15" idx="2"/>
          </p:cNvCxnSpPr>
          <p:nvPr/>
        </p:nvCxnSpPr>
        <p:spPr>
          <a:xfrm flipV="1">
            <a:off x="4572000" y="3214688"/>
            <a:ext cx="1214438" cy="7143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14" idx="7"/>
            <a:endCxn id="15" idx="3"/>
          </p:cNvCxnSpPr>
          <p:nvPr/>
        </p:nvCxnSpPr>
        <p:spPr>
          <a:xfrm rot="5400000" flipH="1" flipV="1">
            <a:off x="4280694" y="3566319"/>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3" idx="6"/>
            <a:endCxn id="16" idx="2"/>
          </p:cNvCxnSpPr>
          <p:nvPr/>
        </p:nvCxnSpPr>
        <p:spPr>
          <a:xfrm>
            <a:off x="4572000" y="3929063"/>
            <a:ext cx="1214438" cy="6429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16" idx="1"/>
          </p:cNvCxnSpPr>
          <p:nvPr/>
        </p:nvCxnSpPr>
        <p:spPr>
          <a:xfrm rot="16200000" flipH="1">
            <a:off x="4280694" y="2923381"/>
            <a:ext cx="1797050" cy="12969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6" idx="3"/>
          </p:cNvCxnSpPr>
          <p:nvPr/>
        </p:nvCxnSpPr>
        <p:spPr>
          <a:xfrm flipV="1">
            <a:off x="4572000" y="4673600"/>
            <a:ext cx="1255713" cy="5413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5" idx="6"/>
            <a:endCxn id="17" idx="1"/>
          </p:cNvCxnSpPr>
          <p:nvPr/>
        </p:nvCxnSpPr>
        <p:spPr>
          <a:xfrm>
            <a:off x="6072188" y="3214688"/>
            <a:ext cx="1398587" cy="612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6" idx="6"/>
            <a:endCxn id="17" idx="3"/>
          </p:cNvCxnSpPr>
          <p:nvPr/>
        </p:nvCxnSpPr>
        <p:spPr>
          <a:xfrm flipV="1">
            <a:off x="6072188" y="4030663"/>
            <a:ext cx="1398587" cy="541337"/>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4850" name="TextBox 55"/>
          <p:cNvSpPr txBox="1">
            <a:spLocks noChangeArrowheads="1"/>
          </p:cNvSpPr>
          <p:nvPr/>
        </p:nvSpPr>
        <p:spPr bwMode="auto">
          <a:xfrm>
            <a:off x="928688" y="3702050"/>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a:t>
            </a:r>
            <a:endParaRPr lang="en-GB" altLang="en-US"/>
          </a:p>
        </p:txBody>
      </p:sp>
      <p:sp>
        <p:nvSpPr>
          <p:cNvPr id="34851" name="TextBox 56"/>
          <p:cNvSpPr txBox="1">
            <a:spLocks noChangeArrowheads="1"/>
          </p:cNvSpPr>
          <p:nvPr/>
        </p:nvSpPr>
        <p:spPr bwMode="auto">
          <a:xfrm>
            <a:off x="2500313" y="205898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B</a:t>
            </a:r>
            <a:endParaRPr lang="en-GB" altLang="en-US"/>
          </a:p>
        </p:txBody>
      </p:sp>
      <p:sp>
        <p:nvSpPr>
          <p:cNvPr id="34852" name="TextBox 57"/>
          <p:cNvSpPr txBox="1">
            <a:spLocks noChangeArrowheads="1"/>
          </p:cNvSpPr>
          <p:nvPr/>
        </p:nvSpPr>
        <p:spPr bwMode="auto">
          <a:xfrm>
            <a:off x="2500313" y="3487738"/>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a:t>
            </a:r>
            <a:endParaRPr lang="en-GB" altLang="en-US"/>
          </a:p>
        </p:txBody>
      </p:sp>
      <p:sp>
        <p:nvSpPr>
          <p:cNvPr id="34853" name="TextBox 58"/>
          <p:cNvSpPr txBox="1">
            <a:spLocks noChangeArrowheads="1"/>
          </p:cNvSpPr>
          <p:nvPr/>
        </p:nvSpPr>
        <p:spPr bwMode="auto">
          <a:xfrm>
            <a:off x="2500313" y="4773613"/>
            <a:ext cx="500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D</a:t>
            </a:r>
            <a:endParaRPr lang="en-GB" altLang="en-US"/>
          </a:p>
        </p:txBody>
      </p:sp>
      <p:sp>
        <p:nvSpPr>
          <p:cNvPr id="34854" name="TextBox 59"/>
          <p:cNvSpPr txBox="1">
            <a:spLocks noChangeArrowheads="1"/>
          </p:cNvSpPr>
          <p:nvPr/>
        </p:nvSpPr>
        <p:spPr bwMode="auto">
          <a:xfrm>
            <a:off x="4286250" y="207168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E</a:t>
            </a:r>
            <a:endParaRPr lang="en-GB" altLang="en-US"/>
          </a:p>
        </p:txBody>
      </p:sp>
      <p:sp>
        <p:nvSpPr>
          <p:cNvPr id="34855" name="TextBox 60"/>
          <p:cNvSpPr txBox="1">
            <a:spLocks noChangeArrowheads="1"/>
          </p:cNvSpPr>
          <p:nvPr/>
        </p:nvSpPr>
        <p:spPr bwMode="auto">
          <a:xfrm>
            <a:off x="4286250" y="3487738"/>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a:t>
            </a:r>
            <a:endParaRPr lang="en-GB" altLang="en-US"/>
          </a:p>
        </p:txBody>
      </p:sp>
      <p:sp>
        <p:nvSpPr>
          <p:cNvPr id="34856" name="TextBox 61"/>
          <p:cNvSpPr txBox="1">
            <a:spLocks noChangeArrowheads="1"/>
          </p:cNvSpPr>
          <p:nvPr/>
        </p:nvSpPr>
        <p:spPr bwMode="auto">
          <a:xfrm>
            <a:off x="4286250" y="477361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G</a:t>
            </a:r>
            <a:endParaRPr lang="en-GB" altLang="en-US"/>
          </a:p>
        </p:txBody>
      </p:sp>
      <p:sp>
        <p:nvSpPr>
          <p:cNvPr id="34857" name="TextBox 62"/>
          <p:cNvSpPr txBox="1">
            <a:spLocks noChangeArrowheads="1"/>
          </p:cNvSpPr>
          <p:nvPr/>
        </p:nvSpPr>
        <p:spPr bwMode="auto">
          <a:xfrm>
            <a:off x="5786438" y="270192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H</a:t>
            </a:r>
            <a:endParaRPr lang="en-GB" altLang="en-US"/>
          </a:p>
        </p:txBody>
      </p:sp>
      <p:sp>
        <p:nvSpPr>
          <p:cNvPr id="34858" name="TextBox 63"/>
          <p:cNvSpPr txBox="1">
            <a:spLocks noChangeArrowheads="1"/>
          </p:cNvSpPr>
          <p:nvPr/>
        </p:nvSpPr>
        <p:spPr bwMode="auto">
          <a:xfrm>
            <a:off x="5786438" y="4130675"/>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I</a:t>
            </a:r>
            <a:endParaRPr lang="en-GB" altLang="en-US"/>
          </a:p>
        </p:txBody>
      </p:sp>
      <p:sp>
        <p:nvSpPr>
          <p:cNvPr id="34859" name="TextBox 64"/>
          <p:cNvSpPr txBox="1">
            <a:spLocks noChangeArrowheads="1"/>
          </p:cNvSpPr>
          <p:nvPr/>
        </p:nvSpPr>
        <p:spPr bwMode="auto">
          <a:xfrm>
            <a:off x="7429500" y="3429000"/>
            <a:ext cx="500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J</a:t>
            </a:r>
            <a:endParaRPr lang="en-GB" altLang="en-US"/>
          </a:p>
        </p:txBody>
      </p:sp>
      <p:cxnSp>
        <p:nvCxnSpPr>
          <p:cNvPr id="46" name="Straight Connector 45"/>
          <p:cNvCxnSpPr/>
          <p:nvPr/>
        </p:nvCxnSpPr>
        <p:spPr>
          <a:xfrm rot="5400000">
            <a:off x="4143376" y="3714750"/>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27154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1000919" y="3713957"/>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42144" y="3713957"/>
            <a:ext cx="5000625" cy="1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4864" name="TextBox 53"/>
          <p:cNvSpPr txBox="1">
            <a:spLocks noChangeArrowheads="1"/>
          </p:cNvSpPr>
          <p:nvPr/>
        </p:nvSpPr>
        <p:spPr bwMode="auto">
          <a:xfrm>
            <a:off x="707231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0</a:t>
            </a:r>
            <a:endParaRPr lang="en-GB" altLang="en-US"/>
          </a:p>
        </p:txBody>
      </p:sp>
      <p:sp>
        <p:nvSpPr>
          <p:cNvPr id="34865" name="TextBox 65"/>
          <p:cNvSpPr txBox="1">
            <a:spLocks noChangeArrowheads="1"/>
          </p:cNvSpPr>
          <p:nvPr/>
        </p:nvSpPr>
        <p:spPr bwMode="auto">
          <a:xfrm>
            <a:off x="5500688"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1</a:t>
            </a:r>
            <a:endParaRPr lang="en-GB" altLang="en-US"/>
          </a:p>
        </p:txBody>
      </p:sp>
      <p:sp>
        <p:nvSpPr>
          <p:cNvPr id="34866" name="TextBox 66"/>
          <p:cNvSpPr txBox="1">
            <a:spLocks noChangeArrowheads="1"/>
          </p:cNvSpPr>
          <p:nvPr/>
        </p:nvSpPr>
        <p:spPr bwMode="auto">
          <a:xfrm>
            <a:off x="3929063" y="13573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2</a:t>
            </a:r>
            <a:endParaRPr lang="en-GB" altLang="en-US"/>
          </a:p>
        </p:txBody>
      </p:sp>
      <p:sp>
        <p:nvSpPr>
          <p:cNvPr id="34867" name="TextBox 67"/>
          <p:cNvSpPr txBox="1">
            <a:spLocks noChangeArrowheads="1"/>
          </p:cNvSpPr>
          <p:nvPr/>
        </p:nvSpPr>
        <p:spPr bwMode="auto">
          <a:xfrm>
            <a:off x="2286000" y="1344613"/>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3</a:t>
            </a:r>
            <a:endParaRPr lang="en-GB" altLang="en-US" dirty="0"/>
          </a:p>
        </p:txBody>
      </p:sp>
      <p:sp>
        <p:nvSpPr>
          <p:cNvPr id="34868" name="TextBox 68"/>
          <p:cNvSpPr txBox="1">
            <a:spLocks noChangeArrowheads="1"/>
          </p:cNvSpPr>
          <p:nvPr/>
        </p:nvSpPr>
        <p:spPr bwMode="auto">
          <a:xfrm>
            <a:off x="785813" y="1344613"/>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Stage 4</a:t>
            </a:r>
            <a:endParaRPr lang="en-GB" altLang="en-US"/>
          </a:p>
        </p:txBody>
      </p:sp>
      <mc:AlternateContent xmlns:mc="http://schemas.openxmlformats.org/markup-compatibility/2006" xmlns:a14="http://schemas.microsoft.com/office/drawing/2010/main">
        <mc:Choice Requires="a14">
          <p:sp>
            <p:nvSpPr>
              <p:cNvPr id="58" name="TextBox 57"/>
              <p:cNvSpPr txBox="1">
                <a:spLocks noChangeArrowheads="1"/>
              </p:cNvSpPr>
              <p:nvPr/>
            </p:nvSpPr>
            <p:spPr bwMode="auto">
              <a:xfrm>
                <a:off x="1618756" y="5277357"/>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𝑫</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𝟓𝟗</m:t>
                    </m:r>
                  </m:oMath>
                </a14:m>
                <a:endParaRPr lang="en-GB" altLang="en-US" b="1" i="1" dirty="0">
                  <a:solidFill>
                    <a:srgbClr val="FF0000"/>
                  </a:solidFill>
                  <a:effectLst/>
                </a:endParaRPr>
              </a:p>
            </p:txBody>
          </p:sp>
        </mc:Choice>
        <mc:Fallback xmlns="">
          <p:sp>
            <p:nvSpPr>
              <p:cNvPr id="58" name="TextBox 57"/>
              <p:cNvSpPr txBox="1">
                <a:spLocks noRot="1" noChangeAspect="1" noMove="1" noResize="1" noEditPoints="1" noAdjustHandles="1" noChangeArrowheads="1" noChangeShapeType="1" noTextEdit="1"/>
              </p:cNvSpPr>
              <p:nvPr/>
            </p:nvSpPr>
            <p:spPr bwMode="auto">
              <a:xfrm>
                <a:off x="1618756" y="5277357"/>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59" name="TextBox 58"/>
          <p:cNvSpPr txBox="1">
            <a:spLocks noChangeArrowheads="1"/>
          </p:cNvSpPr>
          <p:nvPr/>
        </p:nvSpPr>
        <p:spPr bwMode="auto">
          <a:xfrm>
            <a:off x="1134273" y="32657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p:sp>
        <p:nvSpPr>
          <p:cNvPr id="60" name="TextBox 59"/>
          <p:cNvSpPr txBox="1">
            <a:spLocks noChangeArrowheads="1"/>
          </p:cNvSpPr>
          <p:nvPr/>
        </p:nvSpPr>
        <p:spPr bwMode="auto">
          <a:xfrm>
            <a:off x="1631870" y="360610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19</a:t>
            </a:r>
            <a:endParaRPr lang="en-GB" altLang="en-US" dirty="0">
              <a:solidFill>
                <a:srgbClr val="0070C0"/>
              </a:solidFill>
            </a:endParaRPr>
          </a:p>
        </p:txBody>
      </p:sp>
      <p:sp>
        <p:nvSpPr>
          <p:cNvPr id="61" name="TextBox 60"/>
          <p:cNvSpPr txBox="1">
            <a:spLocks noChangeArrowheads="1"/>
          </p:cNvSpPr>
          <p:nvPr/>
        </p:nvSpPr>
        <p:spPr bwMode="auto">
          <a:xfrm>
            <a:off x="1221395" y="4387334"/>
            <a:ext cx="880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15</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62" name="TextBox 61"/>
              <p:cNvSpPr txBox="1">
                <a:spLocks noChangeArrowheads="1"/>
              </p:cNvSpPr>
              <p:nvPr/>
            </p:nvSpPr>
            <p:spPr bwMode="auto">
              <a:xfrm>
                <a:off x="-17566" y="4025711"/>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𝟒</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𝑨</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𝟕𝟒</m:t>
                    </m:r>
                  </m:oMath>
                </a14:m>
                <a:endParaRPr lang="en-GB" altLang="en-US" b="1" i="1" dirty="0">
                  <a:solidFill>
                    <a:srgbClr val="FF0000"/>
                  </a:solidFill>
                  <a:effectLst>
                    <a:outerShdw blurRad="38100" dist="38100" dir="2700000" algn="tl">
                      <a:srgbClr val="000000">
                        <a:alpha val="43137"/>
                      </a:srgbClr>
                    </a:outerShdw>
                  </a:effectLst>
                </a:endParaRPr>
              </a:p>
            </p:txBody>
          </p:sp>
        </mc:Choice>
        <mc:Fallback xmlns="">
          <p:sp>
            <p:nvSpPr>
              <p:cNvPr id="62" name="TextBox 61"/>
              <p:cNvSpPr txBox="1">
                <a:spLocks noRot="1" noChangeAspect="1" noMove="1" noResize="1" noEditPoints="1" noAdjustHandles="1" noChangeArrowheads="1" noChangeShapeType="1" noTextEdit="1"/>
              </p:cNvSpPr>
              <p:nvPr/>
            </p:nvSpPr>
            <p:spPr bwMode="auto">
              <a:xfrm>
                <a:off x="-17566" y="4025711"/>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3" name="TextBox 62"/>
              <p:cNvSpPr txBox="1">
                <a:spLocks noChangeArrowheads="1"/>
              </p:cNvSpPr>
              <p:nvPr/>
            </p:nvSpPr>
            <p:spPr bwMode="auto">
              <a:xfrm>
                <a:off x="3393792" y="533317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𝑮</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𝟑𝟖</m:t>
                    </m:r>
                  </m:oMath>
                </a14:m>
                <a:endParaRPr lang="en-GB" altLang="en-US" b="1" i="1" dirty="0">
                  <a:solidFill>
                    <a:srgbClr val="FF0000"/>
                  </a:solidFill>
                  <a:effectLst/>
                </a:endParaRPr>
              </a:p>
            </p:txBody>
          </p:sp>
        </mc:Choice>
        <mc:Fallback xmlns="">
          <p:sp>
            <p:nvSpPr>
              <p:cNvPr id="63" name="TextBox 62"/>
              <p:cNvSpPr txBox="1">
                <a:spLocks noRot="1" noChangeAspect="1" noMove="1" noResize="1" noEditPoints="1" noAdjustHandles="1" noChangeArrowheads="1" noChangeShapeType="1" noTextEdit="1"/>
              </p:cNvSpPr>
              <p:nvPr/>
            </p:nvSpPr>
            <p:spPr bwMode="auto">
              <a:xfrm>
                <a:off x="3393792" y="5333170"/>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4" name="TextBox 63"/>
              <p:cNvSpPr txBox="1">
                <a:spLocks noChangeArrowheads="1"/>
              </p:cNvSpPr>
              <p:nvPr/>
            </p:nvSpPr>
            <p:spPr bwMode="auto">
              <a:xfrm>
                <a:off x="3412335" y="3144838"/>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𝑭</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𝟒𝟎</m:t>
                    </m:r>
                  </m:oMath>
                </a14:m>
                <a:endParaRPr lang="en-GB" altLang="en-US" b="1" i="1" dirty="0">
                  <a:solidFill>
                    <a:srgbClr val="FF0000"/>
                  </a:solidFill>
                  <a:effectLst/>
                </a:endParaRPr>
              </a:p>
            </p:txBody>
          </p:sp>
        </mc:Choice>
        <mc:Fallback xmlns="">
          <p:sp>
            <p:nvSpPr>
              <p:cNvPr id="64" name="TextBox 63"/>
              <p:cNvSpPr txBox="1">
                <a:spLocks noRot="1" noChangeAspect="1" noMove="1" noResize="1" noEditPoints="1" noAdjustHandles="1" noChangeArrowheads="1" noChangeShapeType="1" noTextEdit="1"/>
              </p:cNvSpPr>
              <p:nvPr/>
            </p:nvSpPr>
            <p:spPr bwMode="auto">
              <a:xfrm>
                <a:off x="3412335" y="3144838"/>
                <a:ext cx="1775036"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65" name="TextBox 64"/>
          <p:cNvSpPr txBox="1">
            <a:spLocks noChangeArrowheads="1"/>
          </p:cNvSpPr>
          <p:nvPr/>
        </p:nvSpPr>
        <p:spPr bwMode="auto">
          <a:xfrm>
            <a:off x="2802441" y="44868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19</a:t>
            </a:r>
            <a:endParaRPr lang="en-GB" altLang="en-US" dirty="0">
              <a:solidFill>
                <a:srgbClr val="0070C0"/>
              </a:solidFill>
            </a:endParaRPr>
          </a:p>
        </p:txBody>
      </p:sp>
      <p:sp>
        <p:nvSpPr>
          <p:cNvPr id="66" name="TextBox 65"/>
          <p:cNvSpPr txBox="1">
            <a:spLocks noChangeArrowheads="1"/>
          </p:cNvSpPr>
          <p:nvPr/>
        </p:nvSpPr>
        <p:spPr bwMode="auto">
          <a:xfrm>
            <a:off x="2815871" y="501041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22</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67" name="TextBox 66"/>
              <p:cNvSpPr txBox="1">
                <a:spLocks noChangeArrowheads="1"/>
              </p:cNvSpPr>
              <p:nvPr/>
            </p:nvSpPr>
            <p:spPr bwMode="auto">
              <a:xfrm>
                <a:off x="5062433" y="225299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𝑯</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𝟐𝟑</m:t>
                    </m:r>
                  </m:oMath>
                </a14:m>
                <a:endParaRPr lang="en-GB" altLang="en-US" b="1" i="1" dirty="0">
                  <a:solidFill>
                    <a:srgbClr val="FF0000"/>
                  </a:solidFill>
                  <a:effectLst/>
                </a:endParaRPr>
              </a:p>
            </p:txBody>
          </p:sp>
        </mc:Choice>
        <mc:Fallback xmlns="">
          <p:sp>
            <p:nvSpPr>
              <p:cNvPr id="67" name="TextBox 66"/>
              <p:cNvSpPr txBox="1">
                <a:spLocks noRot="1" noChangeAspect="1" noMove="1" noResize="1" noEditPoints="1" noAdjustHandles="1" noChangeArrowheads="1" noChangeShapeType="1" noTextEdit="1"/>
              </p:cNvSpPr>
              <p:nvPr/>
            </p:nvSpPr>
            <p:spPr bwMode="auto">
              <a:xfrm>
                <a:off x="5062433" y="2252990"/>
                <a:ext cx="1775036" cy="523220"/>
              </a:xfrm>
              <a:prstGeom prst="rect">
                <a:avLst/>
              </a:prstGeom>
              <a:blipFill rotWithShape="0">
                <a:blip r:embed="rId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8" name="TextBox 67"/>
              <p:cNvSpPr txBox="1">
                <a:spLocks noChangeArrowheads="1"/>
              </p:cNvSpPr>
              <p:nvPr/>
            </p:nvSpPr>
            <p:spPr bwMode="auto">
              <a:xfrm>
                <a:off x="5010943" y="4764160"/>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𝑰</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𝟐𝟗</m:t>
                    </m:r>
                  </m:oMath>
                </a14:m>
                <a:endParaRPr lang="en-GB" altLang="en-US" b="1" i="1" dirty="0">
                  <a:solidFill>
                    <a:srgbClr val="FF0000"/>
                  </a:solidFill>
                  <a:effectLst/>
                </a:endParaRPr>
              </a:p>
            </p:txBody>
          </p:sp>
        </mc:Choice>
        <mc:Fallback xmlns="">
          <p:sp>
            <p:nvSpPr>
              <p:cNvPr id="68" name="TextBox 67"/>
              <p:cNvSpPr txBox="1">
                <a:spLocks noRot="1" noChangeAspect="1" noMove="1" noResize="1" noEditPoints="1" noAdjustHandles="1" noChangeArrowheads="1" noChangeShapeType="1" noTextEdit="1"/>
              </p:cNvSpPr>
              <p:nvPr/>
            </p:nvSpPr>
            <p:spPr bwMode="auto">
              <a:xfrm>
                <a:off x="5010943" y="4764160"/>
                <a:ext cx="1775036" cy="523220"/>
              </a:xfrm>
              <a:prstGeom prst="rect">
                <a:avLst/>
              </a:prstGeom>
              <a:blipFill rotWithShape="0">
                <a:blip r:embed="rId7"/>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69" name="TextBox 68"/>
          <p:cNvSpPr txBox="1">
            <a:spLocks noChangeArrowheads="1"/>
          </p:cNvSpPr>
          <p:nvPr/>
        </p:nvSpPr>
        <p:spPr bwMode="auto">
          <a:xfrm>
            <a:off x="4357687" y="3458131"/>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18</a:t>
            </a:r>
            <a:endParaRPr lang="en-GB" altLang="en-US" dirty="0">
              <a:solidFill>
                <a:srgbClr val="0070C0"/>
              </a:solidFill>
            </a:endParaRPr>
          </a:p>
        </p:txBody>
      </p:sp>
      <p:sp>
        <p:nvSpPr>
          <p:cNvPr id="70" name="TextBox 69"/>
          <p:cNvSpPr txBox="1">
            <a:spLocks noChangeArrowheads="1"/>
          </p:cNvSpPr>
          <p:nvPr/>
        </p:nvSpPr>
        <p:spPr bwMode="auto">
          <a:xfrm>
            <a:off x="4363125" y="3986014"/>
            <a:ext cx="7997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11</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71" name="TextBox 70"/>
              <p:cNvSpPr txBox="1">
                <a:spLocks noChangeArrowheads="1"/>
              </p:cNvSpPr>
              <p:nvPr/>
            </p:nvSpPr>
            <p:spPr bwMode="auto">
              <a:xfrm>
                <a:off x="7254876" y="4214813"/>
                <a:ext cx="1528039"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𝑱</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71" name="TextBox 70"/>
              <p:cNvSpPr txBox="1">
                <a:spLocks noRot="1" noChangeAspect="1" noMove="1" noResize="1" noEditPoints="1" noAdjustHandles="1" noChangeArrowheads="1" noChangeShapeType="1" noTextEdit="1"/>
              </p:cNvSpPr>
              <p:nvPr/>
            </p:nvSpPr>
            <p:spPr bwMode="auto">
              <a:xfrm>
                <a:off x="7254876" y="4214813"/>
                <a:ext cx="1528039" cy="369332"/>
              </a:xfrm>
              <a:prstGeom prst="rect">
                <a:avLst/>
              </a:prstGeom>
              <a:blipFill rotWithShape="0">
                <a:blip r:embed="rId8"/>
                <a:stretch>
                  <a:fillRect b="-11475"/>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73" name="TextBox 72"/>
          <p:cNvSpPr txBox="1">
            <a:spLocks noChangeArrowheads="1"/>
          </p:cNvSpPr>
          <p:nvPr/>
        </p:nvSpPr>
        <p:spPr bwMode="auto">
          <a:xfrm>
            <a:off x="6411597" y="4106126"/>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29</a:t>
            </a:r>
            <a:endParaRPr lang="en-GB" altLang="en-US" dirty="0">
              <a:solidFill>
                <a:srgbClr val="0070C0"/>
              </a:solidFill>
            </a:endParaRPr>
          </a:p>
        </p:txBody>
      </p:sp>
    </p:spTree>
    <p:extLst>
      <p:ext uri="{BB962C8B-B14F-4D97-AF65-F5344CB8AC3E}">
        <p14:creationId xmlns:p14="http://schemas.microsoft.com/office/powerpoint/2010/main" val="116128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Shortest Path Problem: Summary</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0" y="1281643"/>
                <a:ext cx="9143999" cy="2273450"/>
              </a:xfrm>
            </p:spPr>
            <p:txBody>
              <a:bodyPr/>
              <a:lstStyle/>
              <a:p>
                <a14:m>
                  <m:oMath xmlns:m="http://schemas.openxmlformats.org/officeDocument/2006/math">
                    <m:r>
                      <a:rPr lang="en-US" altLang="zh-CN" i="1" dirty="0" smtClean="0">
                        <a:effectLst/>
                        <a:latin typeface="Cambria Math" panose="02040503050406030204" pitchFamily="18" charset="0"/>
                        <a:ea typeface="宋体" pitchFamily="2" charset="-122"/>
                      </a:rPr>
                      <m:t>𝑽</m:t>
                    </m:r>
                    <m:d>
                      <m:dPr>
                        <m:ctrlPr>
                          <a:rPr lang="en-US" altLang="zh-CN" i="1" dirty="0">
                            <a:effectLst/>
                            <a:latin typeface="Cambria Math" panose="02040503050406030204" pitchFamily="18" charset="0"/>
                            <a:ea typeface="宋体" pitchFamily="2" charset="-122"/>
                          </a:rPr>
                        </m:ctrlPr>
                      </m:dPr>
                      <m:e>
                        <m:r>
                          <a:rPr lang="en-US" altLang="zh-CN" i="1" dirty="0">
                            <a:effectLst/>
                            <a:latin typeface="Cambria Math" panose="02040503050406030204" pitchFamily="18" charset="0"/>
                            <a:ea typeface="宋体" pitchFamily="2" charset="-122"/>
                          </a:rPr>
                          <m:t>𝒌</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𝒊</m:t>
                        </m:r>
                      </m:e>
                    </m:d>
                  </m:oMath>
                </a14:m>
                <a:r>
                  <a:rPr lang="en-US" altLang="en-US" dirty="0">
                    <a:effectLst/>
                  </a:rPr>
                  <a:t> can be interpreted as the shortest distance to J when there are k stages remaining and we are at node </a:t>
                </a:r>
                <a:r>
                  <a:rPr lang="en-US" altLang="en-US" dirty="0" err="1">
                    <a:effectLst/>
                  </a:rPr>
                  <a:t>i</a:t>
                </a:r>
                <a:r>
                  <a:rPr lang="en-US" altLang="en-US" dirty="0">
                    <a:effectLst/>
                  </a:rPr>
                  <a:t>. We want to know </a:t>
                </a:r>
                <a14:m>
                  <m:oMath xmlns:m="http://schemas.openxmlformats.org/officeDocument/2006/math">
                    <m:r>
                      <a:rPr lang="en-US" altLang="zh-CN" i="1" dirty="0">
                        <a:effectLst/>
                        <a:latin typeface="Cambria Math" panose="02040503050406030204" pitchFamily="18" charset="0"/>
                        <a:ea typeface="宋体" pitchFamily="2" charset="-122"/>
                      </a:rPr>
                      <m:t>𝑽</m:t>
                    </m:r>
                    <m:d>
                      <m:dPr>
                        <m:ctrlPr>
                          <a:rPr lang="en-US" altLang="zh-CN" b="1" i="1" dirty="0" smtClean="0">
                            <a:effectLst/>
                            <a:latin typeface="Cambria Math" panose="02040503050406030204" pitchFamily="18" charset="0"/>
                            <a:ea typeface="宋体" pitchFamily="2" charset="-122"/>
                          </a:rPr>
                        </m:ctrlPr>
                      </m:dPr>
                      <m:e>
                        <m:r>
                          <a:rPr lang="en-US" altLang="zh-CN" b="1" i="1" dirty="0" smtClean="0">
                            <a:effectLst/>
                            <a:latin typeface="Cambria Math" panose="02040503050406030204" pitchFamily="18" charset="0"/>
                            <a:ea typeface="宋体" pitchFamily="2" charset="-122"/>
                          </a:rPr>
                          <m:t>𝟒</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𝑨</m:t>
                        </m:r>
                      </m:e>
                    </m:d>
                  </m:oMath>
                </a14:m>
                <a:r>
                  <a:rPr lang="en-US" altLang="en-US" dirty="0">
                    <a:effectLst/>
                  </a:rPr>
                  <a:t>.</a:t>
                </a:r>
              </a:p>
              <a:p>
                <a:pPr marL="0" indent="0">
                  <a:buNone/>
                </a:pPr>
                <a:endParaRPr lang="en-US" altLang="en-US" dirty="0">
                  <a:effectLst/>
                </a:endParaRPr>
              </a:p>
              <a:p>
                <a:r>
                  <a:rPr lang="en-US" altLang="en-US" dirty="0">
                    <a:solidFill>
                      <a:srgbClr val="FF0000"/>
                    </a:solidFill>
                    <a:effectLst/>
                  </a:rPr>
                  <a:t>Bellman Equation </a:t>
                </a:r>
                <a:r>
                  <a:rPr lang="en-US" altLang="en-US" dirty="0">
                    <a:effectLst/>
                  </a:rPr>
                  <a:t>gives a recursive relationship between value functions and we can use </a:t>
                </a:r>
                <a:r>
                  <a:rPr lang="en-US" altLang="en-US" dirty="0">
                    <a:solidFill>
                      <a:srgbClr val="FF0000"/>
                    </a:solidFill>
                    <a:effectLst/>
                  </a:rPr>
                  <a:t>backward induction</a:t>
                </a:r>
                <a:r>
                  <a:rPr lang="en-US" altLang="en-US" dirty="0">
                    <a:effectLst/>
                  </a:rPr>
                  <a:t> to solve the equations:</a:t>
                </a:r>
              </a:p>
              <a:p>
                <a:pPr marL="0" indent="0">
                  <a:buNone/>
                </a:pPr>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0" y="1281643"/>
                <a:ext cx="9143999" cy="2273450"/>
              </a:xfrm>
              <a:blipFill rotWithShape="0">
                <a:blip r:embed="rId2"/>
                <a:stretch>
                  <a:fillRect l="-1267" t="-2681" b="-5576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p:cNvSpPr txBox="1">
                <a:spLocks noChangeArrowheads="1"/>
              </p:cNvSpPr>
              <p:nvPr/>
            </p:nvSpPr>
            <p:spPr bwMode="auto">
              <a:xfrm>
                <a:off x="136913" y="4944295"/>
                <a:ext cx="8650224" cy="704808"/>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𝒌</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𝒊</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func>
                      <m:func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uncPr>
                      <m:fName>
                        <m:limLow>
                          <m:limLowPr>
                            <m:ctrlPr>
                              <a:rPr lang="en-US" altLang="en-US" sz="2800" b="0" i="0" smtClean="0">
                                <a:solidFill>
                                  <a:srgbClr val="FF0000"/>
                                </a:solidFill>
                                <a:effectLst/>
                                <a:latin typeface="Cambria Math" panose="02040503050406030204" pitchFamily="18" charset="0"/>
                                <a:ea typeface="Cambria Math" panose="02040503050406030204" pitchFamily="18" charset="0"/>
                              </a:rPr>
                            </m:ctrlPr>
                          </m:limLowPr>
                          <m:e>
                            <m:r>
                              <m:rPr>
                                <m:sty m:val="p"/>
                              </m:rPr>
                              <a:rPr lang="en-US" altLang="en-US" sz="2800" b="0" i="0" smtClean="0">
                                <a:solidFill>
                                  <a:srgbClr val="FF0000"/>
                                </a:solidFill>
                                <a:effectLst/>
                                <a:latin typeface="Cambria Math" panose="02040503050406030204" pitchFamily="18" charset="0"/>
                                <a:ea typeface="Cambria Math" panose="02040503050406030204" pitchFamily="18" charset="0"/>
                              </a:rPr>
                              <m:t>min</m:t>
                            </m:r>
                          </m:e>
                          <m:lim>
                            <m:r>
                              <a:rPr lang="en-US" altLang="en-US" sz="2800" b="0" i="1" smtClean="0">
                                <a:solidFill>
                                  <a:srgbClr val="FF0000"/>
                                </a:solidFill>
                                <a:effectLst/>
                                <a:latin typeface="Cambria Math" panose="02040503050406030204" pitchFamily="18" charset="0"/>
                                <a:ea typeface="Cambria Math" panose="02040503050406030204" pitchFamily="18" charset="0"/>
                              </a:rPr>
                              <m:t>𝑗</m:t>
                            </m:r>
                            <m:r>
                              <a:rPr lang="en-US" altLang="en-US" sz="2800" b="0" i="1" smtClean="0">
                                <a:solidFill>
                                  <a:srgbClr val="FF0000"/>
                                </a:solidFill>
                                <a:effectLst/>
                                <a:latin typeface="Cambria Math" panose="02040503050406030204" pitchFamily="18" charset="0"/>
                                <a:ea typeface="Cambria Math" panose="02040503050406030204" pitchFamily="18" charset="0"/>
                              </a:rPr>
                              <m:t>, (</m:t>
                            </m:r>
                            <m:r>
                              <a:rPr lang="en-US" altLang="en-US" sz="2800" b="0" i="1" smtClean="0">
                                <a:solidFill>
                                  <a:srgbClr val="FF0000"/>
                                </a:solidFill>
                                <a:effectLst/>
                                <a:latin typeface="Cambria Math" panose="02040503050406030204" pitchFamily="18" charset="0"/>
                                <a:ea typeface="Cambria Math" panose="02040503050406030204" pitchFamily="18" charset="0"/>
                              </a:rPr>
                              <m:t>𝑖</m:t>
                            </m:r>
                            <m:r>
                              <a:rPr lang="en-US" altLang="en-US" sz="2800" b="0" i="1" smtClean="0">
                                <a:solidFill>
                                  <a:srgbClr val="FF0000"/>
                                </a:solidFill>
                                <a:effectLst/>
                                <a:latin typeface="Cambria Math" panose="02040503050406030204" pitchFamily="18" charset="0"/>
                                <a:ea typeface="Cambria Math" panose="02040503050406030204" pitchFamily="18" charset="0"/>
                              </a:rPr>
                              <m:t>,</m:t>
                            </m:r>
                            <m:r>
                              <a:rPr lang="en-US" altLang="en-US" sz="2800" b="0" i="1" smtClean="0">
                                <a:solidFill>
                                  <a:srgbClr val="FF0000"/>
                                </a:solidFill>
                                <a:effectLst/>
                                <a:latin typeface="Cambria Math" panose="02040503050406030204" pitchFamily="18" charset="0"/>
                                <a:ea typeface="Cambria Math" panose="02040503050406030204" pitchFamily="18" charset="0"/>
                              </a:rPr>
                              <m:t>𝑗</m:t>
                            </m:r>
                            <m:r>
                              <a:rPr lang="en-US" altLang="en-US" sz="2800" b="0" i="1" smtClean="0">
                                <a:solidFill>
                                  <a:srgbClr val="FF0000"/>
                                </a:solidFill>
                                <a:effectLst/>
                                <a:latin typeface="Cambria Math" panose="02040503050406030204" pitchFamily="18" charset="0"/>
                                <a:ea typeface="Cambria Math" panose="02040503050406030204" pitchFamily="18" charset="0"/>
                              </a:rPr>
                              <m:t>)∈</m:t>
                            </m:r>
                            <m:r>
                              <a:rPr lang="en-US" altLang="en-US" sz="2800" b="1" i="0" smtClean="0">
                                <a:solidFill>
                                  <a:srgbClr val="FF0000"/>
                                </a:solidFill>
                                <a:effectLst/>
                                <a:latin typeface="Cambria Math" panose="02040503050406030204" pitchFamily="18" charset="0"/>
                                <a:ea typeface="Cambria Math" panose="02040503050406030204" pitchFamily="18" charset="0"/>
                              </a:rPr>
                              <m:t>𝐀</m:t>
                            </m:r>
                          </m:lim>
                        </m:limLow>
                      </m:fName>
                      <m:e>
                        <m:d>
                          <m:dPr>
                            <m:begChr m:val="{"/>
                            <m:endChr m:val="}"/>
                            <m:ctrlPr>
                              <a:rPr lang="en-US" altLang="en-US" sz="2800" b="1" i="1">
                                <a:solidFill>
                                  <a:srgbClr val="FF0000"/>
                                </a:solidFill>
                                <a:effectLst/>
                                <a:latin typeface="Cambria Math" panose="02040503050406030204" pitchFamily="18" charset="0"/>
                                <a:ea typeface="Cambria Math" panose="02040503050406030204" pitchFamily="18" charset="0"/>
                              </a:rPr>
                            </m:ctrlPr>
                          </m:dPr>
                          <m:e>
                            <m:r>
                              <a:rPr lang="en-US" altLang="en-US" sz="2800" b="1" i="1">
                                <a:solidFill>
                                  <a:srgbClr val="FF0000"/>
                                </a:solidFill>
                                <a:effectLst/>
                                <a:latin typeface="Cambria Math" panose="02040503050406030204" pitchFamily="18" charset="0"/>
                                <a:ea typeface="Cambria Math" panose="02040503050406030204" pitchFamily="18" charset="0"/>
                              </a:rPr>
                              <m:t>𝒄</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r>
                                  <a:rPr lang="en-US" altLang="en-US" sz="2800" b="1" i="1">
                                    <a:solidFill>
                                      <a:srgbClr val="FF0000"/>
                                    </a:solidFill>
                                    <a:effectLst/>
                                    <a:latin typeface="Cambria Math" panose="02040503050406030204" pitchFamily="18" charset="0"/>
                                    <a:ea typeface="Cambria Math" panose="02040503050406030204" pitchFamily="18" charset="0"/>
                                  </a:rPr>
                                  <m:t>𝒊</m:t>
                                </m:r>
                                <m:r>
                                  <a:rPr lang="en-US" altLang="en-US" sz="2800" b="1" i="1">
                                    <a:solidFill>
                                      <a:srgbClr val="FF0000"/>
                                    </a:solidFill>
                                    <a:effectLst/>
                                    <a:latin typeface="Cambria Math" panose="02040503050406030204" pitchFamily="18" charset="0"/>
                                    <a:ea typeface="Cambria Math" panose="02040503050406030204" pitchFamily="18" charset="0"/>
                                  </a:rPr>
                                  <m:t>,</m:t>
                                </m:r>
                                <m:r>
                                  <a:rPr lang="en-US" altLang="en-US" sz="2800" b="1" i="1">
                                    <a:solidFill>
                                      <a:srgbClr val="FF0000"/>
                                    </a:solidFill>
                                    <a:effectLst/>
                                    <a:latin typeface="Cambria Math" panose="02040503050406030204" pitchFamily="18" charset="0"/>
                                    <a:ea typeface="Cambria Math" panose="02040503050406030204" pitchFamily="18" charset="0"/>
                                  </a:rPr>
                                  <m:t>𝒋</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𝒌</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𝒋</m:t>
                                </m:r>
                              </m:e>
                            </m:d>
                          </m:e>
                        </m:d>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𝑱</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e>
                    </m:func>
                  </m:oMath>
                </a14:m>
                <a:endParaRPr lang="en-GB" altLang="en-US" sz="2800" b="1" i="1" dirty="0">
                  <a:solidFill>
                    <a:srgbClr val="FF0000"/>
                  </a:solidFill>
                  <a:effectLst>
                    <a:outerShdw blurRad="38100" dist="38100" dir="2700000" algn="tl">
                      <a:srgbClr val="000000">
                        <a:alpha val="43137"/>
                      </a:srgbClr>
                    </a:outerShdw>
                  </a:effectLst>
                </a:endParaRPr>
              </a:p>
            </p:txBody>
          </p:sp>
        </mc:Choice>
        <mc:Fallback xmlns="">
          <p:sp>
            <p:nvSpPr>
              <p:cNvPr id="4" name="TextBox 3"/>
              <p:cNvSpPr txBox="1">
                <a:spLocks noRot="1" noChangeAspect="1" noMove="1" noResize="1" noEditPoints="1" noAdjustHandles="1" noChangeArrowheads="1" noChangeShapeType="1" noTextEdit="1"/>
              </p:cNvSpPr>
              <p:nvPr/>
            </p:nvSpPr>
            <p:spPr bwMode="auto">
              <a:xfrm>
                <a:off x="136913" y="4944295"/>
                <a:ext cx="8650224" cy="704808"/>
              </a:xfrm>
              <a:prstGeom prst="rect">
                <a:avLst/>
              </a:prstGeom>
              <a:blipFill rotWithShape="0">
                <a:blip r:embed="rId3"/>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3917521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A General Deterministic DP</a:t>
            </a:r>
            <a:endParaRPr lang="en-GB" altLang="en-US"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7462" y="1287897"/>
                <a:ext cx="8741527" cy="5030607"/>
              </a:xfrm>
            </p:spPr>
            <p:txBody>
              <a:bodyPr/>
              <a:lstStyle/>
              <a:p>
                <a:r>
                  <a:rPr lang="en-US" altLang="en-US" dirty="0">
                    <a:effectLst/>
                  </a:rPr>
                  <a:t>Stages (period): T,…,1 (or T,…, 0)</a:t>
                </a:r>
              </a:p>
              <a:p>
                <a:r>
                  <a:rPr lang="en-US" altLang="en-US" dirty="0">
                    <a:effectLst/>
                  </a:rPr>
                  <a:t>State: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oMath>
                </a14:m>
                <a:r>
                  <a:rPr lang="en-US" altLang="en-US" dirty="0">
                    <a:effectLst/>
                  </a:rPr>
                  <a:t>, action (control):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i="1">
                            <a:solidFill>
                              <a:srgbClr val="FF0000"/>
                            </a:solidFill>
                            <a:effectLst/>
                            <a:latin typeface="Cambria Math" panose="02040503050406030204" pitchFamily="18" charset="0"/>
                            <a:ea typeface="Cambria Math" panose="02040503050406030204" pitchFamily="18" charset="0"/>
                          </a:rPr>
                          <m:t>𝒕</m:t>
                        </m:r>
                      </m:sub>
                    </m:sSub>
                  </m:oMath>
                </a14:m>
                <a:endParaRPr lang="en-US" altLang="en-US" dirty="0">
                  <a:effectLst/>
                </a:endParaRPr>
              </a:p>
              <a:p>
                <a:r>
                  <a:rPr lang="en-US" altLang="en-US" dirty="0">
                    <a:effectLst/>
                  </a:rPr>
                  <a:t>Cost per period: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𝒄</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i="1">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 </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oMath>
                </a14:m>
                <a:endParaRPr lang="en-US" altLang="en-US" dirty="0">
                  <a:effectLst/>
                </a:endParaRPr>
              </a:p>
              <a:p>
                <a:r>
                  <a:rPr lang="en-US" altLang="en-US" dirty="0">
                    <a:effectLst/>
                  </a:rPr>
                  <a:t>State transition: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i="1">
                            <a:solidFill>
                              <a:srgbClr val="FF0000"/>
                            </a:solidFill>
                            <a:effectLst/>
                            <a:latin typeface="Cambria Math" panose="02040503050406030204" pitchFamily="18" charset="0"/>
                            <a:ea typeface="Cambria Math" panose="02040503050406030204" pitchFamily="18" charset="0"/>
                          </a:rPr>
                          <m:t>𝒕</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𝒇</m:t>
                    </m:r>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oMath>
                </a14:m>
                <a:endParaRPr lang="en-US" altLang="en-US" dirty="0">
                  <a:effectLst/>
                </a:endParaRPr>
              </a:p>
              <a:p>
                <a:r>
                  <a:rPr lang="en-US" altLang="en-US" dirty="0">
                    <a:effectLst/>
                  </a:rPr>
                  <a:t>Original problem:</a:t>
                </a:r>
              </a:p>
              <a:p>
                <a:endParaRPr lang="en-US" altLang="en-US" dirty="0">
                  <a:effectLst/>
                </a:endParaRPr>
              </a:p>
              <a:p>
                <a:pPr marL="0" indent="0">
                  <a:buNone/>
                </a:pPr>
                <a:endParaRPr lang="en-US" altLang="en-US" dirty="0">
                  <a:effectLst/>
                </a:endParaRPr>
              </a:p>
              <a:p>
                <a:r>
                  <a:rPr lang="en-US" altLang="en-US" dirty="0">
                    <a:effectLst/>
                  </a:rPr>
                  <a:t>Bellman Equation:</a:t>
                </a:r>
              </a:p>
              <a:p>
                <a:endParaRPr lang="en-US" altLang="en-US" dirty="0"/>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7462" y="1287897"/>
                <a:ext cx="8741527" cy="5030607"/>
              </a:xfrm>
              <a:blipFill rotWithShape="0">
                <a:blip r:embed="rId2"/>
                <a:stretch>
                  <a:fillRect l="-1325" t="-121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671851" y="3990193"/>
                <a:ext cx="7817758" cy="706604"/>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func>
                      <m:func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uncPr>
                      <m:fName>
                        <m:limLow>
                          <m:limLowPr>
                            <m:ctrlPr>
                              <a:rPr lang="en-US" altLang="en-US" sz="2800">
                                <a:solidFill>
                                  <a:srgbClr val="FF0000"/>
                                </a:solidFill>
                                <a:effectLst/>
                                <a:latin typeface="Cambria Math" panose="02040503050406030204" pitchFamily="18" charset="0"/>
                                <a:ea typeface="Cambria Math" panose="02040503050406030204" pitchFamily="18" charset="0"/>
                              </a:rPr>
                            </m:ctrlPr>
                          </m:limLowPr>
                          <m:e>
                            <m:r>
                              <m:rPr>
                                <m:sty m:val="p"/>
                              </m:rPr>
                              <a:rPr lang="en-US" altLang="en-US" sz="2800">
                                <a:solidFill>
                                  <a:srgbClr val="FF0000"/>
                                </a:solidFill>
                                <a:effectLst/>
                                <a:latin typeface="Cambria Math" panose="02040503050406030204" pitchFamily="18" charset="0"/>
                                <a:ea typeface="Cambria Math" panose="02040503050406030204" pitchFamily="18" charset="0"/>
                              </a:rPr>
                              <m:t>min</m:t>
                            </m:r>
                          </m:e>
                          <m:lim>
                            <m:sSub>
                              <m:sSubPr>
                                <m:ctrlPr>
                                  <a:rPr lang="en-US" altLang="en-US" sz="28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0" i="1" smtClean="0">
                                    <a:solidFill>
                                      <a:srgbClr val="FF0000"/>
                                    </a:solidFill>
                                    <a:effectLst/>
                                    <a:latin typeface="Cambria Math" panose="02040503050406030204" pitchFamily="18" charset="0"/>
                                    <a:ea typeface="Cambria Math" panose="02040503050406030204" pitchFamily="18" charset="0"/>
                                  </a:rPr>
                                  <m:t>𝑥</m:t>
                                </m:r>
                              </m:e>
                              <m:sub>
                                <m:r>
                                  <a:rPr lang="en-US" altLang="en-US" sz="2800" b="0" i="1" smtClean="0">
                                    <a:solidFill>
                                      <a:srgbClr val="FF0000"/>
                                    </a:solidFill>
                                    <a:effectLst/>
                                    <a:latin typeface="Cambria Math" panose="02040503050406030204" pitchFamily="18" charset="0"/>
                                    <a:ea typeface="Cambria Math" panose="02040503050406030204" pitchFamily="18" charset="0"/>
                                  </a:rPr>
                                  <m:t>𝑡</m:t>
                                </m:r>
                              </m:sub>
                            </m:sSub>
                          </m:lim>
                        </m:limLow>
                        <m:r>
                          <a:rPr lang="en-US" altLang="en-US" sz="2800" b="1" i="1" smtClean="0">
                            <a:solidFill>
                              <a:srgbClr val="FF0000"/>
                            </a:solidFill>
                            <a:effectLst/>
                            <a:latin typeface="Cambria Math" panose="02040503050406030204" pitchFamily="18" charset="0"/>
                            <a:ea typeface="Cambria Math" panose="02040503050406030204" pitchFamily="18" charset="0"/>
                          </a:rPr>
                          <m:t>{</m:t>
                        </m:r>
                      </m:fName>
                      <m:e>
                        <m:r>
                          <a:rPr lang="en-US" altLang="en-US" sz="2800" b="1" i="1">
                            <a:solidFill>
                              <a:srgbClr val="FF0000"/>
                            </a:solidFill>
                            <a:effectLst/>
                            <a:latin typeface="Cambria Math" panose="02040503050406030204" pitchFamily="18" charset="0"/>
                            <a:ea typeface="Cambria Math" panose="02040503050406030204" pitchFamily="18" charset="0"/>
                          </a:rPr>
                          <m:t>𝒄</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𝑻</m:t>
                                </m:r>
                              </m:sub>
                            </m:sSub>
                            <m:r>
                              <a:rPr lang="en-US" altLang="en-US" sz="2800" b="1" i="1">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𝑻</m:t>
                                </m:r>
                              </m:sub>
                            </m:sSub>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a:solidFill>
                              <a:srgbClr val="FF0000"/>
                            </a:solidFill>
                            <a:effectLst/>
                            <a:latin typeface="Cambria Math" panose="02040503050406030204" pitchFamily="18" charset="0"/>
                            <a:ea typeface="Cambria Math" panose="02040503050406030204" pitchFamily="18" charset="0"/>
                          </a:rPr>
                          <m:t>𝒄</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𝒔</m:t>
                                </m:r>
                              </m:e>
                              <m:sub>
                                <m:r>
                                  <a:rPr lang="en-US" altLang="en-US" sz="2800" b="1" i="1">
                                    <a:solidFill>
                                      <a:srgbClr val="FF0000"/>
                                    </a:solidFill>
                                    <a:effectLst/>
                                    <a:latin typeface="Cambria Math" panose="02040503050406030204" pitchFamily="18" charset="0"/>
                                    <a:ea typeface="Cambria Math" panose="02040503050406030204" pitchFamily="18" charset="0"/>
                                  </a:rPr>
                                  <m:t>𝑻</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b="1" i="1">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𝒙</m:t>
                                </m:r>
                              </m:e>
                              <m:sub>
                                <m:r>
                                  <a:rPr lang="en-US" altLang="en-US" sz="2800" b="1" i="1">
                                    <a:solidFill>
                                      <a:srgbClr val="FF0000"/>
                                    </a:solidFill>
                                    <a:effectLst/>
                                    <a:latin typeface="Cambria Math" panose="02040503050406030204" pitchFamily="18" charset="0"/>
                                    <a:ea typeface="Cambria Math" panose="02040503050406030204" pitchFamily="18" charset="0"/>
                                  </a:rPr>
                                  <m:t>𝑻</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a:solidFill>
                              <a:srgbClr val="FF0000"/>
                            </a:solidFill>
                            <a:effectLst/>
                            <a:latin typeface="Cambria Math" panose="02040503050406030204" pitchFamily="18" charset="0"/>
                            <a:ea typeface="Cambria Math" panose="02040503050406030204" pitchFamily="18" charset="0"/>
                          </a:rPr>
                          <m:t>𝒄</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b="1" i="1">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a:solidFill>
                                      <a:srgbClr val="FF0000"/>
                                    </a:solidFill>
                                    <a:effectLst/>
                                    <a:latin typeface="Cambria Math" panose="02040503050406030204" pitchFamily="18" charset="0"/>
                                    <a:ea typeface="Cambria Math" panose="02040503050406030204" pitchFamily="18" charset="0"/>
                                  </a:rPr>
                                </m:ctrlPr>
                              </m:sSubPr>
                              <m:e>
                                <m:r>
                                  <a:rPr lang="en-US" altLang="en-US" sz="2800" b="1" i="1">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e>
                        </m:d>
                        <m:r>
                          <a:rPr lang="en-US" altLang="en-US" sz="2800" b="1" i="1" smtClean="0">
                            <a:solidFill>
                              <a:srgbClr val="FF0000"/>
                            </a:solidFill>
                            <a:effectLst/>
                            <a:latin typeface="Cambria Math" panose="02040503050406030204" pitchFamily="18" charset="0"/>
                            <a:ea typeface="Cambria Math" panose="02040503050406030204" pitchFamily="18" charset="0"/>
                          </a:rPr>
                          <m:t> }</m:t>
                        </m:r>
                      </m:e>
                    </m:func>
                  </m:oMath>
                </a14:m>
                <a:endParaRPr lang="en-GB" altLang="en-US" sz="2800" b="1" i="1" dirty="0">
                  <a:solidFill>
                    <a:srgbClr val="FF0000"/>
                  </a:solidFill>
                  <a:effectLst>
                    <a:outerShdw blurRad="38100" dist="38100" dir="2700000" algn="tl">
                      <a:srgbClr val="000000">
                        <a:alpha val="43137"/>
                      </a:srgbClr>
                    </a:outerShdw>
                  </a:effectLst>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671851" y="3990193"/>
                <a:ext cx="7817758" cy="706604"/>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p:cNvSpPr txBox="1">
                <a:spLocks noChangeArrowheads="1"/>
              </p:cNvSpPr>
              <p:nvPr/>
            </p:nvSpPr>
            <p:spPr bwMode="auto">
              <a:xfrm>
                <a:off x="590566" y="5570540"/>
                <a:ext cx="7817758" cy="817724"/>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𝒕</m:t>
                        </m:r>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e>
                    </m:d>
                    <m:r>
                      <a:rPr lang="en-US" altLang="en-US" sz="2800" b="1" i="1" smtClean="0">
                        <a:solidFill>
                          <a:srgbClr val="FF0000"/>
                        </a:solidFill>
                        <a:effectLst/>
                        <a:latin typeface="Cambria Math" panose="02040503050406030204" pitchFamily="18" charset="0"/>
                        <a:ea typeface="Cambria Math" panose="02040503050406030204" pitchFamily="18" charset="0"/>
                      </a:rPr>
                      <m:t>=</m:t>
                    </m:r>
                    <m:func>
                      <m:func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uncPr>
                      <m:fName>
                        <m:limLow>
                          <m:limLowPr>
                            <m:ctrlPr>
                              <a:rPr lang="en-US" altLang="en-US" sz="2800" b="0" i="0" smtClean="0">
                                <a:solidFill>
                                  <a:srgbClr val="FF0000"/>
                                </a:solidFill>
                                <a:effectLst/>
                                <a:latin typeface="Cambria Math" panose="02040503050406030204" pitchFamily="18" charset="0"/>
                                <a:ea typeface="Cambria Math" panose="02040503050406030204" pitchFamily="18" charset="0"/>
                              </a:rPr>
                            </m:ctrlPr>
                          </m:limLowPr>
                          <m:e>
                            <m:r>
                              <m:rPr>
                                <m:sty m:val="p"/>
                              </m:rPr>
                              <a:rPr lang="en-US" altLang="en-US" sz="2800" b="0" i="0" smtClean="0">
                                <a:solidFill>
                                  <a:srgbClr val="FF0000"/>
                                </a:solidFill>
                                <a:effectLst/>
                                <a:latin typeface="Cambria Math" panose="02040503050406030204" pitchFamily="18" charset="0"/>
                                <a:ea typeface="Cambria Math" panose="02040503050406030204" pitchFamily="18" charset="0"/>
                              </a:rPr>
                              <m:t>min</m:t>
                            </m:r>
                            <m:r>
                              <a:rPr lang="en-US" altLang="en-US" sz="2800" b="0" i="0" smtClean="0">
                                <a:solidFill>
                                  <a:srgbClr val="FF0000"/>
                                </a:solidFill>
                                <a:effectLst/>
                                <a:latin typeface="Cambria Math" panose="02040503050406030204" pitchFamily="18" charset="0"/>
                                <a:ea typeface="Cambria Math" panose="02040503050406030204" pitchFamily="18" charset="0"/>
                              </a:rPr>
                              <m:t>{</m:t>
                            </m:r>
                          </m:e>
                          <m:lim>
                            <m:sSub>
                              <m:sSubPr>
                                <m:ctrlPr>
                                  <a:rPr lang="en-US" altLang="en-US" sz="28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0" i="1" smtClean="0">
                                    <a:solidFill>
                                      <a:srgbClr val="FF0000"/>
                                    </a:solidFill>
                                    <a:effectLst/>
                                    <a:latin typeface="Cambria Math" panose="02040503050406030204" pitchFamily="18" charset="0"/>
                                    <a:ea typeface="Cambria Math" panose="02040503050406030204" pitchFamily="18" charset="0"/>
                                  </a:rPr>
                                  <m:t>𝑥</m:t>
                                </m:r>
                              </m:e>
                              <m:sub>
                                <m:r>
                                  <a:rPr lang="en-US" altLang="en-US" sz="2800" b="0" i="1" smtClean="0">
                                    <a:solidFill>
                                      <a:srgbClr val="FF0000"/>
                                    </a:solidFill>
                                    <a:effectLst/>
                                    <a:latin typeface="Cambria Math" panose="02040503050406030204" pitchFamily="18" charset="0"/>
                                    <a:ea typeface="Cambria Math" panose="02040503050406030204" pitchFamily="18" charset="0"/>
                                  </a:rPr>
                                  <m:t>𝑡</m:t>
                                </m:r>
                              </m:sub>
                            </m:sSub>
                          </m:lim>
                        </m:limLow>
                      </m:fName>
                      <m:e>
                        <m:r>
                          <a:rPr lang="en-US" altLang="en-US" sz="2800" b="1" i="1" smtClean="0">
                            <a:solidFill>
                              <a:srgbClr val="FF0000"/>
                            </a:solidFill>
                            <a:effectLst/>
                            <a:latin typeface="Cambria Math" panose="02040503050406030204" pitchFamily="18" charset="0"/>
                            <a:ea typeface="Cambria Math" panose="02040503050406030204" pitchFamily="18" charset="0"/>
                          </a:rPr>
                          <m:t>𝒄</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𝒕</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𝒇</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a:solidFill>
                                          <a:srgbClr val="FF0000"/>
                                        </a:solidFill>
                                        <a:effectLst/>
                                        <a:latin typeface="Cambria Math" panose="02040503050406030204" pitchFamily="18" charset="0"/>
                                        <a:ea typeface="Cambria Math" panose="02040503050406030204" pitchFamily="18" charset="0"/>
                                      </a:rPr>
                                      <m:t>𝒕</m:t>
                                    </m:r>
                                  </m:sub>
                                </m:sSub>
                                <m:r>
                                  <a:rPr lang="en-US" altLang="en-US" sz="2800" b="1" i="1">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a:solidFill>
                                          <a:srgbClr val="FF0000"/>
                                        </a:solidFill>
                                        <a:effectLst/>
                                        <a:latin typeface="Cambria Math" panose="02040503050406030204" pitchFamily="18" charset="0"/>
                                        <a:ea typeface="Cambria Math" panose="02040503050406030204" pitchFamily="18" charset="0"/>
                                      </a:rPr>
                                      <m:t>𝒕</m:t>
                                    </m:r>
                                  </m:sub>
                                </m:sSub>
                              </m:e>
                            </m:d>
                          </m:e>
                        </m:d>
                        <m:r>
                          <a:rPr lang="en-US" altLang="en-US" sz="2800" b="1" i="1" smtClean="0">
                            <a:solidFill>
                              <a:srgbClr val="FF0000"/>
                            </a:solidFill>
                            <a:effectLst/>
                            <a:latin typeface="Cambria Math" panose="02040503050406030204" pitchFamily="18" charset="0"/>
                            <a:ea typeface="Cambria Math" panose="02040503050406030204" pitchFamily="18" charset="0"/>
                          </a:rPr>
                          <m:t>}</m:t>
                        </m:r>
                      </m:e>
                    </m:func>
                  </m:oMath>
                </a14:m>
                <a:endParaRPr lang="en-GB" altLang="en-US" sz="2800" b="1" i="1" dirty="0">
                  <a:solidFill>
                    <a:srgbClr val="FF0000"/>
                  </a:solidFill>
                  <a:effectLst>
                    <a:outerShdw blurRad="38100" dist="38100" dir="2700000" algn="tl">
                      <a:srgbClr val="000000">
                        <a:alpha val="43137"/>
                      </a:srgbClr>
                    </a:outerShdw>
                  </a:effectLst>
                </a:endParaRPr>
              </a:p>
            </p:txBody>
          </p:sp>
        </mc:Choice>
        <mc:Fallback xmlns="">
          <p:sp>
            <p:nvSpPr>
              <p:cNvPr id="7" name="TextBox 6"/>
              <p:cNvSpPr txBox="1">
                <a:spLocks noRot="1" noChangeAspect="1" noMove="1" noResize="1" noEditPoints="1" noAdjustHandles="1" noChangeArrowheads="1" noChangeShapeType="1" noTextEdit="1"/>
              </p:cNvSpPr>
              <p:nvPr/>
            </p:nvSpPr>
            <p:spPr bwMode="auto">
              <a:xfrm>
                <a:off x="590566" y="5570540"/>
                <a:ext cx="7817758" cy="817724"/>
              </a:xfrm>
              <a:prstGeom prst="rect">
                <a:avLst/>
              </a:prstGeom>
              <a:blipFill rotWithShape="0">
                <a:blip r:embed="rId4"/>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566535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Shortest Path Problem</a:t>
            </a:r>
            <a:endParaRPr lang="en-GB" altLang="en-US"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7462" y="1287897"/>
                <a:ext cx="8741527" cy="5030607"/>
              </a:xfrm>
            </p:spPr>
            <p:txBody>
              <a:bodyPr/>
              <a:lstStyle/>
              <a:p>
                <a:r>
                  <a:rPr lang="en-US" altLang="en-US" dirty="0">
                    <a:effectLst/>
                  </a:rPr>
                  <a:t>State: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𝟎</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𝑱</m:t>
                    </m:r>
                  </m:oMath>
                </a14:m>
                <a:r>
                  <a:rPr lang="en-US" altLang="en-US" dirty="0">
                    <a:effectLst/>
                  </a:rPr>
                  <a:t>, </a:t>
                </a:r>
                <a14:m>
                  <m:oMath xmlns:m="http://schemas.openxmlformats.org/officeDocument/2006/math">
                    <m:sSub>
                      <m:sSubPr>
                        <m:ctrlPr>
                          <a:rPr lang="en-US" altLang="en-US" sz="2800" i="1">
                            <a:solidFill>
                              <a:srgbClr val="FF0000"/>
                            </a:solidFill>
                            <a:effectLst/>
                            <a:latin typeface="Cambria Math" panose="02040503050406030204" pitchFamily="18" charset="0"/>
                            <a:ea typeface="Cambria Math" panose="02040503050406030204" pitchFamily="18" charset="0"/>
                          </a:rPr>
                        </m:ctrlPr>
                      </m:sSubPr>
                      <m:e>
                        <m:r>
                          <a:rPr lang="en-US" altLang="en-US" sz="2800" i="1">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𝑯</m:t>
                    </m:r>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𝑰</m:t>
                    </m:r>
                  </m:oMath>
                </a14:m>
                <a:r>
                  <a:rPr lang="en-US" altLang="en-US" sz="2800" dirty="0">
                    <a:effectLst/>
                  </a:rPr>
                  <a:t>,</a:t>
                </a:r>
                <a:r>
                  <a:rPr lang="en-US" altLang="en-US" sz="2800" i="1" dirty="0">
                    <a:solidFill>
                      <a:srgbClr val="FF0000"/>
                    </a:solidFill>
                    <a:effectLst/>
                    <a:latin typeface="Cambria Math" panose="02040503050406030204" pitchFamily="18" charset="0"/>
                    <a:ea typeface="Cambria Math" panose="02040503050406030204" pitchFamily="18" charset="0"/>
                  </a:rPr>
                  <a:t> </a:t>
                </a:r>
                <a14:m>
                  <m:oMath xmlns:m="http://schemas.openxmlformats.org/officeDocument/2006/math">
                    <m:sSub>
                      <m:sSubPr>
                        <m:ctrlPr>
                          <a:rPr lang="en-US" altLang="en-US" sz="2800" i="1">
                            <a:solidFill>
                              <a:srgbClr val="FF0000"/>
                            </a:solidFill>
                            <a:effectLst/>
                            <a:latin typeface="Cambria Math" panose="02040503050406030204" pitchFamily="18" charset="0"/>
                            <a:ea typeface="Cambria Math" panose="02040503050406030204" pitchFamily="18" charset="0"/>
                          </a:rPr>
                        </m:ctrlPr>
                      </m:sSubPr>
                      <m:e>
                        <m:r>
                          <a:rPr lang="en-US" altLang="en-US" sz="2800" i="1">
                            <a:solidFill>
                              <a:srgbClr val="FF0000"/>
                            </a:solidFill>
                            <a:effectLst/>
                            <a:latin typeface="Cambria Math" panose="02040503050406030204" pitchFamily="18" charset="0"/>
                            <a:ea typeface="Cambria Math" panose="02040503050406030204" pitchFamily="18" charset="0"/>
                          </a:rPr>
                          <m:t>𝒔</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𝟐</m:t>
                        </m:r>
                      </m:sub>
                    </m:sSub>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𝑬</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𝑭</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𝑮</m:t>
                    </m:r>
                  </m:oMath>
                </a14:m>
                <a:r>
                  <a:rPr lang="en-US" altLang="en-US" dirty="0">
                    <a:effectLst/>
                  </a:rPr>
                  <a:t>,…</a:t>
                </a:r>
              </a:p>
              <a:p>
                <a:pPr marL="0" indent="0">
                  <a:buNone/>
                </a:pPr>
                <a:endParaRPr lang="en-US" altLang="en-US" dirty="0">
                  <a:effectLst/>
                </a:endParaRPr>
              </a:p>
              <a:p>
                <a:r>
                  <a:rPr lang="en-US" altLang="en-US" dirty="0">
                    <a:effectLst/>
                  </a:rPr>
                  <a:t>Action (control):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𝑱</m:t>
                    </m:r>
                  </m:oMath>
                </a14:m>
                <a:r>
                  <a:rPr lang="en-US" altLang="en-US" dirty="0">
                    <a:effectLst/>
                  </a:rPr>
                  <a:t> , </a:t>
                </a:r>
                <a14:m>
                  <m:oMath xmlns:m="http://schemas.openxmlformats.org/officeDocument/2006/math">
                    <m:sSub>
                      <m:sSubPr>
                        <m:ctrlPr>
                          <a:rPr lang="en-US" altLang="en-US" sz="2800" i="1">
                            <a:solidFill>
                              <a:srgbClr val="FF0000"/>
                            </a:solidFill>
                            <a:effectLst/>
                            <a:latin typeface="Cambria Math" panose="02040503050406030204" pitchFamily="18" charset="0"/>
                            <a:ea typeface="Cambria Math" panose="02040503050406030204" pitchFamily="18" charset="0"/>
                          </a:rPr>
                        </m:ctrlPr>
                      </m:sSubPr>
                      <m:e>
                        <m:r>
                          <a:rPr lang="en-US" altLang="en-US" sz="2800" i="1">
                            <a:solidFill>
                              <a:srgbClr val="FF0000"/>
                            </a:solidFill>
                            <a:effectLst/>
                            <a:latin typeface="Cambria Math" panose="02040503050406030204" pitchFamily="18" charset="0"/>
                            <a:ea typeface="Cambria Math" panose="02040503050406030204" pitchFamily="18" charset="0"/>
                          </a:rPr>
                          <m:t>𝒙</m:t>
                        </m:r>
                      </m:e>
                      <m:sub>
                        <m:r>
                          <a:rPr lang="en-US" altLang="en-US" sz="2800" i="1">
                            <a:solidFill>
                              <a:srgbClr val="FF0000"/>
                            </a:solidFill>
                            <a:effectLst/>
                            <a:latin typeface="Cambria Math" panose="02040503050406030204" pitchFamily="18" charset="0"/>
                            <a:ea typeface="Cambria Math" panose="02040503050406030204" pitchFamily="18" charset="0"/>
                          </a:rPr>
                          <m:t>𝟐</m:t>
                        </m:r>
                      </m:sub>
                    </m:sSub>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i="1">
                        <a:solidFill>
                          <a:srgbClr val="FF0000"/>
                        </a:solidFill>
                        <a:effectLst/>
                        <a:latin typeface="Cambria Math" panose="02040503050406030204" pitchFamily="18" charset="0"/>
                        <a:ea typeface="Cambria Math" panose="02040503050406030204" pitchFamily="18" charset="0"/>
                      </a:rPr>
                      <m:t>𝑯</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𝑰</m:t>
                    </m:r>
                  </m:oMath>
                </a14:m>
                <a:endParaRPr lang="en-US" altLang="en-US" sz="2800" i="1" dirty="0">
                  <a:solidFill>
                    <a:srgbClr val="FF0000"/>
                  </a:solidFill>
                  <a:effectLst/>
                  <a:latin typeface="Cambria Math" panose="02040503050406030204" pitchFamily="18" charset="0"/>
                  <a:ea typeface="Cambria Math" panose="02040503050406030204" pitchFamily="18" charset="0"/>
                </a:endParaRPr>
              </a:p>
              <a:p>
                <a:endParaRPr lang="en-US" altLang="en-US" sz="2800" i="1" dirty="0">
                  <a:solidFill>
                    <a:srgbClr val="FF0000"/>
                  </a:solidFill>
                  <a:effectLst/>
                  <a:latin typeface="Cambria Math" panose="02040503050406030204" pitchFamily="18" charset="0"/>
                  <a:ea typeface="Cambria Math" panose="02040503050406030204" pitchFamily="18" charset="0"/>
                </a:endParaRPr>
              </a:p>
              <a:p>
                <a:r>
                  <a:rPr lang="en-US" altLang="en-US" dirty="0">
                    <a:effectLst/>
                  </a:rPr>
                  <a:t>Cost per period: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𝒄</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i="1">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 </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i="1">
                        <a:solidFill>
                          <a:srgbClr val="FF0000"/>
                        </a:solidFill>
                        <a:effectLst/>
                        <a:latin typeface="Cambria Math" panose="02040503050406030204" pitchFamily="18" charset="0"/>
                        <a:ea typeface="Cambria Math" panose="02040503050406030204" pitchFamily="18" charset="0"/>
                      </a:rPr>
                      <m:t>𝒄</m:t>
                    </m:r>
                    <m:d>
                      <m:dPr>
                        <m:ctrlPr>
                          <a:rPr lang="en-US" altLang="en-US" sz="2800" i="1">
                            <a:solidFill>
                              <a:srgbClr val="FF0000"/>
                            </a:solidFill>
                            <a:effectLst/>
                            <a:latin typeface="Cambria Math" panose="02040503050406030204" pitchFamily="18" charset="0"/>
                            <a:ea typeface="Cambria Math" panose="02040503050406030204" pitchFamily="18" charset="0"/>
                          </a:rPr>
                        </m:ctrlPr>
                      </m:dPr>
                      <m:e>
                        <m:r>
                          <a:rPr lang="en-US" altLang="en-US" sz="2800" i="1">
                            <a:solidFill>
                              <a:srgbClr val="FF0000"/>
                            </a:solidFill>
                            <a:effectLst/>
                            <a:latin typeface="Cambria Math" panose="02040503050406030204" pitchFamily="18" charset="0"/>
                            <a:ea typeface="Cambria Math" panose="02040503050406030204" pitchFamily="18" charset="0"/>
                          </a:rPr>
                          <m:t>𝒊</m:t>
                        </m:r>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i="1">
                            <a:solidFill>
                              <a:srgbClr val="FF0000"/>
                            </a:solidFill>
                            <a:effectLst/>
                            <a:latin typeface="Cambria Math" panose="02040503050406030204" pitchFamily="18" charset="0"/>
                            <a:ea typeface="Cambria Math" panose="02040503050406030204" pitchFamily="18" charset="0"/>
                          </a:rPr>
                          <m:t>𝒋</m:t>
                        </m:r>
                      </m:e>
                    </m:d>
                  </m:oMath>
                </a14:m>
                <a:r>
                  <a:rPr lang="en-US" altLang="en-US" dirty="0">
                    <a:effectLst/>
                  </a:rPr>
                  <a:t> for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i="1">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𝒊</m:t>
                    </m:r>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i="1">
                            <a:solidFill>
                              <a:srgbClr val="FF0000"/>
                            </a:solidFill>
                            <a:effectLst/>
                            <a:latin typeface="Cambria Math" panose="02040503050406030204" pitchFamily="18" charset="0"/>
                            <a:ea typeface="Cambria Math" panose="02040503050406030204" pitchFamily="18" charset="0"/>
                          </a:rPr>
                        </m:ctrlPr>
                      </m:sSubPr>
                      <m:e>
                        <m:r>
                          <a:rPr lang="en-US" altLang="en-US" sz="2800" i="1">
                            <a:solidFill>
                              <a:srgbClr val="FF0000"/>
                            </a:solidFill>
                            <a:effectLst/>
                            <a:latin typeface="Cambria Math" panose="02040503050406030204" pitchFamily="18" charset="0"/>
                            <a:ea typeface="Cambria Math" panose="02040503050406030204" pitchFamily="18" charset="0"/>
                          </a:rPr>
                          <m:t>𝒙</m:t>
                        </m:r>
                      </m:e>
                      <m:sub>
                        <m:r>
                          <a:rPr lang="en-US" altLang="en-US" sz="2800" i="1">
                            <a:solidFill>
                              <a:srgbClr val="FF0000"/>
                            </a:solidFill>
                            <a:effectLst/>
                            <a:latin typeface="Cambria Math" panose="02040503050406030204" pitchFamily="18" charset="0"/>
                            <a:ea typeface="Cambria Math" panose="02040503050406030204" pitchFamily="18" charset="0"/>
                          </a:rPr>
                          <m:t>𝒕</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𝒋</m:t>
                    </m:r>
                  </m:oMath>
                </a14:m>
                <a:endParaRPr lang="en-US" altLang="en-US" dirty="0">
                  <a:effectLst/>
                </a:endParaRPr>
              </a:p>
              <a:p>
                <a:endParaRPr lang="en-US" altLang="en-US" dirty="0">
                  <a:effectLst/>
                </a:endParaRPr>
              </a:p>
              <a:p>
                <a:r>
                  <a:rPr lang="en-US" altLang="en-US" dirty="0">
                    <a:effectLst/>
                  </a:rPr>
                  <a:t>State transition: </a:t>
                </a:r>
                <a14:m>
                  <m:oMath xmlns:m="http://schemas.openxmlformats.org/officeDocument/2006/math">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𝒔</m:t>
                        </m:r>
                      </m:e>
                      <m:sub>
                        <m:r>
                          <a:rPr lang="en-US" altLang="en-US" sz="2800" i="1">
                            <a:solidFill>
                              <a:srgbClr val="FF0000"/>
                            </a:solidFill>
                            <a:effectLst/>
                            <a:latin typeface="Cambria Math" panose="02040503050406030204" pitchFamily="18" charset="0"/>
                            <a:ea typeface="Cambria Math" panose="02040503050406030204" pitchFamily="18" charset="0"/>
                          </a:rPr>
                          <m:t>𝒕</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sub>
                    </m:sSub>
                    <m:r>
                      <a:rPr lang="en-US" altLang="en-US" sz="28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1" i="1" smtClean="0">
                            <a:solidFill>
                              <a:srgbClr val="FF0000"/>
                            </a:solidFill>
                            <a:effectLst/>
                            <a:latin typeface="Cambria Math" panose="02040503050406030204" pitchFamily="18" charset="0"/>
                            <a:ea typeface="Cambria Math" panose="02040503050406030204" pitchFamily="18" charset="0"/>
                          </a:rPr>
                          <m:t>𝒙</m:t>
                        </m:r>
                      </m:e>
                      <m:sub>
                        <m:r>
                          <a:rPr lang="en-US" altLang="en-US" sz="2800" b="1" i="1" smtClean="0">
                            <a:solidFill>
                              <a:srgbClr val="FF0000"/>
                            </a:solidFill>
                            <a:effectLst/>
                            <a:latin typeface="Cambria Math" panose="02040503050406030204" pitchFamily="18" charset="0"/>
                            <a:ea typeface="Cambria Math" panose="02040503050406030204" pitchFamily="18" charset="0"/>
                          </a:rPr>
                          <m:t>𝒕</m:t>
                        </m:r>
                      </m:sub>
                    </m:sSub>
                  </m:oMath>
                </a14:m>
                <a:endParaRPr lang="en-US" altLang="en-US" sz="2800" dirty="0"/>
              </a:p>
              <a:p>
                <a:endParaRPr lang="en-US" altLang="en-US" dirty="0"/>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7462" y="1287897"/>
                <a:ext cx="8741527" cy="5030607"/>
              </a:xfrm>
              <a:blipFill rotWithShape="0">
                <a:blip r:embed="rId2"/>
                <a:stretch>
                  <a:fillRect l="-1325" t="-1211"/>
                </a:stretch>
              </a:blipFill>
            </p:spPr>
            <p:txBody>
              <a:bodyPr/>
              <a:lstStyle/>
              <a:p>
                <a:r>
                  <a:rPr lang="en-SG">
                    <a:noFill/>
                  </a:rPr>
                  <a:t> </a:t>
                </a:r>
              </a:p>
            </p:txBody>
          </p:sp>
        </mc:Fallback>
      </mc:AlternateContent>
    </p:spTree>
    <p:extLst>
      <p:ext uri="{BB962C8B-B14F-4D97-AF65-F5344CB8AC3E}">
        <p14:creationId xmlns:p14="http://schemas.microsoft.com/office/powerpoint/2010/main" val="41979405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dirty="0"/>
              <a:t>Summary: Components of DP</a:t>
            </a:r>
            <a:endParaRPr lang="en-GB" altLang="en-US" dirty="0"/>
          </a:p>
        </p:txBody>
      </p:sp>
      <p:sp>
        <p:nvSpPr>
          <p:cNvPr id="25603" name="Content Placeholder 2"/>
          <p:cNvSpPr>
            <a:spLocks noGrp="1"/>
          </p:cNvSpPr>
          <p:nvPr>
            <p:ph sz="quarter" idx="1"/>
          </p:nvPr>
        </p:nvSpPr>
        <p:spPr>
          <a:xfrm>
            <a:off x="0" y="1233996"/>
            <a:ext cx="8723376" cy="5337048"/>
          </a:xfrm>
        </p:spPr>
        <p:txBody>
          <a:bodyPr/>
          <a:lstStyle/>
          <a:p>
            <a:r>
              <a:rPr lang="en-US" altLang="en-US" dirty="0">
                <a:effectLst/>
              </a:rPr>
              <a:t>A problem is decomposed into </a:t>
            </a:r>
            <a:r>
              <a:rPr lang="en-US" altLang="en-US" i="1" dirty="0">
                <a:effectLst/>
              </a:rPr>
              <a:t>n </a:t>
            </a:r>
            <a:r>
              <a:rPr lang="en-US" altLang="en-US" b="1" i="1" dirty="0">
                <a:solidFill>
                  <a:srgbClr val="0070C0"/>
                </a:solidFill>
                <a:effectLst/>
              </a:rPr>
              <a:t>stages</a:t>
            </a:r>
            <a:r>
              <a:rPr lang="en-US" altLang="en-US" dirty="0">
                <a:effectLst/>
              </a:rPr>
              <a:t>. </a:t>
            </a:r>
          </a:p>
          <a:p>
            <a:r>
              <a:rPr lang="en-US" altLang="en-US" dirty="0">
                <a:effectLst/>
              </a:rPr>
              <a:t>At stage k, we will have different possible </a:t>
            </a:r>
            <a:r>
              <a:rPr lang="en-US" altLang="en-US" b="1" i="1" dirty="0">
                <a:solidFill>
                  <a:srgbClr val="0070C0"/>
                </a:solidFill>
                <a:effectLst/>
              </a:rPr>
              <a:t>states</a:t>
            </a:r>
            <a:r>
              <a:rPr lang="en-US" altLang="en-US" dirty="0">
                <a:effectLst/>
              </a:rPr>
              <a:t>.</a:t>
            </a:r>
          </a:p>
          <a:p>
            <a:r>
              <a:rPr lang="en-US" altLang="en-US" dirty="0">
                <a:effectLst/>
              </a:rPr>
              <a:t>At each state, we focus </a:t>
            </a:r>
            <a:r>
              <a:rPr lang="en-US" altLang="en-US" i="1" dirty="0">
                <a:solidFill>
                  <a:srgbClr val="0070C0"/>
                </a:solidFill>
                <a:effectLst/>
              </a:rPr>
              <a:t>only</a:t>
            </a:r>
            <a:r>
              <a:rPr lang="en-US" altLang="en-US" dirty="0">
                <a:effectLst/>
              </a:rPr>
              <a:t> on the decision problem for the current stage and current state assuming all the sub-problems </a:t>
            </a:r>
            <a:r>
              <a:rPr lang="en-US" altLang="en-US" i="1" dirty="0">
                <a:solidFill>
                  <a:srgbClr val="0070C0"/>
                </a:solidFill>
                <a:effectLst/>
              </a:rPr>
              <a:t>before stage k </a:t>
            </a:r>
            <a:r>
              <a:rPr lang="en-US" altLang="en-US" dirty="0">
                <a:effectLst/>
              </a:rPr>
              <a:t>has been solved.</a:t>
            </a:r>
          </a:p>
          <a:p>
            <a:r>
              <a:rPr lang="en-US" altLang="en-US" dirty="0">
                <a:effectLst/>
              </a:rPr>
              <a:t>We call a mapping from each state to a decision the </a:t>
            </a:r>
            <a:r>
              <a:rPr lang="en-US" altLang="en-US" b="1" i="1" dirty="0">
                <a:solidFill>
                  <a:srgbClr val="0070C0"/>
                </a:solidFill>
                <a:effectLst/>
              </a:rPr>
              <a:t>policy</a:t>
            </a:r>
            <a:r>
              <a:rPr lang="en-US" altLang="en-US" dirty="0">
                <a:effectLst/>
              </a:rPr>
              <a:t>.</a:t>
            </a:r>
            <a:endParaRPr lang="en-GB" altLang="en-US" dirty="0">
              <a:effectLst/>
            </a:endParaRPr>
          </a:p>
        </p:txBody>
      </p:sp>
    </p:spTree>
    <p:extLst>
      <p:ext uri="{BB962C8B-B14F-4D97-AF65-F5344CB8AC3E}">
        <p14:creationId xmlns:p14="http://schemas.microsoft.com/office/powerpoint/2010/main" val="2665176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altLang="zh-CN" dirty="0"/>
              <a:t>Knapsack</a:t>
            </a:r>
            <a:r>
              <a:rPr lang="en-US" altLang="en-US" dirty="0"/>
              <a:t> Problem</a:t>
            </a:r>
            <a:endParaRPr lang="en-GB" altLang="en-US" dirty="0"/>
          </a:p>
        </p:txBody>
      </p:sp>
      <p:sp>
        <p:nvSpPr>
          <p:cNvPr id="43011" name="Content Placeholder 2"/>
          <p:cNvSpPr>
            <a:spLocks noGrp="1"/>
          </p:cNvSpPr>
          <p:nvPr>
            <p:ph sz="quarter" idx="1"/>
          </p:nvPr>
        </p:nvSpPr>
        <p:spPr>
          <a:xfrm>
            <a:off x="192024" y="1008888"/>
            <a:ext cx="8229600" cy="4937125"/>
          </a:xfrm>
        </p:spPr>
        <p:txBody>
          <a:bodyPr/>
          <a:lstStyle/>
          <a:p>
            <a:r>
              <a:rPr lang="en-US" altLang="en-US" dirty="0">
                <a:effectLst/>
              </a:rPr>
              <a:t>Consider the investment problem with the following four financial products and a total budget of 10K. </a:t>
            </a:r>
            <a:endParaRPr lang="en-GB" altLang="en-US" dirty="0">
              <a:effectLst/>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1115949" y="3341816"/>
              <a:ext cx="6381750" cy="1163955"/>
            </p:xfrm>
            <a:graphic>
              <a:graphicData uri="http://schemas.openxmlformats.org/drawingml/2006/table">
                <a:tbl>
                  <a:tblPr/>
                  <a:tblGrid>
                    <a:gridCol w="2317750">
                      <a:extLst>
                        <a:ext uri="{9D8B030D-6E8A-4147-A177-3AD203B41FA5}">
                          <a16:colId xmlns:a16="http://schemas.microsoft.com/office/drawing/2014/main" val="20000"/>
                        </a:ext>
                      </a:extLst>
                    </a:gridCol>
                    <a:gridCol w="968375">
                      <a:extLst>
                        <a:ext uri="{9D8B030D-6E8A-4147-A177-3AD203B41FA5}">
                          <a16:colId xmlns:a16="http://schemas.microsoft.com/office/drawing/2014/main" val="20001"/>
                        </a:ext>
                      </a:extLst>
                    </a:gridCol>
                    <a:gridCol w="1071563">
                      <a:extLst>
                        <a:ext uri="{9D8B030D-6E8A-4147-A177-3AD203B41FA5}">
                          <a16:colId xmlns:a16="http://schemas.microsoft.com/office/drawing/2014/main" val="20002"/>
                        </a:ext>
                      </a:extLst>
                    </a:gridCol>
                    <a:gridCol w="1071562">
                      <a:extLst>
                        <a:ext uri="{9D8B030D-6E8A-4147-A177-3AD203B41FA5}">
                          <a16:colId xmlns:a16="http://schemas.microsoft.com/office/drawing/2014/main" val="20003"/>
                        </a:ext>
                      </a:extLst>
                    </a:gridCol>
                    <a:gridCol w="952500">
                      <a:extLst>
                        <a:ext uri="{9D8B030D-6E8A-4147-A177-3AD203B41FA5}">
                          <a16:colId xmlns:a16="http://schemas.microsoft.com/office/drawing/2014/main" val="20004"/>
                        </a:ext>
                      </a:extLst>
                    </a:gridCol>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Product number (</a:t>
                          </a:r>
                          <a:r>
                            <a:rPr kumimoji="0" lang="en-US" sz="1800" b="1" i="0" u="none" strike="noStrike" cap="none" normalizeH="0" baseline="0" dirty="0" err="1">
                              <a:ln>
                                <a:noFill/>
                              </a:ln>
                              <a:solidFill>
                                <a:srgbClr val="FFFFFF"/>
                              </a:solidFill>
                              <a:effectLst/>
                              <a:latin typeface="Gill Sans MT" pitchFamily="34" charset="0"/>
                            </a:rPr>
                            <a:t>i</a:t>
                          </a:r>
                          <a:r>
                            <a:rPr kumimoji="0" lang="en-US" sz="1800" b="1" i="0" u="none" strike="noStrike" cap="none" normalizeH="0" baseline="0" dirty="0">
                              <a:ln>
                                <a:noFill/>
                              </a:ln>
                              <a:solidFill>
                                <a:srgbClr val="FFFFFF"/>
                              </a:solidFill>
                              <a:effectLst/>
                              <a:latin typeface="Gill Sans MT" pitchFamily="34" charset="0"/>
                            </a:rPr>
                            <a:t>)</a:t>
                          </a:r>
                          <a:endParaRPr kumimoji="0" lang="en-GB" sz="1800" b="1" i="0" u="none" strike="noStrike" cap="none" normalizeH="0" baseline="0" dirty="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1</a:t>
                          </a:r>
                          <a:endParaRPr kumimoji="0" lang="en-GB" sz="1800" b="1" i="0" u="none" strike="noStrike" cap="none" normalizeH="0" baseline="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2</a:t>
                          </a:r>
                          <a:endParaRPr kumimoji="0" lang="en-GB" sz="1800" b="1" i="0" u="none" strike="noStrike" cap="none" normalizeH="0" baseline="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3</a:t>
                          </a:r>
                          <a:endParaRPr kumimoji="0" lang="en-GB" sz="1800" b="1" i="0" u="none" strike="noStrike" cap="none" normalizeH="0" baseline="0" dirty="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4</a:t>
                          </a:r>
                          <a:endParaRPr kumimoji="0" lang="en-GB" sz="1800" b="1" i="0" u="none" strike="noStrike" cap="none" normalizeH="0" baseline="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Investment (K): </a:t>
                          </a:r>
                          <a14:m>
                            <m:oMath xmlns:m="http://schemas.openxmlformats.org/officeDocument/2006/math">
                              <m:sSub>
                                <m:sSubPr>
                                  <m:ctrlPr>
                                    <a:rPr lang="en-US" altLang="en-US" sz="2000" b="0" i="1" smtClean="0">
                                      <a:solidFill>
                                        <a:srgbClr val="FF0000"/>
                                      </a:solidFill>
                                      <a:effectLst/>
                                      <a:latin typeface="Cambria Math" panose="02040503050406030204" pitchFamily="18" charset="0"/>
                                    </a:rPr>
                                  </m:ctrlPr>
                                </m:sSubPr>
                                <m:e>
                                  <m:r>
                                    <a:rPr lang="en-US" altLang="en-US" sz="2000" b="0" i="1" smtClean="0">
                                      <a:solidFill>
                                        <a:srgbClr val="FF0000"/>
                                      </a:solidFill>
                                      <a:effectLst/>
                                      <a:latin typeface="Cambria Math" panose="02040503050406030204" pitchFamily="18" charset="0"/>
                                    </a:rPr>
                                    <m:t>𝑤</m:t>
                                  </m:r>
                                </m:e>
                                <m:sub>
                                  <m:r>
                                    <a:rPr lang="en-US" altLang="en-US" sz="2000" b="0" i="1" smtClean="0">
                                      <a:solidFill>
                                        <a:srgbClr val="FF0000"/>
                                      </a:solidFill>
                                      <a:effectLst/>
                                      <a:latin typeface="Cambria Math" panose="02040503050406030204" pitchFamily="18" charset="0"/>
                                    </a:rPr>
                                    <m:t>𝑖</m:t>
                                  </m:r>
                                </m:sub>
                              </m:sSub>
                            </m:oMath>
                          </a14:m>
                          <a:endParaRPr kumimoji="0" lang="en-GB" sz="2000" b="0" i="0" u="none" strike="noStrike" cap="none" normalizeH="0" baseline="0" dirty="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3</a:t>
                          </a:r>
                          <a:endParaRPr kumimoji="0" lang="en-GB" sz="1800" b="0" i="0" u="none" strike="noStrike" cap="none" normalizeH="0" baseline="0" dirty="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Return (K): </a:t>
                          </a:r>
                          <a14:m>
                            <m:oMath xmlns:m="http://schemas.openxmlformats.org/officeDocument/2006/math">
                              <m:sSub>
                                <m:sSubPr>
                                  <m:ctrlPr>
                                    <a:rPr lang="en-US" altLang="en-US" sz="2000" b="0" i="1" smtClean="0">
                                      <a:solidFill>
                                        <a:srgbClr val="FF0000"/>
                                      </a:solidFill>
                                      <a:effectLst/>
                                      <a:latin typeface="Cambria Math" panose="02040503050406030204" pitchFamily="18" charset="0"/>
                                    </a:rPr>
                                  </m:ctrlPr>
                                </m:sSubPr>
                                <m:e>
                                  <m:r>
                                    <a:rPr lang="en-US" altLang="en-US" sz="2000" b="0" i="1" smtClean="0">
                                      <a:solidFill>
                                        <a:srgbClr val="FF0000"/>
                                      </a:solidFill>
                                      <a:effectLst/>
                                      <a:latin typeface="Cambria Math" panose="02040503050406030204" pitchFamily="18" charset="0"/>
                                    </a:rPr>
                                    <m:t>𝑣</m:t>
                                  </m:r>
                                </m:e>
                                <m:sub>
                                  <m:r>
                                    <a:rPr lang="en-US" altLang="en-US" sz="2000" b="0" i="1" smtClean="0">
                                      <a:solidFill>
                                        <a:srgbClr val="FF0000"/>
                                      </a:solidFill>
                                      <a:effectLst/>
                                      <a:latin typeface="Cambria Math" panose="02040503050406030204" pitchFamily="18" charset="0"/>
                                    </a:rPr>
                                    <m:t>𝑖</m:t>
                                  </m:r>
                                </m:sub>
                              </m:sSub>
                            </m:oMath>
                          </a14:m>
                          <a:endParaRPr kumimoji="0" lang="en-GB" sz="2000" b="0" i="0" u="none" strike="noStrike" cap="none" normalizeH="0" baseline="0" dirty="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8</a:t>
                          </a:r>
                          <a:endParaRPr kumimoji="0" lang="en-GB" sz="1800" b="0" i="0" u="none" strike="noStrike" cap="none" normalizeH="0" baseline="0" dirty="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12</a:t>
                          </a:r>
                          <a:endParaRPr kumimoji="0" lang="en-GB" sz="1800" b="0" i="0" u="none" strike="noStrike" cap="none" normalizeH="0" baseline="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2954549064"/>
                  </p:ext>
                </p:extLst>
              </p:nvPr>
            </p:nvGraphicFramePr>
            <p:xfrm>
              <a:off x="1115949" y="3341816"/>
              <a:ext cx="6381750" cy="1163955"/>
            </p:xfrm>
            <a:graphic>
              <a:graphicData uri="http://schemas.openxmlformats.org/drawingml/2006/table">
                <a:tbl>
                  <a:tblPr/>
                  <a:tblGrid>
                    <a:gridCol w="2317750"/>
                    <a:gridCol w="968375"/>
                    <a:gridCol w="1071563"/>
                    <a:gridCol w="1071562"/>
                    <a:gridCol w="952500"/>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Gill Sans MT" pitchFamily="34" charset="0"/>
                            </a:rPr>
                            <a:t>Product number (</a:t>
                          </a:r>
                          <a:r>
                            <a:rPr kumimoji="0" lang="en-US" sz="1800" b="1" i="0" u="none" strike="noStrike" cap="none" normalizeH="0" baseline="0" dirty="0" err="1" smtClean="0">
                              <a:ln>
                                <a:noFill/>
                              </a:ln>
                              <a:solidFill>
                                <a:srgbClr val="FFFFFF"/>
                              </a:solidFill>
                              <a:effectLst/>
                              <a:latin typeface="Gill Sans MT" pitchFamily="34" charset="0"/>
                            </a:rPr>
                            <a:t>i</a:t>
                          </a:r>
                          <a:r>
                            <a:rPr kumimoji="0" lang="en-US" sz="1800" b="1" i="0" u="none" strike="noStrike" cap="none" normalizeH="0" baseline="0" dirty="0" smtClean="0">
                              <a:ln>
                                <a:noFill/>
                              </a:ln>
                              <a:solidFill>
                                <a:srgbClr val="FFFFFF"/>
                              </a:solidFill>
                              <a:effectLst/>
                              <a:latin typeface="Gill Sans MT" pitchFamily="34" charset="0"/>
                            </a:rPr>
                            <a:t>)</a:t>
                          </a:r>
                          <a:endParaRPr kumimoji="0" lang="en-GB" sz="1800" b="1" i="0" u="none" strike="noStrike" cap="none" normalizeH="0" baseline="0" dirty="0" smtClean="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Gill Sans MT" pitchFamily="34" charset="0"/>
                            </a:rPr>
                            <a:t>1</a:t>
                          </a:r>
                          <a:endParaRPr kumimoji="0" lang="en-GB" sz="1800" b="1" i="0" u="none" strike="noStrike" cap="none" normalizeH="0" baseline="0" smtClean="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Gill Sans MT" pitchFamily="34" charset="0"/>
                            </a:rPr>
                            <a:t>2</a:t>
                          </a:r>
                          <a:endParaRPr kumimoji="0" lang="en-GB" sz="1800" b="1" i="0" u="none" strike="noStrike" cap="none" normalizeH="0" baseline="0" smtClean="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Gill Sans MT" pitchFamily="34" charset="0"/>
                            </a:rPr>
                            <a:t>3</a:t>
                          </a:r>
                          <a:endParaRPr kumimoji="0" lang="en-GB" sz="1800" b="1" i="0" u="none" strike="noStrike" cap="none" normalizeH="0" baseline="0" dirty="0" smtClean="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rgbClr val="FFFFFF"/>
                              </a:solidFill>
                              <a:effectLst/>
                              <a:latin typeface="Gill Sans MT" pitchFamily="34" charset="0"/>
                            </a:rPr>
                            <a:t>4</a:t>
                          </a:r>
                          <a:endParaRPr kumimoji="0" lang="en-GB" sz="1800" b="1" i="0" u="none" strike="noStrike" cap="none" normalizeH="0" baseline="0" smtClean="0">
                            <a:ln>
                              <a:noFill/>
                            </a:ln>
                            <a:solidFill>
                              <a:srgbClr val="FFFFFF"/>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96240">
                    <a:tc>
                      <a:txBody>
                        <a:bodyPr/>
                        <a:lstStyle/>
                        <a:p>
                          <a:endParaRPr lang="en-US"/>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blipFill rotWithShape="0">
                          <a:blip r:embed="rId2"/>
                          <a:stretch>
                            <a:fillRect l="-2105" t="-100000" r="-176842" b="-119697"/>
                          </a:stretch>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Gill Sans MT" pitchFamily="34" charset="0"/>
                            </a:rPr>
                            <a:t>2</a:t>
                          </a:r>
                          <a:endParaRPr kumimoji="0" lang="en-GB" sz="1800" b="0" i="0" u="none" strike="noStrike" cap="none" normalizeH="0" baseline="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Gill Sans MT" pitchFamily="34" charset="0"/>
                            </a:rPr>
                            <a:t>3</a:t>
                          </a:r>
                          <a:endParaRPr kumimoji="0" lang="en-GB" sz="1800" b="0" i="0" u="none" strike="noStrike" cap="none" normalizeH="0" baseline="0" dirty="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Gill Sans MT" pitchFamily="34" charset="0"/>
                            </a:rPr>
                            <a:t>4</a:t>
                          </a:r>
                          <a:endParaRPr kumimoji="0" lang="en-GB" sz="1800" b="0" i="0" u="none" strike="noStrike" cap="none" normalizeH="0" baseline="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Gill Sans MT" pitchFamily="34" charset="0"/>
                            </a:rPr>
                            <a:t>6</a:t>
                          </a:r>
                          <a:endParaRPr kumimoji="0" lang="en-GB" sz="1800" b="0" i="0" u="none" strike="noStrike" cap="none" normalizeH="0" baseline="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r>
                  <a:tr h="396240">
                    <a:tc>
                      <a:txBody>
                        <a:bodyPr/>
                        <a:lstStyle/>
                        <a:p>
                          <a:endParaRPr lang="en-US"/>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blipFill rotWithShape="0">
                          <a:blip r:embed="rId2"/>
                          <a:stretch>
                            <a:fillRect l="-2105" t="-203077" r="-176842" b="-21538"/>
                          </a:stretch>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Gill Sans MT" pitchFamily="34" charset="0"/>
                            </a:rPr>
                            <a:t>8</a:t>
                          </a:r>
                          <a:endParaRPr kumimoji="0" lang="en-GB" sz="1800" b="0" i="0" u="none" strike="noStrike" cap="none" normalizeH="0" baseline="0" dirty="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Gill Sans MT" pitchFamily="34" charset="0"/>
                            </a:rPr>
                            <a:t>12</a:t>
                          </a:r>
                          <a:endParaRPr kumimoji="0" lang="en-GB" sz="1800" b="0" i="0" u="none" strike="noStrike" cap="none" normalizeH="0" baseline="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Gill Sans MT" pitchFamily="34" charset="0"/>
                            </a:rPr>
                            <a:t>15</a:t>
                          </a:r>
                          <a:endParaRPr kumimoji="0" lang="en-GB" sz="1800" b="0" i="0" u="none" strike="noStrike" cap="none" normalizeH="0" baseline="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Gill Sans MT" pitchFamily="34" charset="0"/>
                            </a:rPr>
                            <a:t>19</a:t>
                          </a:r>
                          <a:endParaRPr kumimoji="0" lang="en-GB" sz="1800" b="0" i="0" u="none" strike="noStrike" cap="none" normalizeH="0" baseline="0" dirty="0" smtClean="0">
                            <a:ln>
                              <a:noFill/>
                            </a:ln>
                            <a:solidFill>
                              <a:srgbClr val="000000"/>
                            </a:solidFill>
                            <a:effectLst/>
                            <a:latin typeface="Gill Sans MT"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r>
                </a:tbl>
              </a:graphicData>
            </a:graphic>
          </p:graphicFrame>
        </mc:Fallback>
      </mc:AlternateContent>
    </p:spTree>
    <p:extLst>
      <p:ext uri="{BB962C8B-B14F-4D97-AF65-F5344CB8AC3E}">
        <p14:creationId xmlns:p14="http://schemas.microsoft.com/office/powerpoint/2010/main" val="1486928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Think in a Sequential Way</a:t>
            </a:r>
            <a:endParaRPr lang="en-GB" altLang="en-US" dirty="0"/>
          </a:p>
        </p:txBody>
      </p:sp>
      <p:sp>
        <p:nvSpPr>
          <p:cNvPr id="3" name="Content Placeholder 2"/>
          <p:cNvSpPr>
            <a:spLocks noGrp="1"/>
          </p:cNvSpPr>
          <p:nvPr>
            <p:ph sz="quarter" idx="1"/>
          </p:nvPr>
        </p:nvSpPr>
        <p:spPr>
          <a:xfrm>
            <a:off x="457200" y="1219200"/>
            <a:ext cx="8229600" cy="4937125"/>
          </a:xfrm>
        </p:spPr>
        <p:txBody>
          <a:bodyPr/>
          <a:lstStyle/>
          <a:p>
            <a:r>
              <a:rPr lang="en-US" altLang="en-US" dirty="0">
                <a:effectLst/>
              </a:rPr>
              <a:t>Think about the case when the salesperson for product 1 to product 4 comes sequentially. At each stage, we have to make the decision whether to buy the product or not.</a:t>
            </a:r>
          </a:p>
          <a:p>
            <a:r>
              <a:rPr lang="en-US" altLang="en-US" dirty="0">
                <a:effectLst/>
              </a:rPr>
              <a:t>State:</a:t>
            </a:r>
            <a:endParaRPr lang="en-GB" altLang="en-US" dirty="0">
              <a:effectLst/>
            </a:endParaRPr>
          </a:p>
        </p:txBody>
      </p:sp>
      <p:sp>
        <p:nvSpPr>
          <p:cNvPr id="7" name="TextBox 6"/>
          <p:cNvSpPr txBox="1">
            <a:spLocks noChangeArrowheads="1"/>
          </p:cNvSpPr>
          <p:nvPr/>
        </p:nvSpPr>
        <p:spPr bwMode="auto">
          <a:xfrm>
            <a:off x="882086" y="3786881"/>
            <a:ext cx="73703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The remaining budget.</a:t>
            </a:r>
            <a:endParaRPr lang="en-GB" altLang="en-US" sz="2400" b="1" dirty="0"/>
          </a:p>
        </p:txBody>
      </p:sp>
    </p:spTree>
    <p:extLst>
      <p:ext uri="{BB962C8B-B14F-4D97-AF65-F5344CB8AC3E}">
        <p14:creationId xmlns:p14="http://schemas.microsoft.com/office/powerpoint/2010/main" val="1125236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a:t>Decomposition</a:t>
            </a:r>
            <a:endParaRPr lang="en-GB" altLang="en-US"/>
          </a:p>
        </p:txBody>
      </p:sp>
      <p:graphicFrame>
        <p:nvGraphicFramePr>
          <p:cNvPr id="7" name="Table 6"/>
          <p:cNvGraphicFramePr>
            <a:graphicFrameLocks noGrp="1"/>
          </p:cNvGraphicFramePr>
          <p:nvPr/>
        </p:nvGraphicFramePr>
        <p:xfrm>
          <a:off x="500062" y="1232675"/>
          <a:ext cx="8113585" cy="5222989"/>
        </p:xfrm>
        <a:graphic>
          <a:graphicData uri="http://schemas.openxmlformats.org/drawingml/2006/table">
            <a:tbl>
              <a:tblPr/>
              <a:tblGrid>
                <a:gridCol w="1622717">
                  <a:extLst>
                    <a:ext uri="{9D8B030D-6E8A-4147-A177-3AD203B41FA5}">
                      <a16:colId xmlns:a16="http://schemas.microsoft.com/office/drawing/2014/main" val="20000"/>
                    </a:ext>
                  </a:extLst>
                </a:gridCol>
                <a:gridCol w="1622717">
                  <a:extLst>
                    <a:ext uri="{9D8B030D-6E8A-4147-A177-3AD203B41FA5}">
                      <a16:colId xmlns:a16="http://schemas.microsoft.com/office/drawing/2014/main" val="20001"/>
                    </a:ext>
                  </a:extLst>
                </a:gridCol>
                <a:gridCol w="1622717">
                  <a:extLst>
                    <a:ext uri="{9D8B030D-6E8A-4147-A177-3AD203B41FA5}">
                      <a16:colId xmlns:a16="http://schemas.microsoft.com/office/drawing/2014/main" val="20002"/>
                    </a:ext>
                  </a:extLst>
                </a:gridCol>
                <a:gridCol w="1622717">
                  <a:extLst>
                    <a:ext uri="{9D8B030D-6E8A-4147-A177-3AD203B41FA5}">
                      <a16:colId xmlns:a16="http://schemas.microsoft.com/office/drawing/2014/main" val="20003"/>
                    </a:ext>
                  </a:extLst>
                </a:gridCol>
                <a:gridCol w="1622717">
                  <a:extLst>
                    <a:ext uri="{9D8B030D-6E8A-4147-A177-3AD203B41FA5}">
                      <a16:colId xmlns:a16="http://schemas.microsoft.com/office/drawing/2014/main" val="20004"/>
                    </a:ext>
                  </a:extLst>
                </a:gridCol>
              </a:tblGrid>
              <a:tr h="66204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3</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2</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1</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463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8" name="Oval 7"/>
          <p:cNvSpPr/>
          <p:nvPr/>
        </p:nvSpPr>
        <p:spPr>
          <a:xfrm>
            <a:off x="764381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9" name="Oval 8"/>
          <p:cNvSpPr/>
          <p:nvPr/>
        </p:nvSpPr>
        <p:spPr>
          <a:xfrm>
            <a:off x="764381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0" name="Oval 9"/>
          <p:cNvSpPr/>
          <p:nvPr/>
        </p:nvSpPr>
        <p:spPr>
          <a:xfrm>
            <a:off x="764381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1" name="Oval 10"/>
          <p:cNvSpPr/>
          <p:nvPr/>
        </p:nvSpPr>
        <p:spPr>
          <a:xfrm>
            <a:off x="764381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764381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764381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764381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5" name="Oval 14"/>
          <p:cNvSpPr/>
          <p:nvPr/>
        </p:nvSpPr>
        <p:spPr>
          <a:xfrm>
            <a:off x="764381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6" name="Oval 15"/>
          <p:cNvSpPr/>
          <p:nvPr/>
        </p:nvSpPr>
        <p:spPr>
          <a:xfrm>
            <a:off x="764381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7" name="Oval 16"/>
          <p:cNvSpPr/>
          <p:nvPr/>
        </p:nvSpPr>
        <p:spPr>
          <a:xfrm>
            <a:off x="764381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8" name="Oval 17"/>
          <p:cNvSpPr/>
          <p:nvPr/>
        </p:nvSpPr>
        <p:spPr>
          <a:xfrm>
            <a:off x="764381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9" name="Oval 18"/>
          <p:cNvSpPr/>
          <p:nvPr/>
        </p:nvSpPr>
        <p:spPr>
          <a:xfrm>
            <a:off x="6072188"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0" name="Oval 19"/>
          <p:cNvSpPr/>
          <p:nvPr/>
        </p:nvSpPr>
        <p:spPr>
          <a:xfrm>
            <a:off x="6072188"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1" name="Oval 20"/>
          <p:cNvSpPr/>
          <p:nvPr/>
        </p:nvSpPr>
        <p:spPr>
          <a:xfrm>
            <a:off x="6072188"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2" name="Oval 21"/>
          <p:cNvSpPr/>
          <p:nvPr/>
        </p:nvSpPr>
        <p:spPr>
          <a:xfrm>
            <a:off x="6072188"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3" name="Oval 22"/>
          <p:cNvSpPr/>
          <p:nvPr/>
        </p:nvSpPr>
        <p:spPr>
          <a:xfrm>
            <a:off x="6072188"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4" name="Oval 23"/>
          <p:cNvSpPr/>
          <p:nvPr/>
        </p:nvSpPr>
        <p:spPr>
          <a:xfrm>
            <a:off x="6072188"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5" name="Oval 24"/>
          <p:cNvSpPr/>
          <p:nvPr/>
        </p:nvSpPr>
        <p:spPr>
          <a:xfrm>
            <a:off x="6072188"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6" name="Oval 25"/>
          <p:cNvSpPr/>
          <p:nvPr/>
        </p:nvSpPr>
        <p:spPr>
          <a:xfrm>
            <a:off x="6072188"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7" name="Oval 26"/>
          <p:cNvSpPr/>
          <p:nvPr/>
        </p:nvSpPr>
        <p:spPr>
          <a:xfrm>
            <a:off x="6072188"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8" name="Oval 27"/>
          <p:cNvSpPr/>
          <p:nvPr/>
        </p:nvSpPr>
        <p:spPr>
          <a:xfrm>
            <a:off x="6072188"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9" name="Oval 28"/>
          <p:cNvSpPr/>
          <p:nvPr/>
        </p:nvSpPr>
        <p:spPr>
          <a:xfrm>
            <a:off x="6072188"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0" name="Oval 29"/>
          <p:cNvSpPr/>
          <p:nvPr/>
        </p:nvSpPr>
        <p:spPr>
          <a:xfrm>
            <a:off x="45005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1" name="Oval 30"/>
          <p:cNvSpPr/>
          <p:nvPr/>
        </p:nvSpPr>
        <p:spPr>
          <a:xfrm>
            <a:off x="45005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2" name="Oval 31"/>
          <p:cNvSpPr/>
          <p:nvPr/>
        </p:nvSpPr>
        <p:spPr>
          <a:xfrm>
            <a:off x="45005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3" name="Oval 32"/>
          <p:cNvSpPr/>
          <p:nvPr/>
        </p:nvSpPr>
        <p:spPr>
          <a:xfrm>
            <a:off x="45005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4" name="Oval 33"/>
          <p:cNvSpPr/>
          <p:nvPr/>
        </p:nvSpPr>
        <p:spPr>
          <a:xfrm>
            <a:off x="45005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5" name="Oval 34"/>
          <p:cNvSpPr/>
          <p:nvPr/>
        </p:nvSpPr>
        <p:spPr>
          <a:xfrm>
            <a:off x="45005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6" name="Oval 35"/>
          <p:cNvSpPr/>
          <p:nvPr/>
        </p:nvSpPr>
        <p:spPr>
          <a:xfrm>
            <a:off x="45005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7" name="Oval 36"/>
          <p:cNvSpPr/>
          <p:nvPr/>
        </p:nvSpPr>
        <p:spPr>
          <a:xfrm>
            <a:off x="45005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8" name="Oval 37"/>
          <p:cNvSpPr/>
          <p:nvPr/>
        </p:nvSpPr>
        <p:spPr>
          <a:xfrm>
            <a:off x="45005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9" name="Oval 38"/>
          <p:cNvSpPr/>
          <p:nvPr/>
        </p:nvSpPr>
        <p:spPr>
          <a:xfrm>
            <a:off x="45005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0" name="Oval 39"/>
          <p:cNvSpPr/>
          <p:nvPr/>
        </p:nvSpPr>
        <p:spPr>
          <a:xfrm>
            <a:off x="45005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Tree>
    <p:extLst>
      <p:ext uri="{BB962C8B-B14F-4D97-AF65-F5344CB8AC3E}">
        <p14:creationId xmlns:p14="http://schemas.microsoft.com/office/powerpoint/2010/main" val="1671317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a:t>Single Stage Problem: Only Product 4</a:t>
            </a:r>
            <a:endParaRPr lang="en-GB" altLang="en-US" dirty="0"/>
          </a:p>
        </p:txBody>
      </p:sp>
      <p:graphicFrame>
        <p:nvGraphicFramePr>
          <p:cNvPr id="7" name="Table 6"/>
          <p:cNvGraphicFramePr>
            <a:graphicFrameLocks noGrp="1"/>
          </p:cNvGraphicFramePr>
          <p:nvPr/>
        </p:nvGraphicFramePr>
        <p:xfrm>
          <a:off x="535781" y="1232675"/>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2</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1</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19" name="Oval 18"/>
          <p:cNvSpPr/>
          <p:nvPr/>
        </p:nvSpPr>
        <p:spPr>
          <a:xfrm>
            <a:off x="6072188"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0" name="Oval 19"/>
          <p:cNvSpPr/>
          <p:nvPr/>
        </p:nvSpPr>
        <p:spPr>
          <a:xfrm>
            <a:off x="6072188"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1" name="Oval 20"/>
          <p:cNvSpPr/>
          <p:nvPr/>
        </p:nvSpPr>
        <p:spPr>
          <a:xfrm>
            <a:off x="6072188"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2" name="Oval 21"/>
          <p:cNvSpPr/>
          <p:nvPr/>
        </p:nvSpPr>
        <p:spPr>
          <a:xfrm>
            <a:off x="6072188"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3" name="Oval 22"/>
          <p:cNvSpPr/>
          <p:nvPr/>
        </p:nvSpPr>
        <p:spPr>
          <a:xfrm>
            <a:off x="6072188"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4" name="Oval 23"/>
          <p:cNvSpPr/>
          <p:nvPr/>
        </p:nvSpPr>
        <p:spPr>
          <a:xfrm>
            <a:off x="6072188"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5" name="Oval 24"/>
          <p:cNvSpPr/>
          <p:nvPr/>
        </p:nvSpPr>
        <p:spPr>
          <a:xfrm>
            <a:off x="6072188"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6" name="Oval 25"/>
          <p:cNvSpPr/>
          <p:nvPr/>
        </p:nvSpPr>
        <p:spPr>
          <a:xfrm>
            <a:off x="6072188"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7" name="Oval 26"/>
          <p:cNvSpPr/>
          <p:nvPr/>
        </p:nvSpPr>
        <p:spPr>
          <a:xfrm>
            <a:off x="6072188"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8" name="Oval 27"/>
          <p:cNvSpPr/>
          <p:nvPr/>
        </p:nvSpPr>
        <p:spPr>
          <a:xfrm>
            <a:off x="6072188"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29" name="Oval 28"/>
          <p:cNvSpPr/>
          <p:nvPr/>
        </p:nvSpPr>
        <p:spPr>
          <a:xfrm>
            <a:off x="6072188"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0" name="Oval 29"/>
          <p:cNvSpPr/>
          <p:nvPr/>
        </p:nvSpPr>
        <p:spPr>
          <a:xfrm>
            <a:off x="45005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1" name="Oval 30"/>
          <p:cNvSpPr/>
          <p:nvPr/>
        </p:nvSpPr>
        <p:spPr>
          <a:xfrm>
            <a:off x="45005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2" name="Oval 31"/>
          <p:cNvSpPr/>
          <p:nvPr/>
        </p:nvSpPr>
        <p:spPr>
          <a:xfrm>
            <a:off x="45005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3" name="Oval 32"/>
          <p:cNvSpPr/>
          <p:nvPr/>
        </p:nvSpPr>
        <p:spPr>
          <a:xfrm>
            <a:off x="45005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4" name="Oval 33"/>
          <p:cNvSpPr/>
          <p:nvPr/>
        </p:nvSpPr>
        <p:spPr>
          <a:xfrm>
            <a:off x="45005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5" name="Oval 34"/>
          <p:cNvSpPr/>
          <p:nvPr/>
        </p:nvSpPr>
        <p:spPr>
          <a:xfrm>
            <a:off x="45005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6" name="Oval 35"/>
          <p:cNvSpPr/>
          <p:nvPr/>
        </p:nvSpPr>
        <p:spPr>
          <a:xfrm>
            <a:off x="45005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7" name="Oval 36"/>
          <p:cNvSpPr/>
          <p:nvPr/>
        </p:nvSpPr>
        <p:spPr>
          <a:xfrm>
            <a:off x="45005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8" name="Oval 37"/>
          <p:cNvSpPr/>
          <p:nvPr/>
        </p:nvSpPr>
        <p:spPr>
          <a:xfrm>
            <a:off x="45005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9" name="Oval 38"/>
          <p:cNvSpPr/>
          <p:nvPr/>
        </p:nvSpPr>
        <p:spPr>
          <a:xfrm>
            <a:off x="45005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0" name="Oval 39"/>
          <p:cNvSpPr/>
          <p:nvPr/>
        </p:nvSpPr>
        <p:spPr>
          <a:xfrm>
            <a:off x="45005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mc:AlternateContent xmlns:mc="http://schemas.openxmlformats.org/markup-compatibility/2006" xmlns:a14="http://schemas.microsoft.com/office/drawing/2010/main">
        <mc:Choice Requires="a14">
          <p:sp>
            <p:nvSpPr>
              <p:cNvPr id="52" name="TextBox 51"/>
              <p:cNvSpPr txBox="1">
                <a:spLocks noChangeArrowheads="1"/>
              </p:cNvSpPr>
              <p:nvPr/>
            </p:nvSpPr>
            <p:spPr bwMode="auto">
              <a:xfrm>
                <a:off x="6917469" y="1486388"/>
                <a:ext cx="179121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=19,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=6</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52" name="TextBox 51"/>
              <p:cNvSpPr txBox="1">
                <a:spLocks noRot="1" noChangeAspect="1" noMove="1" noResize="1" noEditPoints="1" noAdjustHandles="1" noChangeArrowheads="1" noChangeShapeType="1" noTextEdit="1"/>
              </p:cNvSpPr>
              <p:nvPr/>
            </p:nvSpPr>
            <p:spPr bwMode="auto">
              <a:xfrm>
                <a:off x="6917469" y="1486388"/>
                <a:ext cx="1791215" cy="369332"/>
              </a:xfrm>
              <a:prstGeom prst="rect">
                <a:avLst/>
              </a:prstGeom>
              <a:blipFill rotWithShape="0">
                <a:blip r:embed="rId2"/>
                <a:stretch>
                  <a:fillRect r="-1020"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2" name="Picture 1"/>
          <p:cNvPicPr>
            <a:picLocks noChangeAspect="1"/>
          </p:cNvPicPr>
          <p:nvPr/>
        </p:nvPicPr>
        <p:blipFill>
          <a:blip r:embed="rId3"/>
          <a:stretch>
            <a:fillRect/>
          </a:stretch>
        </p:blipFill>
        <p:spPr>
          <a:xfrm>
            <a:off x="2169886" y="1232675"/>
            <a:ext cx="4884057" cy="5311493"/>
          </a:xfrm>
          <a:prstGeom prst="rect">
            <a:avLst/>
          </a:prstGeom>
        </p:spPr>
      </p:pic>
    </p:spTree>
    <p:extLst>
      <p:ext uri="{BB962C8B-B14F-4D97-AF65-F5344CB8AC3E}">
        <p14:creationId xmlns:p14="http://schemas.microsoft.com/office/powerpoint/2010/main" val="3020736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a:t>Stage 1</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2</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30" name="Oval 29"/>
          <p:cNvSpPr/>
          <p:nvPr/>
        </p:nvSpPr>
        <p:spPr>
          <a:xfrm>
            <a:off x="45005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1" name="Oval 30"/>
          <p:cNvSpPr/>
          <p:nvPr/>
        </p:nvSpPr>
        <p:spPr>
          <a:xfrm>
            <a:off x="45005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2" name="Oval 31"/>
          <p:cNvSpPr/>
          <p:nvPr/>
        </p:nvSpPr>
        <p:spPr>
          <a:xfrm>
            <a:off x="45005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3" name="Oval 32"/>
          <p:cNvSpPr/>
          <p:nvPr/>
        </p:nvSpPr>
        <p:spPr>
          <a:xfrm>
            <a:off x="45005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4" name="Oval 33"/>
          <p:cNvSpPr/>
          <p:nvPr/>
        </p:nvSpPr>
        <p:spPr>
          <a:xfrm>
            <a:off x="45005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5" name="Oval 34"/>
          <p:cNvSpPr/>
          <p:nvPr/>
        </p:nvSpPr>
        <p:spPr>
          <a:xfrm>
            <a:off x="45005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6" name="Oval 35"/>
          <p:cNvSpPr/>
          <p:nvPr/>
        </p:nvSpPr>
        <p:spPr>
          <a:xfrm>
            <a:off x="45005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7" name="Oval 36"/>
          <p:cNvSpPr/>
          <p:nvPr/>
        </p:nvSpPr>
        <p:spPr>
          <a:xfrm>
            <a:off x="45005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8" name="Oval 37"/>
          <p:cNvSpPr/>
          <p:nvPr/>
        </p:nvSpPr>
        <p:spPr>
          <a:xfrm>
            <a:off x="45005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9" name="Oval 38"/>
          <p:cNvSpPr/>
          <p:nvPr/>
        </p:nvSpPr>
        <p:spPr>
          <a:xfrm>
            <a:off x="45005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0" name="Oval 39"/>
          <p:cNvSpPr/>
          <p:nvPr/>
        </p:nvSpPr>
        <p:spPr>
          <a:xfrm>
            <a:off x="45005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mc:AlternateContent xmlns:mc="http://schemas.openxmlformats.org/markup-compatibility/2006" xmlns:a14="http://schemas.microsoft.com/office/drawing/2010/main">
        <mc:Choice Requires="a14">
          <p:sp>
            <p:nvSpPr>
              <p:cNvPr id="29" name="TextBox 28"/>
              <p:cNvSpPr txBox="1">
                <a:spLocks noChangeArrowheads="1"/>
              </p:cNvSpPr>
              <p:nvPr/>
            </p:nvSpPr>
            <p:spPr bwMode="auto">
              <a:xfrm>
                <a:off x="6888441" y="1486388"/>
                <a:ext cx="179121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=19,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=6</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29" name="TextBox 28"/>
              <p:cNvSpPr txBox="1">
                <a:spLocks noRot="1" noChangeAspect="1" noMove="1" noResize="1" noEditPoints="1" noAdjustHandles="1" noChangeArrowheads="1" noChangeShapeType="1" noTextEdit="1"/>
              </p:cNvSpPr>
              <p:nvPr/>
            </p:nvSpPr>
            <p:spPr bwMode="auto">
              <a:xfrm>
                <a:off x="6888441" y="1486388"/>
                <a:ext cx="1791215" cy="369332"/>
              </a:xfrm>
              <a:prstGeom prst="rect">
                <a:avLst/>
              </a:prstGeom>
              <a:blipFill rotWithShape="0">
                <a:blip r:embed="rId2"/>
                <a:stretch>
                  <a:fillRect r="-1020"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28" name="Picture 27"/>
          <p:cNvPicPr>
            <a:picLocks noChangeAspect="1"/>
          </p:cNvPicPr>
          <p:nvPr/>
        </p:nvPicPr>
        <p:blipFill>
          <a:blip r:embed="rId3"/>
          <a:stretch>
            <a:fillRect/>
          </a:stretch>
        </p:blipFill>
        <p:spPr>
          <a:xfrm>
            <a:off x="2126343" y="1214438"/>
            <a:ext cx="4884057" cy="5311493"/>
          </a:xfrm>
          <a:prstGeom prst="rect">
            <a:avLst/>
          </a:prstGeom>
        </p:spPr>
      </p:pic>
    </p:spTree>
    <p:extLst>
      <p:ext uri="{BB962C8B-B14F-4D97-AF65-F5344CB8AC3E}">
        <p14:creationId xmlns:p14="http://schemas.microsoft.com/office/powerpoint/2010/main" val="1374916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a:t>Stage 2</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2</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30" name="Oval 29"/>
          <p:cNvSpPr/>
          <p:nvPr/>
        </p:nvSpPr>
        <p:spPr>
          <a:xfrm>
            <a:off x="45005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1" name="Oval 30"/>
          <p:cNvSpPr/>
          <p:nvPr/>
        </p:nvSpPr>
        <p:spPr>
          <a:xfrm>
            <a:off x="45005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2" name="Oval 31"/>
          <p:cNvSpPr/>
          <p:nvPr/>
        </p:nvSpPr>
        <p:spPr>
          <a:xfrm>
            <a:off x="45005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3" name="Oval 32"/>
          <p:cNvSpPr/>
          <p:nvPr/>
        </p:nvSpPr>
        <p:spPr>
          <a:xfrm>
            <a:off x="45005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4" name="Oval 33"/>
          <p:cNvSpPr/>
          <p:nvPr/>
        </p:nvSpPr>
        <p:spPr>
          <a:xfrm>
            <a:off x="45005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5" name="Oval 34"/>
          <p:cNvSpPr/>
          <p:nvPr/>
        </p:nvSpPr>
        <p:spPr>
          <a:xfrm>
            <a:off x="45005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6" name="Oval 35"/>
          <p:cNvSpPr/>
          <p:nvPr/>
        </p:nvSpPr>
        <p:spPr>
          <a:xfrm>
            <a:off x="45005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7" name="Oval 36"/>
          <p:cNvSpPr/>
          <p:nvPr/>
        </p:nvSpPr>
        <p:spPr>
          <a:xfrm>
            <a:off x="45005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8" name="Oval 37"/>
          <p:cNvSpPr/>
          <p:nvPr/>
        </p:nvSpPr>
        <p:spPr>
          <a:xfrm>
            <a:off x="45005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9" name="Oval 38"/>
          <p:cNvSpPr/>
          <p:nvPr/>
        </p:nvSpPr>
        <p:spPr>
          <a:xfrm>
            <a:off x="45005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0" name="Oval 39"/>
          <p:cNvSpPr/>
          <p:nvPr/>
        </p:nvSpPr>
        <p:spPr>
          <a:xfrm>
            <a:off x="45005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pic>
        <p:nvPicPr>
          <p:cNvPr id="28" name="Picture 27"/>
          <p:cNvPicPr>
            <a:picLocks noChangeAspect="1"/>
          </p:cNvPicPr>
          <p:nvPr/>
        </p:nvPicPr>
        <p:blipFill>
          <a:blip r:embed="rId2"/>
          <a:stretch>
            <a:fillRect/>
          </a:stretch>
        </p:blipFill>
        <p:spPr>
          <a:xfrm>
            <a:off x="2126344" y="1214438"/>
            <a:ext cx="3265714" cy="5311493"/>
          </a:xfrm>
          <a:prstGeom prst="rect">
            <a:avLst/>
          </a:prstGeom>
        </p:spPr>
      </p:pic>
      <mc:AlternateContent xmlns:mc="http://schemas.openxmlformats.org/markup-compatibility/2006" xmlns:a14="http://schemas.microsoft.com/office/drawing/2010/main">
        <mc:Choice Requires="a14">
          <p:sp>
            <p:nvSpPr>
              <p:cNvPr id="52" name="TextBox 51"/>
              <p:cNvSpPr txBox="1">
                <a:spLocks noChangeArrowheads="1"/>
              </p:cNvSpPr>
              <p:nvPr/>
            </p:nvSpPr>
            <p:spPr bwMode="auto">
              <a:xfrm>
                <a:off x="5194649"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=15,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52" name="TextBox 51"/>
              <p:cNvSpPr txBox="1">
                <a:spLocks noRot="1" noChangeAspect="1" noMove="1" noResize="1" noEditPoints="1" noAdjustHandles="1" noChangeArrowheads="1" noChangeShapeType="1" noTextEdit="1"/>
              </p:cNvSpPr>
              <p:nvPr/>
            </p:nvSpPr>
            <p:spPr bwMode="auto">
              <a:xfrm>
                <a:off x="5194649" y="1486388"/>
                <a:ext cx="1929025" cy="369332"/>
              </a:xfrm>
              <a:prstGeom prst="rect">
                <a:avLst/>
              </a:prstGeom>
              <a:blipFill rotWithShape="0">
                <a:blip r:embed="rId3"/>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cxnSp>
        <p:nvCxnSpPr>
          <p:cNvPr id="3" name="Straight Arrow Connector 2"/>
          <p:cNvCxnSpPr/>
          <p:nvPr/>
        </p:nvCxnSpPr>
        <p:spPr bwMode="auto">
          <a:xfrm>
            <a:off x="6633029" y="20537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3" name="Straight Arrow Connector 52"/>
          <p:cNvCxnSpPr/>
          <p:nvPr/>
        </p:nvCxnSpPr>
        <p:spPr bwMode="auto">
          <a:xfrm>
            <a:off x="6633029" y="24601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4" name="Straight Arrow Connector 53"/>
          <p:cNvCxnSpPr/>
          <p:nvPr/>
        </p:nvCxnSpPr>
        <p:spPr bwMode="auto">
          <a:xfrm>
            <a:off x="6633029" y="290285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5" name="Straight Arrow Connector 54"/>
          <p:cNvCxnSpPr/>
          <p:nvPr/>
        </p:nvCxnSpPr>
        <p:spPr bwMode="auto">
          <a:xfrm>
            <a:off x="6633029" y="333102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6" name="Straight Arrow Connector 55"/>
          <p:cNvCxnSpPr/>
          <p:nvPr/>
        </p:nvCxnSpPr>
        <p:spPr bwMode="auto">
          <a:xfrm flipV="1">
            <a:off x="6633029" y="2053771"/>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7" name="Straight Arrow Connector 56"/>
          <p:cNvCxnSpPr/>
          <p:nvPr/>
        </p:nvCxnSpPr>
        <p:spPr bwMode="auto">
          <a:xfrm>
            <a:off x="6633029" y="37229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8" name="Straight Arrow Connector 57"/>
          <p:cNvCxnSpPr/>
          <p:nvPr/>
        </p:nvCxnSpPr>
        <p:spPr bwMode="auto">
          <a:xfrm flipV="1">
            <a:off x="6633029" y="2460171"/>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9" name="Straight Arrow Connector 58"/>
          <p:cNvCxnSpPr/>
          <p:nvPr/>
        </p:nvCxnSpPr>
        <p:spPr bwMode="auto">
          <a:xfrm>
            <a:off x="6633029" y="41293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0" name="Straight Arrow Connector 59"/>
          <p:cNvCxnSpPr/>
          <p:nvPr/>
        </p:nvCxnSpPr>
        <p:spPr bwMode="auto">
          <a:xfrm flipV="1">
            <a:off x="6633029" y="2886936"/>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1" name="Straight Arrow Connector 60"/>
          <p:cNvCxnSpPr/>
          <p:nvPr/>
        </p:nvCxnSpPr>
        <p:spPr bwMode="auto">
          <a:xfrm>
            <a:off x="6633029" y="4556079"/>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2" name="Straight Arrow Connector 61"/>
          <p:cNvCxnSpPr/>
          <p:nvPr/>
        </p:nvCxnSpPr>
        <p:spPr bwMode="auto">
          <a:xfrm flipV="1">
            <a:off x="6629741" y="3313700"/>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3" name="Straight Arrow Connector 62"/>
          <p:cNvCxnSpPr/>
          <p:nvPr/>
        </p:nvCxnSpPr>
        <p:spPr bwMode="auto">
          <a:xfrm>
            <a:off x="6629741" y="498284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4" name="Straight Arrow Connector 63"/>
          <p:cNvCxnSpPr/>
          <p:nvPr/>
        </p:nvCxnSpPr>
        <p:spPr bwMode="auto">
          <a:xfrm flipV="1">
            <a:off x="6625772" y="3723542"/>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5" name="Straight Arrow Connector 64"/>
          <p:cNvCxnSpPr/>
          <p:nvPr/>
        </p:nvCxnSpPr>
        <p:spPr bwMode="auto">
          <a:xfrm>
            <a:off x="6625772" y="5392685"/>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6" name="Straight Arrow Connector 65"/>
          <p:cNvCxnSpPr/>
          <p:nvPr/>
        </p:nvCxnSpPr>
        <p:spPr bwMode="auto">
          <a:xfrm flipV="1">
            <a:off x="6633029" y="4129314"/>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7" name="Straight Arrow Connector 66"/>
          <p:cNvCxnSpPr/>
          <p:nvPr/>
        </p:nvCxnSpPr>
        <p:spPr bwMode="auto">
          <a:xfrm>
            <a:off x="6633029" y="5798457"/>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8" name="Straight Arrow Connector 67"/>
          <p:cNvCxnSpPr/>
          <p:nvPr/>
        </p:nvCxnSpPr>
        <p:spPr bwMode="auto">
          <a:xfrm flipV="1">
            <a:off x="6625772" y="4549820"/>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9" name="Straight Arrow Connector 68"/>
          <p:cNvCxnSpPr/>
          <p:nvPr/>
        </p:nvCxnSpPr>
        <p:spPr bwMode="auto">
          <a:xfrm>
            <a:off x="6625772" y="621896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spTree>
    <p:extLst>
      <p:ext uri="{BB962C8B-B14F-4D97-AF65-F5344CB8AC3E}">
        <p14:creationId xmlns:p14="http://schemas.microsoft.com/office/powerpoint/2010/main" val="283001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dirty="0"/>
              <a:t>Stage 2</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2</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19</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19</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19</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19</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34</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30" name="Oval 29"/>
          <p:cNvSpPr/>
          <p:nvPr/>
        </p:nvSpPr>
        <p:spPr>
          <a:xfrm>
            <a:off x="45005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1" name="Oval 30"/>
          <p:cNvSpPr/>
          <p:nvPr/>
        </p:nvSpPr>
        <p:spPr>
          <a:xfrm>
            <a:off x="45005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2" name="Oval 31"/>
          <p:cNvSpPr/>
          <p:nvPr/>
        </p:nvSpPr>
        <p:spPr>
          <a:xfrm>
            <a:off x="45005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3" name="Oval 32"/>
          <p:cNvSpPr/>
          <p:nvPr/>
        </p:nvSpPr>
        <p:spPr>
          <a:xfrm>
            <a:off x="45005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4" name="Oval 33"/>
          <p:cNvSpPr/>
          <p:nvPr/>
        </p:nvSpPr>
        <p:spPr>
          <a:xfrm>
            <a:off x="45005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5" name="Oval 34"/>
          <p:cNvSpPr/>
          <p:nvPr/>
        </p:nvSpPr>
        <p:spPr>
          <a:xfrm>
            <a:off x="45005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6" name="Oval 35"/>
          <p:cNvSpPr/>
          <p:nvPr/>
        </p:nvSpPr>
        <p:spPr>
          <a:xfrm>
            <a:off x="45005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7" name="Oval 36"/>
          <p:cNvSpPr/>
          <p:nvPr/>
        </p:nvSpPr>
        <p:spPr>
          <a:xfrm>
            <a:off x="45005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8" name="Oval 37"/>
          <p:cNvSpPr/>
          <p:nvPr/>
        </p:nvSpPr>
        <p:spPr>
          <a:xfrm>
            <a:off x="45005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39" name="Oval 38"/>
          <p:cNvSpPr/>
          <p:nvPr/>
        </p:nvSpPr>
        <p:spPr>
          <a:xfrm>
            <a:off x="45005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0" name="Oval 39"/>
          <p:cNvSpPr/>
          <p:nvPr/>
        </p:nvSpPr>
        <p:spPr>
          <a:xfrm>
            <a:off x="45005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pic>
        <p:nvPicPr>
          <p:cNvPr id="28" name="Picture 27"/>
          <p:cNvPicPr>
            <a:picLocks noChangeAspect="1"/>
          </p:cNvPicPr>
          <p:nvPr/>
        </p:nvPicPr>
        <p:blipFill>
          <a:blip r:embed="rId2"/>
          <a:stretch>
            <a:fillRect/>
          </a:stretch>
        </p:blipFill>
        <p:spPr>
          <a:xfrm>
            <a:off x="2126344" y="1214438"/>
            <a:ext cx="3265714" cy="5311493"/>
          </a:xfrm>
          <a:prstGeom prst="rect">
            <a:avLst/>
          </a:prstGeom>
        </p:spPr>
      </p:pic>
      <mc:AlternateContent xmlns:mc="http://schemas.openxmlformats.org/markup-compatibility/2006" xmlns:a14="http://schemas.microsoft.com/office/drawing/2010/main">
        <mc:Choice Requires="a14">
          <p:sp>
            <p:nvSpPr>
              <p:cNvPr id="52" name="TextBox 51"/>
              <p:cNvSpPr txBox="1">
                <a:spLocks noChangeArrowheads="1"/>
              </p:cNvSpPr>
              <p:nvPr/>
            </p:nvSpPr>
            <p:spPr bwMode="auto">
              <a:xfrm>
                <a:off x="5194649"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=15,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52" name="TextBox 51"/>
              <p:cNvSpPr txBox="1">
                <a:spLocks noRot="1" noChangeAspect="1" noMove="1" noResize="1" noEditPoints="1" noAdjustHandles="1" noChangeArrowheads="1" noChangeShapeType="1" noTextEdit="1"/>
              </p:cNvSpPr>
              <p:nvPr/>
            </p:nvSpPr>
            <p:spPr bwMode="auto">
              <a:xfrm>
                <a:off x="5194649" y="1486388"/>
                <a:ext cx="1929025" cy="369332"/>
              </a:xfrm>
              <a:prstGeom prst="rect">
                <a:avLst/>
              </a:prstGeom>
              <a:blipFill rotWithShape="0">
                <a:blip r:embed="rId3"/>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cxnSp>
        <p:nvCxnSpPr>
          <p:cNvPr id="3" name="Straight Arrow Connector 2"/>
          <p:cNvCxnSpPr/>
          <p:nvPr/>
        </p:nvCxnSpPr>
        <p:spPr bwMode="auto">
          <a:xfrm>
            <a:off x="6633029" y="20537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3" name="Straight Arrow Connector 52"/>
          <p:cNvCxnSpPr/>
          <p:nvPr/>
        </p:nvCxnSpPr>
        <p:spPr bwMode="auto">
          <a:xfrm>
            <a:off x="6633029" y="24601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4" name="Straight Arrow Connector 53"/>
          <p:cNvCxnSpPr/>
          <p:nvPr/>
        </p:nvCxnSpPr>
        <p:spPr bwMode="auto">
          <a:xfrm>
            <a:off x="6633029" y="290285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5" name="Straight Arrow Connector 54"/>
          <p:cNvCxnSpPr/>
          <p:nvPr/>
        </p:nvCxnSpPr>
        <p:spPr bwMode="auto">
          <a:xfrm>
            <a:off x="6633029" y="333102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6" name="Straight Arrow Connector 55"/>
          <p:cNvCxnSpPr/>
          <p:nvPr/>
        </p:nvCxnSpPr>
        <p:spPr bwMode="auto">
          <a:xfrm flipV="1">
            <a:off x="6633029" y="2053771"/>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7" name="Straight Arrow Connector 56"/>
          <p:cNvCxnSpPr/>
          <p:nvPr/>
        </p:nvCxnSpPr>
        <p:spPr bwMode="auto">
          <a:xfrm>
            <a:off x="6633029" y="37229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8" name="Straight Arrow Connector 57"/>
          <p:cNvCxnSpPr/>
          <p:nvPr/>
        </p:nvCxnSpPr>
        <p:spPr bwMode="auto">
          <a:xfrm flipV="1">
            <a:off x="6633029" y="2460171"/>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9" name="Straight Arrow Connector 58"/>
          <p:cNvCxnSpPr/>
          <p:nvPr/>
        </p:nvCxnSpPr>
        <p:spPr bwMode="auto">
          <a:xfrm>
            <a:off x="6633029" y="41293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0" name="Straight Arrow Connector 59"/>
          <p:cNvCxnSpPr/>
          <p:nvPr/>
        </p:nvCxnSpPr>
        <p:spPr bwMode="auto">
          <a:xfrm flipV="1">
            <a:off x="6633029" y="2886936"/>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1" name="Straight Arrow Connector 60"/>
          <p:cNvCxnSpPr/>
          <p:nvPr/>
        </p:nvCxnSpPr>
        <p:spPr bwMode="auto">
          <a:xfrm>
            <a:off x="6633029" y="4556079"/>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2" name="Straight Arrow Connector 61"/>
          <p:cNvCxnSpPr/>
          <p:nvPr/>
        </p:nvCxnSpPr>
        <p:spPr bwMode="auto">
          <a:xfrm flipV="1">
            <a:off x="6629741" y="3313700"/>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3" name="Straight Arrow Connector 62"/>
          <p:cNvCxnSpPr/>
          <p:nvPr/>
        </p:nvCxnSpPr>
        <p:spPr bwMode="auto">
          <a:xfrm>
            <a:off x="6629741" y="498284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4" name="Straight Arrow Connector 63"/>
          <p:cNvCxnSpPr/>
          <p:nvPr/>
        </p:nvCxnSpPr>
        <p:spPr bwMode="auto">
          <a:xfrm flipV="1">
            <a:off x="6625772" y="3723542"/>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5" name="Straight Arrow Connector 64"/>
          <p:cNvCxnSpPr/>
          <p:nvPr/>
        </p:nvCxnSpPr>
        <p:spPr bwMode="auto">
          <a:xfrm>
            <a:off x="6625772" y="5392685"/>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6" name="Straight Arrow Connector 65"/>
          <p:cNvCxnSpPr/>
          <p:nvPr/>
        </p:nvCxnSpPr>
        <p:spPr bwMode="auto">
          <a:xfrm flipV="1">
            <a:off x="6633029" y="4129314"/>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7" name="Straight Arrow Connector 66"/>
          <p:cNvCxnSpPr/>
          <p:nvPr/>
        </p:nvCxnSpPr>
        <p:spPr bwMode="auto">
          <a:xfrm>
            <a:off x="6633029" y="5798457"/>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8" name="Straight Arrow Connector 67"/>
          <p:cNvCxnSpPr/>
          <p:nvPr/>
        </p:nvCxnSpPr>
        <p:spPr bwMode="auto">
          <a:xfrm flipV="1">
            <a:off x="6625772" y="4549820"/>
            <a:ext cx="863600" cy="1669143"/>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69" name="Straight Arrow Connector 68"/>
          <p:cNvCxnSpPr/>
          <p:nvPr/>
        </p:nvCxnSpPr>
        <p:spPr bwMode="auto">
          <a:xfrm>
            <a:off x="6625772" y="621896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spTree>
    <p:extLst>
      <p:ext uri="{BB962C8B-B14F-4D97-AF65-F5344CB8AC3E}">
        <p14:creationId xmlns:p14="http://schemas.microsoft.com/office/powerpoint/2010/main" val="3599462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Stage 3</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3</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2</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15</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mc:AlternateContent xmlns:mc="http://schemas.openxmlformats.org/markup-compatibility/2006" xmlns:a14="http://schemas.microsoft.com/office/drawing/2010/main">
        <mc:Choice Requires="a14">
          <p:sp>
            <p:nvSpPr>
              <p:cNvPr id="19" name="TextBox 18"/>
              <p:cNvSpPr txBox="1">
                <a:spLocks noChangeArrowheads="1"/>
              </p:cNvSpPr>
              <p:nvPr/>
            </p:nvSpPr>
            <p:spPr bwMode="auto">
              <a:xfrm>
                <a:off x="3556712"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=12,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19" name="TextBox 18"/>
              <p:cNvSpPr txBox="1">
                <a:spLocks noRot="1" noChangeAspect="1" noMove="1" noResize="1" noEditPoints="1" noAdjustHandles="1" noChangeArrowheads="1" noChangeShapeType="1" noTextEdit="1"/>
              </p:cNvSpPr>
              <p:nvPr/>
            </p:nvSpPr>
            <p:spPr bwMode="auto">
              <a:xfrm>
                <a:off x="3556712" y="1486388"/>
                <a:ext cx="1929025" cy="369332"/>
              </a:xfrm>
              <a:prstGeom prst="rect">
                <a:avLst/>
              </a:prstGeom>
              <a:blipFill rotWithShape="0">
                <a:blip r:embed="rId2"/>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17" name="Picture 16"/>
          <p:cNvPicPr>
            <a:picLocks noChangeAspect="1"/>
          </p:cNvPicPr>
          <p:nvPr/>
        </p:nvPicPr>
        <p:blipFill>
          <a:blip r:embed="rId3"/>
          <a:stretch>
            <a:fillRect/>
          </a:stretch>
        </p:blipFill>
        <p:spPr>
          <a:xfrm>
            <a:off x="2126344" y="1214438"/>
            <a:ext cx="1647370" cy="5311493"/>
          </a:xfrm>
          <a:prstGeom prst="rect">
            <a:avLst/>
          </a:prstGeom>
        </p:spPr>
      </p:pic>
      <p:pic>
        <p:nvPicPr>
          <p:cNvPr id="20" name="Picture 19"/>
          <p:cNvPicPr>
            <a:picLocks noChangeAspect="1"/>
          </p:cNvPicPr>
          <p:nvPr/>
        </p:nvPicPr>
        <p:blipFill>
          <a:blip r:embed="rId3"/>
          <a:stretch>
            <a:fillRect/>
          </a:stretch>
        </p:blipFill>
        <p:spPr>
          <a:xfrm>
            <a:off x="7018339" y="1183640"/>
            <a:ext cx="1647370" cy="5311493"/>
          </a:xfrm>
          <a:prstGeom prst="rect">
            <a:avLst/>
          </a:prstGeom>
        </p:spPr>
      </p:pic>
      <p:cxnSp>
        <p:nvCxnSpPr>
          <p:cNvPr id="22" name="Straight Arrow Connector 21"/>
          <p:cNvCxnSpPr/>
          <p:nvPr/>
        </p:nvCxnSpPr>
        <p:spPr bwMode="auto">
          <a:xfrm>
            <a:off x="4963223" y="20465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3" name="Straight Arrow Connector 22"/>
          <p:cNvCxnSpPr/>
          <p:nvPr/>
        </p:nvCxnSpPr>
        <p:spPr bwMode="auto">
          <a:xfrm>
            <a:off x="4955303" y="2445657"/>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4" name="Straight Arrow Connector 23"/>
          <p:cNvCxnSpPr/>
          <p:nvPr/>
        </p:nvCxnSpPr>
        <p:spPr bwMode="auto">
          <a:xfrm>
            <a:off x="4955303" y="2895600"/>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5" name="Straight Arrow Connector 24"/>
          <p:cNvCxnSpPr/>
          <p:nvPr/>
        </p:nvCxnSpPr>
        <p:spPr bwMode="auto">
          <a:xfrm>
            <a:off x="4963223" y="33237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6" name="Straight Arrow Connector 25"/>
          <p:cNvCxnSpPr/>
          <p:nvPr/>
        </p:nvCxnSpPr>
        <p:spPr bwMode="auto">
          <a:xfrm flipV="1">
            <a:off x="4955303" y="2143125"/>
            <a:ext cx="871520" cy="1180647"/>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7" name="Straight Arrow Connector 26"/>
          <p:cNvCxnSpPr/>
          <p:nvPr/>
        </p:nvCxnSpPr>
        <p:spPr bwMode="auto">
          <a:xfrm>
            <a:off x="4963223" y="622662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8" name="Straight Arrow Connector 27"/>
          <p:cNvCxnSpPr/>
          <p:nvPr/>
        </p:nvCxnSpPr>
        <p:spPr bwMode="auto">
          <a:xfrm flipV="1">
            <a:off x="4955303" y="5045982"/>
            <a:ext cx="871520" cy="1180647"/>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 name="Straight Connector 4"/>
          <p:cNvCxnSpPr/>
          <p:nvPr/>
        </p:nvCxnSpPr>
        <p:spPr bwMode="auto">
          <a:xfrm>
            <a:off x="5376265" y="3265885"/>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cxnSp>
        <p:nvCxnSpPr>
          <p:cNvPr id="32" name="Straight Connector 31"/>
          <p:cNvCxnSpPr/>
          <p:nvPr/>
        </p:nvCxnSpPr>
        <p:spPr bwMode="auto">
          <a:xfrm>
            <a:off x="5371336" y="5425450"/>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spTree>
    <p:extLst>
      <p:ext uri="{BB962C8B-B14F-4D97-AF65-F5344CB8AC3E}">
        <p14:creationId xmlns:p14="http://schemas.microsoft.com/office/powerpoint/2010/main" val="429092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dirty="0"/>
              <a:t>Stage 3</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3</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2</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12</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15</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19</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27</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27</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31</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34</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p:sp>
        <p:nvSpPr>
          <p:cNvPr id="41" name="Oval 40"/>
          <p:cNvSpPr/>
          <p:nvPr/>
        </p:nvSpPr>
        <p:spPr>
          <a:xfrm>
            <a:off x="2786063" y="19288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2" name="Oval 41"/>
          <p:cNvSpPr/>
          <p:nvPr/>
        </p:nvSpPr>
        <p:spPr>
          <a:xfrm>
            <a:off x="2786063" y="23574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3" name="Oval 42"/>
          <p:cNvSpPr/>
          <p:nvPr/>
        </p:nvSpPr>
        <p:spPr>
          <a:xfrm>
            <a:off x="2786063" y="27860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4" name="Oval 43"/>
          <p:cNvSpPr/>
          <p:nvPr/>
        </p:nvSpPr>
        <p:spPr>
          <a:xfrm>
            <a:off x="2786063" y="32146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5" name="Oval 44"/>
          <p:cNvSpPr/>
          <p:nvPr/>
        </p:nvSpPr>
        <p:spPr>
          <a:xfrm>
            <a:off x="2786063" y="364331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6" name="Oval 45"/>
          <p:cNvSpPr/>
          <p:nvPr/>
        </p:nvSpPr>
        <p:spPr>
          <a:xfrm>
            <a:off x="2786063" y="407193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7" name="Oval 46"/>
          <p:cNvSpPr/>
          <p:nvPr/>
        </p:nvSpPr>
        <p:spPr>
          <a:xfrm>
            <a:off x="2786063" y="4500563"/>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8" name="Oval 47"/>
          <p:cNvSpPr/>
          <p:nvPr/>
        </p:nvSpPr>
        <p:spPr>
          <a:xfrm>
            <a:off x="2786063" y="4929188"/>
            <a:ext cx="214312" cy="2143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49" name="Oval 48"/>
          <p:cNvSpPr/>
          <p:nvPr/>
        </p:nvSpPr>
        <p:spPr>
          <a:xfrm>
            <a:off x="2786063" y="528637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0" name="Oval 49"/>
          <p:cNvSpPr/>
          <p:nvPr/>
        </p:nvSpPr>
        <p:spPr>
          <a:xfrm>
            <a:off x="2786063" y="5715000"/>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51" name="Oval 50"/>
          <p:cNvSpPr/>
          <p:nvPr/>
        </p:nvSpPr>
        <p:spPr>
          <a:xfrm>
            <a:off x="2786063" y="6143625"/>
            <a:ext cx="214312" cy="2143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mc:AlternateContent xmlns:mc="http://schemas.openxmlformats.org/markup-compatibility/2006" xmlns:a14="http://schemas.microsoft.com/office/drawing/2010/main">
        <mc:Choice Requires="a14">
          <p:sp>
            <p:nvSpPr>
              <p:cNvPr id="19" name="TextBox 18"/>
              <p:cNvSpPr txBox="1">
                <a:spLocks noChangeArrowheads="1"/>
              </p:cNvSpPr>
              <p:nvPr/>
            </p:nvSpPr>
            <p:spPr bwMode="auto">
              <a:xfrm>
                <a:off x="3556712"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=12,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19" name="TextBox 18"/>
              <p:cNvSpPr txBox="1">
                <a:spLocks noRot="1" noChangeAspect="1" noMove="1" noResize="1" noEditPoints="1" noAdjustHandles="1" noChangeArrowheads="1" noChangeShapeType="1" noTextEdit="1"/>
              </p:cNvSpPr>
              <p:nvPr/>
            </p:nvSpPr>
            <p:spPr bwMode="auto">
              <a:xfrm>
                <a:off x="3556712" y="1486388"/>
                <a:ext cx="1929025" cy="369332"/>
              </a:xfrm>
              <a:prstGeom prst="rect">
                <a:avLst/>
              </a:prstGeom>
              <a:blipFill rotWithShape="0">
                <a:blip r:embed="rId2"/>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17" name="Picture 16"/>
          <p:cNvPicPr>
            <a:picLocks noChangeAspect="1"/>
          </p:cNvPicPr>
          <p:nvPr/>
        </p:nvPicPr>
        <p:blipFill>
          <a:blip r:embed="rId3"/>
          <a:stretch>
            <a:fillRect/>
          </a:stretch>
        </p:blipFill>
        <p:spPr>
          <a:xfrm>
            <a:off x="2126344" y="1214438"/>
            <a:ext cx="1647370" cy="5311493"/>
          </a:xfrm>
          <a:prstGeom prst="rect">
            <a:avLst/>
          </a:prstGeom>
        </p:spPr>
      </p:pic>
      <p:pic>
        <p:nvPicPr>
          <p:cNvPr id="20" name="Picture 19"/>
          <p:cNvPicPr>
            <a:picLocks noChangeAspect="1"/>
          </p:cNvPicPr>
          <p:nvPr/>
        </p:nvPicPr>
        <p:blipFill>
          <a:blip r:embed="rId3"/>
          <a:stretch>
            <a:fillRect/>
          </a:stretch>
        </p:blipFill>
        <p:spPr>
          <a:xfrm>
            <a:off x="7018339" y="1183640"/>
            <a:ext cx="1647370" cy="5311493"/>
          </a:xfrm>
          <a:prstGeom prst="rect">
            <a:avLst/>
          </a:prstGeom>
        </p:spPr>
      </p:pic>
      <p:cxnSp>
        <p:nvCxnSpPr>
          <p:cNvPr id="22" name="Straight Arrow Connector 21"/>
          <p:cNvCxnSpPr/>
          <p:nvPr/>
        </p:nvCxnSpPr>
        <p:spPr bwMode="auto">
          <a:xfrm>
            <a:off x="4963223" y="2046514"/>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3" name="Straight Arrow Connector 22"/>
          <p:cNvCxnSpPr/>
          <p:nvPr/>
        </p:nvCxnSpPr>
        <p:spPr bwMode="auto">
          <a:xfrm>
            <a:off x="4955303" y="2445657"/>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4" name="Straight Arrow Connector 23"/>
          <p:cNvCxnSpPr/>
          <p:nvPr/>
        </p:nvCxnSpPr>
        <p:spPr bwMode="auto">
          <a:xfrm>
            <a:off x="4955303" y="2895600"/>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5" name="Straight Arrow Connector 24"/>
          <p:cNvCxnSpPr/>
          <p:nvPr/>
        </p:nvCxnSpPr>
        <p:spPr bwMode="auto">
          <a:xfrm>
            <a:off x="4963223" y="3323771"/>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6" name="Straight Arrow Connector 25"/>
          <p:cNvCxnSpPr/>
          <p:nvPr/>
        </p:nvCxnSpPr>
        <p:spPr bwMode="auto">
          <a:xfrm flipV="1">
            <a:off x="4955303" y="2143125"/>
            <a:ext cx="871520" cy="1180647"/>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7" name="Straight Arrow Connector 26"/>
          <p:cNvCxnSpPr/>
          <p:nvPr/>
        </p:nvCxnSpPr>
        <p:spPr bwMode="auto">
          <a:xfrm>
            <a:off x="4963223" y="6226628"/>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28" name="Straight Arrow Connector 27"/>
          <p:cNvCxnSpPr/>
          <p:nvPr/>
        </p:nvCxnSpPr>
        <p:spPr bwMode="auto">
          <a:xfrm flipV="1">
            <a:off x="4955303" y="5045982"/>
            <a:ext cx="871520" cy="1180647"/>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5" name="Straight Connector 4"/>
          <p:cNvCxnSpPr/>
          <p:nvPr/>
        </p:nvCxnSpPr>
        <p:spPr bwMode="auto">
          <a:xfrm>
            <a:off x="5376265" y="3265885"/>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cxnSp>
        <p:nvCxnSpPr>
          <p:cNvPr id="32" name="Straight Connector 31"/>
          <p:cNvCxnSpPr/>
          <p:nvPr/>
        </p:nvCxnSpPr>
        <p:spPr bwMode="auto">
          <a:xfrm>
            <a:off x="5371336" y="5425450"/>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spTree>
    <p:extLst>
      <p:ext uri="{BB962C8B-B14F-4D97-AF65-F5344CB8AC3E}">
        <p14:creationId xmlns:p14="http://schemas.microsoft.com/office/powerpoint/2010/main" val="1955758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a:t>Final Stage</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2</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1962608"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=8,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1962608" y="1486388"/>
                <a:ext cx="1929025" cy="369332"/>
              </a:xfrm>
              <a:prstGeom prst="rect">
                <a:avLst/>
              </a:prstGeom>
              <a:blipFill rotWithShape="0">
                <a:blip r:embed="rId2"/>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6" name="Picture 5"/>
          <p:cNvPicPr>
            <a:picLocks noChangeAspect="1"/>
          </p:cNvPicPr>
          <p:nvPr/>
        </p:nvPicPr>
        <p:blipFill>
          <a:blip r:embed="rId3"/>
          <a:stretch>
            <a:fillRect/>
          </a:stretch>
        </p:blipFill>
        <p:spPr>
          <a:xfrm>
            <a:off x="5384800" y="1183640"/>
            <a:ext cx="3271673" cy="5311493"/>
          </a:xfrm>
          <a:prstGeom prst="rect">
            <a:avLst/>
          </a:prstGeom>
        </p:spPr>
      </p:pic>
      <p:cxnSp>
        <p:nvCxnSpPr>
          <p:cNvPr id="10" name="Straight Arrow Connector 9"/>
          <p:cNvCxnSpPr/>
          <p:nvPr/>
        </p:nvCxnSpPr>
        <p:spPr bwMode="auto">
          <a:xfrm>
            <a:off x="3393041" y="207422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1" name="Straight Arrow Connector 10"/>
          <p:cNvCxnSpPr/>
          <p:nvPr/>
        </p:nvCxnSpPr>
        <p:spPr bwMode="auto">
          <a:xfrm>
            <a:off x="3385121" y="2473366"/>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2" name="Straight Arrow Connector 11"/>
          <p:cNvCxnSpPr/>
          <p:nvPr/>
        </p:nvCxnSpPr>
        <p:spPr bwMode="auto">
          <a:xfrm>
            <a:off x="3348667" y="289400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3" name="Straight Arrow Connector 12"/>
          <p:cNvCxnSpPr/>
          <p:nvPr/>
        </p:nvCxnSpPr>
        <p:spPr bwMode="auto">
          <a:xfrm flipV="1">
            <a:off x="3340747" y="2150484"/>
            <a:ext cx="843812" cy="743521"/>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4" name="Straight Arrow Connector 13"/>
          <p:cNvCxnSpPr/>
          <p:nvPr/>
        </p:nvCxnSpPr>
        <p:spPr bwMode="auto">
          <a:xfrm>
            <a:off x="3348667" y="6230969"/>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5" name="Straight Arrow Connector 14"/>
          <p:cNvCxnSpPr/>
          <p:nvPr/>
        </p:nvCxnSpPr>
        <p:spPr bwMode="auto">
          <a:xfrm flipV="1">
            <a:off x="3340747" y="5449455"/>
            <a:ext cx="798387" cy="781516"/>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6" name="Straight Connector 15"/>
          <p:cNvCxnSpPr/>
          <p:nvPr/>
        </p:nvCxnSpPr>
        <p:spPr bwMode="auto">
          <a:xfrm>
            <a:off x="3761709" y="2836117"/>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cxnSp>
        <p:nvCxnSpPr>
          <p:cNvPr id="17" name="Straight Connector 16"/>
          <p:cNvCxnSpPr/>
          <p:nvPr/>
        </p:nvCxnSpPr>
        <p:spPr bwMode="auto">
          <a:xfrm>
            <a:off x="3756780" y="5429791"/>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spTree>
    <p:extLst>
      <p:ext uri="{BB962C8B-B14F-4D97-AF65-F5344CB8AC3E}">
        <p14:creationId xmlns:p14="http://schemas.microsoft.com/office/powerpoint/2010/main" val="47925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altLang="en-US" dirty="0"/>
              <a:t>Final Stage</a:t>
            </a:r>
            <a:endParaRPr lang="en-GB" altLang="en-US" dirty="0"/>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2</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8</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12</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15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20</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23</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27</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27</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27</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35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sz="1800" b="0" i="0" u="none" strike="noStrike" cap="none" normalizeH="0" baseline="0" dirty="0">
                          <a:ln>
                            <a:noFill/>
                          </a:ln>
                          <a:solidFill>
                            <a:srgbClr val="000000"/>
                          </a:solidFill>
                          <a:effectLst/>
                          <a:latin typeface="Gill Sans MT" pitchFamily="34" charset="0"/>
                        </a:rPr>
                        <a:t>35</a:t>
                      </a: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1962608"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=8,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1962608" y="1486388"/>
                <a:ext cx="1929025" cy="369332"/>
              </a:xfrm>
              <a:prstGeom prst="rect">
                <a:avLst/>
              </a:prstGeom>
              <a:blipFill rotWithShape="0">
                <a:blip r:embed="rId2"/>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pic>
        <p:nvPicPr>
          <p:cNvPr id="6" name="Picture 5"/>
          <p:cNvPicPr>
            <a:picLocks noChangeAspect="1"/>
          </p:cNvPicPr>
          <p:nvPr/>
        </p:nvPicPr>
        <p:blipFill>
          <a:blip r:embed="rId3"/>
          <a:stretch>
            <a:fillRect/>
          </a:stretch>
        </p:blipFill>
        <p:spPr>
          <a:xfrm>
            <a:off x="5384800" y="1183640"/>
            <a:ext cx="3271673" cy="5311493"/>
          </a:xfrm>
          <a:prstGeom prst="rect">
            <a:avLst/>
          </a:prstGeom>
        </p:spPr>
      </p:pic>
      <p:cxnSp>
        <p:nvCxnSpPr>
          <p:cNvPr id="10" name="Straight Arrow Connector 9"/>
          <p:cNvCxnSpPr/>
          <p:nvPr/>
        </p:nvCxnSpPr>
        <p:spPr bwMode="auto">
          <a:xfrm>
            <a:off x="3393041" y="207422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1" name="Straight Arrow Connector 10"/>
          <p:cNvCxnSpPr/>
          <p:nvPr/>
        </p:nvCxnSpPr>
        <p:spPr bwMode="auto">
          <a:xfrm>
            <a:off x="3385121" y="2473366"/>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2" name="Straight Arrow Connector 11"/>
          <p:cNvCxnSpPr/>
          <p:nvPr/>
        </p:nvCxnSpPr>
        <p:spPr bwMode="auto">
          <a:xfrm>
            <a:off x="3348667" y="2894003"/>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3" name="Straight Arrow Connector 12"/>
          <p:cNvCxnSpPr/>
          <p:nvPr/>
        </p:nvCxnSpPr>
        <p:spPr bwMode="auto">
          <a:xfrm flipV="1">
            <a:off x="3340747" y="2150484"/>
            <a:ext cx="843812" cy="743521"/>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4" name="Straight Arrow Connector 13"/>
          <p:cNvCxnSpPr/>
          <p:nvPr/>
        </p:nvCxnSpPr>
        <p:spPr bwMode="auto">
          <a:xfrm>
            <a:off x="3348667" y="6230969"/>
            <a:ext cx="863600" cy="0"/>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5" name="Straight Arrow Connector 14"/>
          <p:cNvCxnSpPr/>
          <p:nvPr/>
        </p:nvCxnSpPr>
        <p:spPr bwMode="auto">
          <a:xfrm flipV="1">
            <a:off x="3340747" y="5449455"/>
            <a:ext cx="798387" cy="781516"/>
          </a:xfrm>
          <a:prstGeom prst="straightConnector1">
            <a:avLst/>
          </a:prstGeom>
          <a:solidFill>
            <a:schemeClr val="accent1"/>
          </a:solidFill>
          <a:ln w="28575" cap="flat" cmpd="sng" algn="ctr">
            <a:solidFill>
              <a:srgbClr val="0033CC"/>
            </a:solidFill>
            <a:prstDash val="solid"/>
            <a:round/>
            <a:headEnd type="none" w="med" len="med"/>
            <a:tailEnd type="triangle"/>
          </a:ln>
          <a:effectLst/>
        </p:spPr>
      </p:cxnSp>
      <p:cxnSp>
        <p:nvCxnSpPr>
          <p:cNvPr id="16" name="Straight Connector 15"/>
          <p:cNvCxnSpPr/>
          <p:nvPr/>
        </p:nvCxnSpPr>
        <p:spPr bwMode="auto">
          <a:xfrm>
            <a:off x="3761709" y="2836117"/>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cxnSp>
        <p:nvCxnSpPr>
          <p:cNvPr id="17" name="Straight Connector 16"/>
          <p:cNvCxnSpPr/>
          <p:nvPr/>
        </p:nvCxnSpPr>
        <p:spPr bwMode="auto">
          <a:xfrm>
            <a:off x="3756780" y="5429791"/>
            <a:ext cx="3278" cy="214312"/>
          </a:xfrm>
          <a:prstGeom prst="line">
            <a:avLst/>
          </a:prstGeom>
          <a:solidFill>
            <a:schemeClr val="accent1"/>
          </a:solidFill>
          <a:ln w="28575" cap="flat" cmpd="sng" algn="ctr">
            <a:solidFill>
              <a:srgbClr val="0033CC"/>
            </a:solidFill>
            <a:prstDash val="sysDot"/>
            <a:round/>
            <a:headEnd type="none" w="med" len="med"/>
            <a:tailEnd type="none" w="med" len="med"/>
          </a:ln>
          <a:effectLst/>
        </p:spPr>
      </p:cxnSp>
    </p:spTree>
    <p:extLst>
      <p:ext uri="{BB962C8B-B14F-4D97-AF65-F5344CB8AC3E}">
        <p14:creationId xmlns:p14="http://schemas.microsoft.com/office/powerpoint/2010/main" val="3954924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a:t>Complete Solution</a:t>
            </a:r>
            <a:endParaRPr lang="en-GB" altLang="en-US"/>
          </a:p>
        </p:txBody>
      </p:sp>
      <p:graphicFrame>
        <p:nvGraphicFramePr>
          <p:cNvPr id="7" name="Table 6"/>
          <p:cNvGraphicFramePr>
            <a:graphicFrameLocks noGrp="1"/>
          </p:cNvGraphicFramePr>
          <p:nvPr/>
        </p:nvGraphicFramePr>
        <p:xfrm>
          <a:off x="500063" y="1214438"/>
          <a:ext cx="8143875" cy="5249899"/>
        </p:xfrm>
        <a:graphic>
          <a:graphicData uri="http://schemas.openxmlformats.org/drawingml/2006/table">
            <a:tbl>
              <a:tblPr/>
              <a:tblGrid>
                <a:gridCol w="1628775">
                  <a:extLst>
                    <a:ext uri="{9D8B030D-6E8A-4147-A177-3AD203B41FA5}">
                      <a16:colId xmlns:a16="http://schemas.microsoft.com/office/drawing/2014/main" val="20000"/>
                    </a:ext>
                  </a:extLst>
                </a:gridCol>
                <a:gridCol w="1628775">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1628775">
                  <a:extLst>
                    <a:ext uri="{9D8B030D-6E8A-4147-A177-3AD203B41FA5}">
                      <a16:colId xmlns:a16="http://schemas.microsoft.com/office/drawing/2014/main" val="20003"/>
                    </a:ext>
                  </a:extLst>
                </a:gridCol>
                <a:gridCol w="1628775">
                  <a:extLst>
                    <a:ext uri="{9D8B030D-6E8A-4147-A177-3AD203B41FA5}">
                      <a16:colId xmlns:a16="http://schemas.microsoft.com/office/drawing/2014/main" val="20004"/>
                    </a:ext>
                  </a:extLst>
                </a:gridCol>
              </a:tblGrid>
              <a:tr h="64004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Budget Available</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4</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3</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rgbClr val="FFFFFF"/>
                          </a:solidFill>
                          <a:effectLst/>
                          <a:latin typeface="Gill Sans MT" pitchFamily="34" charset="0"/>
                        </a:rPr>
                        <a:t>Stage 2</a:t>
                      </a:r>
                      <a:endParaRPr kumimoji="0" lang="en-GB" sz="1800" b="1" i="0" u="none" strike="noStrike" cap="none" normalizeH="0" baseline="0" dirty="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rgbClr val="FFFFFF"/>
                          </a:solidFill>
                          <a:effectLst/>
                          <a:latin typeface="Gill Sans MT" pitchFamily="34" charset="0"/>
                        </a:rPr>
                        <a:t>Stage 1</a:t>
                      </a:r>
                      <a:endParaRPr kumimoji="0" lang="en-GB" sz="1800" b="1" i="0" u="none" strike="noStrike" cap="none" normalizeH="0" baseline="0">
                        <a:ln>
                          <a:noFill/>
                        </a:ln>
                        <a:solidFill>
                          <a:srgbClr val="FFFFFF"/>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1"/>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2"/>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3"/>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12</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4"/>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5"/>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0</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6"/>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6</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23</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7"/>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27</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19</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08"/>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8</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27</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09"/>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35</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31</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BECF0"/>
                    </a:solidFill>
                  </a:tcPr>
                </a:tc>
                <a:extLst>
                  <a:ext uri="{0D108BD9-81ED-4DB2-BD59-A6C34878D82A}">
                    <a16:rowId xmlns:a16="http://schemas.microsoft.com/office/drawing/2014/main" val="10010"/>
                  </a:ext>
                </a:extLst>
              </a:tr>
              <a:tr h="4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10</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35</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34</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Gill Sans MT" pitchFamily="34" charset="0"/>
                        </a:rPr>
                        <a:t>34</a:t>
                      </a:r>
                      <a:endParaRPr kumimoji="0" lang="en-GB" sz="1800" b="0" i="0" u="none" strike="noStrike" cap="none" normalizeH="0" baseline="0" dirty="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Gill Sans MT" pitchFamily="34" charset="0"/>
                        </a:rPr>
                        <a:t>19</a:t>
                      </a:r>
                      <a:endParaRPr kumimoji="0" lang="en-GB" sz="1800" b="0" i="0" u="none" strike="noStrike" cap="none" normalizeH="0" baseline="0">
                        <a:ln>
                          <a:noFill/>
                        </a:ln>
                        <a:solidFill>
                          <a:srgbClr val="000000"/>
                        </a:solidFill>
                        <a:effectLst/>
                        <a:latin typeface="Gill Sans MT" pitchFamily="34" charset="0"/>
                      </a:endParaRPr>
                    </a:p>
                  </a:txBody>
                  <a:tcPr marT="45717" marB="4571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5D7E0"/>
                    </a:solidFill>
                  </a:tcPr>
                </a:tc>
                <a:extLst>
                  <a:ext uri="{0D108BD9-81ED-4DB2-BD59-A6C34878D82A}">
                    <a16:rowId xmlns:a16="http://schemas.microsoft.com/office/drawing/2014/main" val="10011"/>
                  </a:ext>
                </a:extLst>
              </a:tr>
            </a:tbl>
          </a:graphicData>
        </a:graphic>
      </p:graphicFrame>
      <mc:AlternateContent xmlns:mc="http://schemas.openxmlformats.org/markup-compatibility/2006" xmlns:a14="http://schemas.microsoft.com/office/drawing/2010/main">
        <mc:Choice Requires="a14">
          <p:sp>
            <p:nvSpPr>
              <p:cNvPr id="8" name="TextBox 7"/>
              <p:cNvSpPr txBox="1">
                <a:spLocks noChangeArrowheads="1"/>
              </p:cNvSpPr>
              <p:nvPr/>
            </p:nvSpPr>
            <p:spPr bwMode="auto">
              <a:xfrm>
                <a:off x="1962608"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=8,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=2</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8" name="TextBox 7"/>
              <p:cNvSpPr txBox="1">
                <a:spLocks noRot="1" noChangeAspect="1" noMove="1" noResize="1" noEditPoints="1" noAdjustHandles="1" noChangeArrowheads="1" noChangeShapeType="1" noTextEdit="1"/>
              </p:cNvSpPr>
              <p:nvPr/>
            </p:nvSpPr>
            <p:spPr bwMode="auto">
              <a:xfrm>
                <a:off x="1962608" y="1486388"/>
                <a:ext cx="1929025" cy="369332"/>
              </a:xfrm>
              <a:prstGeom prst="rect">
                <a:avLst/>
              </a:prstGeom>
              <a:blipFill rotWithShape="0">
                <a:blip r:embed="rId2"/>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3556712"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=12, </m:t>
                    </m:r>
                    <m:sSub>
                      <m:sSubPr>
                        <m:ctrlP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2</m:t>
                        </m:r>
                      </m:sub>
                    </m:sSub>
                    <m:r>
                      <a:rPr lang="en-US" altLang="en-US" i="1">
                        <a:solidFill>
                          <a:schemeClr val="bg1"/>
                        </a:solidFill>
                        <a:effectLst>
                          <a:outerShdw blurRad="38100" dist="38100" dir="2700000" algn="tl">
                            <a:srgbClr val="000000">
                              <a:alpha val="43137"/>
                            </a:srgbClr>
                          </a:outerShdw>
                        </a:effectLst>
                        <a:latin typeface="Cambria Math" panose="02040503050406030204" pitchFamily="18" charset="0"/>
                      </a:rPr>
                      <m:t>=3</m:t>
                    </m:r>
                  </m:oMath>
                </a14:m>
                <a:endParaRPr lang="en-GB" altLang="en-US" i="1" dirty="0">
                  <a:solidFill>
                    <a:schemeClr val="bg1"/>
                  </a:solidFill>
                  <a:effectLst>
                    <a:outerShdw blurRad="38100" dist="38100" dir="2700000" algn="tl">
                      <a:srgbClr val="000000">
                        <a:alpha val="43137"/>
                      </a:srgbClr>
                    </a:outerShdw>
                  </a:effectLst>
                  <a:latin typeface="Cambria Math" panose="020405030504060302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3556712" y="1486388"/>
                <a:ext cx="1929025" cy="369332"/>
              </a:xfrm>
              <a:prstGeom prst="rect">
                <a:avLst/>
              </a:prstGeom>
              <a:blipFill rotWithShape="0">
                <a:blip r:embed="rId3"/>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5187392" y="1486388"/>
                <a:ext cx="192902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=15,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3</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5187392" y="1486388"/>
                <a:ext cx="1929025" cy="369332"/>
              </a:xfrm>
              <a:prstGeom prst="rect">
                <a:avLst/>
              </a:prstGeom>
              <a:blipFill rotWithShape="0">
                <a:blip r:embed="rId4"/>
                <a:stretch>
                  <a:fillRect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6888441" y="1486388"/>
                <a:ext cx="1791215" cy="369332"/>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FF0000"/>
                    </a:solidFill>
                    <a:effectLst>
                      <a:outerShdw blurRad="38100" dist="38100" dir="2700000" algn="tl">
                        <a:srgbClr val="000000">
                          <a:alpha val="43137"/>
                        </a:srgbClr>
                      </a:outerShdw>
                    </a:effectLst>
                  </a:rPr>
                  <a:t> </a:t>
                </a:r>
                <a14:m>
                  <m:oMath xmlns:m="http://schemas.openxmlformats.org/officeDocument/2006/math">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𝑣</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=19, </m:t>
                    </m:r>
                    <m:sSub>
                      <m:sSubPr>
                        <m:ctrlP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𝑤</m:t>
                        </m:r>
                      </m:e>
                      <m: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4</m:t>
                        </m:r>
                      </m:sub>
                    </m:sSub>
                    <m:r>
                      <a:rPr lang="en-US" altLang="en-US" b="0" i="1" smtClean="0">
                        <a:solidFill>
                          <a:schemeClr val="bg1"/>
                        </a:solidFill>
                        <a:effectLst>
                          <a:outerShdw blurRad="38100" dist="38100" dir="2700000" algn="tl">
                            <a:srgbClr val="000000">
                              <a:alpha val="43137"/>
                            </a:srgbClr>
                          </a:outerShdw>
                        </a:effectLst>
                        <a:latin typeface="Cambria Math" panose="02040503050406030204" pitchFamily="18" charset="0"/>
                      </a:rPr>
                      <m:t>=6</m:t>
                    </m:r>
                  </m:oMath>
                </a14:m>
                <a:endParaRPr lang="en-GB" altLang="en-US" b="1" i="1" dirty="0">
                  <a:solidFill>
                    <a:schemeClr val="bg1"/>
                  </a:solidFill>
                  <a:effectLst>
                    <a:outerShdw blurRad="38100" dist="38100" dir="2700000" algn="tl">
                      <a:srgbClr val="000000">
                        <a:alpha val="43137"/>
                      </a:srgbClr>
                    </a:outerShdw>
                  </a:effectLst>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6888441" y="1486388"/>
                <a:ext cx="1791215" cy="369332"/>
              </a:xfrm>
              <a:prstGeom prst="rect">
                <a:avLst/>
              </a:prstGeom>
              <a:blipFill rotWithShape="0">
                <a:blip r:embed="rId5"/>
                <a:stretch>
                  <a:fillRect r="-1020" b="-8333"/>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cxnSp>
        <p:nvCxnSpPr>
          <p:cNvPr id="3" name="Straight Arrow Connector 2"/>
          <p:cNvCxnSpPr/>
          <p:nvPr/>
        </p:nvCxnSpPr>
        <p:spPr bwMode="auto">
          <a:xfrm flipV="1">
            <a:off x="3410712" y="5449824"/>
            <a:ext cx="932688" cy="795528"/>
          </a:xfrm>
          <a:prstGeom prst="straightConnector1">
            <a:avLst/>
          </a:prstGeom>
          <a:solidFill>
            <a:schemeClr val="accent1"/>
          </a:solidFill>
          <a:ln w="44450" cap="flat" cmpd="sng" algn="ctr">
            <a:solidFill>
              <a:srgbClr val="0033CC"/>
            </a:solidFill>
            <a:prstDash val="solid"/>
            <a:round/>
            <a:headEnd type="none" w="med" len="med"/>
            <a:tailEnd type="stealth"/>
          </a:ln>
          <a:effectLst/>
        </p:spPr>
      </p:cxnSp>
      <p:cxnSp>
        <p:nvCxnSpPr>
          <p:cNvPr id="10" name="Straight Arrow Connector 9"/>
          <p:cNvCxnSpPr/>
          <p:nvPr/>
        </p:nvCxnSpPr>
        <p:spPr bwMode="auto">
          <a:xfrm flipV="1">
            <a:off x="4828032" y="4160028"/>
            <a:ext cx="1133856" cy="1198356"/>
          </a:xfrm>
          <a:prstGeom prst="straightConnector1">
            <a:avLst/>
          </a:prstGeom>
          <a:solidFill>
            <a:schemeClr val="accent1"/>
          </a:solidFill>
          <a:ln w="44450" cap="flat" cmpd="sng" algn="ctr">
            <a:solidFill>
              <a:srgbClr val="0033CC"/>
            </a:solidFill>
            <a:prstDash val="solid"/>
            <a:round/>
            <a:headEnd type="none" w="med" len="med"/>
            <a:tailEnd type="stealth"/>
          </a:ln>
          <a:effectLst/>
        </p:spPr>
      </p:cxnSp>
      <p:cxnSp>
        <p:nvCxnSpPr>
          <p:cNvPr id="13" name="Straight Arrow Connector 12"/>
          <p:cNvCxnSpPr/>
          <p:nvPr/>
        </p:nvCxnSpPr>
        <p:spPr bwMode="auto">
          <a:xfrm flipV="1">
            <a:off x="6422097" y="2496312"/>
            <a:ext cx="1194855" cy="1663716"/>
          </a:xfrm>
          <a:prstGeom prst="straightConnector1">
            <a:avLst/>
          </a:prstGeom>
          <a:solidFill>
            <a:schemeClr val="accent1"/>
          </a:solidFill>
          <a:ln w="44450" cap="flat" cmpd="sng" algn="ctr">
            <a:solidFill>
              <a:srgbClr val="0033CC"/>
            </a:solidFill>
            <a:prstDash val="solid"/>
            <a:round/>
            <a:headEnd type="none" w="med" len="med"/>
            <a:tailEnd type="stealth"/>
          </a:ln>
          <a:effectLst/>
        </p:spPr>
      </p:cxnSp>
    </p:spTree>
    <p:extLst>
      <p:ext uri="{BB962C8B-B14F-4D97-AF65-F5344CB8AC3E}">
        <p14:creationId xmlns:p14="http://schemas.microsoft.com/office/powerpoint/2010/main" val="1243782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Knapsack Problem: Bellman Equation</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0" y="1281643"/>
                <a:ext cx="9143999" cy="2273450"/>
              </a:xfrm>
            </p:spPr>
            <p:txBody>
              <a:bodyPr/>
              <a:lstStyle/>
              <a:p>
                <a:r>
                  <a:rPr lang="en-US" altLang="en-US" dirty="0">
                    <a:effectLst/>
                  </a:rPr>
                  <a:t>The value of each cell: </a:t>
                </a:r>
                <a14:m>
                  <m:oMath xmlns:m="http://schemas.openxmlformats.org/officeDocument/2006/math">
                    <m:r>
                      <a:rPr lang="en-US" altLang="zh-CN" i="1" dirty="0">
                        <a:effectLst/>
                        <a:latin typeface="Cambria Math" panose="02040503050406030204" pitchFamily="18" charset="0"/>
                        <a:ea typeface="宋体" pitchFamily="2" charset="-122"/>
                      </a:rPr>
                      <m:t>𝑽</m:t>
                    </m:r>
                    <m:d>
                      <m:dPr>
                        <m:ctrlPr>
                          <a:rPr lang="en-US" altLang="zh-CN" i="1" dirty="0">
                            <a:effectLst/>
                            <a:latin typeface="Cambria Math" panose="02040503050406030204" pitchFamily="18" charset="0"/>
                            <a:ea typeface="宋体" pitchFamily="2" charset="-122"/>
                          </a:rPr>
                        </m:ctrlPr>
                      </m:dPr>
                      <m:e>
                        <m:r>
                          <a:rPr lang="en-US" altLang="zh-CN" i="1" dirty="0">
                            <a:effectLst/>
                            <a:latin typeface="Cambria Math" panose="02040503050406030204" pitchFamily="18" charset="0"/>
                            <a:ea typeface="宋体" pitchFamily="2" charset="-122"/>
                          </a:rPr>
                          <m:t>𝒌</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𝒊</m:t>
                        </m:r>
                      </m:e>
                    </m:d>
                  </m:oMath>
                </a14:m>
                <a:r>
                  <a:rPr lang="en-US" altLang="en-US" dirty="0">
                    <a:effectLst/>
                  </a:rPr>
                  <a:t> is the maximum return one can get when there are k stages (k products) remaining and there is </a:t>
                </a:r>
                <a:r>
                  <a:rPr lang="en-US" altLang="en-US" dirty="0" err="1">
                    <a:effectLst/>
                  </a:rPr>
                  <a:t>i</a:t>
                </a:r>
                <a:r>
                  <a:rPr lang="en-US" altLang="en-US" dirty="0">
                    <a:effectLst/>
                  </a:rPr>
                  <a:t> budget left. Our goal is </a:t>
                </a:r>
                <a14:m>
                  <m:oMath xmlns:m="http://schemas.openxmlformats.org/officeDocument/2006/math">
                    <m:r>
                      <a:rPr lang="en-US" altLang="zh-CN" i="1" dirty="0">
                        <a:effectLst/>
                        <a:latin typeface="Cambria Math" panose="02040503050406030204" pitchFamily="18" charset="0"/>
                        <a:ea typeface="宋体" pitchFamily="2" charset="-122"/>
                      </a:rPr>
                      <m:t>𝑽</m:t>
                    </m:r>
                    <m:d>
                      <m:dPr>
                        <m:ctrlPr>
                          <a:rPr lang="en-US" altLang="zh-CN" b="1" i="1" dirty="0" smtClean="0">
                            <a:effectLst/>
                            <a:latin typeface="Cambria Math" panose="02040503050406030204" pitchFamily="18" charset="0"/>
                            <a:ea typeface="宋体" pitchFamily="2" charset="-122"/>
                          </a:rPr>
                        </m:ctrlPr>
                      </m:dPr>
                      <m:e>
                        <m:r>
                          <a:rPr lang="en-US" altLang="zh-CN" b="1" i="1" dirty="0" smtClean="0">
                            <a:effectLst/>
                            <a:latin typeface="Cambria Math" panose="02040503050406030204" pitchFamily="18" charset="0"/>
                            <a:ea typeface="宋体" pitchFamily="2" charset="-122"/>
                          </a:rPr>
                          <m:t>𝟒</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𝟏𝟎</m:t>
                        </m:r>
                      </m:e>
                    </m:d>
                  </m:oMath>
                </a14:m>
                <a:r>
                  <a:rPr lang="en-US" altLang="en-US" dirty="0">
                    <a:effectLst/>
                  </a:rPr>
                  <a:t>.</a:t>
                </a:r>
              </a:p>
              <a:p>
                <a:pPr marL="0" indent="0">
                  <a:buNone/>
                </a:pPr>
                <a:endParaRPr lang="en-US" altLang="en-US" dirty="0"/>
              </a:p>
              <a:p>
                <a:r>
                  <a:rPr lang="en-US" altLang="en-US" dirty="0">
                    <a:effectLst/>
                  </a:rPr>
                  <a:t>Bellman Equation:</a:t>
                </a:r>
              </a:p>
              <a:p>
                <a:pPr marL="0" indent="0">
                  <a:buNone/>
                </a:pPr>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0" y="1281643"/>
                <a:ext cx="9143999" cy="2273450"/>
              </a:xfrm>
              <a:blipFill rotWithShape="0">
                <a:blip r:embed="rId2"/>
                <a:stretch>
                  <a:fillRect l="-1267" t="-2681" b="-3619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p:cNvSpPr txBox="1">
                <a:spLocks noChangeArrowheads="1"/>
              </p:cNvSpPr>
              <p:nvPr/>
            </p:nvSpPr>
            <p:spPr bwMode="auto">
              <a:xfrm>
                <a:off x="155034" y="4308664"/>
                <a:ext cx="8833930" cy="916148"/>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𝒊</m:t>
                        </m:r>
                      </m:e>
                    </m:d>
                    <m:r>
                      <a:rPr lang="en-US" altLang="en-US" sz="2400" b="1" i="1" smtClean="0">
                        <a:solidFill>
                          <a:srgbClr val="FF0000"/>
                        </a:solidFill>
                        <a:effectLst/>
                        <a:latin typeface="Cambria Math" panose="02040503050406030204" pitchFamily="18" charset="0"/>
                        <a:ea typeface="Cambria Math" panose="02040503050406030204" pitchFamily="18" charset="0"/>
                      </a:rPr>
                      <m:t>=</m:t>
                    </m:r>
                    <m:d>
                      <m:dPr>
                        <m:begChr m:val="{"/>
                        <m:endChr m:val=""/>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eqArr>
                          <m:eqArrPr>
                            <m:ctrlPr>
                              <a:rPr lang="en-US" altLang="en-US" sz="2400" b="1" i="1" smtClean="0">
                                <a:solidFill>
                                  <a:srgbClr val="FF0000"/>
                                </a:solidFill>
                                <a:effectLst/>
                                <a:latin typeface="Cambria Math" panose="02040503050406030204" pitchFamily="18" charset="0"/>
                                <a:ea typeface="Cambria Math" panose="02040503050406030204" pitchFamily="18" charset="0"/>
                              </a:rPr>
                            </m:ctrlPr>
                          </m:eqArrPr>
                          <m:e>
                            <m:r>
                              <a:rPr lang="en-US" altLang="en-US" sz="2400" b="1" i="1" smtClean="0">
                                <a:solidFill>
                                  <a:srgbClr val="FF0000"/>
                                </a:solidFill>
                                <a:effectLst/>
                                <a:latin typeface="Cambria Math" panose="02040503050406030204" pitchFamily="18" charset="0"/>
                                <a:ea typeface="Cambria Math" panose="02040503050406030204" pitchFamily="18" charset="0"/>
                              </a:rPr>
                              <m:t>𝒎𝒂𝒙</m:t>
                            </m:r>
                            <m:d>
                              <m:dPr>
                                <m:begChr m:val="{"/>
                                <m:endChr m:val="}"/>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𝒊</m:t>
                                    </m:r>
                                  </m:e>
                                </m:d>
                                <m:r>
                                  <a:rPr lang="en-US" altLang="en-US" sz="2400" b="1" i="1" smtClean="0">
                                    <a:solidFill>
                                      <a:srgbClr val="FF0000"/>
                                    </a:solidFill>
                                    <a:effectLst/>
                                    <a:latin typeface="Cambria Math" panose="02040503050406030204" pitchFamily="18" charset="0"/>
                                    <a:ea typeface="Cambria Math" panose="02040503050406030204" pitchFamily="18" charset="0"/>
                                  </a:rPr>
                                  <m:t>,  </m:t>
                                </m:r>
                                <m:sSub>
                                  <m:sSubPr>
                                    <m:ctrlPr>
                                      <a:rPr lang="en-US" altLang="en-US" sz="24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400" b="1" i="1" smtClean="0">
                                        <a:solidFill>
                                          <a:srgbClr val="FF0000"/>
                                        </a:solidFill>
                                        <a:effectLst/>
                                        <a:latin typeface="Cambria Math" panose="02040503050406030204" pitchFamily="18" charset="0"/>
                                        <a:ea typeface="Cambria Math" panose="02040503050406030204" pitchFamily="18" charset="0"/>
                                      </a:rPr>
                                      <m:t>𝒗</m:t>
                                    </m:r>
                                  </m:e>
                                  <m:sub>
                                    <m:r>
                                      <a:rPr lang="en-US" altLang="en-US" sz="2400" b="1" i="1" smtClean="0">
                                        <a:solidFill>
                                          <a:srgbClr val="FF0000"/>
                                        </a:solidFill>
                                        <a:effectLst/>
                                        <a:latin typeface="Cambria Math" panose="02040503050406030204" pitchFamily="18" charset="0"/>
                                        <a:ea typeface="Cambria Math" panose="02040503050406030204" pitchFamily="18" charset="0"/>
                                      </a:rPr>
                                      <m:t>𝒌</m:t>
                                    </m:r>
                                  </m:sub>
                                </m:sSub>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𝒊</m:t>
                                    </m:r>
                                    <m:r>
                                      <a:rPr lang="en-US" altLang="en-US" sz="2400" b="1"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4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400" b="1" i="1" smtClean="0">
                                            <a:solidFill>
                                              <a:srgbClr val="FF0000"/>
                                            </a:solidFill>
                                            <a:effectLst/>
                                            <a:latin typeface="Cambria Math" panose="02040503050406030204" pitchFamily="18" charset="0"/>
                                            <a:ea typeface="Cambria Math" panose="02040503050406030204" pitchFamily="18" charset="0"/>
                                          </a:rPr>
                                          <m:t>𝒘</m:t>
                                        </m:r>
                                      </m:e>
                                      <m:sub>
                                        <m:r>
                                          <a:rPr lang="en-US" altLang="en-US" sz="2400" b="1" i="1" smtClean="0">
                                            <a:solidFill>
                                              <a:srgbClr val="FF0000"/>
                                            </a:solidFill>
                                            <a:effectLst/>
                                            <a:latin typeface="Cambria Math" panose="02040503050406030204" pitchFamily="18" charset="0"/>
                                            <a:ea typeface="Cambria Math" panose="02040503050406030204" pitchFamily="18" charset="0"/>
                                          </a:rPr>
                                          <m:t>𝒌</m:t>
                                        </m:r>
                                      </m:sub>
                                    </m:sSub>
                                  </m:e>
                                </m:d>
                              </m:e>
                            </m:d>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𝒊𝒇</m:t>
                            </m:r>
                            <m:r>
                              <a:rPr lang="en-US" altLang="en-US" sz="2400" b="1" i="1" smtClean="0">
                                <a:solidFill>
                                  <a:srgbClr val="FF0000"/>
                                </a:solidFill>
                                <a:effectLst/>
                                <a:latin typeface="Cambria Math" panose="02040503050406030204" pitchFamily="18" charset="0"/>
                                <a:ea typeface="Cambria Math" panose="02040503050406030204" pitchFamily="18" charset="0"/>
                              </a:rPr>
                              <m:t> </m:t>
                            </m:r>
                            <m:sSub>
                              <m:sSubPr>
                                <m:ctrlPr>
                                  <a:rPr lang="en-US" altLang="en-US" sz="2400" b="1" i="1" smtClean="0">
                                    <a:solidFill>
                                      <a:srgbClr val="FF0000"/>
                                    </a:solidFill>
                                    <a:effectLst/>
                                    <a:latin typeface="Cambria Math" panose="02040503050406030204" pitchFamily="18" charset="0"/>
                                    <a:ea typeface="Cambria Math" panose="02040503050406030204" pitchFamily="18" charset="0"/>
                                  </a:rPr>
                                </m:ctrlPr>
                              </m:sSubPr>
                              <m:e>
                                <m:r>
                                  <a:rPr lang="en-US" altLang="en-US" sz="2400" b="1" i="1" smtClean="0">
                                    <a:solidFill>
                                      <a:srgbClr val="FF0000"/>
                                    </a:solidFill>
                                    <a:effectLst/>
                                    <a:latin typeface="Cambria Math" panose="02040503050406030204" pitchFamily="18" charset="0"/>
                                    <a:ea typeface="Cambria Math" panose="02040503050406030204" pitchFamily="18" charset="0"/>
                                  </a:rPr>
                                  <m:t>𝒘</m:t>
                                </m:r>
                              </m:e>
                              <m:sub>
                                <m:r>
                                  <a:rPr lang="en-US" altLang="en-US" sz="2400" b="1" i="1" smtClean="0">
                                    <a:solidFill>
                                      <a:srgbClr val="FF0000"/>
                                    </a:solidFill>
                                    <a:effectLst/>
                                    <a:latin typeface="Cambria Math" panose="02040503050406030204" pitchFamily="18" charset="0"/>
                                    <a:ea typeface="Cambria Math" panose="02040503050406030204" pitchFamily="18" charset="0"/>
                                  </a:rPr>
                                  <m:t>𝒌</m:t>
                                </m:r>
                              </m:sub>
                            </m:sSub>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𝒊</m:t>
                            </m:r>
                          </m:e>
                          <m:e>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𝒊</m:t>
                                </m:r>
                              </m:e>
                            </m:d>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𝒊𝒇</m:t>
                            </m:r>
                            <m:r>
                              <a:rPr lang="en-US" altLang="en-US" sz="2400" b="1" i="1" smtClean="0">
                                <a:solidFill>
                                  <a:srgbClr val="FF0000"/>
                                </a:solidFill>
                                <a:effectLst/>
                                <a:latin typeface="Cambria Math" panose="02040503050406030204" pitchFamily="18" charset="0"/>
                                <a:ea typeface="Cambria Math" panose="02040503050406030204" pitchFamily="18" charset="0"/>
                              </a:rPr>
                              <m:t> </m:t>
                            </m:r>
                            <m:sSub>
                              <m:sSubPr>
                                <m:ctrlPr>
                                  <a:rPr lang="en-US" altLang="en-US" sz="2400" b="1" i="1">
                                    <a:solidFill>
                                      <a:srgbClr val="FF0000"/>
                                    </a:solidFill>
                                    <a:effectLst/>
                                    <a:latin typeface="Cambria Math" panose="02040503050406030204" pitchFamily="18" charset="0"/>
                                    <a:ea typeface="Cambria Math" panose="02040503050406030204" pitchFamily="18" charset="0"/>
                                  </a:rPr>
                                </m:ctrlPr>
                              </m:sSubPr>
                              <m:e>
                                <m:r>
                                  <a:rPr lang="en-US" altLang="en-US" sz="2400" b="1" i="1">
                                    <a:solidFill>
                                      <a:srgbClr val="FF0000"/>
                                    </a:solidFill>
                                    <a:effectLst/>
                                    <a:latin typeface="Cambria Math" panose="02040503050406030204" pitchFamily="18" charset="0"/>
                                    <a:ea typeface="Cambria Math" panose="02040503050406030204" pitchFamily="18" charset="0"/>
                                  </a:rPr>
                                  <m:t>𝒘</m:t>
                                </m:r>
                              </m:e>
                              <m:sub>
                                <m:r>
                                  <a:rPr lang="en-US" altLang="en-US" sz="2400" b="1" i="1">
                                    <a:solidFill>
                                      <a:srgbClr val="FF0000"/>
                                    </a:solidFill>
                                    <a:effectLst/>
                                    <a:latin typeface="Cambria Math" panose="02040503050406030204" pitchFamily="18" charset="0"/>
                                    <a:ea typeface="Cambria Math" panose="02040503050406030204" pitchFamily="18" charset="0"/>
                                  </a:rPr>
                                  <m:t>𝒌</m:t>
                                </m:r>
                              </m:sub>
                            </m:sSub>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𝒊</m:t>
                            </m:r>
                          </m:e>
                        </m:eqArr>
                      </m:e>
                    </m:d>
                  </m:oMath>
                </a14:m>
                <a:endParaRPr lang="en-GB" altLang="en-US" sz="2400" b="1" i="1" dirty="0">
                  <a:solidFill>
                    <a:srgbClr val="FF0000"/>
                  </a:solidFill>
                  <a:effectLst>
                    <a:outerShdw blurRad="38100" dist="38100" dir="2700000" algn="tl">
                      <a:srgbClr val="000000">
                        <a:alpha val="43137"/>
                      </a:srgbClr>
                    </a:outerShdw>
                  </a:effectLst>
                </a:endParaRPr>
              </a:p>
            </p:txBody>
          </p:sp>
        </mc:Choice>
        <mc:Fallback xmlns="">
          <p:sp>
            <p:nvSpPr>
              <p:cNvPr id="4" name="TextBox 3"/>
              <p:cNvSpPr txBox="1">
                <a:spLocks noRot="1" noChangeAspect="1" noMove="1" noResize="1" noEditPoints="1" noAdjustHandles="1" noChangeArrowheads="1" noChangeShapeType="1" noTextEdit="1"/>
              </p:cNvSpPr>
              <p:nvPr/>
            </p:nvSpPr>
            <p:spPr bwMode="auto">
              <a:xfrm>
                <a:off x="155034" y="4308664"/>
                <a:ext cx="8833930" cy="916148"/>
              </a:xfrm>
              <a:prstGeom prst="rect">
                <a:avLst/>
              </a:prstGeom>
              <a:blipFill rotWithShape="0">
                <a:blip r:embed="rId3"/>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163765" y="5519065"/>
                <a:ext cx="8650224" cy="523220"/>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a:solidFill>
                                <a:srgbClr val="FF0000"/>
                              </a:solidFill>
                              <a:effectLst/>
                              <a:latin typeface="Cambria Math" panose="02040503050406030204" pitchFamily="18" charset="0"/>
                              <a:ea typeface="Cambria Math" panose="02040503050406030204" pitchFamily="18" charset="0"/>
                            </a:rPr>
                          </m:ctrlPr>
                        </m:dPr>
                        <m:e>
                          <m:r>
                            <a:rPr lang="en-US" altLang="en-US" sz="2800" b="1" i="1">
                              <a:solidFill>
                                <a:srgbClr val="FF0000"/>
                              </a:solidFill>
                              <a:effectLst/>
                              <a:latin typeface="Cambria Math" panose="02040503050406030204" pitchFamily="18" charset="0"/>
                              <a:ea typeface="Cambria Math" panose="02040503050406030204" pitchFamily="18" charset="0"/>
                            </a:rPr>
                            <m:t>𝟎</m:t>
                          </m:r>
                          <m:r>
                            <a:rPr lang="en-US" altLang="en-US" sz="2800" b="1" i="1">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𝒊</m:t>
                          </m:r>
                        </m:e>
                      </m:d>
                      <m:r>
                        <a:rPr lang="en-US" altLang="en-US" sz="2800" b="1" i="1">
                          <a:solidFill>
                            <a:srgbClr val="FF0000"/>
                          </a:solidFill>
                          <a:effectLst/>
                          <a:latin typeface="Cambria Math" panose="02040503050406030204" pitchFamily="18" charset="0"/>
                          <a:ea typeface="Cambria Math" panose="02040503050406030204" pitchFamily="18" charset="0"/>
                        </a:rPr>
                        <m:t>=</m:t>
                      </m:r>
                      <m:r>
                        <a:rPr lang="en-US" altLang="en-US" sz="2800" b="1" i="1">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𝒊</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𝟏𝟎</m:t>
                      </m:r>
                    </m:oMath>
                  </m:oMathPara>
                </a14:m>
                <a:endParaRPr lang="en-GB" altLang="en-US" sz="2800" b="1" i="1" dirty="0">
                  <a:solidFill>
                    <a:srgbClr val="FF0000"/>
                  </a:solidFill>
                  <a:effectLst/>
                </a:endParaRP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163765" y="5519065"/>
                <a:ext cx="8650224" cy="523220"/>
              </a:xfrm>
              <a:prstGeom prst="rect">
                <a:avLst/>
              </a:prstGeom>
              <a:blipFill rotWithShape="0">
                <a:blip r:embed="rId4"/>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34729047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A Very Complicated Dynamic Problem: Go</a:t>
            </a:r>
            <a:endParaRPr lang="en-GB" altLang="en-US" dirty="0"/>
          </a:p>
        </p:txBody>
      </p:sp>
      <p:sp>
        <p:nvSpPr>
          <p:cNvPr id="47107" name="Content Placeholder 2"/>
          <p:cNvSpPr>
            <a:spLocks noGrp="1"/>
          </p:cNvSpPr>
          <p:nvPr>
            <p:ph sz="quarter" idx="1"/>
          </p:nvPr>
        </p:nvSpPr>
        <p:spPr>
          <a:xfrm>
            <a:off x="-19483" y="941388"/>
            <a:ext cx="9384145" cy="5030607"/>
          </a:xfrm>
        </p:spPr>
        <p:txBody>
          <a:bodyPr/>
          <a:lstStyle/>
          <a:p>
            <a:r>
              <a:rPr lang="en-US" altLang="en-US" sz="2800" dirty="0">
                <a:effectLst/>
              </a:rPr>
              <a:t>Zero-sum, perfect-information, deterministic game</a:t>
            </a:r>
          </a:p>
          <a:p>
            <a:r>
              <a:rPr lang="en-US" altLang="en-US" sz="2800" dirty="0">
                <a:effectLst/>
              </a:rPr>
              <a:t>State?</a:t>
            </a:r>
          </a:p>
          <a:p>
            <a:endParaRPr lang="en-US" altLang="en-US" dirty="0"/>
          </a:p>
          <a:p>
            <a:endParaRPr lang="en-US" altLang="en-US" dirty="0"/>
          </a:p>
        </p:txBody>
      </p:sp>
      <p:pic>
        <p:nvPicPr>
          <p:cNvPr id="2" name="Picture 1"/>
          <p:cNvPicPr>
            <a:picLocks noChangeAspect="1"/>
          </p:cNvPicPr>
          <p:nvPr/>
        </p:nvPicPr>
        <p:blipFill>
          <a:blip r:embed="rId3"/>
          <a:stretch>
            <a:fillRect/>
          </a:stretch>
        </p:blipFill>
        <p:spPr>
          <a:xfrm>
            <a:off x="560734" y="2050410"/>
            <a:ext cx="7860521" cy="2944820"/>
          </a:xfrm>
          <a:prstGeom prst="rect">
            <a:avLst/>
          </a:prstGeom>
        </p:spPr>
      </p:pic>
    </p:spTree>
    <p:extLst>
      <p:ext uri="{BB962C8B-B14F-4D97-AF65-F5344CB8AC3E}">
        <p14:creationId xmlns:p14="http://schemas.microsoft.com/office/powerpoint/2010/main" val="33817891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State Transition</a:t>
            </a:r>
            <a:endParaRPr lang="en-GB" altLang="en-US" dirty="0"/>
          </a:p>
        </p:txBody>
      </p:sp>
      <p:sp>
        <p:nvSpPr>
          <p:cNvPr id="47107" name="Content Placeholder 2"/>
          <p:cNvSpPr>
            <a:spLocks noGrp="1"/>
          </p:cNvSpPr>
          <p:nvPr>
            <p:ph sz="quarter" idx="1"/>
          </p:nvPr>
        </p:nvSpPr>
        <p:spPr>
          <a:xfrm>
            <a:off x="-19483" y="941388"/>
            <a:ext cx="9384145" cy="5030607"/>
          </a:xfrm>
        </p:spPr>
        <p:txBody>
          <a:bodyPr/>
          <a:lstStyle/>
          <a:p>
            <a:endParaRPr lang="en-US" altLang="en-US" dirty="0"/>
          </a:p>
          <a:p>
            <a:endParaRPr lang="en-US" altLang="en-US" dirty="0"/>
          </a:p>
        </p:txBody>
      </p:sp>
      <p:pic>
        <p:nvPicPr>
          <p:cNvPr id="3" name="Picture 2"/>
          <p:cNvPicPr>
            <a:picLocks noChangeAspect="1"/>
          </p:cNvPicPr>
          <p:nvPr/>
        </p:nvPicPr>
        <p:blipFill>
          <a:blip r:embed="rId2"/>
          <a:stretch>
            <a:fillRect/>
          </a:stretch>
        </p:blipFill>
        <p:spPr>
          <a:xfrm>
            <a:off x="1994069" y="1163781"/>
            <a:ext cx="4754682" cy="5280024"/>
          </a:xfrm>
          <a:prstGeom prst="rect">
            <a:avLst/>
          </a:prstGeom>
        </p:spPr>
      </p:pic>
    </p:spTree>
    <p:extLst>
      <p:ext uri="{BB962C8B-B14F-4D97-AF65-F5344CB8AC3E}">
        <p14:creationId xmlns:p14="http://schemas.microsoft.com/office/powerpoint/2010/main" val="12541379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Rough Estimate of Complexity</a:t>
            </a:r>
            <a:endParaRPr lang="en-GB" altLang="en-US"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9483" y="941388"/>
                <a:ext cx="8836029" cy="5030607"/>
              </a:xfrm>
            </p:spPr>
            <p:txBody>
              <a:bodyPr/>
              <a:lstStyle/>
              <a:p>
                <a:endParaRPr lang="en-US" altLang="en-US" sz="2800" dirty="0"/>
              </a:p>
              <a:p>
                <a:r>
                  <a:rPr lang="en-US" altLang="en-US" sz="2800" dirty="0">
                    <a:effectLst/>
                  </a:rPr>
                  <a:t>Average number of possible moves at each state: </a:t>
                </a:r>
                <a:r>
                  <a:rPr lang="en-US" altLang="en-US" sz="2800" dirty="0">
                    <a:solidFill>
                      <a:srgbClr val="FF0000"/>
                    </a:solidFill>
                    <a:effectLst/>
                  </a:rPr>
                  <a:t>250</a:t>
                </a:r>
              </a:p>
              <a:p>
                <a:endParaRPr lang="en-US" altLang="en-US" sz="2800" dirty="0">
                  <a:effectLst/>
                </a:endParaRPr>
              </a:p>
              <a:p>
                <a:r>
                  <a:rPr lang="en-US" altLang="en-US" sz="2800" dirty="0">
                    <a:effectLst/>
                  </a:rPr>
                  <a:t>Average number of moves for a game: </a:t>
                </a:r>
                <a:r>
                  <a:rPr lang="en-US" altLang="en-US" sz="2800" dirty="0">
                    <a:solidFill>
                      <a:srgbClr val="FF0000"/>
                    </a:solidFill>
                    <a:effectLst/>
                  </a:rPr>
                  <a:t>150</a:t>
                </a:r>
              </a:p>
              <a:p>
                <a:endParaRPr lang="en-US" altLang="en-US" dirty="0">
                  <a:effectLst/>
                </a:endParaRPr>
              </a:p>
              <a:p>
                <a:r>
                  <a:rPr lang="en-US" altLang="en-US" dirty="0">
                    <a:effectLst/>
                  </a:rPr>
                  <a:t>Complexity: </a:t>
                </a:r>
                <a14:m>
                  <m:oMath xmlns:m="http://schemas.openxmlformats.org/officeDocument/2006/math">
                    <m:sSup>
                      <m:sSupPr>
                        <m:ctrlPr>
                          <a:rPr lang="en-US" altLang="en-US" b="0" i="1" smtClean="0">
                            <a:solidFill>
                              <a:srgbClr val="FF0000"/>
                            </a:solidFill>
                            <a:effectLst/>
                            <a:latin typeface="Cambria Math" panose="02040503050406030204" pitchFamily="18" charset="0"/>
                            <a:ea typeface="Cambria Math" panose="02040503050406030204" pitchFamily="18" charset="0"/>
                          </a:rPr>
                        </m:ctrlPr>
                      </m:sSupPr>
                      <m:e>
                        <m:r>
                          <a:rPr lang="en-US" altLang="en-US" b="0" i="1" smtClean="0">
                            <a:solidFill>
                              <a:srgbClr val="FF0000"/>
                            </a:solidFill>
                            <a:effectLst/>
                            <a:latin typeface="Cambria Math" panose="02040503050406030204" pitchFamily="18" charset="0"/>
                            <a:ea typeface="Cambria Math" panose="02040503050406030204" pitchFamily="18" charset="0"/>
                          </a:rPr>
                          <m:t>250</m:t>
                        </m:r>
                      </m:e>
                      <m:sup>
                        <m:r>
                          <a:rPr lang="en-US" altLang="en-US" b="0" i="1" smtClean="0">
                            <a:solidFill>
                              <a:srgbClr val="FF0000"/>
                            </a:solidFill>
                            <a:effectLst/>
                            <a:latin typeface="Cambria Math" panose="02040503050406030204" pitchFamily="18" charset="0"/>
                            <a:ea typeface="Cambria Math" panose="02040503050406030204" pitchFamily="18" charset="0"/>
                          </a:rPr>
                          <m:t>150</m:t>
                        </m:r>
                      </m:sup>
                    </m:sSup>
                  </m:oMath>
                </a14:m>
                <a:r>
                  <a:rPr lang="en-US" altLang="en-US" dirty="0">
                    <a:effectLst/>
                  </a:rPr>
                  <a:t> (recall </a:t>
                </a:r>
                <a14:m>
                  <m:oMath xmlns:m="http://schemas.openxmlformats.org/officeDocument/2006/math">
                    <m:sSup>
                      <m:sSupPr>
                        <m:ctrlPr>
                          <a:rPr lang="en-US" altLang="en-US" b="0" i="1">
                            <a:solidFill>
                              <a:srgbClr val="FF0000"/>
                            </a:solidFill>
                            <a:effectLst/>
                            <a:latin typeface="Cambria Math" panose="02040503050406030204" pitchFamily="18" charset="0"/>
                            <a:ea typeface="Cambria Math" panose="02040503050406030204" pitchFamily="18" charset="0"/>
                          </a:rPr>
                        </m:ctrlPr>
                      </m:sSupPr>
                      <m:e>
                        <m:r>
                          <a:rPr lang="en-US" altLang="en-US" b="0" i="1">
                            <a:solidFill>
                              <a:srgbClr val="FF0000"/>
                            </a:solidFill>
                            <a:effectLst/>
                            <a:latin typeface="Cambria Math" panose="02040503050406030204" pitchFamily="18" charset="0"/>
                            <a:ea typeface="Cambria Math" panose="02040503050406030204" pitchFamily="18" charset="0"/>
                          </a:rPr>
                          <m:t>2</m:t>
                        </m:r>
                      </m:e>
                      <m:sup>
                        <m:r>
                          <a:rPr lang="en-US" altLang="en-US" b="0" i="1">
                            <a:solidFill>
                              <a:srgbClr val="FF0000"/>
                            </a:solidFill>
                            <a:effectLst/>
                            <a:latin typeface="Cambria Math" panose="02040503050406030204" pitchFamily="18" charset="0"/>
                            <a:ea typeface="Cambria Math" panose="02040503050406030204" pitchFamily="18" charset="0"/>
                          </a:rPr>
                          <m:t>50</m:t>
                        </m:r>
                      </m:sup>
                    </m:sSup>
                  </m:oMath>
                </a14:m>
                <a:r>
                  <a:rPr lang="en-US" altLang="en-US" dirty="0">
                    <a:effectLst/>
                  </a:rPr>
                  <a:t> and </a:t>
                </a:r>
                <a14:m>
                  <m:oMath xmlns:m="http://schemas.openxmlformats.org/officeDocument/2006/math">
                    <m:r>
                      <a:rPr lang="en-US" altLang="en-US" b="0" i="1" smtClean="0">
                        <a:solidFill>
                          <a:srgbClr val="FF0000"/>
                        </a:solidFill>
                        <a:effectLst/>
                        <a:latin typeface="Cambria Math" panose="02040503050406030204" pitchFamily="18" charset="0"/>
                        <a:ea typeface="Cambria Math" panose="02040503050406030204" pitchFamily="18" charset="0"/>
                      </a:rPr>
                      <m:t>50!</m:t>
                    </m:r>
                  </m:oMath>
                </a14:m>
                <a:r>
                  <a:rPr lang="en-US" altLang="en-US" dirty="0">
                    <a:effectLst/>
                  </a:rPr>
                  <a:t>; Chess: </a:t>
                </a:r>
                <a14:m>
                  <m:oMath xmlns:m="http://schemas.openxmlformats.org/officeDocument/2006/math">
                    <m:sSup>
                      <m:sSupPr>
                        <m:ctrlPr>
                          <a:rPr lang="en-US" altLang="en-US" b="0" i="1" smtClean="0">
                            <a:solidFill>
                              <a:srgbClr val="FF0000"/>
                            </a:solidFill>
                            <a:effectLst/>
                            <a:latin typeface="Cambria Math" panose="02040503050406030204" pitchFamily="18" charset="0"/>
                            <a:ea typeface="Cambria Math" panose="02040503050406030204" pitchFamily="18" charset="0"/>
                          </a:rPr>
                        </m:ctrlPr>
                      </m:sSupPr>
                      <m:e>
                        <m:r>
                          <a:rPr lang="en-US" altLang="en-US" b="0" i="1" smtClean="0">
                            <a:solidFill>
                              <a:srgbClr val="FF0000"/>
                            </a:solidFill>
                            <a:effectLst/>
                            <a:latin typeface="Cambria Math" panose="02040503050406030204" pitchFamily="18" charset="0"/>
                            <a:ea typeface="Cambria Math" panose="02040503050406030204" pitchFamily="18" charset="0"/>
                          </a:rPr>
                          <m:t>35</m:t>
                        </m:r>
                      </m:e>
                      <m:sup>
                        <m:r>
                          <a:rPr lang="en-US" altLang="en-US" b="0" i="1" smtClean="0">
                            <a:solidFill>
                              <a:srgbClr val="FF0000"/>
                            </a:solidFill>
                            <a:effectLst/>
                            <a:latin typeface="Cambria Math" panose="02040503050406030204" pitchFamily="18" charset="0"/>
                            <a:ea typeface="Cambria Math" panose="02040503050406030204" pitchFamily="18" charset="0"/>
                          </a:rPr>
                          <m:t>80</m:t>
                        </m:r>
                      </m:sup>
                    </m:sSup>
                  </m:oMath>
                </a14:m>
                <a:r>
                  <a:rPr lang="en-US" altLang="en-US" dirty="0">
                    <a:effectLst/>
                  </a:rPr>
                  <a:t>)</a:t>
                </a:r>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9483" y="941388"/>
                <a:ext cx="8836029" cy="5030607"/>
              </a:xfrm>
              <a:blipFill rotWithShape="0">
                <a:blip r:embed="rId2"/>
                <a:stretch>
                  <a:fillRect l="-1311"/>
                </a:stretch>
              </a:blipFill>
            </p:spPr>
            <p:txBody>
              <a:bodyPr/>
              <a:lstStyle/>
              <a:p>
                <a:r>
                  <a:rPr lang="en-SG">
                    <a:noFill/>
                  </a:rPr>
                  <a:t> </a:t>
                </a:r>
              </a:p>
            </p:txBody>
          </p:sp>
        </mc:Fallback>
      </mc:AlternateContent>
    </p:spTree>
    <p:extLst>
      <p:ext uri="{BB962C8B-B14F-4D97-AF65-F5344CB8AC3E}">
        <p14:creationId xmlns:p14="http://schemas.microsoft.com/office/powerpoint/2010/main" val="36202856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Stochastic DP</a:t>
            </a:r>
          </a:p>
          <a:p>
            <a:pPr marL="0" indent="0">
              <a:buNone/>
              <a:defRPr/>
            </a:pPr>
            <a:endParaRPr lang="en-US" altLang="zh-CN" sz="4000" dirty="0">
              <a:ea typeface="宋体" pitchFamily="2" charset="-122"/>
            </a:endParaRP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2337558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Newsvendor Problem</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389823" y="1094071"/>
                <a:ext cx="8229600" cy="4937125"/>
              </a:xfrm>
            </p:spPr>
            <p:txBody>
              <a:bodyPr/>
              <a:lstStyle/>
              <a:p>
                <a:r>
                  <a:rPr lang="en-US" altLang="en-US" dirty="0">
                    <a:effectLst/>
                  </a:rPr>
                  <a:t>Consider the newsvendor problem with the cost 40 cents and selling price $1. </a:t>
                </a:r>
              </a:p>
              <a:p>
                <a:endParaRPr lang="en-US" altLang="en-US" dirty="0">
                  <a:effectLst/>
                </a:endParaRPr>
              </a:p>
              <a:p>
                <a:r>
                  <a:rPr lang="en-US" altLang="en-US" dirty="0">
                    <a:effectLst/>
                  </a:rPr>
                  <a:t>Demand is Bernoulli: 1 with probability ½ and 0 with probability ½.</a:t>
                </a:r>
              </a:p>
              <a:p>
                <a:endParaRPr lang="en-US" altLang="en-US" dirty="0">
                  <a:effectLst/>
                </a:endParaRPr>
              </a:p>
              <a:p>
                <a:r>
                  <a:rPr lang="en-US" altLang="en-US" dirty="0">
                    <a:effectLst/>
                  </a:rPr>
                  <a:t>What is the optimal ordering quantity?</a:t>
                </a:r>
              </a:p>
              <a:p>
                <a:pPr lvl="1"/>
                <a:r>
                  <a:rPr lang="en-US" altLang="en-US" dirty="0">
                    <a:effectLst/>
                  </a:rPr>
                  <a:t>Do not order: cost is </a:t>
                </a:r>
                <a14:m>
                  <m:oMath xmlns:m="http://schemas.openxmlformats.org/officeDocument/2006/math">
                    <m:r>
                      <a:rPr lang="en-US" altLang="en-US" b="0" i="1">
                        <a:solidFill>
                          <a:srgbClr val="FF0000"/>
                        </a:solidFill>
                        <a:effectLst/>
                        <a:latin typeface="Cambria Math" panose="02040503050406030204" pitchFamily="18" charset="0"/>
                        <a:ea typeface="Cambria Math" panose="02040503050406030204" pitchFamily="18" charset="0"/>
                      </a:rPr>
                      <m:t>0</m:t>
                    </m:r>
                  </m:oMath>
                </a14:m>
                <a:endParaRPr lang="en-US" altLang="en-US" dirty="0">
                  <a:effectLst/>
                </a:endParaRPr>
              </a:p>
              <a:p>
                <a:pPr lvl="1"/>
                <a:r>
                  <a:rPr lang="en-US" altLang="en-US" dirty="0">
                    <a:effectLst/>
                  </a:rPr>
                  <a:t>Order 1: cost is </a:t>
                </a:r>
                <a14:m>
                  <m:oMath xmlns:m="http://schemas.openxmlformats.org/officeDocument/2006/math">
                    <m:r>
                      <a:rPr lang="en-US" altLang="en-US" b="0" i="1" smtClean="0">
                        <a:solidFill>
                          <a:srgbClr val="FF0000"/>
                        </a:solidFill>
                        <a:effectLst/>
                        <a:latin typeface="Cambria Math" panose="02040503050406030204" pitchFamily="18" charset="0"/>
                        <a:ea typeface="Cambria Math" panose="02040503050406030204" pitchFamily="18" charset="0"/>
                      </a:rPr>
                      <m:t>0.4+−1×</m:t>
                    </m:r>
                    <m:f>
                      <m:fPr>
                        <m:ctrlPr>
                          <a:rPr lang="en-US" altLang="en-US" b="0" i="1" smtClean="0">
                            <a:solidFill>
                              <a:srgbClr val="FF0000"/>
                            </a:solidFill>
                            <a:effectLst/>
                            <a:latin typeface="Cambria Math" panose="02040503050406030204" pitchFamily="18" charset="0"/>
                            <a:ea typeface="Cambria Math" panose="02040503050406030204" pitchFamily="18" charset="0"/>
                          </a:rPr>
                        </m:ctrlPr>
                      </m:fPr>
                      <m:num>
                        <m:r>
                          <a:rPr lang="en-US" altLang="en-US" b="0" i="1" smtClean="0">
                            <a:solidFill>
                              <a:srgbClr val="FF0000"/>
                            </a:solidFill>
                            <a:effectLst/>
                            <a:latin typeface="Cambria Math" panose="02040503050406030204" pitchFamily="18" charset="0"/>
                            <a:ea typeface="Cambria Math" panose="02040503050406030204" pitchFamily="18" charset="0"/>
                          </a:rPr>
                          <m:t>1</m:t>
                        </m:r>
                      </m:num>
                      <m:den>
                        <m:r>
                          <a:rPr lang="en-US" altLang="en-US" b="0" i="1" smtClean="0">
                            <a:solidFill>
                              <a:srgbClr val="FF0000"/>
                            </a:solidFill>
                            <a:effectLst/>
                            <a:latin typeface="Cambria Math" panose="02040503050406030204" pitchFamily="18" charset="0"/>
                            <a:ea typeface="Cambria Math" panose="02040503050406030204" pitchFamily="18" charset="0"/>
                          </a:rPr>
                          <m:t>2</m:t>
                        </m:r>
                      </m:den>
                    </m:f>
                    <m:r>
                      <a:rPr lang="en-US" altLang="en-US" b="0" i="1" smtClean="0">
                        <a:solidFill>
                          <a:srgbClr val="FF0000"/>
                        </a:solidFill>
                        <a:effectLst/>
                        <a:latin typeface="Cambria Math" panose="02040503050406030204" pitchFamily="18" charset="0"/>
                        <a:ea typeface="Cambria Math" panose="02040503050406030204" pitchFamily="18" charset="0"/>
                      </a:rPr>
                      <m:t>+0</m:t>
                    </m:r>
                    <m:r>
                      <a:rPr lang="en-US" altLang="en-US" b="0" i="1">
                        <a:solidFill>
                          <a:srgbClr val="FF0000"/>
                        </a:solidFill>
                        <a:effectLst/>
                        <a:latin typeface="Cambria Math" panose="02040503050406030204" pitchFamily="18" charset="0"/>
                        <a:ea typeface="Cambria Math" panose="02040503050406030204" pitchFamily="18" charset="0"/>
                      </a:rPr>
                      <m:t>×</m:t>
                    </m:r>
                    <m:f>
                      <m:fPr>
                        <m:ctrlPr>
                          <a:rPr lang="en-US" altLang="en-US" b="0" i="1">
                            <a:solidFill>
                              <a:srgbClr val="FF0000"/>
                            </a:solidFill>
                            <a:effectLst/>
                            <a:latin typeface="Cambria Math" panose="02040503050406030204" pitchFamily="18" charset="0"/>
                            <a:ea typeface="Cambria Math" panose="02040503050406030204" pitchFamily="18" charset="0"/>
                          </a:rPr>
                        </m:ctrlPr>
                      </m:fPr>
                      <m:num>
                        <m:r>
                          <a:rPr lang="en-US" altLang="en-US" b="0" i="1">
                            <a:solidFill>
                              <a:srgbClr val="FF0000"/>
                            </a:solidFill>
                            <a:effectLst/>
                            <a:latin typeface="Cambria Math" panose="02040503050406030204" pitchFamily="18" charset="0"/>
                            <a:ea typeface="Cambria Math" panose="02040503050406030204" pitchFamily="18" charset="0"/>
                          </a:rPr>
                          <m:t>1</m:t>
                        </m:r>
                      </m:num>
                      <m:den>
                        <m:r>
                          <a:rPr lang="en-US" altLang="en-US" b="0" i="1">
                            <a:solidFill>
                              <a:srgbClr val="FF0000"/>
                            </a:solidFill>
                            <a:effectLst/>
                            <a:latin typeface="Cambria Math" panose="02040503050406030204" pitchFamily="18" charset="0"/>
                            <a:ea typeface="Cambria Math" panose="02040503050406030204" pitchFamily="18" charset="0"/>
                          </a:rPr>
                          <m:t>2</m:t>
                        </m:r>
                      </m:den>
                    </m:f>
                    <m:r>
                      <a:rPr lang="en-US" altLang="en-US" b="0" i="1" smtClean="0">
                        <a:solidFill>
                          <a:srgbClr val="FF0000"/>
                        </a:solidFill>
                        <a:effectLst/>
                        <a:latin typeface="Cambria Math" panose="02040503050406030204" pitchFamily="18" charset="0"/>
                        <a:ea typeface="Cambria Math" panose="02040503050406030204" pitchFamily="18" charset="0"/>
                      </a:rPr>
                      <m:t>=−0.1</m:t>
                    </m:r>
                  </m:oMath>
                </a14:m>
                <a:r>
                  <a:rPr lang="en-US" altLang="en-US" dirty="0">
                    <a:effectLst/>
                  </a:rPr>
                  <a:t> (or profit is </a:t>
                </a:r>
                <a14:m>
                  <m:oMath xmlns:m="http://schemas.openxmlformats.org/officeDocument/2006/math">
                    <m:r>
                      <a:rPr lang="en-US" altLang="en-US" b="0" i="1">
                        <a:solidFill>
                          <a:srgbClr val="FF0000"/>
                        </a:solidFill>
                        <a:effectLst/>
                        <a:latin typeface="Cambria Math" panose="02040503050406030204" pitchFamily="18" charset="0"/>
                        <a:ea typeface="Cambria Math" panose="02040503050406030204" pitchFamily="18" charset="0"/>
                      </a:rPr>
                      <m:t>0.1</m:t>
                    </m:r>
                  </m:oMath>
                </a14:m>
                <a:r>
                  <a:rPr lang="en-US" altLang="en-US" dirty="0">
                    <a:effectLst/>
                  </a:rPr>
                  <a:t>).</a:t>
                </a:r>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389823" y="1094071"/>
                <a:ext cx="8229600" cy="4937125"/>
              </a:xfrm>
              <a:blipFill rotWithShape="0">
                <a:blip r:embed="rId2"/>
                <a:stretch>
                  <a:fillRect l="-1407" t="-1235" r="-2444" b="-7531"/>
                </a:stretch>
              </a:blipFill>
            </p:spPr>
            <p:txBody>
              <a:bodyPr/>
              <a:lstStyle/>
              <a:p>
                <a:r>
                  <a:rPr lang="en-SG">
                    <a:noFill/>
                  </a:rPr>
                  <a:t> </a:t>
                </a:r>
              </a:p>
            </p:txBody>
          </p:sp>
        </mc:Fallback>
      </mc:AlternateContent>
    </p:spTree>
    <p:extLst>
      <p:ext uri="{BB962C8B-B14F-4D97-AF65-F5344CB8AC3E}">
        <p14:creationId xmlns:p14="http://schemas.microsoft.com/office/powerpoint/2010/main" val="980783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Multi-Period Newsvendor Problem</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0" y="1057125"/>
                <a:ext cx="8754177" cy="4937125"/>
              </a:xfrm>
            </p:spPr>
            <p:txBody>
              <a:bodyPr/>
              <a:lstStyle/>
              <a:p>
                <a:r>
                  <a:rPr lang="en-US" altLang="en-US" dirty="0">
                    <a:effectLst/>
                  </a:rPr>
                  <a:t>Suppose the newsvendor can sell for two days. On each day the newsvendor has an opportunity to replenish his inventory, and the unsold copies from the first day can be used to satisfy demand in the second day. </a:t>
                </a:r>
              </a:p>
              <a:p>
                <a:endParaRPr lang="en-US" altLang="en-US" dirty="0">
                  <a:effectLst/>
                </a:endParaRPr>
              </a:p>
              <a:p>
                <a:r>
                  <a:rPr lang="en-US" altLang="en-US" dirty="0">
                    <a:effectLst/>
                  </a:rPr>
                  <a:t>Demands </a:t>
                </a:r>
                <a14:m>
                  <m:oMath xmlns:m="http://schemas.openxmlformats.org/officeDocument/2006/math">
                    <m:sSub>
                      <m:sSubPr>
                        <m:ctrlPr>
                          <a:rPr lang="en-US" altLang="en-US" sz="28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0" i="1" smtClean="0">
                            <a:solidFill>
                              <a:srgbClr val="FF0000"/>
                            </a:solidFill>
                            <a:effectLst/>
                            <a:latin typeface="Cambria Math" panose="02040503050406030204" pitchFamily="18" charset="0"/>
                            <a:ea typeface="Cambria Math" panose="02040503050406030204" pitchFamily="18" charset="0"/>
                          </a:rPr>
                          <m:t>𝐷</m:t>
                        </m:r>
                      </m:e>
                      <m:sub>
                        <m:r>
                          <a:rPr lang="en-US" altLang="en-US" sz="2800" b="0" i="1" smtClean="0">
                            <a:solidFill>
                              <a:srgbClr val="FF0000"/>
                            </a:solidFill>
                            <a:effectLst/>
                            <a:latin typeface="Cambria Math" panose="02040503050406030204" pitchFamily="18" charset="0"/>
                            <a:ea typeface="Cambria Math" panose="02040503050406030204" pitchFamily="18" charset="0"/>
                          </a:rPr>
                          <m:t>1</m:t>
                        </m:r>
                      </m:sub>
                    </m:sSub>
                    <m:r>
                      <a:rPr lang="en-US" altLang="en-US" sz="2800" b="0" i="1" smtClean="0">
                        <a:solidFill>
                          <a:srgbClr val="FF0000"/>
                        </a:solidFill>
                        <a:effectLst/>
                        <a:latin typeface="Cambria Math" panose="02040503050406030204" pitchFamily="18" charset="0"/>
                        <a:ea typeface="Cambria Math" panose="02040503050406030204" pitchFamily="18" charset="0"/>
                      </a:rPr>
                      <m:t>,</m:t>
                    </m:r>
                    <m:sSub>
                      <m:sSubPr>
                        <m:ctrlPr>
                          <a:rPr lang="en-US" altLang="en-US" sz="28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800" b="0" i="1" smtClean="0">
                            <a:solidFill>
                              <a:srgbClr val="FF0000"/>
                            </a:solidFill>
                            <a:effectLst/>
                            <a:latin typeface="Cambria Math" panose="02040503050406030204" pitchFamily="18" charset="0"/>
                            <a:ea typeface="Cambria Math" panose="02040503050406030204" pitchFamily="18" charset="0"/>
                          </a:rPr>
                          <m:t>𝐷</m:t>
                        </m:r>
                      </m:e>
                      <m:sub>
                        <m:r>
                          <a:rPr lang="en-US" altLang="en-US" sz="2800" b="0" i="1" smtClean="0">
                            <a:solidFill>
                              <a:srgbClr val="FF0000"/>
                            </a:solidFill>
                            <a:effectLst/>
                            <a:latin typeface="Cambria Math" panose="02040503050406030204" pitchFamily="18" charset="0"/>
                            <a:ea typeface="Cambria Math" panose="02040503050406030204" pitchFamily="18" charset="0"/>
                          </a:rPr>
                          <m:t>2</m:t>
                        </m:r>
                      </m:sub>
                    </m:sSub>
                    <m:r>
                      <a:rPr lang="en-US" altLang="en-US" sz="2800" b="0" i="1">
                        <a:solidFill>
                          <a:srgbClr val="FF0000"/>
                        </a:solidFill>
                        <a:effectLst/>
                        <a:latin typeface="Cambria Math" panose="02040503050406030204" pitchFamily="18" charset="0"/>
                        <a:ea typeface="Cambria Math" panose="02040503050406030204" pitchFamily="18" charset="0"/>
                      </a:rPr>
                      <m:t> </m:t>
                    </m:r>
                  </m:oMath>
                </a14:m>
                <a:r>
                  <a:rPr lang="en-US" altLang="en-US" dirty="0">
                    <a:effectLst/>
                  </a:rPr>
                  <a:t>are </a:t>
                </a:r>
                <a:r>
                  <a:rPr lang="en-US" altLang="en-US" dirty="0" err="1">
                    <a:effectLst/>
                  </a:rPr>
                  <a:t>i.i.d</a:t>
                </a:r>
                <a:r>
                  <a:rPr lang="en-US" altLang="en-US" dirty="0">
                    <a:effectLst/>
                  </a:rPr>
                  <a:t>. Bernoulli.</a:t>
                </a:r>
              </a:p>
              <a:p>
                <a:endParaRPr lang="en-US" altLang="en-US" dirty="0">
                  <a:effectLst/>
                </a:endParaRPr>
              </a:p>
              <a:p>
                <a:r>
                  <a:rPr lang="en-US" altLang="en-US" dirty="0">
                    <a:effectLst/>
                  </a:rPr>
                  <a:t>What is the optimal ordering quantities in the first and second day respectively?</a:t>
                </a:r>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0" y="1057125"/>
                <a:ext cx="8754177" cy="4937125"/>
              </a:xfrm>
              <a:blipFill rotWithShape="0">
                <a:blip r:embed="rId2"/>
                <a:stretch>
                  <a:fillRect l="-1323" t="-1235" r="-1671" b="-2099"/>
                </a:stretch>
              </a:blipFill>
            </p:spPr>
            <p:txBody>
              <a:bodyPr/>
              <a:lstStyle/>
              <a:p>
                <a:r>
                  <a:rPr lang="en-SG">
                    <a:noFill/>
                  </a:rPr>
                  <a:t> </a:t>
                </a:r>
              </a:p>
            </p:txBody>
          </p:sp>
        </mc:Fallback>
      </mc:AlternateContent>
    </p:spTree>
    <p:extLst>
      <p:ext uri="{BB962C8B-B14F-4D97-AF65-F5344CB8AC3E}">
        <p14:creationId xmlns:p14="http://schemas.microsoft.com/office/powerpoint/2010/main" val="11279874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Stochastic Optimization</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0" y="1057125"/>
                <a:ext cx="8754177" cy="4937125"/>
              </a:xfrm>
            </p:spPr>
            <p:txBody>
              <a:bodyPr/>
              <a:lstStyle/>
              <a:p>
                <a:r>
                  <a:rPr lang="en-US" altLang="en-US" dirty="0">
                    <a:effectLst/>
                  </a:rPr>
                  <a:t>Decision variables: </a:t>
                </a:r>
                <a14:m>
                  <m:oMath xmlns:m="http://schemas.openxmlformats.org/officeDocument/2006/math">
                    <m:sSub>
                      <m:sSubPr>
                        <m:ctrlPr>
                          <a:rPr lang="en-US" altLang="en-US" sz="3200" b="0" i="1" smtClean="0">
                            <a:solidFill>
                              <a:srgbClr val="FF0000"/>
                            </a:solidFill>
                            <a:effectLst/>
                            <a:latin typeface="Cambria Math" panose="02040503050406030204" pitchFamily="18" charset="0"/>
                            <a:ea typeface="Cambria Math" panose="02040503050406030204" pitchFamily="18" charset="0"/>
                          </a:rPr>
                        </m:ctrlPr>
                      </m:sSubPr>
                      <m:e>
                        <m:r>
                          <a:rPr lang="en-US" altLang="en-US" sz="3200" b="0" i="1" smtClean="0">
                            <a:solidFill>
                              <a:srgbClr val="FF0000"/>
                            </a:solidFill>
                            <a:effectLst/>
                            <a:latin typeface="Cambria Math" panose="02040503050406030204" pitchFamily="18" charset="0"/>
                            <a:ea typeface="Cambria Math" panose="02040503050406030204" pitchFamily="18" charset="0"/>
                          </a:rPr>
                          <m:t>𝑥</m:t>
                        </m:r>
                      </m:e>
                      <m:sub>
                        <m:r>
                          <a:rPr lang="en-US" altLang="en-US" sz="3200" b="0" i="1">
                            <a:solidFill>
                              <a:srgbClr val="FF0000"/>
                            </a:solidFill>
                            <a:effectLst/>
                            <a:latin typeface="Cambria Math" panose="02040503050406030204" pitchFamily="18" charset="0"/>
                            <a:ea typeface="Cambria Math" panose="02040503050406030204" pitchFamily="18" charset="0"/>
                          </a:rPr>
                          <m:t>1</m:t>
                        </m:r>
                      </m:sub>
                    </m:sSub>
                    <m:r>
                      <a:rPr lang="en-US" altLang="en-US" sz="3200" b="0" i="1">
                        <a:solidFill>
                          <a:srgbClr val="FF0000"/>
                        </a:solidFill>
                        <a:effectLst/>
                        <a:latin typeface="Cambria Math" panose="02040503050406030204" pitchFamily="18" charset="0"/>
                        <a:ea typeface="Cambria Math" panose="02040503050406030204" pitchFamily="18" charset="0"/>
                      </a:rPr>
                      <m:t>,</m:t>
                    </m:r>
                    <m:sSub>
                      <m:sSubPr>
                        <m:ctrlPr>
                          <a:rPr lang="en-US" altLang="en-US" sz="3200" b="0" i="1" smtClean="0">
                            <a:solidFill>
                              <a:srgbClr val="FF0000"/>
                            </a:solidFill>
                            <a:effectLst/>
                            <a:latin typeface="Cambria Math" panose="02040503050406030204" pitchFamily="18" charset="0"/>
                            <a:ea typeface="Cambria Math" panose="02040503050406030204" pitchFamily="18" charset="0"/>
                          </a:rPr>
                        </m:ctrlPr>
                      </m:sSubPr>
                      <m:e>
                        <m:r>
                          <a:rPr lang="en-US" altLang="en-US" sz="3200" b="0" i="1" smtClean="0">
                            <a:solidFill>
                              <a:srgbClr val="FF0000"/>
                            </a:solidFill>
                            <a:effectLst/>
                            <a:latin typeface="Cambria Math" panose="02040503050406030204" pitchFamily="18" charset="0"/>
                            <a:ea typeface="Cambria Math" panose="02040503050406030204" pitchFamily="18" charset="0"/>
                          </a:rPr>
                          <m:t>𝑥</m:t>
                        </m:r>
                      </m:e>
                      <m:sub>
                        <m:r>
                          <a:rPr lang="en-US" altLang="en-US" sz="3200" b="0" i="1">
                            <a:solidFill>
                              <a:srgbClr val="FF0000"/>
                            </a:solidFill>
                            <a:effectLst/>
                            <a:latin typeface="Cambria Math" panose="02040503050406030204" pitchFamily="18" charset="0"/>
                            <a:ea typeface="Cambria Math" panose="02040503050406030204" pitchFamily="18" charset="0"/>
                          </a:rPr>
                          <m:t>2</m:t>
                        </m:r>
                      </m:sub>
                    </m:sSub>
                    <m:r>
                      <a:rPr lang="en-US" altLang="en-US" sz="3200" b="0" i="1" smtClean="0">
                        <a:solidFill>
                          <a:srgbClr val="FF0000"/>
                        </a:solidFill>
                        <a:effectLst/>
                        <a:latin typeface="Cambria Math" panose="02040503050406030204" pitchFamily="18" charset="0"/>
                        <a:ea typeface="Cambria Math" panose="02040503050406030204" pitchFamily="18" charset="0"/>
                      </a:rPr>
                      <m:t>≥0</m:t>
                    </m:r>
                  </m:oMath>
                </a14:m>
                <a:r>
                  <a:rPr lang="en-US" altLang="en-US" dirty="0">
                    <a:effectLst/>
                  </a:rPr>
                  <a:t> </a:t>
                </a:r>
              </a:p>
              <a:p>
                <a:endParaRPr lang="en-US" altLang="en-US" dirty="0">
                  <a:effectLst/>
                </a:endParaRPr>
              </a:p>
              <a:p>
                <a:r>
                  <a:rPr lang="en-US" altLang="en-US" dirty="0">
                    <a:effectLst/>
                  </a:rPr>
                  <a:t>Objective:</a:t>
                </a:r>
              </a:p>
              <a:p>
                <a:pPr lvl="1"/>
                <a:r>
                  <a:rPr lang="en-US" altLang="en-US" dirty="0">
                    <a:effectLst/>
                  </a:rPr>
                  <a:t>First period sales: </a:t>
                </a:r>
                <a14:m>
                  <m:oMath xmlns:m="http://schemas.openxmlformats.org/officeDocument/2006/math">
                    <m:sSub>
                      <m:sSubPr>
                        <m:ctrlPr>
                          <a:rPr lang="en-US" altLang="zh-CN" sz="2800" b="0" i="1" dirty="0" smtClean="0">
                            <a:effectLst/>
                            <a:latin typeface="Cambria Math" panose="02040503050406030204" pitchFamily="18" charset="0"/>
                            <a:ea typeface="宋体" pitchFamily="2" charset="-122"/>
                          </a:rPr>
                        </m:ctrlPr>
                      </m:sSubPr>
                      <m:e>
                        <m:sSub>
                          <m:sSubPr>
                            <m:ctrlPr>
                              <a:rPr lang="en-US" altLang="zh-CN" sz="2800" b="0" i="1" dirty="0" smtClean="0">
                                <a:effectLst/>
                                <a:latin typeface="Cambria Math" panose="02040503050406030204" pitchFamily="18" charset="0"/>
                                <a:ea typeface="宋体" pitchFamily="2" charset="-122"/>
                              </a:rPr>
                            </m:ctrlPr>
                          </m:sSubPr>
                          <m:e>
                            <m:r>
                              <a:rPr lang="en-US" altLang="zh-CN" sz="2800" b="0" i="1" dirty="0" smtClean="0">
                                <a:effectLst/>
                                <a:latin typeface="Cambria Math" panose="02040503050406030204" pitchFamily="18" charset="0"/>
                                <a:ea typeface="宋体" pitchFamily="2" charset="-122"/>
                              </a:rPr>
                              <m:t>𝑆</m:t>
                            </m:r>
                          </m:e>
                          <m:sub>
                            <m:r>
                              <a:rPr lang="en-US" altLang="zh-CN" sz="2800" b="0" i="1" dirty="0" smtClean="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r>
                          <m:rPr>
                            <m:sty m:val="p"/>
                          </m:rPr>
                          <a:rPr lang="en-US" altLang="zh-CN" sz="2800" b="0" i="0" dirty="0" smtClean="0">
                            <a:effectLst/>
                            <a:latin typeface="Cambria Math" panose="02040503050406030204" pitchFamily="18" charset="0"/>
                            <a:ea typeface="宋体" pitchFamily="2" charset="-122"/>
                          </a:rPr>
                          <m:t>min</m:t>
                        </m:r>
                        <m:r>
                          <a:rPr lang="en-US" altLang="zh-CN" sz="2800" b="0" i="1" dirty="0" smtClean="0">
                            <a:effectLst/>
                            <a:latin typeface="Cambria Math" panose="02040503050406030204" pitchFamily="18" charset="0"/>
                            <a:ea typeface="宋体" pitchFamily="2" charset="-122"/>
                          </a:rPr>
                          <m:t>⁡{</m:t>
                        </m:r>
                        <m:r>
                          <a:rPr lang="en-US" altLang="zh-CN" sz="2800" b="0" i="1" dirty="0">
                            <a:effectLst/>
                            <a:latin typeface="Cambria Math" panose="02040503050406030204" pitchFamily="18" charset="0"/>
                            <a:ea typeface="宋体" pitchFamily="2" charset="-122"/>
                          </a:rPr>
                          <m:t>𝑥</m:t>
                        </m:r>
                      </m:e>
                      <m:sub>
                        <m:r>
                          <a:rPr lang="en-US" altLang="zh-CN" sz="2800" b="0" i="1" dirty="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sSub>
                      <m:sSubPr>
                        <m:ctrlPr>
                          <a:rPr lang="en-US" altLang="zh-CN" sz="2800" b="0" i="1" dirty="0" smtClean="0">
                            <a:effectLst/>
                            <a:latin typeface="Cambria Math" panose="02040503050406030204" pitchFamily="18" charset="0"/>
                            <a:ea typeface="宋体" pitchFamily="2" charset="-122"/>
                          </a:rPr>
                        </m:ctrlPr>
                      </m:sSubPr>
                      <m:e>
                        <m:r>
                          <a:rPr lang="en-US" altLang="zh-CN" sz="2800" b="0" i="1" dirty="0" smtClean="0">
                            <a:effectLst/>
                            <a:latin typeface="Cambria Math" panose="02040503050406030204" pitchFamily="18" charset="0"/>
                            <a:ea typeface="宋体" pitchFamily="2" charset="-122"/>
                          </a:rPr>
                          <m:t>𝐷</m:t>
                        </m:r>
                      </m:e>
                      <m:sub>
                        <m:r>
                          <a:rPr lang="en-US" altLang="zh-CN" sz="2800" b="0" i="1" dirty="0" smtClean="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oMath>
                </a14:m>
                <a:endParaRPr lang="en-US" altLang="en-US" sz="2800" dirty="0">
                  <a:effectLst/>
                </a:endParaRPr>
              </a:p>
              <a:p>
                <a:pPr lvl="1"/>
                <a:r>
                  <a:rPr lang="en-US" altLang="en-US" dirty="0">
                    <a:effectLst/>
                  </a:rPr>
                  <a:t>Second period sales: </a:t>
                </a:r>
                <a14:m>
                  <m:oMath xmlns:m="http://schemas.openxmlformats.org/officeDocument/2006/math">
                    <m:sSub>
                      <m:sSubPr>
                        <m:ctrlPr>
                          <a:rPr lang="en-US" altLang="zh-CN" sz="2800" b="0" i="1" dirty="0">
                            <a:effectLst/>
                            <a:latin typeface="Cambria Math" panose="02040503050406030204" pitchFamily="18" charset="0"/>
                            <a:ea typeface="宋体" pitchFamily="2" charset="-122"/>
                          </a:rPr>
                        </m:ctrlPr>
                      </m:sSubPr>
                      <m:e>
                        <m:sSub>
                          <m:sSubPr>
                            <m:ctrlPr>
                              <a:rPr lang="en-US" altLang="zh-CN" sz="2800" b="0" i="1" dirty="0">
                                <a:effectLst/>
                                <a:latin typeface="Cambria Math" panose="02040503050406030204" pitchFamily="18" charset="0"/>
                                <a:ea typeface="宋体" pitchFamily="2" charset="-122"/>
                              </a:rPr>
                            </m:ctrlPr>
                          </m:sSubPr>
                          <m:e>
                            <m:r>
                              <a:rPr lang="en-US" altLang="zh-CN" sz="2800" b="0" i="1" dirty="0">
                                <a:effectLst/>
                                <a:latin typeface="Cambria Math" panose="02040503050406030204" pitchFamily="18" charset="0"/>
                                <a:ea typeface="宋体" pitchFamily="2" charset="-122"/>
                              </a:rPr>
                              <m:t>𝑆</m:t>
                            </m:r>
                          </m:e>
                          <m:sub>
                            <m:r>
                              <a:rPr lang="en-US" altLang="zh-CN" sz="2800" b="0" i="1" dirty="0" smtClean="0">
                                <a:effectLst/>
                                <a:latin typeface="Cambria Math" panose="02040503050406030204" pitchFamily="18" charset="0"/>
                                <a:ea typeface="宋体" pitchFamily="2" charset="-122"/>
                              </a:rPr>
                              <m:t>2</m:t>
                            </m:r>
                          </m:sub>
                        </m:sSub>
                        <m:r>
                          <a:rPr lang="en-US" altLang="zh-CN" sz="2800" b="0" i="1" dirty="0">
                            <a:effectLst/>
                            <a:latin typeface="Cambria Math" panose="02040503050406030204" pitchFamily="18" charset="0"/>
                            <a:ea typeface="宋体" pitchFamily="2" charset="-122"/>
                          </a:rPr>
                          <m:t>=</m:t>
                        </m:r>
                        <m:r>
                          <m:rPr>
                            <m:sty m:val="p"/>
                          </m:rPr>
                          <a:rPr lang="en-US" altLang="zh-CN" sz="2800" b="0" dirty="0">
                            <a:effectLst/>
                            <a:latin typeface="Cambria Math" panose="02040503050406030204" pitchFamily="18" charset="0"/>
                            <a:ea typeface="宋体" pitchFamily="2" charset="-122"/>
                          </a:rPr>
                          <m:t>min</m:t>
                        </m:r>
                        <m:r>
                          <a:rPr lang="en-US" altLang="zh-CN" sz="2800" b="0" i="1" dirty="0">
                            <a:effectLst/>
                            <a:latin typeface="Cambria Math" panose="02040503050406030204" pitchFamily="18" charset="0"/>
                            <a:ea typeface="宋体" pitchFamily="2" charset="-122"/>
                          </a:rPr>
                          <m:t>⁡{</m:t>
                        </m:r>
                        <m:r>
                          <a:rPr lang="en-US" altLang="zh-CN" sz="2800" b="0" i="1" dirty="0">
                            <a:effectLst/>
                            <a:latin typeface="Cambria Math" panose="02040503050406030204" pitchFamily="18" charset="0"/>
                            <a:ea typeface="宋体" pitchFamily="2" charset="-122"/>
                          </a:rPr>
                          <m:t>𝑥</m:t>
                        </m:r>
                      </m:e>
                      <m:sub>
                        <m:r>
                          <a:rPr lang="en-US" altLang="zh-CN" sz="2800" b="0" i="1" dirty="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sSub>
                      <m:sSubPr>
                        <m:ctrlPr>
                          <a:rPr lang="en-US" altLang="zh-CN" sz="2800" b="0" i="1" dirty="0" smtClean="0">
                            <a:effectLst/>
                            <a:latin typeface="Cambria Math" panose="02040503050406030204" pitchFamily="18" charset="0"/>
                            <a:ea typeface="宋体" pitchFamily="2" charset="-122"/>
                          </a:rPr>
                        </m:ctrlPr>
                      </m:sSubPr>
                      <m:e>
                        <m:r>
                          <a:rPr lang="en-US" altLang="zh-CN" sz="2800" b="0" i="1" dirty="0" smtClean="0">
                            <a:effectLst/>
                            <a:latin typeface="Cambria Math" panose="02040503050406030204" pitchFamily="18" charset="0"/>
                            <a:ea typeface="宋体" pitchFamily="2" charset="-122"/>
                          </a:rPr>
                          <m:t>𝑆</m:t>
                        </m:r>
                      </m:e>
                      <m:sub>
                        <m:r>
                          <a:rPr lang="en-US" altLang="zh-CN" sz="2800" b="0" i="1" dirty="0" smtClean="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sSub>
                      <m:sSubPr>
                        <m:ctrlPr>
                          <a:rPr lang="en-US" altLang="zh-CN" sz="2800" b="0" i="1" dirty="0">
                            <a:effectLst/>
                            <a:latin typeface="Cambria Math" panose="02040503050406030204" pitchFamily="18" charset="0"/>
                            <a:ea typeface="宋体" pitchFamily="2" charset="-122"/>
                          </a:rPr>
                        </m:ctrlPr>
                      </m:sSubPr>
                      <m:e>
                        <m:r>
                          <a:rPr lang="en-US" altLang="zh-CN" sz="2800" b="0" i="1" dirty="0">
                            <a:effectLst/>
                            <a:latin typeface="Cambria Math" panose="02040503050406030204" pitchFamily="18" charset="0"/>
                            <a:ea typeface="宋体" pitchFamily="2" charset="-122"/>
                          </a:rPr>
                          <m:t>𝑥</m:t>
                        </m:r>
                      </m:e>
                      <m:sub>
                        <m:r>
                          <a:rPr lang="en-US" altLang="zh-CN" sz="2800" b="0" i="1" dirty="0">
                            <a:effectLst/>
                            <a:latin typeface="Cambria Math" panose="02040503050406030204" pitchFamily="18" charset="0"/>
                            <a:ea typeface="宋体" pitchFamily="2" charset="-122"/>
                          </a:rPr>
                          <m:t>2</m:t>
                        </m:r>
                      </m:sub>
                    </m:sSub>
                    <m:r>
                      <a:rPr lang="en-US" altLang="zh-CN" sz="2800" b="0" i="1" dirty="0">
                        <a:effectLst/>
                        <a:latin typeface="Cambria Math" panose="02040503050406030204" pitchFamily="18" charset="0"/>
                        <a:ea typeface="宋体" pitchFamily="2" charset="-122"/>
                      </a:rPr>
                      <m:t>,</m:t>
                    </m:r>
                    <m:sSub>
                      <m:sSubPr>
                        <m:ctrlPr>
                          <a:rPr lang="en-US" altLang="zh-CN" sz="2800" b="0" i="1" dirty="0">
                            <a:effectLst/>
                            <a:latin typeface="Cambria Math" panose="02040503050406030204" pitchFamily="18" charset="0"/>
                            <a:ea typeface="宋体" pitchFamily="2" charset="-122"/>
                          </a:rPr>
                        </m:ctrlPr>
                      </m:sSubPr>
                      <m:e>
                        <m:r>
                          <a:rPr lang="en-US" altLang="zh-CN" sz="2800" b="0" i="1" dirty="0">
                            <a:effectLst/>
                            <a:latin typeface="Cambria Math" panose="02040503050406030204" pitchFamily="18" charset="0"/>
                            <a:ea typeface="宋体" pitchFamily="2" charset="-122"/>
                          </a:rPr>
                          <m:t>𝐷</m:t>
                        </m:r>
                      </m:e>
                      <m:sub>
                        <m:r>
                          <a:rPr lang="en-US" altLang="zh-CN" sz="2800" b="0" i="1" dirty="0" smtClean="0">
                            <a:effectLst/>
                            <a:latin typeface="Cambria Math" panose="02040503050406030204" pitchFamily="18" charset="0"/>
                            <a:ea typeface="宋体" pitchFamily="2" charset="-122"/>
                          </a:rPr>
                          <m:t>2</m:t>
                        </m:r>
                      </m:sub>
                    </m:sSub>
                    <m:r>
                      <a:rPr lang="en-US" altLang="zh-CN" sz="2800" b="0" i="1" dirty="0">
                        <a:effectLst/>
                        <a:latin typeface="Cambria Math" panose="02040503050406030204" pitchFamily="18" charset="0"/>
                        <a:ea typeface="宋体" pitchFamily="2" charset="-122"/>
                      </a:rPr>
                      <m:t>}</m:t>
                    </m:r>
                  </m:oMath>
                </a14:m>
                <a:endParaRPr lang="en-US" altLang="en-US" dirty="0">
                  <a:effectLst/>
                </a:endParaRPr>
              </a:p>
              <a:p>
                <a:pPr lvl="1"/>
                <a:r>
                  <a:rPr lang="en-US" altLang="en-US" dirty="0">
                    <a:effectLst/>
                  </a:rPr>
                  <a:t>Minimize: </a:t>
                </a:r>
                <a14:m>
                  <m:oMath xmlns:m="http://schemas.openxmlformats.org/officeDocument/2006/math">
                    <m:sSub>
                      <m:sSubPr>
                        <m:ctrlPr>
                          <a:rPr lang="en-US" altLang="zh-CN" sz="2800" b="0" i="1" dirty="0" smtClean="0">
                            <a:effectLst/>
                            <a:latin typeface="Cambria Math" panose="02040503050406030204" pitchFamily="18" charset="0"/>
                            <a:ea typeface="宋体" pitchFamily="2" charset="-122"/>
                          </a:rPr>
                        </m:ctrlPr>
                      </m:sSubPr>
                      <m:e>
                        <m:r>
                          <a:rPr lang="en-US" altLang="zh-CN" sz="2800" b="0" i="1" dirty="0" smtClean="0">
                            <a:effectLst/>
                            <a:latin typeface="Cambria Math" panose="02040503050406030204" pitchFamily="18" charset="0"/>
                            <a:ea typeface="宋体" pitchFamily="2" charset="-122"/>
                          </a:rPr>
                          <m:t>𝑧</m:t>
                        </m:r>
                        <m:r>
                          <a:rPr lang="en-US" altLang="zh-CN" sz="2800" b="0" i="1" dirty="0" smtClean="0">
                            <a:effectLst/>
                            <a:latin typeface="Cambria Math" panose="02040503050406030204" pitchFamily="18" charset="0"/>
                            <a:ea typeface="宋体" pitchFamily="2" charset="-122"/>
                          </a:rPr>
                          <m:t>=</m:t>
                        </m:r>
                        <m:r>
                          <a:rPr lang="en-US" altLang="zh-CN" sz="2800" b="0" i="1" dirty="0" smtClean="0">
                            <a:effectLst/>
                            <a:latin typeface="Cambria Math" panose="02040503050406030204" pitchFamily="18" charset="0"/>
                            <a:ea typeface="宋体" pitchFamily="2" charset="-122"/>
                          </a:rPr>
                          <m:t>𝑐</m:t>
                        </m:r>
                        <m:r>
                          <a:rPr lang="en-US" altLang="zh-CN" sz="2800" b="0" i="1" dirty="0" smtClean="0">
                            <a:effectLst/>
                            <a:latin typeface="Cambria Math" panose="02040503050406030204" pitchFamily="18" charset="0"/>
                            <a:ea typeface="宋体" pitchFamily="2" charset="-122"/>
                          </a:rPr>
                          <m:t>(</m:t>
                        </m:r>
                        <m:r>
                          <a:rPr lang="en-US" altLang="zh-CN" sz="2800" b="0" i="1" dirty="0" smtClean="0">
                            <a:effectLst/>
                            <a:latin typeface="Cambria Math" panose="02040503050406030204" pitchFamily="18" charset="0"/>
                            <a:ea typeface="宋体" pitchFamily="2" charset="-122"/>
                          </a:rPr>
                          <m:t>𝑥</m:t>
                        </m:r>
                      </m:e>
                      <m:sub>
                        <m:r>
                          <a:rPr lang="en-US" altLang="zh-CN" sz="2800" b="0" i="1" dirty="0" smtClean="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sSub>
                      <m:sSubPr>
                        <m:ctrlPr>
                          <a:rPr lang="en-US" altLang="zh-CN" sz="2800" b="0" i="1" dirty="0" smtClean="0">
                            <a:effectLst/>
                            <a:latin typeface="Cambria Math" panose="02040503050406030204" pitchFamily="18" charset="0"/>
                            <a:ea typeface="宋体" pitchFamily="2" charset="-122"/>
                          </a:rPr>
                        </m:ctrlPr>
                      </m:sSubPr>
                      <m:e>
                        <m:r>
                          <a:rPr lang="en-US" altLang="zh-CN" sz="2800" b="0" i="1" dirty="0" smtClean="0">
                            <a:effectLst/>
                            <a:latin typeface="Cambria Math" panose="02040503050406030204" pitchFamily="18" charset="0"/>
                            <a:ea typeface="宋体" pitchFamily="2" charset="-122"/>
                          </a:rPr>
                          <m:t>𝑥</m:t>
                        </m:r>
                      </m:e>
                      <m:sub>
                        <m:r>
                          <a:rPr lang="en-US" altLang="zh-CN" sz="2800" b="0" i="1" dirty="0" smtClean="0">
                            <a:effectLst/>
                            <a:latin typeface="Cambria Math" panose="02040503050406030204" pitchFamily="18" charset="0"/>
                            <a:ea typeface="宋体" pitchFamily="2" charset="-122"/>
                          </a:rPr>
                          <m:t>2</m:t>
                        </m:r>
                      </m:sub>
                    </m:sSub>
                    <m:r>
                      <a:rPr lang="en-US" altLang="zh-CN" sz="2800" b="0" i="1" dirty="0" smtClean="0">
                        <a:effectLst/>
                        <a:latin typeface="Cambria Math" panose="02040503050406030204" pitchFamily="18" charset="0"/>
                        <a:ea typeface="宋体" pitchFamily="2" charset="-122"/>
                      </a:rPr>
                      <m:t>)−</m:t>
                    </m:r>
                    <m:r>
                      <a:rPr lang="en-US" altLang="zh-CN" sz="2800" b="0" i="1" dirty="0" smtClean="0">
                        <a:effectLst/>
                        <a:latin typeface="Cambria Math" panose="02040503050406030204" pitchFamily="18" charset="0"/>
                        <a:ea typeface="宋体" pitchFamily="2" charset="-122"/>
                      </a:rPr>
                      <m:t>𝑝𝐸</m:t>
                    </m:r>
                    <m:r>
                      <a:rPr lang="en-US" altLang="zh-CN" sz="2800" b="0" i="1" dirty="0" smtClean="0">
                        <a:effectLst/>
                        <a:latin typeface="Cambria Math" panose="02040503050406030204" pitchFamily="18" charset="0"/>
                        <a:ea typeface="宋体" pitchFamily="2" charset="-122"/>
                      </a:rPr>
                      <m:t>[</m:t>
                    </m:r>
                    <m:sSub>
                      <m:sSubPr>
                        <m:ctrlPr>
                          <a:rPr lang="en-US" altLang="zh-CN" sz="2800" b="0" i="1" dirty="0">
                            <a:effectLst/>
                            <a:latin typeface="Cambria Math" panose="02040503050406030204" pitchFamily="18" charset="0"/>
                            <a:ea typeface="宋体" pitchFamily="2" charset="-122"/>
                          </a:rPr>
                        </m:ctrlPr>
                      </m:sSubPr>
                      <m:e>
                        <m:r>
                          <a:rPr lang="en-US" altLang="zh-CN" sz="2800" b="0" i="1" dirty="0">
                            <a:effectLst/>
                            <a:latin typeface="Cambria Math" panose="02040503050406030204" pitchFamily="18" charset="0"/>
                            <a:ea typeface="宋体" pitchFamily="2" charset="-122"/>
                          </a:rPr>
                          <m:t>𝑆</m:t>
                        </m:r>
                      </m:e>
                      <m:sub>
                        <m:r>
                          <a:rPr lang="en-US" altLang="zh-CN" sz="2800" b="0" i="1" dirty="0">
                            <a:effectLst/>
                            <a:latin typeface="Cambria Math" panose="02040503050406030204" pitchFamily="18" charset="0"/>
                            <a:ea typeface="宋体" pitchFamily="2" charset="-122"/>
                          </a:rPr>
                          <m:t>1</m:t>
                        </m:r>
                      </m:sub>
                    </m:sSub>
                    <m:r>
                      <a:rPr lang="en-US" altLang="zh-CN" sz="2800" b="0" i="1" dirty="0" smtClean="0">
                        <a:effectLst/>
                        <a:latin typeface="Cambria Math" panose="02040503050406030204" pitchFamily="18" charset="0"/>
                        <a:ea typeface="宋体" pitchFamily="2" charset="-122"/>
                      </a:rPr>
                      <m:t>+</m:t>
                    </m:r>
                    <m:sSub>
                      <m:sSubPr>
                        <m:ctrlPr>
                          <a:rPr lang="en-US" altLang="zh-CN" sz="2800" b="0" i="1" dirty="0">
                            <a:effectLst/>
                            <a:latin typeface="Cambria Math" panose="02040503050406030204" pitchFamily="18" charset="0"/>
                            <a:ea typeface="宋体" pitchFamily="2" charset="-122"/>
                          </a:rPr>
                        </m:ctrlPr>
                      </m:sSubPr>
                      <m:e>
                        <m:r>
                          <a:rPr lang="en-US" altLang="zh-CN" sz="2800" b="0" i="1" dirty="0">
                            <a:effectLst/>
                            <a:latin typeface="Cambria Math" panose="02040503050406030204" pitchFamily="18" charset="0"/>
                            <a:ea typeface="宋体" pitchFamily="2" charset="-122"/>
                          </a:rPr>
                          <m:t>𝑆</m:t>
                        </m:r>
                      </m:e>
                      <m:sub>
                        <m:r>
                          <a:rPr lang="en-US" altLang="zh-CN" sz="2800" b="0" i="1" dirty="0" smtClean="0">
                            <a:effectLst/>
                            <a:latin typeface="Cambria Math" panose="02040503050406030204" pitchFamily="18" charset="0"/>
                            <a:ea typeface="宋体" pitchFamily="2" charset="-122"/>
                          </a:rPr>
                          <m:t>2</m:t>
                        </m:r>
                      </m:sub>
                    </m:sSub>
                    <m:r>
                      <a:rPr lang="en-US" altLang="zh-CN" sz="2800" b="0" i="1" dirty="0" smtClean="0">
                        <a:effectLst/>
                        <a:latin typeface="Cambria Math" panose="02040503050406030204" pitchFamily="18" charset="0"/>
                        <a:ea typeface="宋体" pitchFamily="2" charset="-122"/>
                      </a:rPr>
                      <m:t>]</m:t>
                    </m:r>
                  </m:oMath>
                </a14:m>
                <a:r>
                  <a:rPr lang="en-US" altLang="en-US" dirty="0">
                    <a:effectLst/>
                  </a:rPr>
                  <a:t>.</a:t>
                </a:r>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0" y="1057125"/>
                <a:ext cx="8754177" cy="4937125"/>
              </a:xfrm>
              <a:blipFill rotWithShape="0">
                <a:blip r:embed="rId2"/>
                <a:stretch>
                  <a:fillRect l="-1323" t="-741"/>
                </a:stretch>
              </a:blipFill>
            </p:spPr>
            <p:txBody>
              <a:bodyPr/>
              <a:lstStyle/>
              <a:p>
                <a:r>
                  <a:rPr lang="en-SG">
                    <a:noFill/>
                  </a:rPr>
                  <a:t> </a:t>
                </a:r>
              </a:p>
            </p:txBody>
          </p:sp>
        </mc:Fallback>
      </mc:AlternateContent>
    </p:spTree>
    <p:extLst>
      <p:ext uri="{BB962C8B-B14F-4D97-AF65-F5344CB8AC3E}">
        <p14:creationId xmlns:p14="http://schemas.microsoft.com/office/powerpoint/2010/main" val="39268217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Stochastic Optimization</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7462" y="941388"/>
                <a:ext cx="8754177" cy="5916612"/>
              </a:xfrm>
            </p:spPr>
            <p:txBody>
              <a:bodyPr/>
              <a:lstStyle/>
              <a:p>
                <a:r>
                  <a:rPr lang="en-US" altLang="en-US" sz="2400" dirty="0">
                    <a:effectLst/>
                  </a:rPr>
                  <a:t>Demands:</a:t>
                </a:r>
              </a:p>
              <a:p>
                <a:endParaRPr lang="en-US" altLang="en-US" sz="2400" dirty="0">
                  <a:effectLst/>
                </a:endParaRPr>
              </a:p>
              <a:p>
                <a:endParaRPr lang="en-US" altLang="en-US" sz="2400" dirty="0">
                  <a:effectLst/>
                </a:endParaRPr>
              </a:p>
              <a:p>
                <a:endParaRPr lang="en-US" altLang="en-US" sz="2400" dirty="0">
                  <a:effectLst/>
                </a:endParaRPr>
              </a:p>
              <a:p>
                <a:endParaRPr lang="en-US" altLang="en-US" sz="2400" dirty="0">
                  <a:effectLst/>
                </a:endParaRPr>
              </a:p>
              <a:p>
                <a:r>
                  <a:rPr lang="en-US" altLang="en-US" sz="2400" dirty="0">
                    <a:effectLst/>
                  </a:rPr>
                  <a:t>Decisions:</a:t>
                </a:r>
              </a:p>
              <a:p>
                <a:pPr lvl="1"/>
                <a14:m>
                  <m:oMath xmlns:m="http://schemas.openxmlformats.org/officeDocument/2006/math">
                    <m:sSub>
                      <m:sSubPr>
                        <m:ctrlPr>
                          <a:rPr lang="en-US" altLang="en-US" sz="24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400" b="0" i="1" smtClean="0">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smtClean="0">
                        <a:solidFill>
                          <a:srgbClr val="FF0000"/>
                        </a:solidFill>
                        <a:effectLst/>
                        <a:latin typeface="Cambria Math" panose="02040503050406030204" pitchFamily="18" charset="0"/>
                        <a:ea typeface="Cambria Math" panose="02040503050406030204" pitchFamily="18" charset="0"/>
                      </a:rPr>
                      <m:t>)=(0,0)</m:t>
                    </m:r>
                  </m:oMath>
                </a14:m>
                <a:r>
                  <a:rPr lang="en-US" altLang="en-US" sz="2400" dirty="0">
                    <a:effectLst/>
                  </a:rPr>
                  <a:t>: </a:t>
                </a:r>
                <a14:m>
                  <m:oMath xmlns:m="http://schemas.openxmlformats.org/officeDocument/2006/math">
                    <m:r>
                      <a:rPr lang="en-US" altLang="zh-CN" sz="2400" b="0" i="1" dirty="0">
                        <a:effectLst/>
                        <a:latin typeface="Cambria Math" panose="02040503050406030204" pitchFamily="18" charset="0"/>
                        <a:ea typeface="宋体" pitchFamily="2" charset="-122"/>
                      </a:rPr>
                      <m:t>𝑧</m:t>
                    </m:r>
                    <m:r>
                      <a:rPr lang="en-US" altLang="zh-CN" sz="2400" b="0" i="1" dirty="0">
                        <a:effectLst/>
                        <a:latin typeface="Cambria Math" panose="02040503050406030204" pitchFamily="18" charset="0"/>
                        <a:ea typeface="宋体" pitchFamily="2" charset="-122"/>
                      </a:rPr>
                      <m:t>=0</m:t>
                    </m:r>
                  </m:oMath>
                </a14:m>
                <a:endParaRPr lang="en-US" altLang="en-US" sz="2400" dirty="0">
                  <a:effectLst/>
                </a:endParaRP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a:solidFill>
                          <a:srgbClr val="FF0000"/>
                        </a:solidFill>
                        <a:effectLst/>
                        <a:latin typeface="Cambria Math" panose="02040503050406030204" pitchFamily="18" charset="0"/>
                        <a:ea typeface="Cambria Math" panose="02040503050406030204" pitchFamily="18" charset="0"/>
                      </a:rPr>
                      <m:t>)=(0,</m:t>
                    </m:r>
                    <m:r>
                      <a:rPr lang="en-US" altLang="en-US" sz="2400" b="0" i="1" smtClean="0">
                        <a:solidFill>
                          <a:srgbClr val="FF0000"/>
                        </a:solidFill>
                        <a:effectLst/>
                        <a:latin typeface="Cambria Math" panose="02040503050406030204" pitchFamily="18" charset="0"/>
                        <a:ea typeface="Cambria Math" panose="02040503050406030204" pitchFamily="18" charset="0"/>
                      </a:rPr>
                      <m:t>1</m:t>
                    </m:r>
                    <m:r>
                      <a:rPr lang="en-US" altLang="en-US" sz="2400" b="0" i="1">
                        <a:solidFill>
                          <a:srgbClr val="FF0000"/>
                        </a:solidFill>
                        <a:effectLst/>
                        <a:latin typeface="Cambria Math" panose="02040503050406030204" pitchFamily="18" charset="0"/>
                        <a:ea typeface="Cambria Math" panose="02040503050406030204" pitchFamily="18" charset="0"/>
                      </a:rPr>
                      <m:t>)</m:t>
                    </m:r>
                  </m:oMath>
                </a14:m>
                <a:r>
                  <a:rPr lang="en-US" altLang="en-US" sz="2400" dirty="0">
                    <a:effectLst/>
                  </a:rPr>
                  <a:t>: </a:t>
                </a:r>
                <a14:m>
                  <m:oMath xmlns:m="http://schemas.openxmlformats.org/officeDocument/2006/math">
                    <m:r>
                      <a:rPr lang="en-US" altLang="zh-CN" sz="2400" b="0" i="1" dirty="0">
                        <a:effectLst/>
                        <a:latin typeface="Cambria Math" panose="02040503050406030204" pitchFamily="18" charset="0"/>
                        <a:ea typeface="宋体" pitchFamily="2" charset="-122"/>
                      </a:rPr>
                      <m:t>𝑧</m:t>
                    </m:r>
                    <m:r>
                      <a:rPr lang="en-US" altLang="zh-CN" sz="2400" b="0" i="1" dirty="0">
                        <a:effectLst/>
                        <a:latin typeface="Cambria Math" panose="02040503050406030204" pitchFamily="18" charset="0"/>
                        <a:ea typeface="宋体" pitchFamily="2" charset="-122"/>
                      </a:rPr>
                      <m:t>=0.4+−1×</m:t>
                    </m:r>
                    <m:f>
                      <m:fPr>
                        <m:ctrlPr>
                          <a:rPr lang="en-US" altLang="en-US" sz="2400" b="0" i="1" smtClean="0">
                            <a:effectLst/>
                            <a:latin typeface="Cambria Math" panose="02040503050406030204" pitchFamily="18" charset="0"/>
                            <a:ea typeface="宋体" pitchFamily="2" charset="-122"/>
                          </a:rPr>
                        </m:ctrlPr>
                      </m:fPr>
                      <m:num>
                        <m:r>
                          <a:rPr lang="en-US" altLang="en-US" sz="2400" b="0" i="1" smtClean="0">
                            <a:effectLst/>
                            <a:latin typeface="Cambria Math" panose="02040503050406030204" pitchFamily="18" charset="0"/>
                            <a:ea typeface="宋体" pitchFamily="2" charset="-122"/>
                          </a:rPr>
                          <m:t>2</m:t>
                        </m:r>
                      </m:num>
                      <m:den>
                        <m:r>
                          <a:rPr lang="en-US" altLang="en-US" sz="2400" b="0" i="1" smtClean="0">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m:t>
                    </m:r>
                    <m:f>
                      <m:fPr>
                        <m:ctrlPr>
                          <a:rPr lang="en-US" altLang="en-US" sz="2400" b="0" i="1" smtClean="0">
                            <a:effectLst/>
                            <a:latin typeface="Cambria Math" panose="02040503050406030204" pitchFamily="18" charset="0"/>
                            <a:ea typeface="宋体" pitchFamily="2" charset="-122"/>
                          </a:rPr>
                        </m:ctrlPr>
                      </m:fPr>
                      <m:num>
                        <m:r>
                          <a:rPr lang="en-US" altLang="en-US" sz="2400" b="0" i="1" smtClean="0">
                            <a:effectLst/>
                            <a:latin typeface="Cambria Math" panose="02040503050406030204" pitchFamily="18" charset="0"/>
                            <a:ea typeface="宋体" pitchFamily="2" charset="-122"/>
                          </a:rPr>
                          <m:t>2</m:t>
                        </m:r>
                      </m:num>
                      <m:den>
                        <m:r>
                          <a:rPr lang="en-US" altLang="en-US" sz="2400" b="0" i="1" smtClean="0">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=−0.1</m:t>
                    </m:r>
                  </m:oMath>
                </a14:m>
                <a:endParaRPr lang="en-US" altLang="en-US" sz="2400" b="0" i="1" dirty="0">
                  <a:effectLst/>
                  <a:latin typeface="Cambria Math" panose="02040503050406030204" pitchFamily="18" charset="0"/>
                  <a:ea typeface="宋体" pitchFamily="2" charset="-122"/>
                </a:endParaRP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1</m:t>
                    </m:r>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0</m:t>
                    </m:r>
                    <m:r>
                      <a:rPr lang="en-US" altLang="en-US" sz="2400" b="0" i="1">
                        <a:solidFill>
                          <a:srgbClr val="FF0000"/>
                        </a:solidFill>
                        <a:effectLst/>
                        <a:latin typeface="Cambria Math" panose="02040503050406030204" pitchFamily="18" charset="0"/>
                        <a:ea typeface="Cambria Math" panose="02040503050406030204" pitchFamily="18" charset="0"/>
                      </a:rPr>
                      <m:t>)</m:t>
                    </m:r>
                  </m:oMath>
                </a14:m>
                <a:r>
                  <a:rPr lang="en-US" altLang="en-US" sz="2400" dirty="0">
                    <a:effectLst/>
                  </a:rPr>
                  <a:t>: </a:t>
                </a:r>
                <a14:m>
                  <m:oMath xmlns:m="http://schemas.openxmlformats.org/officeDocument/2006/math">
                    <m:r>
                      <a:rPr lang="en-US" altLang="zh-CN" sz="2400" b="0" i="1" dirty="0">
                        <a:effectLst/>
                        <a:latin typeface="Cambria Math" panose="02040503050406030204" pitchFamily="18" charset="0"/>
                        <a:ea typeface="宋体" pitchFamily="2" charset="-122"/>
                      </a:rPr>
                      <m:t>𝑧</m:t>
                    </m:r>
                    <m:r>
                      <a:rPr lang="en-US" altLang="zh-CN" sz="2400" b="0" i="1" dirty="0">
                        <a:effectLst/>
                        <a:latin typeface="Cambria Math" panose="02040503050406030204" pitchFamily="18" charset="0"/>
                        <a:ea typeface="宋体" pitchFamily="2" charset="-122"/>
                      </a:rPr>
                      <m:t>=0.4+−1×</m:t>
                    </m:r>
                    <m:f>
                      <m:fPr>
                        <m:ctrlPr>
                          <a:rPr lang="en-US" altLang="en-US" sz="2400" b="0" i="1" smtClean="0">
                            <a:effectLst/>
                            <a:latin typeface="Cambria Math" panose="02040503050406030204" pitchFamily="18" charset="0"/>
                            <a:ea typeface="宋体" pitchFamily="2" charset="-122"/>
                          </a:rPr>
                        </m:ctrlPr>
                      </m:fPr>
                      <m:num>
                        <m:r>
                          <a:rPr lang="en-US" altLang="en-US" sz="2400" b="0" i="1" smtClean="0">
                            <a:effectLst/>
                            <a:latin typeface="Cambria Math" panose="02040503050406030204" pitchFamily="18" charset="0"/>
                            <a:ea typeface="宋体" pitchFamily="2" charset="-122"/>
                          </a:rPr>
                          <m:t>3</m:t>
                        </m:r>
                      </m:num>
                      <m:den>
                        <m:r>
                          <a:rPr lang="en-US" altLang="en-US" sz="2400" b="0" i="1" smtClean="0">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smtClean="0">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m:t>
                    </m:r>
                    <m:r>
                      <a:rPr lang="en-US" altLang="en-US" sz="2400" b="0" i="1" smtClean="0">
                        <a:effectLst/>
                        <a:latin typeface="Cambria Math" panose="02040503050406030204" pitchFamily="18" charset="0"/>
                        <a:ea typeface="宋体" pitchFamily="2" charset="-122"/>
                      </a:rPr>
                      <m:t>35</m:t>
                    </m:r>
                  </m:oMath>
                </a14:m>
                <a:endParaRPr lang="en-US" altLang="en-US" sz="2400" b="0" i="1" dirty="0">
                  <a:effectLst/>
                  <a:latin typeface="Cambria Math" panose="02040503050406030204" pitchFamily="18" charset="0"/>
                  <a:ea typeface="宋体" pitchFamily="2" charset="-122"/>
                </a:endParaRP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1</m:t>
                    </m:r>
                    <m:r>
                      <a:rPr lang="en-US" altLang="en-US" sz="2400" b="0" i="1">
                        <a:solidFill>
                          <a:srgbClr val="FF0000"/>
                        </a:solidFill>
                        <a:effectLst/>
                        <a:latin typeface="Cambria Math" panose="02040503050406030204" pitchFamily="18" charset="0"/>
                        <a:ea typeface="Cambria Math" panose="02040503050406030204" pitchFamily="18" charset="0"/>
                      </a:rPr>
                      <m:t>,1)</m:t>
                    </m:r>
                  </m:oMath>
                </a14:m>
                <a:r>
                  <a:rPr lang="en-US" altLang="en-US" sz="2400" dirty="0">
                    <a:effectLst/>
                  </a:rPr>
                  <a:t>: </a:t>
                </a:r>
                <a14:m>
                  <m:oMath xmlns:m="http://schemas.openxmlformats.org/officeDocument/2006/math">
                    <m:r>
                      <a:rPr lang="en-US" altLang="zh-CN" sz="2400" b="0" i="1" dirty="0">
                        <a:effectLst/>
                        <a:latin typeface="Cambria Math" panose="02040503050406030204" pitchFamily="18" charset="0"/>
                        <a:ea typeface="宋体" pitchFamily="2" charset="-122"/>
                      </a:rPr>
                      <m:t>𝑧</m:t>
                    </m:r>
                    <m:r>
                      <a:rPr lang="en-US" altLang="zh-CN" sz="2400" b="0" i="1" dirty="0">
                        <a:effectLst/>
                        <a:latin typeface="Cambria Math" panose="02040503050406030204" pitchFamily="18" charset="0"/>
                        <a:ea typeface="宋体" pitchFamily="2" charset="-122"/>
                      </a:rPr>
                      <m:t>=0.8+−2×</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smtClean="0">
                            <a:effectLst/>
                            <a:latin typeface="Cambria Math" panose="02040503050406030204" pitchFamily="18" charset="0"/>
                            <a:ea typeface="宋体" pitchFamily="2" charset="-122"/>
                          </a:rPr>
                          <m:t>4</m:t>
                        </m:r>
                      </m:den>
                    </m:f>
                    <m:r>
                      <a:rPr lang="en-US" altLang="en-US" sz="2400" b="0" i="1" smtClean="0">
                        <a:effectLst/>
                        <a:latin typeface="Cambria Math" panose="02040503050406030204" pitchFamily="18" charset="0"/>
                        <a:ea typeface="宋体" pitchFamily="2" charset="-122"/>
                      </a:rPr>
                      <m:t>+−1</m:t>
                    </m:r>
                    <m:r>
                      <a:rPr lang="en-US" altLang="en-US" sz="2400" b="0" i="1">
                        <a:effectLst/>
                        <a:latin typeface="Cambria Math" panose="02040503050406030204" pitchFamily="18" charset="0"/>
                        <a:ea typeface="宋体" pitchFamily="2" charset="-122"/>
                      </a:rPr>
                      <m:t>×</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a:effectLst/>
                            <a:latin typeface="Cambria Math" panose="02040503050406030204" pitchFamily="18" charset="0"/>
                            <a:ea typeface="宋体" pitchFamily="2" charset="-122"/>
                          </a:rPr>
                          <m:t>2</m:t>
                        </m:r>
                      </m:den>
                    </m:f>
                    <m:r>
                      <a:rPr lang="en-US" altLang="en-US" sz="2400" b="0" i="1">
                        <a:effectLst/>
                        <a:latin typeface="Cambria Math" panose="02040503050406030204" pitchFamily="18" charset="0"/>
                        <a:ea typeface="宋体" pitchFamily="2" charset="-122"/>
                      </a:rPr>
                      <m:t>+0×</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m:t>
                    </m:r>
                    <m:r>
                      <a:rPr lang="en-US" altLang="en-US" sz="2400" b="0" i="1" smtClean="0">
                        <a:effectLst/>
                        <a:latin typeface="Cambria Math" panose="02040503050406030204" pitchFamily="18" charset="0"/>
                        <a:ea typeface="宋体" pitchFamily="2" charset="-122"/>
                      </a:rPr>
                      <m:t>2</m:t>
                    </m:r>
                  </m:oMath>
                </a14:m>
                <a:endParaRPr lang="en-US" altLang="en-US" sz="2400" b="0" i="1" dirty="0">
                  <a:effectLst/>
                  <a:latin typeface="Cambria Math" panose="02040503050406030204" pitchFamily="18" charset="0"/>
                  <a:ea typeface="宋体" pitchFamily="2" charset="-122"/>
                </a:endParaRP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2</m:t>
                    </m:r>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0</m:t>
                    </m:r>
                    <m:r>
                      <a:rPr lang="en-US" altLang="en-US" sz="2400" b="0" i="1">
                        <a:solidFill>
                          <a:srgbClr val="FF0000"/>
                        </a:solidFill>
                        <a:effectLst/>
                        <a:latin typeface="Cambria Math" panose="02040503050406030204" pitchFamily="18" charset="0"/>
                        <a:ea typeface="Cambria Math" panose="02040503050406030204" pitchFamily="18" charset="0"/>
                      </a:rPr>
                      <m:t>)</m:t>
                    </m:r>
                  </m:oMath>
                </a14:m>
                <a:r>
                  <a:rPr lang="en-US" altLang="en-US" sz="2400" dirty="0">
                    <a:effectLst/>
                  </a:rPr>
                  <a:t>: </a:t>
                </a:r>
                <a14:m>
                  <m:oMath xmlns:m="http://schemas.openxmlformats.org/officeDocument/2006/math">
                    <m:r>
                      <a:rPr lang="en-US" altLang="zh-CN" sz="2400" b="0" i="1" dirty="0">
                        <a:effectLst/>
                        <a:latin typeface="Cambria Math" panose="02040503050406030204" pitchFamily="18" charset="0"/>
                        <a:ea typeface="宋体" pitchFamily="2" charset="-122"/>
                      </a:rPr>
                      <m:t>𝑧</m:t>
                    </m:r>
                    <m:r>
                      <a:rPr lang="en-US" altLang="zh-CN" sz="2400" b="0" i="1" dirty="0">
                        <a:effectLst/>
                        <a:latin typeface="Cambria Math" panose="02040503050406030204" pitchFamily="18" charset="0"/>
                        <a:ea typeface="宋体" pitchFamily="2" charset="-122"/>
                      </a:rPr>
                      <m:t>=0.8+−2×</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+−1×</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a:effectLst/>
                            <a:latin typeface="Cambria Math" panose="02040503050406030204" pitchFamily="18" charset="0"/>
                            <a:ea typeface="宋体" pitchFamily="2" charset="-122"/>
                          </a:rPr>
                          <m:t>2</m:t>
                        </m:r>
                      </m:den>
                    </m:f>
                    <m:r>
                      <a:rPr lang="en-US" altLang="en-US" sz="2400" b="0" i="1">
                        <a:effectLst/>
                        <a:latin typeface="Cambria Math" panose="02040503050406030204" pitchFamily="18" charset="0"/>
                        <a:ea typeface="宋体" pitchFamily="2" charset="-122"/>
                      </a:rPr>
                      <m:t>+0×</m:t>
                    </m:r>
                    <m:f>
                      <m:fPr>
                        <m:ctrlPr>
                          <a:rPr lang="en-US" altLang="en-US" sz="2400" b="0" i="1">
                            <a:effectLst/>
                            <a:latin typeface="Cambria Math" panose="02040503050406030204" pitchFamily="18" charset="0"/>
                            <a:ea typeface="宋体" pitchFamily="2" charset="-122"/>
                          </a:rPr>
                        </m:ctrlPr>
                      </m:fPr>
                      <m:num>
                        <m:r>
                          <a:rPr lang="en-US" altLang="en-US" sz="2400" b="0" i="1">
                            <a:effectLst/>
                            <a:latin typeface="Cambria Math" panose="02040503050406030204" pitchFamily="18" charset="0"/>
                            <a:ea typeface="宋体" pitchFamily="2" charset="-122"/>
                          </a:rPr>
                          <m:t>1</m:t>
                        </m:r>
                      </m:num>
                      <m:den>
                        <m:r>
                          <a:rPr lang="en-US" altLang="en-US" sz="2400" b="0" i="1">
                            <a:effectLst/>
                            <a:latin typeface="Cambria Math" panose="02040503050406030204" pitchFamily="18" charset="0"/>
                            <a:ea typeface="宋体" pitchFamily="2" charset="-122"/>
                          </a:rPr>
                          <m:t>4</m:t>
                        </m:r>
                      </m:den>
                    </m:f>
                    <m:r>
                      <a:rPr lang="en-US" altLang="en-US" sz="2400" b="0" i="1">
                        <a:effectLst/>
                        <a:latin typeface="Cambria Math" panose="02040503050406030204" pitchFamily="18" charset="0"/>
                        <a:ea typeface="宋体" pitchFamily="2" charset="-122"/>
                      </a:rPr>
                      <m:t>=−0.2</m:t>
                    </m:r>
                  </m:oMath>
                </a14:m>
                <a:endParaRPr lang="en-US" altLang="en-US" sz="2400" b="0" i="1" dirty="0">
                  <a:effectLst/>
                  <a:latin typeface="Cambria Math" panose="02040503050406030204" pitchFamily="18" charset="0"/>
                  <a:ea typeface="宋体" pitchFamily="2" charset="-122"/>
                </a:endParaRPr>
              </a:p>
              <a:p>
                <a:pPr lvl="1"/>
                <a:endParaRPr lang="en-US" altLang="en-US" sz="2400" b="0" i="1" dirty="0">
                  <a:latin typeface="Cambria Math" panose="02040503050406030204" pitchFamily="18" charset="0"/>
                  <a:ea typeface="宋体" pitchFamily="2" charset="-122"/>
                </a:endParaRPr>
              </a:p>
              <a:p>
                <a:pPr lvl="1"/>
                <a:endParaRPr lang="en-US" altLang="en-US" sz="2800" b="0" i="1" dirty="0">
                  <a:latin typeface="Cambria Math" panose="02040503050406030204" pitchFamily="18" charset="0"/>
                  <a:ea typeface="宋体" pitchFamily="2" charset="-122"/>
                </a:endParaRPr>
              </a:p>
              <a:p>
                <a:pPr lvl="1"/>
                <a:endParaRPr lang="en-US" altLang="en-US" sz="2800" b="0" i="1" dirty="0">
                  <a:latin typeface="Cambria Math" panose="02040503050406030204" pitchFamily="18" charset="0"/>
                  <a:ea typeface="宋体" pitchFamily="2" charset="-122"/>
                </a:endParaRPr>
              </a:p>
              <a:p>
                <a:pPr lvl="1"/>
                <a:endParaRPr lang="en-US" altLang="en-US" dirty="0"/>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7462" y="941388"/>
                <a:ext cx="8754177" cy="5916612"/>
              </a:xfrm>
              <a:blipFill rotWithShape="0">
                <a:blip r:embed="rId2"/>
                <a:stretch>
                  <a:fillRect l="-975" t="-721"/>
                </a:stretch>
              </a:blipFill>
            </p:spPr>
            <p:txBody>
              <a:bodyPr/>
              <a:lstStyle/>
              <a:p>
                <a:r>
                  <a:rPr lang="en-SG">
                    <a:noFill/>
                  </a:rPr>
                  <a:t> </a:t>
                </a:r>
              </a:p>
            </p:txBody>
          </p:sp>
        </mc:Fallback>
      </mc:AlternateContent>
      <p:graphicFrame>
        <p:nvGraphicFramePr>
          <p:cNvPr id="2" name="Table 1"/>
          <p:cNvGraphicFramePr>
            <a:graphicFrameLocks noGrp="1"/>
          </p:cNvGraphicFramePr>
          <p:nvPr/>
        </p:nvGraphicFramePr>
        <p:xfrm>
          <a:off x="1532730" y="1366691"/>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dirty="0"/>
                        <a:t>Demand</a:t>
                      </a:r>
                      <a:r>
                        <a:rPr lang="en-US" baseline="0" dirty="0"/>
                        <a:t> (</a:t>
                      </a:r>
                      <a:r>
                        <a:rPr lang="en-US" dirty="0"/>
                        <a:t>Day 1)</a:t>
                      </a:r>
                      <a:endParaRPr lang="en-SG"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Demand</a:t>
                      </a:r>
                      <a:r>
                        <a:rPr lang="en-US" baseline="0" dirty="0"/>
                        <a:t> (</a:t>
                      </a:r>
                      <a:r>
                        <a:rPr lang="en-US" dirty="0"/>
                        <a:t>Day 2)</a:t>
                      </a:r>
                      <a:endParaRPr lang="en-SG" dirty="0"/>
                    </a:p>
                  </a:txBody>
                  <a:tcPr/>
                </a:tc>
                <a:tc>
                  <a:txBody>
                    <a:bodyPr/>
                    <a:lstStyle/>
                    <a:p>
                      <a:pPr algn="ctr"/>
                      <a:r>
                        <a:rPr lang="en-US" dirty="0"/>
                        <a:t>Probability</a:t>
                      </a:r>
                      <a:endParaRPr lang="en-SG" dirty="0"/>
                    </a:p>
                  </a:txBody>
                  <a:tcPr/>
                </a:tc>
                <a:extLst>
                  <a:ext uri="{0D108BD9-81ED-4DB2-BD59-A6C34878D82A}">
                    <a16:rowId xmlns:a16="http://schemas.microsoft.com/office/drawing/2014/main" val="10000"/>
                  </a:ext>
                </a:extLst>
              </a:tr>
              <a:tr h="370840">
                <a:tc>
                  <a:txBody>
                    <a:bodyPr/>
                    <a:lstStyle/>
                    <a:p>
                      <a:pPr algn="ctr"/>
                      <a:r>
                        <a:rPr lang="en-US" dirty="0"/>
                        <a:t>0</a:t>
                      </a:r>
                      <a:endParaRPr lang="en-SG" dirty="0"/>
                    </a:p>
                  </a:txBody>
                  <a:tcPr/>
                </a:tc>
                <a:tc>
                  <a:txBody>
                    <a:bodyPr/>
                    <a:lstStyle/>
                    <a:p>
                      <a:pPr algn="ctr"/>
                      <a:r>
                        <a:rPr lang="en-US" dirty="0"/>
                        <a:t>0</a:t>
                      </a:r>
                      <a:endParaRPr lang="en-SG" dirty="0"/>
                    </a:p>
                  </a:txBody>
                  <a:tcPr/>
                </a:tc>
                <a:tc>
                  <a:txBody>
                    <a:bodyPr/>
                    <a:lstStyle/>
                    <a:p>
                      <a:pPr algn="ctr"/>
                      <a:r>
                        <a:rPr lang="en-US" dirty="0"/>
                        <a:t>¼ </a:t>
                      </a:r>
                      <a:endParaRPr lang="en-SG" dirty="0"/>
                    </a:p>
                  </a:txBody>
                  <a:tcPr/>
                </a:tc>
                <a:extLst>
                  <a:ext uri="{0D108BD9-81ED-4DB2-BD59-A6C34878D82A}">
                    <a16:rowId xmlns:a16="http://schemas.microsoft.com/office/drawing/2014/main" val="10001"/>
                  </a:ext>
                </a:extLst>
              </a:tr>
              <a:tr h="370840">
                <a:tc>
                  <a:txBody>
                    <a:bodyPr/>
                    <a:lstStyle/>
                    <a:p>
                      <a:pPr algn="ctr"/>
                      <a:r>
                        <a:rPr lang="en-US" dirty="0"/>
                        <a:t>0</a:t>
                      </a:r>
                      <a:endParaRPr lang="en-SG" dirty="0"/>
                    </a:p>
                  </a:txBody>
                  <a:tcPr/>
                </a:tc>
                <a:tc>
                  <a:txBody>
                    <a:bodyPr/>
                    <a:lstStyle/>
                    <a:p>
                      <a:pPr algn="ctr"/>
                      <a:r>
                        <a:rPr lang="en-US" dirty="0"/>
                        <a:t>1</a:t>
                      </a:r>
                      <a:endParaRPr lang="en-SG" dirty="0"/>
                    </a:p>
                  </a:txBody>
                  <a:tcPr/>
                </a:tc>
                <a:tc>
                  <a:txBody>
                    <a:bodyPr/>
                    <a:lstStyle/>
                    <a:p>
                      <a:pPr algn="ctr"/>
                      <a:r>
                        <a:rPr lang="en-US" dirty="0"/>
                        <a:t>¼ </a:t>
                      </a:r>
                      <a:endParaRPr lang="en-SG" dirty="0"/>
                    </a:p>
                  </a:txBody>
                  <a:tcPr/>
                </a:tc>
                <a:extLst>
                  <a:ext uri="{0D108BD9-81ED-4DB2-BD59-A6C34878D82A}">
                    <a16:rowId xmlns:a16="http://schemas.microsoft.com/office/drawing/2014/main" val="10002"/>
                  </a:ext>
                </a:extLst>
              </a:tr>
              <a:tr h="370840">
                <a:tc>
                  <a:txBody>
                    <a:bodyPr/>
                    <a:lstStyle/>
                    <a:p>
                      <a:pPr algn="ctr"/>
                      <a:r>
                        <a:rPr lang="en-US" dirty="0"/>
                        <a:t>1</a:t>
                      </a:r>
                      <a:endParaRPr lang="en-SG" dirty="0"/>
                    </a:p>
                  </a:txBody>
                  <a:tcPr/>
                </a:tc>
                <a:tc>
                  <a:txBody>
                    <a:bodyPr/>
                    <a:lstStyle/>
                    <a:p>
                      <a:pPr algn="ctr"/>
                      <a:r>
                        <a:rPr lang="en-US" dirty="0"/>
                        <a:t>0</a:t>
                      </a:r>
                      <a:endParaRPr lang="en-SG" dirty="0"/>
                    </a:p>
                  </a:txBody>
                  <a:tcPr/>
                </a:tc>
                <a:tc>
                  <a:txBody>
                    <a:bodyPr/>
                    <a:lstStyle/>
                    <a:p>
                      <a:pPr algn="ctr"/>
                      <a:r>
                        <a:rPr lang="en-US" dirty="0"/>
                        <a:t>¼ </a:t>
                      </a:r>
                      <a:endParaRPr lang="en-SG" dirty="0"/>
                    </a:p>
                  </a:txBody>
                  <a:tcPr/>
                </a:tc>
                <a:extLst>
                  <a:ext uri="{0D108BD9-81ED-4DB2-BD59-A6C34878D82A}">
                    <a16:rowId xmlns:a16="http://schemas.microsoft.com/office/drawing/2014/main" val="10003"/>
                  </a:ext>
                </a:extLst>
              </a:tr>
              <a:tr h="370840">
                <a:tc>
                  <a:txBody>
                    <a:bodyPr/>
                    <a:lstStyle/>
                    <a:p>
                      <a:pPr algn="ctr"/>
                      <a:r>
                        <a:rPr lang="en-US" dirty="0"/>
                        <a:t>1</a:t>
                      </a:r>
                      <a:endParaRPr lang="en-SG" dirty="0"/>
                    </a:p>
                  </a:txBody>
                  <a:tcPr/>
                </a:tc>
                <a:tc>
                  <a:txBody>
                    <a:bodyPr/>
                    <a:lstStyle/>
                    <a:p>
                      <a:pPr algn="ctr"/>
                      <a:r>
                        <a:rPr lang="en-US" dirty="0"/>
                        <a:t>1</a:t>
                      </a:r>
                      <a:endParaRPr lang="en-SG" dirty="0"/>
                    </a:p>
                  </a:txBody>
                  <a:tcPr/>
                </a:tc>
                <a:tc>
                  <a:txBody>
                    <a:bodyPr/>
                    <a:lstStyle/>
                    <a:p>
                      <a:pPr algn="ctr"/>
                      <a:r>
                        <a:rPr lang="en-US" dirty="0"/>
                        <a:t>¼ </a:t>
                      </a:r>
                      <a:endParaRPr lang="en-SG"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277039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itle 1"/>
          <p:cNvSpPr>
            <a:spLocks noGrp="1"/>
          </p:cNvSpPr>
          <p:nvPr>
            <p:ph type="title"/>
          </p:nvPr>
        </p:nvSpPr>
        <p:spPr/>
        <p:txBody>
          <a:bodyPr/>
          <a:lstStyle/>
          <a:p>
            <a:r>
              <a:rPr lang="en-US" altLang="en-US" dirty="0"/>
              <a:t>Open-loop Solution</a:t>
            </a:r>
            <a:endParaRPr lang="en-GB" altLang="en-US" dirty="0"/>
          </a:p>
        </p:txBody>
      </p:sp>
      <p:sp>
        <p:nvSpPr>
          <p:cNvPr id="8" name="TextBox 7"/>
          <p:cNvSpPr txBox="1">
            <a:spLocks noChangeArrowheads="1"/>
          </p:cNvSpPr>
          <p:nvPr/>
        </p:nvSpPr>
        <p:spPr bwMode="auto">
          <a:xfrm>
            <a:off x="882086" y="1579487"/>
            <a:ext cx="73703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The optimal solution is to order 1 unit in the first day and order nothing in the second day.</a:t>
            </a:r>
          </a:p>
          <a:p>
            <a:pPr eaLnBrk="1" hangingPunct="1"/>
            <a:r>
              <a:rPr lang="en-US" altLang="en-US" sz="2400" b="1" dirty="0"/>
              <a:t>The expected profit is 35 cents.</a:t>
            </a:r>
            <a:endParaRPr lang="en-GB" altLang="en-US" sz="2400" b="1" dirty="0"/>
          </a:p>
        </p:txBody>
      </p:sp>
      <p:sp>
        <p:nvSpPr>
          <p:cNvPr id="9" name="TextBox 8"/>
          <p:cNvSpPr txBox="1">
            <a:spLocks noChangeArrowheads="1"/>
          </p:cNvSpPr>
          <p:nvPr/>
        </p:nvSpPr>
        <p:spPr bwMode="auto">
          <a:xfrm>
            <a:off x="1403155" y="3760436"/>
            <a:ext cx="6651055" cy="9541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rPr>
              <a:t>Information flow is not utilized in making decisions.</a:t>
            </a:r>
            <a:endParaRPr lang="en-GB" altLang="en-US" sz="2800" dirty="0">
              <a:solidFill>
                <a:srgbClr val="FF0000"/>
              </a:solidFill>
            </a:endParaRPr>
          </a:p>
        </p:txBody>
      </p:sp>
    </p:spTree>
    <p:extLst>
      <p:ext uri="{BB962C8B-B14F-4D97-AF65-F5344CB8AC3E}">
        <p14:creationId xmlns:p14="http://schemas.microsoft.com/office/powerpoint/2010/main" val="1272124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Stochastic Shortest Path Formulation</a:t>
            </a:r>
            <a:endParaRPr lang="en-GB" altLang="en-US" dirty="0"/>
          </a:p>
        </p:txBody>
      </p:sp>
      <p:sp>
        <p:nvSpPr>
          <p:cNvPr id="7" name="Oval 6"/>
          <p:cNvSpPr/>
          <p:nvPr/>
        </p:nvSpPr>
        <p:spPr>
          <a:xfrm>
            <a:off x="877094" y="249505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3815512" y="241304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3817814" y="371553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3827344" y="506571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endCxn id="2" idx="1"/>
          </p:cNvCxnSpPr>
          <p:nvPr/>
        </p:nvCxnSpPr>
        <p:spPr>
          <a:xfrm flipV="1">
            <a:off x="1120997" y="2537114"/>
            <a:ext cx="1170297" cy="188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54" idx="1"/>
          </p:cNvCxnSpPr>
          <p:nvPr/>
        </p:nvCxnSpPr>
        <p:spPr>
          <a:xfrm>
            <a:off x="1162844" y="2637930"/>
            <a:ext cx="1124914" cy="1214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62" idx="1"/>
          </p:cNvCxnSpPr>
          <p:nvPr/>
        </p:nvCxnSpPr>
        <p:spPr>
          <a:xfrm>
            <a:off x="1120997" y="2738958"/>
            <a:ext cx="1179029" cy="2443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 idx="3"/>
            <a:endCxn id="12" idx="2"/>
          </p:cNvCxnSpPr>
          <p:nvPr/>
        </p:nvCxnSpPr>
        <p:spPr>
          <a:xfrm>
            <a:off x="2689757" y="2537114"/>
            <a:ext cx="1125755" cy="1880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54" idx="3"/>
            <a:endCxn id="12" idx="3"/>
          </p:cNvCxnSpPr>
          <p:nvPr/>
        </p:nvCxnSpPr>
        <p:spPr>
          <a:xfrm flipV="1">
            <a:off x="2686221" y="2656949"/>
            <a:ext cx="1171138" cy="119563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4" idx="3"/>
            <a:endCxn id="13" idx="2"/>
          </p:cNvCxnSpPr>
          <p:nvPr/>
        </p:nvCxnSpPr>
        <p:spPr>
          <a:xfrm>
            <a:off x="2686221" y="3852580"/>
            <a:ext cx="1131593" cy="583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62" idx="3"/>
            <a:endCxn id="13" idx="3"/>
          </p:cNvCxnSpPr>
          <p:nvPr/>
        </p:nvCxnSpPr>
        <p:spPr>
          <a:xfrm flipV="1">
            <a:off x="2698489" y="3959438"/>
            <a:ext cx="1161172" cy="1223235"/>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4" idx="2"/>
          </p:cNvCxnSpPr>
          <p:nvPr/>
        </p:nvCxnSpPr>
        <p:spPr>
          <a:xfrm>
            <a:off x="2451127" y="5171068"/>
            <a:ext cx="1376217" cy="3752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98" idx="1"/>
          </p:cNvCxnSpPr>
          <p:nvPr/>
        </p:nvCxnSpPr>
        <p:spPr>
          <a:xfrm>
            <a:off x="4101262" y="2555921"/>
            <a:ext cx="1174133" cy="24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99" idx="1"/>
          </p:cNvCxnSpPr>
          <p:nvPr/>
        </p:nvCxnSpPr>
        <p:spPr>
          <a:xfrm>
            <a:off x="4103564" y="3858410"/>
            <a:ext cx="1168295" cy="37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99" idx="1"/>
          </p:cNvCxnSpPr>
          <p:nvPr/>
        </p:nvCxnSpPr>
        <p:spPr>
          <a:xfrm>
            <a:off x="4059415" y="2656949"/>
            <a:ext cx="1212444" cy="12392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00" idx="1"/>
          </p:cNvCxnSpPr>
          <p:nvPr/>
        </p:nvCxnSpPr>
        <p:spPr>
          <a:xfrm>
            <a:off x="4113094" y="5208591"/>
            <a:ext cx="1171033" cy="176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38" idx="6"/>
            <a:endCxn id="179" idx="2"/>
          </p:cNvCxnSpPr>
          <p:nvPr/>
        </p:nvCxnSpPr>
        <p:spPr>
          <a:xfrm>
            <a:off x="7148636" y="2597589"/>
            <a:ext cx="1075687" cy="177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39" idx="6"/>
            <a:endCxn id="179" idx="3"/>
          </p:cNvCxnSpPr>
          <p:nvPr/>
        </p:nvCxnSpPr>
        <p:spPr>
          <a:xfrm flipV="1">
            <a:off x="7150938" y="2716366"/>
            <a:ext cx="1115232" cy="11837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2" name="TextBox 55"/>
          <p:cNvSpPr txBox="1">
            <a:spLocks noChangeArrowheads="1"/>
          </p:cNvSpPr>
          <p:nvPr/>
        </p:nvSpPr>
        <p:spPr bwMode="auto">
          <a:xfrm>
            <a:off x="772036" y="2449522"/>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6" name="TextBox 59"/>
          <p:cNvSpPr txBox="1">
            <a:spLocks noChangeArrowheads="1"/>
          </p:cNvSpPr>
          <p:nvPr/>
        </p:nvSpPr>
        <p:spPr bwMode="auto">
          <a:xfrm>
            <a:off x="3716318" y="2366622"/>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8" name="TextBox 61"/>
          <p:cNvSpPr txBox="1">
            <a:spLocks noChangeArrowheads="1"/>
          </p:cNvSpPr>
          <p:nvPr/>
        </p:nvSpPr>
        <p:spPr bwMode="auto">
          <a:xfrm>
            <a:off x="3726253" y="50172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cxnSp>
        <p:nvCxnSpPr>
          <p:cNvPr id="46" name="Straight Connector 45"/>
          <p:cNvCxnSpPr/>
          <p:nvPr/>
        </p:nvCxnSpPr>
        <p:spPr>
          <a:xfrm rot="5400000">
            <a:off x="5124294" y="3666843"/>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3705911" y="3701983"/>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723162" y="3708692"/>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624606" y="1379309"/>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0</a:t>
            </a:r>
            <a:endParaRPr lang="en-GB" altLang="en-US" dirty="0"/>
          </a:p>
        </p:txBody>
      </p:sp>
      <p:sp>
        <p:nvSpPr>
          <p:cNvPr id="32817" name="TextBox 65"/>
          <p:cNvSpPr txBox="1">
            <a:spLocks noChangeArrowheads="1"/>
          </p:cNvSpPr>
          <p:nvPr/>
        </p:nvSpPr>
        <p:spPr bwMode="auto">
          <a:xfrm>
            <a:off x="6342099" y="1375399"/>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p:sp>
        <p:nvSpPr>
          <p:cNvPr id="32818" name="TextBox 66"/>
          <p:cNvSpPr txBox="1">
            <a:spLocks noChangeArrowheads="1"/>
          </p:cNvSpPr>
          <p:nvPr/>
        </p:nvSpPr>
        <p:spPr bwMode="auto">
          <a:xfrm>
            <a:off x="4050272" y="1349165"/>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2</a:t>
            </a:r>
            <a:endParaRPr lang="en-GB" altLang="en-US" dirty="0"/>
          </a:p>
        </p:txBody>
      </p:sp>
      <p:sp>
        <p:nvSpPr>
          <p:cNvPr id="32819" name="TextBox 67"/>
          <p:cNvSpPr txBox="1">
            <a:spLocks noChangeArrowheads="1"/>
          </p:cNvSpPr>
          <p:nvPr/>
        </p:nvSpPr>
        <p:spPr bwMode="auto">
          <a:xfrm>
            <a:off x="1251232" y="1347422"/>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3</a:t>
            </a:r>
            <a:endParaRPr lang="en-GB" altLang="en-US" dirty="0"/>
          </a:p>
        </p:txBody>
      </p:sp>
      <p:sp>
        <p:nvSpPr>
          <p:cNvPr id="2" name="Flowchart: Decision 1"/>
          <p:cNvSpPr/>
          <p:nvPr/>
        </p:nvSpPr>
        <p:spPr bwMode="auto">
          <a:xfrm>
            <a:off x="2291294" y="2359603"/>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54" name="Flowchart: Decision 53"/>
          <p:cNvSpPr/>
          <p:nvPr/>
        </p:nvSpPr>
        <p:spPr bwMode="auto">
          <a:xfrm>
            <a:off x="2287758" y="3675069"/>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62" name="Flowchart: Decision 61"/>
          <p:cNvSpPr/>
          <p:nvPr/>
        </p:nvSpPr>
        <p:spPr bwMode="auto">
          <a:xfrm>
            <a:off x="2300026" y="5005162"/>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89" name="TextBox 59"/>
          <p:cNvSpPr txBox="1">
            <a:spLocks noChangeArrowheads="1"/>
          </p:cNvSpPr>
          <p:nvPr/>
        </p:nvSpPr>
        <p:spPr bwMode="auto">
          <a:xfrm>
            <a:off x="2369304" y="2351603"/>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91" name="TextBox 59"/>
          <p:cNvSpPr txBox="1">
            <a:spLocks noChangeArrowheads="1"/>
          </p:cNvSpPr>
          <p:nvPr/>
        </p:nvSpPr>
        <p:spPr bwMode="auto">
          <a:xfrm>
            <a:off x="2355228" y="3667636"/>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2" name="TextBox 59"/>
          <p:cNvSpPr txBox="1">
            <a:spLocks noChangeArrowheads="1"/>
          </p:cNvSpPr>
          <p:nvPr/>
        </p:nvSpPr>
        <p:spPr bwMode="auto">
          <a:xfrm>
            <a:off x="2362011" y="4997967"/>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96" name="TextBox 59"/>
          <p:cNvSpPr txBox="1">
            <a:spLocks noChangeArrowheads="1"/>
          </p:cNvSpPr>
          <p:nvPr/>
        </p:nvSpPr>
        <p:spPr bwMode="auto">
          <a:xfrm>
            <a:off x="3721911" y="3688350"/>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8" name="Flowchart: Decision 97"/>
          <p:cNvSpPr/>
          <p:nvPr/>
        </p:nvSpPr>
        <p:spPr bwMode="auto">
          <a:xfrm>
            <a:off x="5275395" y="2403191"/>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99" name="Flowchart: Decision 98"/>
          <p:cNvSpPr/>
          <p:nvPr/>
        </p:nvSpPr>
        <p:spPr bwMode="auto">
          <a:xfrm>
            <a:off x="5271859" y="3718657"/>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0" name="Flowchart: Decision 99"/>
          <p:cNvSpPr/>
          <p:nvPr/>
        </p:nvSpPr>
        <p:spPr bwMode="auto">
          <a:xfrm>
            <a:off x="5284127" y="5048750"/>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1" name="TextBox 59"/>
          <p:cNvSpPr txBox="1">
            <a:spLocks noChangeArrowheads="1"/>
          </p:cNvSpPr>
          <p:nvPr/>
        </p:nvSpPr>
        <p:spPr bwMode="auto">
          <a:xfrm>
            <a:off x="5353405" y="2395191"/>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02" name="TextBox 59"/>
          <p:cNvSpPr txBox="1">
            <a:spLocks noChangeArrowheads="1"/>
          </p:cNvSpPr>
          <p:nvPr/>
        </p:nvSpPr>
        <p:spPr bwMode="auto">
          <a:xfrm>
            <a:off x="5339329" y="3711224"/>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103" name="TextBox 59"/>
          <p:cNvSpPr txBox="1">
            <a:spLocks noChangeArrowheads="1"/>
          </p:cNvSpPr>
          <p:nvPr/>
        </p:nvSpPr>
        <p:spPr bwMode="auto">
          <a:xfrm>
            <a:off x="5346112" y="5041555"/>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38" name="Oval 137"/>
          <p:cNvSpPr/>
          <p:nvPr/>
        </p:nvSpPr>
        <p:spPr>
          <a:xfrm>
            <a:off x="6862886" y="245471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9" name="Oval 138"/>
          <p:cNvSpPr/>
          <p:nvPr/>
        </p:nvSpPr>
        <p:spPr>
          <a:xfrm>
            <a:off x="6865188" y="375720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0" name="Oval 139"/>
          <p:cNvSpPr/>
          <p:nvPr/>
        </p:nvSpPr>
        <p:spPr>
          <a:xfrm>
            <a:off x="6874718" y="510738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1" name="TextBox 59"/>
          <p:cNvSpPr txBox="1">
            <a:spLocks noChangeArrowheads="1"/>
          </p:cNvSpPr>
          <p:nvPr/>
        </p:nvSpPr>
        <p:spPr bwMode="auto">
          <a:xfrm>
            <a:off x="6957344" y="2434424"/>
            <a:ext cx="1123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42" name="TextBox 61"/>
          <p:cNvSpPr txBox="1">
            <a:spLocks noChangeArrowheads="1"/>
          </p:cNvSpPr>
          <p:nvPr/>
        </p:nvSpPr>
        <p:spPr bwMode="auto">
          <a:xfrm>
            <a:off x="6941790" y="5077403"/>
            <a:ext cx="164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43" name="TextBox 59"/>
          <p:cNvSpPr txBox="1">
            <a:spLocks noChangeArrowheads="1"/>
          </p:cNvSpPr>
          <p:nvPr/>
        </p:nvSpPr>
        <p:spPr bwMode="auto">
          <a:xfrm>
            <a:off x="6832794" y="3718657"/>
            <a:ext cx="32714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cxnSp>
        <p:nvCxnSpPr>
          <p:cNvPr id="144" name="Straight Arrow Connector 143"/>
          <p:cNvCxnSpPr>
            <a:stCxn id="98" idx="3"/>
            <a:endCxn id="138" idx="2"/>
          </p:cNvCxnSpPr>
          <p:nvPr/>
        </p:nvCxnSpPr>
        <p:spPr>
          <a:xfrm>
            <a:off x="5673858" y="2580702"/>
            <a:ext cx="1189028" cy="1688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9" idx="3"/>
            <a:endCxn id="138" idx="3"/>
          </p:cNvCxnSpPr>
          <p:nvPr/>
        </p:nvCxnSpPr>
        <p:spPr>
          <a:xfrm flipV="1">
            <a:off x="5670322" y="2698617"/>
            <a:ext cx="1234411" cy="119755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9" idx="3"/>
            <a:endCxn id="139" idx="2"/>
          </p:cNvCxnSpPr>
          <p:nvPr/>
        </p:nvCxnSpPr>
        <p:spPr>
          <a:xfrm>
            <a:off x="5670322" y="3896168"/>
            <a:ext cx="1194866" cy="391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100" idx="3"/>
            <a:endCxn id="139" idx="2"/>
          </p:cNvCxnSpPr>
          <p:nvPr/>
        </p:nvCxnSpPr>
        <p:spPr>
          <a:xfrm flipV="1">
            <a:off x="5682590" y="3900078"/>
            <a:ext cx="1182598" cy="132618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00" idx="3"/>
            <a:endCxn id="140" idx="2"/>
          </p:cNvCxnSpPr>
          <p:nvPr/>
        </p:nvCxnSpPr>
        <p:spPr>
          <a:xfrm>
            <a:off x="5682590" y="5226261"/>
            <a:ext cx="1192128" cy="23998"/>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40" idx="6"/>
            <a:endCxn id="179" idx="4"/>
          </p:cNvCxnSpPr>
          <p:nvPr/>
        </p:nvCxnSpPr>
        <p:spPr>
          <a:xfrm flipV="1">
            <a:off x="7160468" y="2758213"/>
            <a:ext cx="1206730" cy="24920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9" name="Oval 178"/>
          <p:cNvSpPr/>
          <p:nvPr/>
        </p:nvSpPr>
        <p:spPr>
          <a:xfrm>
            <a:off x="8224323" y="24724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92" name="TextBox 59"/>
          <p:cNvSpPr txBox="1">
            <a:spLocks noChangeArrowheads="1"/>
          </p:cNvSpPr>
          <p:nvPr/>
        </p:nvSpPr>
        <p:spPr bwMode="auto">
          <a:xfrm>
            <a:off x="8249224" y="2430755"/>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97" name="TextBox 196"/>
          <p:cNvSpPr txBox="1">
            <a:spLocks noChangeArrowheads="1"/>
          </p:cNvSpPr>
          <p:nvPr/>
        </p:nvSpPr>
        <p:spPr bwMode="auto">
          <a:xfrm>
            <a:off x="1310044" y="216693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198" name="TextBox 197"/>
          <p:cNvSpPr txBox="1">
            <a:spLocks noChangeArrowheads="1"/>
          </p:cNvSpPr>
          <p:nvPr/>
        </p:nvSpPr>
        <p:spPr bwMode="auto">
          <a:xfrm>
            <a:off x="1466740" y="292158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199" name="TextBox 198"/>
          <p:cNvSpPr txBox="1">
            <a:spLocks noChangeArrowheads="1"/>
          </p:cNvSpPr>
          <p:nvPr/>
        </p:nvSpPr>
        <p:spPr bwMode="auto">
          <a:xfrm>
            <a:off x="858821" y="371865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0.8</a:t>
            </a:r>
            <a:endParaRPr lang="en-GB" altLang="en-US" dirty="0">
              <a:solidFill>
                <a:srgbClr val="0070C0"/>
              </a:solidFill>
            </a:endParaRPr>
          </a:p>
        </p:txBody>
      </p:sp>
      <p:sp>
        <p:nvSpPr>
          <p:cNvPr id="200" name="TextBox 199"/>
          <p:cNvSpPr txBox="1">
            <a:spLocks noChangeArrowheads="1"/>
          </p:cNvSpPr>
          <p:nvPr/>
        </p:nvSpPr>
        <p:spPr bwMode="auto">
          <a:xfrm>
            <a:off x="2805665" y="21865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1" name="TextBox 200"/>
          <p:cNvSpPr txBox="1">
            <a:spLocks noChangeArrowheads="1"/>
          </p:cNvSpPr>
          <p:nvPr/>
        </p:nvSpPr>
        <p:spPr bwMode="auto">
          <a:xfrm>
            <a:off x="4312226" y="22198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2" name="TextBox 201"/>
          <p:cNvSpPr txBox="1">
            <a:spLocks noChangeArrowheads="1"/>
          </p:cNvSpPr>
          <p:nvPr/>
        </p:nvSpPr>
        <p:spPr bwMode="auto">
          <a:xfrm>
            <a:off x="5779066" y="22198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3" name="TextBox 202"/>
          <p:cNvSpPr txBox="1">
            <a:spLocks noChangeArrowheads="1"/>
          </p:cNvSpPr>
          <p:nvPr/>
        </p:nvSpPr>
        <p:spPr bwMode="auto">
          <a:xfrm>
            <a:off x="7211939" y="226464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4" name="TextBox 203"/>
          <p:cNvSpPr txBox="1">
            <a:spLocks noChangeArrowheads="1"/>
          </p:cNvSpPr>
          <p:nvPr/>
        </p:nvSpPr>
        <p:spPr bwMode="auto">
          <a:xfrm>
            <a:off x="7200944" y="30605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5" name="TextBox 204"/>
          <p:cNvSpPr txBox="1">
            <a:spLocks noChangeArrowheads="1"/>
          </p:cNvSpPr>
          <p:nvPr/>
        </p:nvSpPr>
        <p:spPr bwMode="auto">
          <a:xfrm>
            <a:off x="7211939" y="38890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6" name="TextBox 205"/>
          <p:cNvSpPr txBox="1">
            <a:spLocks noChangeArrowheads="1"/>
          </p:cNvSpPr>
          <p:nvPr/>
        </p:nvSpPr>
        <p:spPr bwMode="auto">
          <a:xfrm>
            <a:off x="4431913" y="2962815"/>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207" name="TextBox 206"/>
          <p:cNvSpPr txBox="1">
            <a:spLocks noChangeArrowheads="1"/>
          </p:cNvSpPr>
          <p:nvPr/>
        </p:nvSpPr>
        <p:spPr bwMode="auto">
          <a:xfrm>
            <a:off x="2770155" y="295060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8" name="TextBox 207"/>
          <p:cNvSpPr txBox="1">
            <a:spLocks noChangeArrowheads="1"/>
          </p:cNvSpPr>
          <p:nvPr/>
        </p:nvSpPr>
        <p:spPr bwMode="auto">
          <a:xfrm>
            <a:off x="2759028" y="432463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9" name="TextBox 208"/>
          <p:cNvSpPr txBox="1">
            <a:spLocks noChangeArrowheads="1"/>
          </p:cNvSpPr>
          <p:nvPr/>
        </p:nvSpPr>
        <p:spPr bwMode="auto">
          <a:xfrm>
            <a:off x="2805564" y="352481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0" name="TextBox 209"/>
          <p:cNvSpPr txBox="1">
            <a:spLocks noChangeArrowheads="1"/>
          </p:cNvSpPr>
          <p:nvPr/>
        </p:nvSpPr>
        <p:spPr bwMode="auto">
          <a:xfrm>
            <a:off x="2768908" y="483925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1" name="TextBox 210"/>
          <p:cNvSpPr txBox="1">
            <a:spLocks noChangeArrowheads="1"/>
          </p:cNvSpPr>
          <p:nvPr/>
        </p:nvSpPr>
        <p:spPr bwMode="auto">
          <a:xfrm>
            <a:off x="5749862" y="302371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2" name="TextBox 211"/>
          <p:cNvSpPr txBox="1">
            <a:spLocks noChangeArrowheads="1"/>
          </p:cNvSpPr>
          <p:nvPr/>
        </p:nvSpPr>
        <p:spPr bwMode="auto">
          <a:xfrm>
            <a:off x="5738735" y="439774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3" name="TextBox 212"/>
          <p:cNvSpPr txBox="1">
            <a:spLocks noChangeArrowheads="1"/>
          </p:cNvSpPr>
          <p:nvPr/>
        </p:nvSpPr>
        <p:spPr bwMode="auto">
          <a:xfrm>
            <a:off x="5785271" y="359792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4" name="TextBox 213"/>
          <p:cNvSpPr txBox="1">
            <a:spLocks noChangeArrowheads="1"/>
          </p:cNvSpPr>
          <p:nvPr/>
        </p:nvSpPr>
        <p:spPr bwMode="auto">
          <a:xfrm>
            <a:off x="5748615" y="491236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5" name="TextBox 214"/>
          <p:cNvSpPr txBox="1">
            <a:spLocks noChangeArrowheads="1"/>
          </p:cNvSpPr>
          <p:nvPr/>
        </p:nvSpPr>
        <p:spPr bwMode="auto">
          <a:xfrm>
            <a:off x="4206640" y="35463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16" name="TextBox 215"/>
          <p:cNvSpPr txBox="1">
            <a:spLocks noChangeArrowheads="1"/>
          </p:cNvSpPr>
          <p:nvPr/>
        </p:nvSpPr>
        <p:spPr bwMode="auto">
          <a:xfrm>
            <a:off x="4243120" y="4837861"/>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Tree>
    <p:extLst>
      <p:ext uri="{BB962C8B-B14F-4D97-AF65-F5344CB8AC3E}">
        <p14:creationId xmlns:p14="http://schemas.microsoft.com/office/powerpoint/2010/main" val="19035630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Stage 2 (Day 2)</a:t>
            </a:r>
            <a:endParaRPr lang="en-GB" altLang="en-US" dirty="0"/>
          </a:p>
        </p:txBody>
      </p:sp>
      <p:sp>
        <p:nvSpPr>
          <p:cNvPr id="12" name="Oval 11"/>
          <p:cNvSpPr/>
          <p:nvPr/>
        </p:nvSpPr>
        <p:spPr>
          <a:xfrm>
            <a:off x="3815512" y="241304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3817814" y="371553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3827344" y="506571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41" name="Straight Arrow Connector 40"/>
          <p:cNvCxnSpPr>
            <a:stCxn id="12" idx="6"/>
            <a:endCxn id="98" idx="1"/>
          </p:cNvCxnSpPr>
          <p:nvPr/>
        </p:nvCxnSpPr>
        <p:spPr>
          <a:xfrm>
            <a:off x="4101262" y="2555921"/>
            <a:ext cx="1174133" cy="24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99" idx="1"/>
          </p:cNvCxnSpPr>
          <p:nvPr/>
        </p:nvCxnSpPr>
        <p:spPr>
          <a:xfrm>
            <a:off x="4103564" y="3858410"/>
            <a:ext cx="1168295" cy="3775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99" idx="1"/>
          </p:cNvCxnSpPr>
          <p:nvPr/>
        </p:nvCxnSpPr>
        <p:spPr>
          <a:xfrm>
            <a:off x="4059415" y="2656949"/>
            <a:ext cx="1212444" cy="12392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00" idx="1"/>
          </p:cNvCxnSpPr>
          <p:nvPr/>
        </p:nvCxnSpPr>
        <p:spPr>
          <a:xfrm>
            <a:off x="4113094" y="5208591"/>
            <a:ext cx="1171033" cy="176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806" name="TextBox 59"/>
          <p:cNvSpPr txBox="1">
            <a:spLocks noChangeArrowheads="1"/>
          </p:cNvSpPr>
          <p:nvPr/>
        </p:nvSpPr>
        <p:spPr bwMode="auto">
          <a:xfrm>
            <a:off x="3716318" y="2366622"/>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8" name="TextBox 61"/>
          <p:cNvSpPr txBox="1">
            <a:spLocks noChangeArrowheads="1"/>
          </p:cNvSpPr>
          <p:nvPr/>
        </p:nvSpPr>
        <p:spPr bwMode="auto">
          <a:xfrm>
            <a:off x="3726253" y="50172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cxnSp>
        <p:nvCxnSpPr>
          <p:cNvPr id="48" name="Straight Connector 47"/>
          <p:cNvCxnSpPr/>
          <p:nvPr/>
        </p:nvCxnSpPr>
        <p:spPr>
          <a:xfrm rot="5400000">
            <a:off x="3705911" y="3701983"/>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7" name="TextBox 65"/>
          <p:cNvSpPr txBox="1">
            <a:spLocks noChangeArrowheads="1"/>
          </p:cNvSpPr>
          <p:nvPr/>
        </p:nvSpPr>
        <p:spPr bwMode="auto">
          <a:xfrm>
            <a:off x="6362691" y="1402007"/>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p:sp>
        <p:nvSpPr>
          <p:cNvPr id="32818" name="TextBox 66"/>
          <p:cNvSpPr txBox="1">
            <a:spLocks noChangeArrowheads="1"/>
          </p:cNvSpPr>
          <p:nvPr/>
        </p:nvSpPr>
        <p:spPr bwMode="auto">
          <a:xfrm>
            <a:off x="4050272" y="1349165"/>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2</a:t>
            </a:r>
            <a:endParaRPr lang="en-GB" altLang="en-US" dirty="0"/>
          </a:p>
        </p:txBody>
      </p:sp>
      <p:sp>
        <p:nvSpPr>
          <p:cNvPr id="96" name="TextBox 59"/>
          <p:cNvSpPr txBox="1">
            <a:spLocks noChangeArrowheads="1"/>
          </p:cNvSpPr>
          <p:nvPr/>
        </p:nvSpPr>
        <p:spPr bwMode="auto">
          <a:xfrm>
            <a:off x="3721911" y="3688350"/>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8" name="Flowchart: Decision 97"/>
          <p:cNvSpPr/>
          <p:nvPr/>
        </p:nvSpPr>
        <p:spPr bwMode="auto">
          <a:xfrm>
            <a:off x="5275395" y="2403191"/>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99" name="Flowchart: Decision 98"/>
          <p:cNvSpPr/>
          <p:nvPr/>
        </p:nvSpPr>
        <p:spPr bwMode="auto">
          <a:xfrm>
            <a:off x="5271859" y="3718657"/>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0" name="Flowchart: Decision 99"/>
          <p:cNvSpPr/>
          <p:nvPr/>
        </p:nvSpPr>
        <p:spPr bwMode="auto">
          <a:xfrm>
            <a:off x="5284127" y="5048750"/>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1" name="TextBox 59"/>
          <p:cNvSpPr txBox="1">
            <a:spLocks noChangeArrowheads="1"/>
          </p:cNvSpPr>
          <p:nvPr/>
        </p:nvSpPr>
        <p:spPr bwMode="auto">
          <a:xfrm>
            <a:off x="5353405" y="2395191"/>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02" name="TextBox 59"/>
          <p:cNvSpPr txBox="1">
            <a:spLocks noChangeArrowheads="1"/>
          </p:cNvSpPr>
          <p:nvPr/>
        </p:nvSpPr>
        <p:spPr bwMode="auto">
          <a:xfrm>
            <a:off x="5339329" y="3711224"/>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103" name="TextBox 59"/>
          <p:cNvSpPr txBox="1">
            <a:spLocks noChangeArrowheads="1"/>
          </p:cNvSpPr>
          <p:nvPr/>
        </p:nvSpPr>
        <p:spPr bwMode="auto">
          <a:xfrm>
            <a:off x="5346112" y="5041555"/>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38" name="Oval 137"/>
          <p:cNvSpPr/>
          <p:nvPr/>
        </p:nvSpPr>
        <p:spPr>
          <a:xfrm>
            <a:off x="6862886" y="245471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9" name="Oval 138"/>
          <p:cNvSpPr/>
          <p:nvPr/>
        </p:nvSpPr>
        <p:spPr>
          <a:xfrm>
            <a:off x="6865188" y="375720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0" name="Oval 139"/>
          <p:cNvSpPr/>
          <p:nvPr/>
        </p:nvSpPr>
        <p:spPr>
          <a:xfrm>
            <a:off x="6874718" y="510738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1" name="TextBox 59"/>
          <p:cNvSpPr txBox="1">
            <a:spLocks noChangeArrowheads="1"/>
          </p:cNvSpPr>
          <p:nvPr/>
        </p:nvSpPr>
        <p:spPr bwMode="auto">
          <a:xfrm>
            <a:off x="6957344" y="2434424"/>
            <a:ext cx="1123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42" name="TextBox 61"/>
          <p:cNvSpPr txBox="1">
            <a:spLocks noChangeArrowheads="1"/>
          </p:cNvSpPr>
          <p:nvPr/>
        </p:nvSpPr>
        <p:spPr bwMode="auto">
          <a:xfrm>
            <a:off x="6941790" y="5077403"/>
            <a:ext cx="164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43" name="TextBox 59"/>
          <p:cNvSpPr txBox="1">
            <a:spLocks noChangeArrowheads="1"/>
          </p:cNvSpPr>
          <p:nvPr/>
        </p:nvSpPr>
        <p:spPr bwMode="auto">
          <a:xfrm>
            <a:off x="6832794" y="3718657"/>
            <a:ext cx="32714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cxnSp>
        <p:nvCxnSpPr>
          <p:cNvPr id="144" name="Straight Arrow Connector 143"/>
          <p:cNvCxnSpPr>
            <a:stCxn id="98" idx="3"/>
            <a:endCxn id="138" idx="2"/>
          </p:cNvCxnSpPr>
          <p:nvPr/>
        </p:nvCxnSpPr>
        <p:spPr>
          <a:xfrm>
            <a:off x="5673858" y="2580702"/>
            <a:ext cx="1189028" cy="1688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9" idx="3"/>
            <a:endCxn id="138" idx="3"/>
          </p:cNvCxnSpPr>
          <p:nvPr/>
        </p:nvCxnSpPr>
        <p:spPr>
          <a:xfrm flipV="1">
            <a:off x="5670322" y="2698617"/>
            <a:ext cx="1234411" cy="119755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9" idx="3"/>
            <a:endCxn id="139" idx="2"/>
          </p:cNvCxnSpPr>
          <p:nvPr/>
        </p:nvCxnSpPr>
        <p:spPr>
          <a:xfrm>
            <a:off x="5670322" y="3896168"/>
            <a:ext cx="1194866" cy="391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100" idx="3"/>
            <a:endCxn id="139" idx="2"/>
          </p:cNvCxnSpPr>
          <p:nvPr/>
        </p:nvCxnSpPr>
        <p:spPr>
          <a:xfrm flipV="1">
            <a:off x="5682590" y="3900078"/>
            <a:ext cx="1182598" cy="132618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00" idx="3"/>
            <a:endCxn id="140" idx="2"/>
          </p:cNvCxnSpPr>
          <p:nvPr/>
        </p:nvCxnSpPr>
        <p:spPr>
          <a:xfrm>
            <a:off x="5682590" y="5226261"/>
            <a:ext cx="1192128" cy="23998"/>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sp>
        <p:nvSpPr>
          <p:cNvPr id="201" name="TextBox 200"/>
          <p:cNvSpPr txBox="1">
            <a:spLocks noChangeArrowheads="1"/>
          </p:cNvSpPr>
          <p:nvPr/>
        </p:nvSpPr>
        <p:spPr bwMode="auto">
          <a:xfrm>
            <a:off x="4312226" y="22198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2" name="TextBox 201"/>
          <p:cNvSpPr txBox="1">
            <a:spLocks noChangeArrowheads="1"/>
          </p:cNvSpPr>
          <p:nvPr/>
        </p:nvSpPr>
        <p:spPr bwMode="auto">
          <a:xfrm>
            <a:off x="5779066" y="22198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6" name="TextBox 205"/>
          <p:cNvSpPr txBox="1">
            <a:spLocks noChangeArrowheads="1"/>
          </p:cNvSpPr>
          <p:nvPr/>
        </p:nvSpPr>
        <p:spPr bwMode="auto">
          <a:xfrm>
            <a:off x="4431913" y="2962815"/>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211" name="TextBox 210"/>
          <p:cNvSpPr txBox="1">
            <a:spLocks noChangeArrowheads="1"/>
          </p:cNvSpPr>
          <p:nvPr/>
        </p:nvSpPr>
        <p:spPr bwMode="auto">
          <a:xfrm>
            <a:off x="5749862" y="302371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2" name="TextBox 211"/>
          <p:cNvSpPr txBox="1">
            <a:spLocks noChangeArrowheads="1"/>
          </p:cNvSpPr>
          <p:nvPr/>
        </p:nvSpPr>
        <p:spPr bwMode="auto">
          <a:xfrm>
            <a:off x="5738735" y="439774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3" name="TextBox 212"/>
          <p:cNvSpPr txBox="1">
            <a:spLocks noChangeArrowheads="1"/>
          </p:cNvSpPr>
          <p:nvPr/>
        </p:nvSpPr>
        <p:spPr bwMode="auto">
          <a:xfrm>
            <a:off x="5785271" y="359792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4" name="TextBox 213"/>
          <p:cNvSpPr txBox="1">
            <a:spLocks noChangeArrowheads="1"/>
          </p:cNvSpPr>
          <p:nvPr/>
        </p:nvSpPr>
        <p:spPr bwMode="auto">
          <a:xfrm>
            <a:off x="5748615" y="491236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5" name="TextBox 214"/>
          <p:cNvSpPr txBox="1">
            <a:spLocks noChangeArrowheads="1"/>
          </p:cNvSpPr>
          <p:nvPr/>
        </p:nvSpPr>
        <p:spPr bwMode="auto">
          <a:xfrm>
            <a:off x="4206640" y="35463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16" name="TextBox 215"/>
          <p:cNvSpPr txBox="1">
            <a:spLocks noChangeArrowheads="1"/>
          </p:cNvSpPr>
          <p:nvPr/>
        </p:nvSpPr>
        <p:spPr bwMode="auto">
          <a:xfrm>
            <a:off x="4243120" y="4837861"/>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mc:AlternateContent xmlns:mc="http://schemas.openxmlformats.org/markup-compatibility/2006" xmlns:a14="http://schemas.microsoft.com/office/drawing/2010/main">
        <mc:Choice Requires="a14">
          <p:sp>
            <p:nvSpPr>
              <p:cNvPr id="82" name="TextBox 81"/>
              <p:cNvSpPr txBox="1">
                <a:spLocks noChangeArrowheads="1"/>
              </p:cNvSpPr>
              <p:nvPr/>
            </p:nvSpPr>
            <p:spPr bwMode="auto">
              <a:xfrm>
                <a:off x="7052754" y="2067335"/>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82" name="TextBox 81"/>
              <p:cNvSpPr txBox="1">
                <a:spLocks noRot="1" noChangeAspect="1" noMove="1" noResize="1" noEditPoints="1" noAdjustHandles="1" noChangeArrowheads="1" noChangeShapeType="1" noTextEdit="1"/>
              </p:cNvSpPr>
              <p:nvPr/>
            </p:nvSpPr>
            <p:spPr bwMode="auto">
              <a:xfrm>
                <a:off x="7052754" y="2067335"/>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3" name="TextBox 82"/>
              <p:cNvSpPr txBox="1">
                <a:spLocks noChangeArrowheads="1"/>
              </p:cNvSpPr>
              <p:nvPr/>
            </p:nvSpPr>
            <p:spPr bwMode="auto">
              <a:xfrm>
                <a:off x="7069664" y="3550257"/>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83" name="TextBox 82"/>
              <p:cNvSpPr txBox="1">
                <a:spLocks noRot="1" noChangeAspect="1" noMove="1" noResize="1" noEditPoints="1" noAdjustHandles="1" noChangeArrowheads="1" noChangeShapeType="1" noTextEdit="1"/>
              </p:cNvSpPr>
              <p:nvPr/>
            </p:nvSpPr>
            <p:spPr bwMode="auto">
              <a:xfrm>
                <a:off x="7069664" y="3550257"/>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4" name="TextBox 83"/>
              <p:cNvSpPr txBox="1">
                <a:spLocks noChangeArrowheads="1"/>
              </p:cNvSpPr>
              <p:nvPr/>
            </p:nvSpPr>
            <p:spPr bwMode="auto">
              <a:xfrm>
                <a:off x="7069664" y="5018562"/>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84" name="TextBox 83"/>
              <p:cNvSpPr txBox="1">
                <a:spLocks noRot="1" noChangeAspect="1" noMove="1" noResize="1" noEditPoints="1" noAdjustHandles="1" noChangeArrowheads="1" noChangeShapeType="1" noTextEdit="1"/>
              </p:cNvSpPr>
              <p:nvPr/>
            </p:nvSpPr>
            <p:spPr bwMode="auto">
              <a:xfrm>
                <a:off x="7069664" y="5018562"/>
                <a:ext cx="177503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5" name="TextBox 84"/>
              <p:cNvSpPr txBox="1">
                <a:spLocks noChangeArrowheads="1"/>
              </p:cNvSpPr>
              <p:nvPr/>
            </p:nvSpPr>
            <p:spPr bwMode="auto">
              <a:xfrm>
                <a:off x="-135814" y="1713626"/>
                <a:ext cx="7413944"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𝒎𝒊𝒏</m:t>
                    </m:r>
                    <m:d>
                      <m:dPr>
                        <m:begChr m:val="{"/>
                        <m:endChr m:val="}"/>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  </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𝟒</m:t>
                        </m:r>
                        <m:r>
                          <a:rPr lang="en-US" altLang="en-US" b="1" i="1" smtClean="0">
                            <a:solidFill>
                              <a:srgbClr val="FF0000"/>
                            </a:solidFill>
                            <a:effectLst/>
                            <a:latin typeface="Cambria Math" panose="02040503050406030204" pitchFamily="18" charset="0"/>
                            <a:ea typeface="Cambria Math" panose="02040503050406030204" pitchFamily="18" charset="0"/>
                          </a:rPr>
                          <m:t>+</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f>
                              <m:fPr>
                                <m:ctrlPr>
                                  <a:rPr lang="en-US" altLang="en-US" b="1" i="1" smtClean="0">
                                    <a:solidFill>
                                      <a:srgbClr val="FF0000"/>
                                    </a:solidFill>
                                    <a:effectLst/>
                                    <a:latin typeface="Cambria Math" panose="02040503050406030204" pitchFamily="18" charset="0"/>
                                    <a:ea typeface="Cambria Math" panose="02040503050406030204" pitchFamily="18" charset="0"/>
                                  </a:rPr>
                                </m:ctrlPr>
                              </m:fPr>
                              <m:num>
                                <m:r>
                                  <a:rPr lang="en-US" altLang="en-US" b="1" i="1" smtClean="0">
                                    <a:solidFill>
                                      <a:srgbClr val="FF0000"/>
                                    </a:solidFill>
                                    <a:effectLst/>
                                    <a:latin typeface="Cambria Math" panose="02040503050406030204" pitchFamily="18" charset="0"/>
                                    <a:ea typeface="Cambria Math" panose="02040503050406030204" pitchFamily="18" charset="0"/>
                                  </a:rPr>
                                  <m:t>𝟏</m:t>
                                </m:r>
                              </m:num>
                              <m:den>
                                <m:r>
                                  <a:rPr lang="en-US" altLang="en-US" b="1" i="1" smtClean="0">
                                    <a:solidFill>
                                      <a:srgbClr val="FF0000"/>
                                    </a:solidFill>
                                    <a:effectLst/>
                                    <a:latin typeface="Cambria Math" panose="02040503050406030204" pitchFamily="18" charset="0"/>
                                    <a:ea typeface="Cambria Math" panose="02040503050406030204" pitchFamily="18" charset="0"/>
                                  </a:rPr>
                                  <m:t>𝟐</m:t>
                                </m:r>
                              </m:den>
                            </m:f>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f>
                              <m:fPr>
                                <m:ctrlPr>
                                  <a:rPr lang="en-US" altLang="en-US" b="1" i="1" smtClean="0">
                                    <a:solidFill>
                                      <a:srgbClr val="FF0000"/>
                                    </a:solidFill>
                                    <a:effectLst/>
                                    <a:latin typeface="Cambria Math" panose="02040503050406030204" pitchFamily="18" charset="0"/>
                                    <a:ea typeface="Cambria Math" panose="02040503050406030204" pitchFamily="18" charset="0"/>
                                  </a:rPr>
                                </m:ctrlPr>
                              </m:fPr>
                              <m:num>
                                <m:r>
                                  <a:rPr lang="en-US" altLang="en-US" b="1" i="1" smtClean="0">
                                    <a:solidFill>
                                      <a:srgbClr val="FF0000"/>
                                    </a:solidFill>
                                    <a:effectLst/>
                                    <a:latin typeface="Cambria Math" panose="02040503050406030204" pitchFamily="18" charset="0"/>
                                    <a:ea typeface="Cambria Math" panose="02040503050406030204" pitchFamily="18" charset="0"/>
                                  </a:rPr>
                                  <m:t>𝟏</m:t>
                                </m:r>
                              </m:num>
                              <m:den>
                                <m:r>
                                  <a:rPr lang="en-US" altLang="en-US" b="1" i="1" smtClean="0">
                                    <a:solidFill>
                                      <a:srgbClr val="FF0000"/>
                                    </a:solidFill>
                                    <a:effectLst/>
                                    <a:latin typeface="Cambria Math" panose="02040503050406030204" pitchFamily="18" charset="0"/>
                                    <a:ea typeface="Cambria Math" panose="02040503050406030204" pitchFamily="18" charset="0"/>
                                  </a:rPr>
                                  <m:t>𝟐</m:t>
                                </m:r>
                              </m:den>
                            </m:f>
                          </m:e>
                        </m:d>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b="1" i="1" dirty="0">
                  <a:solidFill>
                    <a:srgbClr val="FF0000"/>
                  </a:solidFill>
                  <a:effectLst/>
                </a:endParaRPr>
              </a:p>
            </p:txBody>
          </p:sp>
        </mc:Choice>
        <mc:Fallback xmlns="">
          <p:sp>
            <p:nvSpPr>
              <p:cNvPr id="85" name="TextBox 84"/>
              <p:cNvSpPr txBox="1">
                <a:spLocks noRot="1" noChangeAspect="1" noMove="1" noResize="1" noEditPoints="1" noAdjustHandles="1" noChangeArrowheads="1" noChangeShapeType="1" noTextEdit="1"/>
              </p:cNvSpPr>
              <p:nvPr/>
            </p:nvSpPr>
            <p:spPr bwMode="auto">
              <a:xfrm>
                <a:off x="-135814" y="1713626"/>
                <a:ext cx="7413944"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6" name="TextBox 85"/>
              <p:cNvSpPr txBox="1">
                <a:spLocks noChangeArrowheads="1"/>
              </p:cNvSpPr>
              <p:nvPr/>
            </p:nvSpPr>
            <p:spPr bwMode="auto">
              <a:xfrm>
                <a:off x="-241029" y="4094147"/>
                <a:ext cx="60475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d>
                      <m:dPr>
                        <m:ctrlPr>
                          <a:rPr lang="en-US" altLang="en-US" b="1" i="1">
                            <a:solidFill>
                              <a:srgbClr val="FF0000"/>
                            </a:solidFill>
                            <a:effectLst/>
                            <a:latin typeface="Cambria Math" panose="02040503050406030204" pitchFamily="18" charset="0"/>
                            <a:ea typeface="Cambria Math" panose="02040503050406030204" pitchFamily="18" charset="0"/>
                          </a:rPr>
                        </m:ctrlPr>
                      </m:dPr>
                      <m:e>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𝟏</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e>
                    </m:d>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m:t>
                    </m:r>
                  </m:oMath>
                </a14:m>
                <a:endParaRPr lang="en-GB" altLang="en-US" b="1" i="1" dirty="0">
                  <a:solidFill>
                    <a:srgbClr val="FF0000"/>
                  </a:solidFill>
                  <a:effectLst/>
                </a:endParaRPr>
              </a:p>
            </p:txBody>
          </p:sp>
        </mc:Choice>
        <mc:Fallback xmlns="">
          <p:sp>
            <p:nvSpPr>
              <p:cNvPr id="86" name="TextBox 85"/>
              <p:cNvSpPr txBox="1">
                <a:spLocks noRot="1" noChangeAspect="1" noMove="1" noResize="1" noEditPoints="1" noAdjustHandles="1" noChangeArrowheads="1" noChangeShapeType="1" noTextEdit="1"/>
              </p:cNvSpPr>
              <p:nvPr/>
            </p:nvSpPr>
            <p:spPr bwMode="auto">
              <a:xfrm>
                <a:off x="-241029" y="4094147"/>
                <a:ext cx="6047536" cy="523220"/>
              </a:xfrm>
              <a:prstGeom prst="rect">
                <a:avLst/>
              </a:prstGeom>
              <a:blipFill rotWithShape="0">
                <a:blip r:embed="rId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7" name="TextBox 86"/>
              <p:cNvSpPr txBox="1">
                <a:spLocks noChangeArrowheads="1"/>
              </p:cNvSpPr>
              <p:nvPr/>
            </p:nvSpPr>
            <p:spPr bwMode="auto">
              <a:xfrm>
                <a:off x="-723298" y="5747637"/>
                <a:ext cx="7012074"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m:t>
                        </m:r>
                      </m:e>
                    </m:d>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d>
                      <m:dPr>
                        <m:ctrlPr>
                          <a:rPr lang="en-US" altLang="en-US" b="1" i="1">
                            <a:solidFill>
                              <a:srgbClr val="FF0000"/>
                            </a:solidFill>
                            <a:effectLst/>
                            <a:latin typeface="Cambria Math" panose="02040503050406030204" pitchFamily="18" charset="0"/>
                            <a:ea typeface="Cambria Math" panose="02040503050406030204" pitchFamily="18" charset="0"/>
                          </a:rPr>
                        </m:ctrlPr>
                      </m:dPr>
                      <m:e>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𝟏</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e>
                    </m:d>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𝟐</m:t>
                        </m:r>
                      </m:den>
                    </m:f>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𝟓</m:t>
                    </m:r>
                  </m:oMath>
                </a14:m>
                <a:endParaRPr lang="en-GB" altLang="en-US" b="1" i="1" dirty="0">
                  <a:solidFill>
                    <a:srgbClr val="FF0000"/>
                  </a:solidFill>
                  <a:effectLst/>
                </a:endParaRPr>
              </a:p>
            </p:txBody>
          </p:sp>
        </mc:Choice>
        <mc:Fallback xmlns="">
          <p:sp>
            <p:nvSpPr>
              <p:cNvPr id="87" name="TextBox 86"/>
              <p:cNvSpPr txBox="1">
                <a:spLocks noRot="1" noChangeAspect="1" noMove="1" noResize="1" noEditPoints="1" noAdjustHandles="1" noChangeArrowheads="1" noChangeShapeType="1" noTextEdit="1"/>
              </p:cNvSpPr>
              <p:nvPr/>
            </p:nvSpPr>
            <p:spPr bwMode="auto">
              <a:xfrm>
                <a:off x="-723298" y="5747637"/>
                <a:ext cx="7012074" cy="523220"/>
              </a:xfrm>
              <a:prstGeom prst="rect">
                <a:avLst/>
              </a:prstGeom>
              <a:blipFill rotWithShape="0">
                <a:blip r:embed="rId7"/>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273221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p:bldP spid="8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Last Stage (Day 1)</a:t>
            </a:r>
            <a:endParaRPr lang="en-GB" altLang="en-US" dirty="0"/>
          </a:p>
        </p:txBody>
      </p:sp>
      <p:sp>
        <p:nvSpPr>
          <p:cNvPr id="7" name="Oval 6"/>
          <p:cNvSpPr/>
          <p:nvPr/>
        </p:nvSpPr>
        <p:spPr>
          <a:xfrm>
            <a:off x="877094" y="249505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3815512" y="241304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3817814" y="371553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3827344" y="506571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endCxn id="2" idx="1"/>
          </p:cNvCxnSpPr>
          <p:nvPr/>
        </p:nvCxnSpPr>
        <p:spPr>
          <a:xfrm flipV="1">
            <a:off x="1120997" y="2537114"/>
            <a:ext cx="1170297" cy="188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54" idx="1"/>
          </p:cNvCxnSpPr>
          <p:nvPr/>
        </p:nvCxnSpPr>
        <p:spPr>
          <a:xfrm>
            <a:off x="1162844" y="2637930"/>
            <a:ext cx="1124914" cy="12146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62" idx="1"/>
          </p:cNvCxnSpPr>
          <p:nvPr/>
        </p:nvCxnSpPr>
        <p:spPr>
          <a:xfrm>
            <a:off x="1120997" y="2738958"/>
            <a:ext cx="1179029" cy="2443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 idx="3"/>
            <a:endCxn id="12" idx="2"/>
          </p:cNvCxnSpPr>
          <p:nvPr/>
        </p:nvCxnSpPr>
        <p:spPr>
          <a:xfrm>
            <a:off x="2689757" y="2537114"/>
            <a:ext cx="1125755" cy="1880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54" idx="3"/>
            <a:endCxn id="12" idx="3"/>
          </p:cNvCxnSpPr>
          <p:nvPr/>
        </p:nvCxnSpPr>
        <p:spPr>
          <a:xfrm flipV="1">
            <a:off x="2686221" y="2656949"/>
            <a:ext cx="1171138" cy="119563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4" idx="3"/>
            <a:endCxn id="13" idx="2"/>
          </p:cNvCxnSpPr>
          <p:nvPr/>
        </p:nvCxnSpPr>
        <p:spPr>
          <a:xfrm>
            <a:off x="2686221" y="3852580"/>
            <a:ext cx="1131593" cy="583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62" idx="3"/>
            <a:endCxn id="13" idx="3"/>
          </p:cNvCxnSpPr>
          <p:nvPr/>
        </p:nvCxnSpPr>
        <p:spPr>
          <a:xfrm flipV="1">
            <a:off x="2698489" y="3959438"/>
            <a:ext cx="1161172" cy="1223235"/>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4" idx="2"/>
          </p:cNvCxnSpPr>
          <p:nvPr/>
        </p:nvCxnSpPr>
        <p:spPr>
          <a:xfrm>
            <a:off x="2451127" y="5171068"/>
            <a:ext cx="1376217" cy="3752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sp>
        <p:nvSpPr>
          <p:cNvPr id="32802" name="TextBox 55"/>
          <p:cNvSpPr txBox="1">
            <a:spLocks noChangeArrowheads="1"/>
          </p:cNvSpPr>
          <p:nvPr/>
        </p:nvSpPr>
        <p:spPr bwMode="auto">
          <a:xfrm>
            <a:off x="772036" y="2449522"/>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6" name="TextBox 59"/>
          <p:cNvSpPr txBox="1">
            <a:spLocks noChangeArrowheads="1"/>
          </p:cNvSpPr>
          <p:nvPr/>
        </p:nvSpPr>
        <p:spPr bwMode="auto">
          <a:xfrm>
            <a:off x="3716318" y="2366622"/>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8" name="TextBox 61"/>
          <p:cNvSpPr txBox="1">
            <a:spLocks noChangeArrowheads="1"/>
          </p:cNvSpPr>
          <p:nvPr/>
        </p:nvSpPr>
        <p:spPr bwMode="auto">
          <a:xfrm>
            <a:off x="3726253" y="50172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cxnSp>
        <p:nvCxnSpPr>
          <p:cNvPr id="50" name="Straight Connector 49"/>
          <p:cNvCxnSpPr/>
          <p:nvPr/>
        </p:nvCxnSpPr>
        <p:spPr>
          <a:xfrm rot="5400000">
            <a:off x="723162" y="3708692"/>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8" name="TextBox 66"/>
          <p:cNvSpPr txBox="1">
            <a:spLocks noChangeArrowheads="1"/>
          </p:cNvSpPr>
          <p:nvPr/>
        </p:nvSpPr>
        <p:spPr bwMode="auto">
          <a:xfrm>
            <a:off x="3330399" y="1347422"/>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2</a:t>
            </a:r>
            <a:endParaRPr lang="en-GB" altLang="en-US" dirty="0"/>
          </a:p>
        </p:txBody>
      </p:sp>
      <p:sp>
        <p:nvSpPr>
          <p:cNvPr id="32819" name="TextBox 67"/>
          <p:cNvSpPr txBox="1">
            <a:spLocks noChangeArrowheads="1"/>
          </p:cNvSpPr>
          <p:nvPr/>
        </p:nvSpPr>
        <p:spPr bwMode="auto">
          <a:xfrm>
            <a:off x="1251232" y="1347422"/>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3</a:t>
            </a:r>
            <a:endParaRPr lang="en-GB" altLang="en-US" dirty="0"/>
          </a:p>
        </p:txBody>
      </p:sp>
      <p:sp>
        <p:nvSpPr>
          <p:cNvPr id="2" name="Flowchart: Decision 1"/>
          <p:cNvSpPr/>
          <p:nvPr/>
        </p:nvSpPr>
        <p:spPr bwMode="auto">
          <a:xfrm>
            <a:off x="2291294" y="2359603"/>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54" name="Flowchart: Decision 53"/>
          <p:cNvSpPr/>
          <p:nvPr/>
        </p:nvSpPr>
        <p:spPr bwMode="auto">
          <a:xfrm>
            <a:off x="2287758" y="3675069"/>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62" name="Flowchart: Decision 61"/>
          <p:cNvSpPr/>
          <p:nvPr/>
        </p:nvSpPr>
        <p:spPr bwMode="auto">
          <a:xfrm>
            <a:off x="2300026" y="5005162"/>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89" name="TextBox 59"/>
          <p:cNvSpPr txBox="1">
            <a:spLocks noChangeArrowheads="1"/>
          </p:cNvSpPr>
          <p:nvPr/>
        </p:nvSpPr>
        <p:spPr bwMode="auto">
          <a:xfrm>
            <a:off x="2369304" y="2351603"/>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91" name="TextBox 59"/>
          <p:cNvSpPr txBox="1">
            <a:spLocks noChangeArrowheads="1"/>
          </p:cNvSpPr>
          <p:nvPr/>
        </p:nvSpPr>
        <p:spPr bwMode="auto">
          <a:xfrm>
            <a:off x="2355228" y="3667636"/>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2" name="TextBox 59"/>
          <p:cNvSpPr txBox="1">
            <a:spLocks noChangeArrowheads="1"/>
          </p:cNvSpPr>
          <p:nvPr/>
        </p:nvSpPr>
        <p:spPr bwMode="auto">
          <a:xfrm>
            <a:off x="2362011" y="4997967"/>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96" name="TextBox 59"/>
          <p:cNvSpPr txBox="1">
            <a:spLocks noChangeArrowheads="1"/>
          </p:cNvSpPr>
          <p:nvPr/>
        </p:nvSpPr>
        <p:spPr bwMode="auto">
          <a:xfrm>
            <a:off x="3721911" y="3688350"/>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197" name="TextBox 196"/>
          <p:cNvSpPr txBox="1">
            <a:spLocks noChangeArrowheads="1"/>
          </p:cNvSpPr>
          <p:nvPr/>
        </p:nvSpPr>
        <p:spPr bwMode="auto">
          <a:xfrm>
            <a:off x="1310044" y="216693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198" name="TextBox 197"/>
          <p:cNvSpPr txBox="1">
            <a:spLocks noChangeArrowheads="1"/>
          </p:cNvSpPr>
          <p:nvPr/>
        </p:nvSpPr>
        <p:spPr bwMode="auto">
          <a:xfrm>
            <a:off x="1466740" y="292158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199" name="TextBox 198"/>
          <p:cNvSpPr txBox="1">
            <a:spLocks noChangeArrowheads="1"/>
          </p:cNvSpPr>
          <p:nvPr/>
        </p:nvSpPr>
        <p:spPr bwMode="auto">
          <a:xfrm>
            <a:off x="858821" y="371865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0.8</a:t>
            </a:r>
            <a:endParaRPr lang="en-GB" altLang="en-US" dirty="0">
              <a:solidFill>
                <a:srgbClr val="0070C0"/>
              </a:solidFill>
            </a:endParaRPr>
          </a:p>
        </p:txBody>
      </p:sp>
      <p:sp>
        <p:nvSpPr>
          <p:cNvPr id="200" name="TextBox 199"/>
          <p:cNvSpPr txBox="1">
            <a:spLocks noChangeArrowheads="1"/>
          </p:cNvSpPr>
          <p:nvPr/>
        </p:nvSpPr>
        <p:spPr bwMode="auto">
          <a:xfrm>
            <a:off x="2805665" y="21865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7" name="TextBox 206"/>
          <p:cNvSpPr txBox="1">
            <a:spLocks noChangeArrowheads="1"/>
          </p:cNvSpPr>
          <p:nvPr/>
        </p:nvSpPr>
        <p:spPr bwMode="auto">
          <a:xfrm>
            <a:off x="2770155" y="295060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8" name="TextBox 207"/>
          <p:cNvSpPr txBox="1">
            <a:spLocks noChangeArrowheads="1"/>
          </p:cNvSpPr>
          <p:nvPr/>
        </p:nvSpPr>
        <p:spPr bwMode="auto">
          <a:xfrm>
            <a:off x="2759028" y="432463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9" name="TextBox 208"/>
          <p:cNvSpPr txBox="1">
            <a:spLocks noChangeArrowheads="1"/>
          </p:cNvSpPr>
          <p:nvPr/>
        </p:nvSpPr>
        <p:spPr bwMode="auto">
          <a:xfrm>
            <a:off x="2805564" y="352481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0" name="TextBox 209"/>
          <p:cNvSpPr txBox="1">
            <a:spLocks noChangeArrowheads="1"/>
          </p:cNvSpPr>
          <p:nvPr/>
        </p:nvSpPr>
        <p:spPr bwMode="auto">
          <a:xfrm>
            <a:off x="2768908" y="483925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mc:AlternateContent xmlns:mc="http://schemas.openxmlformats.org/markup-compatibility/2006" xmlns:a14="http://schemas.microsoft.com/office/drawing/2010/main">
        <mc:Choice Requires="a14">
          <p:sp>
            <p:nvSpPr>
              <p:cNvPr id="78" name="TextBox 77"/>
              <p:cNvSpPr txBox="1">
                <a:spLocks noChangeArrowheads="1"/>
              </p:cNvSpPr>
              <p:nvPr/>
            </p:nvSpPr>
            <p:spPr bwMode="auto">
              <a:xfrm>
                <a:off x="4148336" y="2006987"/>
                <a:ext cx="1876317"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b="1" i="1" dirty="0">
                  <a:solidFill>
                    <a:srgbClr val="FF0000"/>
                  </a:solidFill>
                  <a:effectLst/>
                </a:endParaRPr>
              </a:p>
            </p:txBody>
          </p:sp>
        </mc:Choice>
        <mc:Fallback xmlns="">
          <p:sp>
            <p:nvSpPr>
              <p:cNvPr id="78" name="TextBox 77"/>
              <p:cNvSpPr txBox="1">
                <a:spLocks noRot="1" noChangeAspect="1" noMove="1" noResize="1" noEditPoints="1" noAdjustHandles="1" noChangeArrowheads="1" noChangeShapeType="1" noTextEdit="1"/>
              </p:cNvSpPr>
              <p:nvPr/>
            </p:nvSpPr>
            <p:spPr bwMode="auto">
              <a:xfrm>
                <a:off x="4148336" y="2006987"/>
                <a:ext cx="1876317"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9" name="TextBox 78"/>
              <p:cNvSpPr txBox="1">
                <a:spLocks noChangeArrowheads="1"/>
              </p:cNvSpPr>
              <p:nvPr/>
            </p:nvSpPr>
            <p:spPr bwMode="auto">
              <a:xfrm>
                <a:off x="4113094" y="3447875"/>
                <a:ext cx="1922875"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m:t>
                    </m:r>
                  </m:oMath>
                </a14:m>
                <a:endParaRPr lang="en-GB" altLang="en-US" b="1" i="1" dirty="0">
                  <a:solidFill>
                    <a:srgbClr val="FF0000"/>
                  </a:solidFill>
                  <a:effectLst/>
                </a:endParaRPr>
              </a:p>
            </p:txBody>
          </p:sp>
        </mc:Choice>
        <mc:Fallback xmlns="">
          <p:sp>
            <p:nvSpPr>
              <p:cNvPr id="79" name="TextBox 78"/>
              <p:cNvSpPr txBox="1">
                <a:spLocks noRot="1" noChangeAspect="1" noMove="1" noResize="1" noEditPoints="1" noAdjustHandles="1" noChangeArrowheads="1" noChangeShapeType="1" noTextEdit="1"/>
              </p:cNvSpPr>
              <p:nvPr/>
            </p:nvSpPr>
            <p:spPr bwMode="auto">
              <a:xfrm>
                <a:off x="4113094" y="3447875"/>
                <a:ext cx="1922875"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0" name="TextBox 79"/>
              <p:cNvSpPr txBox="1">
                <a:spLocks noChangeArrowheads="1"/>
              </p:cNvSpPr>
              <p:nvPr/>
            </p:nvSpPr>
            <p:spPr bwMode="auto">
              <a:xfrm>
                <a:off x="4113094" y="4804106"/>
                <a:ext cx="1971449"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𝟐</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𝟐</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𝟓</m:t>
                    </m:r>
                  </m:oMath>
                </a14:m>
                <a:endParaRPr lang="en-GB" altLang="en-US" b="1" i="1" dirty="0">
                  <a:solidFill>
                    <a:srgbClr val="FF0000"/>
                  </a:solidFill>
                  <a:effectLst/>
                </a:endParaRPr>
              </a:p>
            </p:txBody>
          </p:sp>
        </mc:Choice>
        <mc:Fallback xmlns="">
          <p:sp>
            <p:nvSpPr>
              <p:cNvPr id="80" name="TextBox 79"/>
              <p:cNvSpPr txBox="1">
                <a:spLocks noRot="1" noChangeAspect="1" noMove="1" noResize="1" noEditPoints="1" noAdjustHandles="1" noChangeArrowheads="1" noChangeShapeType="1" noTextEdit="1"/>
              </p:cNvSpPr>
              <p:nvPr/>
            </p:nvSpPr>
            <p:spPr bwMode="auto">
              <a:xfrm>
                <a:off x="4113094" y="4804106"/>
                <a:ext cx="1971449"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TextBox 80"/>
              <p:cNvSpPr txBox="1">
                <a:spLocks noChangeArrowheads="1"/>
              </p:cNvSpPr>
              <p:nvPr/>
            </p:nvSpPr>
            <p:spPr bwMode="auto">
              <a:xfrm>
                <a:off x="5140448" y="1966882"/>
                <a:ext cx="4286378" cy="769441"/>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r>
                  <a:rPr lang="en-US" altLang="en-US" sz="1600" dirty="0">
                    <a:solidFill>
                      <a:srgbClr val="FF0000"/>
                    </a:solidFill>
                    <a:effectLst/>
                  </a:rPr>
                  <a:t>The first path (do not order): </a:t>
                </a:r>
              </a:p>
              <a:p>
                <a:pPr eaLnBrk="1" hangingPunct="1"/>
                <a14:m>
                  <m:oMathPara xmlns:m="http://schemas.openxmlformats.org/officeDocument/2006/math">
                    <m:oMath>
                      <m:r>
                        <a:rPr lang="en-US" altLang="en-US" sz="1600" b="0" i="1" smtClean="0">
                          <a:solidFill>
                            <a:srgbClr val="FF0000"/>
                          </a:solidFill>
                          <a:effectLst/>
                          <a:latin typeface="Cambria Math" panose="02040503050406030204" pitchFamily="18" charset="0"/>
                          <a:ea typeface="Cambria Math" panose="02040503050406030204" pitchFamily="18" charset="0"/>
                        </a:rPr>
                        <m:t>0−0.1=−0.1</m:t>
                      </m:r>
                    </m:oMath>
                  </m:oMathPara>
                </a14:m>
                <a:endParaRPr lang="en-GB" altLang="en-US" sz="1600" i="1" dirty="0">
                  <a:solidFill>
                    <a:srgbClr val="FF0000"/>
                  </a:solidFill>
                  <a:effectLst/>
                </a:endParaRPr>
              </a:p>
            </p:txBody>
          </p:sp>
        </mc:Choice>
        <mc:Fallback xmlns="">
          <p:sp>
            <p:nvSpPr>
              <p:cNvPr id="81" name="TextBox 80"/>
              <p:cNvSpPr txBox="1">
                <a:spLocks noRot="1" noChangeAspect="1" noMove="1" noResize="1" noEditPoints="1" noAdjustHandles="1" noChangeArrowheads="1" noChangeShapeType="1" noTextEdit="1"/>
              </p:cNvSpPr>
              <p:nvPr/>
            </p:nvSpPr>
            <p:spPr bwMode="auto">
              <a:xfrm>
                <a:off x="5140448" y="1966882"/>
                <a:ext cx="4286378" cy="769441"/>
              </a:xfrm>
              <a:prstGeom prst="rect">
                <a:avLst/>
              </a:prstGeom>
              <a:blipFill rotWithShape="0">
                <a:blip r:embed="rId1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2" name="TextBox 81"/>
              <p:cNvSpPr txBox="1">
                <a:spLocks noChangeArrowheads="1"/>
              </p:cNvSpPr>
              <p:nvPr/>
            </p:nvSpPr>
            <p:spPr bwMode="auto">
              <a:xfrm>
                <a:off x="5051319" y="3447875"/>
                <a:ext cx="4286378" cy="1230465"/>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r>
                  <a:rPr lang="en-US" altLang="en-US" sz="1600" dirty="0">
                    <a:solidFill>
                      <a:srgbClr val="FF0000"/>
                    </a:solidFill>
                    <a:effectLst/>
                  </a:rPr>
                  <a:t>The second path (order 1): </a:t>
                </a:r>
              </a:p>
              <a:p>
                <a:pPr eaLnBrk="1" hangingPunct="1"/>
                <a14:m>
                  <m:oMathPara xmlns:m="http://schemas.openxmlformats.org/officeDocument/2006/math">
                    <m:oMath>
                      <m:r>
                        <a:rPr lang="en-US" altLang="en-US" sz="1600" b="0" i="1" smtClean="0">
                          <a:solidFill>
                            <a:srgbClr val="FF0000"/>
                          </a:solidFill>
                          <a:effectLst/>
                          <a:latin typeface="Cambria Math" panose="02040503050406030204" pitchFamily="18" charset="0"/>
                          <a:ea typeface="Cambria Math" panose="02040503050406030204" pitchFamily="18" charset="0"/>
                        </a:rPr>
                        <m:t>0.4+</m:t>
                      </m:r>
                      <m:r>
                        <a:rPr lang="en-US" altLang="en-US" sz="1600" b="0" i="1">
                          <a:solidFill>
                            <a:srgbClr val="FF0000"/>
                          </a:solidFill>
                          <a:effectLst/>
                          <a:latin typeface="Cambria Math" panose="02040503050406030204" pitchFamily="18" charset="0"/>
                          <a:ea typeface="Cambria Math" panose="02040503050406030204" pitchFamily="18" charset="0"/>
                        </a:rPr>
                        <m:t>−1×</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a:solidFill>
                            <a:srgbClr val="FF0000"/>
                          </a:solidFill>
                          <a:effectLst/>
                          <a:latin typeface="Cambria Math" panose="02040503050406030204" pitchFamily="18" charset="0"/>
                          <a:ea typeface="Cambria Math" panose="02040503050406030204" pitchFamily="18" charset="0"/>
                        </a:rPr>
                        <m:t>+0×</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+−0.1</m:t>
                      </m:r>
                      <m:r>
                        <a:rPr lang="en-US" altLang="en-US" sz="1600" b="0" i="1">
                          <a:solidFill>
                            <a:srgbClr val="FF0000"/>
                          </a:solidFill>
                          <a:effectLst/>
                          <a:latin typeface="Cambria Math" panose="02040503050406030204" pitchFamily="18" charset="0"/>
                          <a:ea typeface="Cambria Math" panose="02040503050406030204" pitchFamily="18" charset="0"/>
                        </a:rPr>
                        <m:t>×</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+−0.5</m:t>
                      </m:r>
                      <m:r>
                        <a:rPr lang="en-US" altLang="en-US" sz="1600" b="0" i="1">
                          <a:solidFill>
                            <a:srgbClr val="FF0000"/>
                          </a:solidFill>
                          <a:effectLst/>
                          <a:latin typeface="Cambria Math" panose="02040503050406030204" pitchFamily="18" charset="0"/>
                          <a:ea typeface="Cambria Math" panose="02040503050406030204" pitchFamily="18" charset="0"/>
                        </a:rPr>
                        <m:t>×</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=−0.4</m:t>
                      </m:r>
                    </m:oMath>
                  </m:oMathPara>
                </a14:m>
                <a:endParaRPr lang="en-GB" altLang="en-US" sz="1600" i="1" dirty="0">
                  <a:solidFill>
                    <a:srgbClr val="FF0000"/>
                  </a:solidFill>
                  <a:effectLst/>
                </a:endParaRPr>
              </a:p>
            </p:txBody>
          </p:sp>
        </mc:Choice>
        <mc:Fallback xmlns="">
          <p:sp>
            <p:nvSpPr>
              <p:cNvPr id="82" name="TextBox 81"/>
              <p:cNvSpPr txBox="1">
                <a:spLocks noRot="1" noChangeAspect="1" noMove="1" noResize="1" noEditPoints="1" noAdjustHandles="1" noChangeArrowheads="1" noChangeShapeType="1" noTextEdit="1"/>
              </p:cNvSpPr>
              <p:nvPr/>
            </p:nvSpPr>
            <p:spPr bwMode="auto">
              <a:xfrm>
                <a:off x="5051319" y="3447875"/>
                <a:ext cx="4286378" cy="1230465"/>
              </a:xfrm>
              <a:prstGeom prst="rect">
                <a:avLst/>
              </a:prstGeom>
              <a:blipFill rotWithShape="0">
                <a:blip r:embed="rId1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3" name="TextBox 82"/>
              <p:cNvSpPr txBox="1">
                <a:spLocks noChangeArrowheads="1"/>
              </p:cNvSpPr>
              <p:nvPr/>
            </p:nvSpPr>
            <p:spPr bwMode="auto">
              <a:xfrm>
                <a:off x="4924974" y="4906824"/>
                <a:ext cx="4286378" cy="1230465"/>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r>
                  <a:rPr lang="en-US" altLang="en-US" sz="1600" dirty="0">
                    <a:solidFill>
                      <a:srgbClr val="FF0000"/>
                    </a:solidFill>
                    <a:effectLst/>
                  </a:rPr>
                  <a:t>The third path (order 2): </a:t>
                </a:r>
              </a:p>
              <a:p>
                <a:pPr eaLnBrk="1" hangingPunct="1"/>
                <a14:m>
                  <m:oMathPara xmlns:m="http://schemas.openxmlformats.org/officeDocument/2006/math">
                    <m:oMath>
                      <m:r>
                        <a:rPr lang="en-US" altLang="en-US" sz="1600" i="1">
                          <a:solidFill>
                            <a:srgbClr val="FF0000"/>
                          </a:solidFill>
                          <a:latin typeface="Cambria Math" panose="02040503050406030204" pitchFamily="18" charset="0"/>
                          <a:ea typeface="Cambria Math" panose="02040503050406030204" pitchFamily="18" charset="0"/>
                        </a:rPr>
                        <m:t>0</m:t>
                      </m:r>
                      <m:r>
                        <a:rPr lang="en-US" altLang="en-US" sz="1600" b="0" i="1" smtClean="0">
                          <a:solidFill>
                            <a:srgbClr val="FF0000"/>
                          </a:solidFill>
                          <a:latin typeface="Cambria Math" panose="02040503050406030204" pitchFamily="18" charset="0"/>
                          <a:ea typeface="Cambria Math" panose="02040503050406030204" pitchFamily="18" charset="0"/>
                        </a:rPr>
                        <m:t>.8</m:t>
                      </m:r>
                      <m:r>
                        <a:rPr lang="en-US" altLang="en-US" sz="1600" b="0" i="1" smtClean="0">
                          <a:solidFill>
                            <a:srgbClr val="FF0000"/>
                          </a:solidFill>
                          <a:effectLst/>
                          <a:latin typeface="Cambria Math" panose="02040503050406030204" pitchFamily="18" charset="0"/>
                          <a:ea typeface="Cambria Math" panose="02040503050406030204" pitchFamily="18" charset="0"/>
                        </a:rPr>
                        <m:t>+</m:t>
                      </m:r>
                      <m:r>
                        <a:rPr lang="en-US" altLang="en-US" sz="1600" b="0" i="1">
                          <a:solidFill>
                            <a:srgbClr val="FF0000"/>
                          </a:solidFill>
                          <a:effectLst/>
                          <a:latin typeface="Cambria Math" panose="02040503050406030204" pitchFamily="18" charset="0"/>
                          <a:ea typeface="Cambria Math" panose="02040503050406030204" pitchFamily="18" charset="0"/>
                        </a:rPr>
                        <m:t>−1×</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a:solidFill>
                            <a:srgbClr val="FF0000"/>
                          </a:solidFill>
                          <a:effectLst/>
                          <a:latin typeface="Cambria Math" panose="02040503050406030204" pitchFamily="18" charset="0"/>
                          <a:ea typeface="Cambria Math" panose="02040503050406030204" pitchFamily="18" charset="0"/>
                        </a:rPr>
                        <m:t>+0×</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+−0.5</m:t>
                      </m:r>
                      <m:r>
                        <a:rPr lang="en-US" altLang="en-US" sz="1600" b="0" i="1">
                          <a:solidFill>
                            <a:srgbClr val="FF0000"/>
                          </a:solidFill>
                          <a:effectLst/>
                          <a:latin typeface="Cambria Math" panose="02040503050406030204" pitchFamily="18" charset="0"/>
                          <a:ea typeface="Cambria Math" panose="02040503050406030204" pitchFamily="18" charset="0"/>
                        </a:rPr>
                        <m:t>×</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+−0.5</m:t>
                      </m:r>
                      <m:r>
                        <a:rPr lang="en-US" altLang="en-US" sz="1600" b="0" i="1">
                          <a:solidFill>
                            <a:srgbClr val="FF0000"/>
                          </a:solidFill>
                          <a:effectLst/>
                          <a:latin typeface="Cambria Math" panose="02040503050406030204" pitchFamily="18" charset="0"/>
                          <a:ea typeface="Cambria Math" panose="02040503050406030204" pitchFamily="18" charset="0"/>
                        </a:rPr>
                        <m:t>×</m:t>
                      </m:r>
                      <m:f>
                        <m:fPr>
                          <m:ctrlPr>
                            <a:rPr lang="en-US" altLang="en-US" sz="1600" b="0" i="1">
                              <a:solidFill>
                                <a:srgbClr val="FF0000"/>
                              </a:solidFill>
                              <a:effectLst/>
                              <a:latin typeface="Cambria Math" panose="02040503050406030204" pitchFamily="18" charset="0"/>
                              <a:ea typeface="Cambria Math" panose="02040503050406030204" pitchFamily="18" charset="0"/>
                            </a:rPr>
                          </m:ctrlPr>
                        </m:fPr>
                        <m:num>
                          <m:r>
                            <a:rPr lang="en-US" altLang="en-US" sz="1600" b="0" i="1">
                              <a:solidFill>
                                <a:srgbClr val="FF0000"/>
                              </a:solidFill>
                              <a:effectLst/>
                              <a:latin typeface="Cambria Math" panose="02040503050406030204" pitchFamily="18" charset="0"/>
                              <a:ea typeface="Cambria Math" panose="02040503050406030204" pitchFamily="18" charset="0"/>
                            </a:rPr>
                            <m:t>1</m:t>
                          </m:r>
                        </m:num>
                        <m:den>
                          <m:r>
                            <a:rPr lang="en-US" altLang="en-US" sz="1600" b="0" i="1">
                              <a:solidFill>
                                <a:srgbClr val="FF0000"/>
                              </a:solidFill>
                              <a:effectLst/>
                              <a:latin typeface="Cambria Math" panose="02040503050406030204" pitchFamily="18" charset="0"/>
                              <a:ea typeface="Cambria Math" panose="02040503050406030204" pitchFamily="18" charset="0"/>
                            </a:rPr>
                            <m:t>2</m:t>
                          </m:r>
                        </m:den>
                      </m:f>
                      <m:r>
                        <a:rPr lang="en-US" altLang="en-US" sz="1600" b="0" i="1" smtClean="0">
                          <a:solidFill>
                            <a:srgbClr val="FF0000"/>
                          </a:solidFill>
                          <a:effectLst/>
                          <a:latin typeface="Cambria Math" panose="02040503050406030204" pitchFamily="18" charset="0"/>
                          <a:ea typeface="Cambria Math" panose="02040503050406030204" pitchFamily="18" charset="0"/>
                        </a:rPr>
                        <m:t>=−0.2</m:t>
                      </m:r>
                    </m:oMath>
                  </m:oMathPara>
                </a14:m>
                <a:endParaRPr lang="en-GB" altLang="en-US" sz="1600" i="1" dirty="0">
                  <a:solidFill>
                    <a:srgbClr val="FF0000"/>
                  </a:solidFill>
                  <a:effectLst/>
                </a:endParaRPr>
              </a:p>
            </p:txBody>
          </p:sp>
        </mc:Choice>
        <mc:Fallback xmlns="">
          <p:sp>
            <p:nvSpPr>
              <p:cNvPr id="83" name="TextBox 82"/>
              <p:cNvSpPr txBox="1">
                <a:spLocks noRot="1" noChangeAspect="1" noMove="1" noResize="1" noEditPoints="1" noAdjustHandles="1" noChangeArrowheads="1" noChangeShapeType="1" noTextEdit="1"/>
              </p:cNvSpPr>
              <p:nvPr/>
            </p:nvSpPr>
            <p:spPr bwMode="auto">
              <a:xfrm>
                <a:off x="4924974" y="4906824"/>
                <a:ext cx="4286378" cy="1230465"/>
              </a:xfrm>
              <a:prstGeom prst="rect">
                <a:avLst/>
              </a:prstGeom>
              <a:blipFill rotWithShape="0">
                <a:blip r:embed="rId1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4" name="TextBox 83"/>
              <p:cNvSpPr txBox="1">
                <a:spLocks noChangeArrowheads="1"/>
              </p:cNvSpPr>
              <p:nvPr/>
            </p:nvSpPr>
            <p:spPr bwMode="auto">
              <a:xfrm>
                <a:off x="-53522" y="1748791"/>
                <a:ext cx="211299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𝟑</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𝟒</m:t>
                    </m:r>
                  </m:oMath>
                </a14:m>
                <a:endParaRPr lang="en-GB" altLang="en-US" b="1" i="1" dirty="0">
                  <a:solidFill>
                    <a:srgbClr val="FF0000"/>
                  </a:solidFill>
                  <a:effectLst/>
                </a:endParaRPr>
              </a:p>
            </p:txBody>
          </p:sp>
        </mc:Choice>
        <mc:Fallback xmlns="">
          <p:sp>
            <p:nvSpPr>
              <p:cNvPr id="84" name="TextBox 83"/>
              <p:cNvSpPr txBox="1">
                <a:spLocks noRot="1" noChangeAspect="1" noMove="1" noResize="1" noEditPoints="1" noAdjustHandles="1" noChangeArrowheads="1" noChangeShapeType="1" noTextEdit="1"/>
              </p:cNvSpPr>
              <p:nvPr/>
            </p:nvSpPr>
            <p:spPr bwMode="auto">
              <a:xfrm>
                <a:off x="-53522" y="1748791"/>
                <a:ext cx="2112996" cy="523220"/>
              </a:xfrm>
              <a:prstGeom prst="rect">
                <a:avLst/>
              </a:prstGeom>
              <a:blipFill rotWithShape="0">
                <a:blip r:embed="rId1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121979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p:bldP spid="8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Optimal Policy</a:t>
            </a:r>
            <a:endParaRPr lang="en-GB" altLang="en-US" dirty="0"/>
          </a:p>
        </p:txBody>
      </p:sp>
      <p:sp>
        <p:nvSpPr>
          <p:cNvPr id="7" name="Oval 6"/>
          <p:cNvSpPr/>
          <p:nvPr/>
        </p:nvSpPr>
        <p:spPr>
          <a:xfrm>
            <a:off x="877094" y="249505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2" name="Oval 11"/>
          <p:cNvSpPr/>
          <p:nvPr/>
        </p:nvSpPr>
        <p:spPr>
          <a:xfrm>
            <a:off x="3815512" y="241304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 name="Oval 12"/>
          <p:cNvSpPr/>
          <p:nvPr/>
        </p:nvSpPr>
        <p:spPr>
          <a:xfrm>
            <a:off x="3817814" y="3715535"/>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 name="Oval 13"/>
          <p:cNvSpPr/>
          <p:nvPr/>
        </p:nvSpPr>
        <p:spPr>
          <a:xfrm>
            <a:off x="3827344" y="5065716"/>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cxnSp>
        <p:nvCxnSpPr>
          <p:cNvPr id="19" name="Straight Arrow Connector 18"/>
          <p:cNvCxnSpPr>
            <a:endCxn id="2" idx="1"/>
          </p:cNvCxnSpPr>
          <p:nvPr/>
        </p:nvCxnSpPr>
        <p:spPr>
          <a:xfrm flipV="1">
            <a:off x="1120997" y="2537114"/>
            <a:ext cx="1170297" cy="188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7" idx="6"/>
            <a:endCxn id="54" idx="1"/>
          </p:cNvCxnSpPr>
          <p:nvPr/>
        </p:nvCxnSpPr>
        <p:spPr>
          <a:xfrm>
            <a:off x="1162844" y="2637930"/>
            <a:ext cx="1124914" cy="121465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7" idx="5"/>
            <a:endCxn id="62" idx="1"/>
          </p:cNvCxnSpPr>
          <p:nvPr/>
        </p:nvCxnSpPr>
        <p:spPr>
          <a:xfrm>
            <a:off x="1120997" y="2738958"/>
            <a:ext cx="1179029" cy="24437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2" idx="3"/>
            <a:endCxn id="12" idx="2"/>
          </p:cNvCxnSpPr>
          <p:nvPr/>
        </p:nvCxnSpPr>
        <p:spPr>
          <a:xfrm>
            <a:off x="2689757" y="2537114"/>
            <a:ext cx="1125755" cy="1880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54" idx="3"/>
            <a:endCxn id="12" idx="3"/>
          </p:cNvCxnSpPr>
          <p:nvPr/>
        </p:nvCxnSpPr>
        <p:spPr>
          <a:xfrm flipV="1">
            <a:off x="2686221" y="2656949"/>
            <a:ext cx="1171138" cy="119563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54" idx="3"/>
            <a:endCxn id="13" idx="2"/>
          </p:cNvCxnSpPr>
          <p:nvPr/>
        </p:nvCxnSpPr>
        <p:spPr>
          <a:xfrm>
            <a:off x="2686221" y="3852580"/>
            <a:ext cx="1131593" cy="583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62" idx="3"/>
            <a:endCxn id="13" idx="3"/>
          </p:cNvCxnSpPr>
          <p:nvPr/>
        </p:nvCxnSpPr>
        <p:spPr>
          <a:xfrm flipV="1">
            <a:off x="2698489" y="3959438"/>
            <a:ext cx="1161172" cy="1223235"/>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4" idx="2"/>
          </p:cNvCxnSpPr>
          <p:nvPr/>
        </p:nvCxnSpPr>
        <p:spPr>
          <a:xfrm>
            <a:off x="2451127" y="5171068"/>
            <a:ext cx="1376217" cy="3752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2" idx="6"/>
            <a:endCxn id="98" idx="1"/>
          </p:cNvCxnSpPr>
          <p:nvPr/>
        </p:nvCxnSpPr>
        <p:spPr>
          <a:xfrm>
            <a:off x="4101262" y="2555921"/>
            <a:ext cx="1174133" cy="247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13" idx="6"/>
            <a:endCxn id="99" idx="1"/>
          </p:cNvCxnSpPr>
          <p:nvPr/>
        </p:nvCxnSpPr>
        <p:spPr>
          <a:xfrm>
            <a:off x="4103564" y="3858410"/>
            <a:ext cx="1168295" cy="37758"/>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2" idx="5"/>
            <a:endCxn id="99" idx="1"/>
          </p:cNvCxnSpPr>
          <p:nvPr/>
        </p:nvCxnSpPr>
        <p:spPr>
          <a:xfrm>
            <a:off x="4059415" y="2656949"/>
            <a:ext cx="1212444" cy="1239219"/>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4" idx="6"/>
            <a:endCxn id="100" idx="1"/>
          </p:cNvCxnSpPr>
          <p:nvPr/>
        </p:nvCxnSpPr>
        <p:spPr>
          <a:xfrm>
            <a:off x="4113094" y="5208591"/>
            <a:ext cx="1171033" cy="176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138" idx="6"/>
            <a:endCxn id="179" idx="2"/>
          </p:cNvCxnSpPr>
          <p:nvPr/>
        </p:nvCxnSpPr>
        <p:spPr>
          <a:xfrm>
            <a:off x="7148636" y="2597589"/>
            <a:ext cx="1075687" cy="17749"/>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39" idx="6"/>
            <a:endCxn id="179" idx="3"/>
          </p:cNvCxnSpPr>
          <p:nvPr/>
        </p:nvCxnSpPr>
        <p:spPr>
          <a:xfrm flipV="1">
            <a:off x="7150938" y="2716366"/>
            <a:ext cx="1115232" cy="1183712"/>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2802" name="TextBox 55"/>
          <p:cNvSpPr txBox="1">
            <a:spLocks noChangeArrowheads="1"/>
          </p:cNvSpPr>
          <p:nvPr/>
        </p:nvSpPr>
        <p:spPr bwMode="auto">
          <a:xfrm>
            <a:off x="772036" y="2449522"/>
            <a:ext cx="500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6" name="TextBox 59"/>
          <p:cNvSpPr txBox="1">
            <a:spLocks noChangeArrowheads="1"/>
          </p:cNvSpPr>
          <p:nvPr/>
        </p:nvSpPr>
        <p:spPr bwMode="auto">
          <a:xfrm>
            <a:off x="3716318" y="2366622"/>
            <a:ext cx="500063" cy="369887"/>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32808" name="TextBox 61"/>
          <p:cNvSpPr txBox="1">
            <a:spLocks noChangeArrowheads="1"/>
          </p:cNvSpPr>
          <p:nvPr/>
        </p:nvSpPr>
        <p:spPr bwMode="auto">
          <a:xfrm>
            <a:off x="3726253" y="5017263"/>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cxnSp>
        <p:nvCxnSpPr>
          <p:cNvPr id="46" name="Straight Connector 45"/>
          <p:cNvCxnSpPr/>
          <p:nvPr/>
        </p:nvCxnSpPr>
        <p:spPr>
          <a:xfrm rot="5400000">
            <a:off x="5124294" y="3666843"/>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3705911" y="3701983"/>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723162" y="3708692"/>
            <a:ext cx="5000625"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2816" name="TextBox 53"/>
          <p:cNvSpPr txBox="1">
            <a:spLocks noChangeArrowheads="1"/>
          </p:cNvSpPr>
          <p:nvPr/>
        </p:nvSpPr>
        <p:spPr bwMode="auto">
          <a:xfrm>
            <a:off x="7624606" y="1379309"/>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0</a:t>
            </a:r>
            <a:endParaRPr lang="en-GB" altLang="en-US" dirty="0"/>
          </a:p>
        </p:txBody>
      </p:sp>
      <p:sp>
        <p:nvSpPr>
          <p:cNvPr id="32817" name="TextBox 65"/>
          <p:cNvSpPr txBox="1">
            <a:spLocks noChangeArrowheads="1"/>
          </p:cNvSpPr>
          <p:nvPr/>
        </p:nvSpPr>
        <p:spPr bwMode="auto">
          <a:xfrm>
            <a:off x="6342099" y="1375399"/>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p:sp>
        <p:nvSpPr>
          <p:cNvPr id="32818" name="TextBox 66"/>
          <p:cNvSpPr txBox="1">
            <a:spLocks noChangeArrowheads="1"/>
          </p:cNvSpPr>
          <p:nvPr/>
        </p:nvSpPr>
        <p:spPr bwMode="auto">
          <a:xfrm>
            <a:off x="4050272" y="1349165"/>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2</a:t>
            </a:r>
            <a:endParaRPr lang="en-GB" altLang="en-US" dirty="0"/>
          </a:p>
        </p:txBody>
      </p:sp>
      <p:sp>
        <p:nvSpPr>
          <p:cNvPr id="32819" name="TextBox 67"/>
          <p:cNvSpPr txBox="1">
            <a:spLocks noChangeArrowheads="1"/>
          </p:cNvSpPr>
          <p:nvPr/>
        </p:nvSpPr>
        <p:spPr bwMode="auto">
          <a:xfrm>
            <a:off x="1251232" y="1347422"/>
            <a:ext cx="13573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3</a:t>
            </a:r>
            <a:endParaRPr lang="en-GB" altLang="en-US" dirty="0"/>
          </a:p>
        </p:txBody>
      </p:sp>
      <p:sp>
        <p:nvSpPr>
          <p:cNvPr id="2" name="Flowchart: Decision 1"/>
          <p:cNvSpPr/>
          <p:nvPr/>
        </p:nvSpPr>
        <p:spPr bwMode="auto">
          <a:xfrm>
            <a:off x="2291294" y="2359603"/>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54" name="Flowchart: Decision 53"/>
          <p:cNvSpPr/>
          <p:nvPr/>
        </p:nvSpPr>
        <p:spPr bwMode="auto">
          <a:xfrm>
            <a:off x="2287758" y="3675069"/>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62" name="Flowchart: Decision 61"/>
          <p:cNvSpPr/>
          <p:nvPr/>
        </p:nvSpPr>
        <p:spPr bwMode="auto">
          <a:xfrm>
            <a:off x="2300026" y="5005162"/>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89" name="TextBox 59"/>
          <p:cNvSpPr txBox="1">
            <a:spLocks noChangeArrowheads="1"/>
          </p:cNvSpPr>
          <p:nvPr/>
        </p:nvSpPr>
        <p:spPr bwMode="auto">
          <a:xfrm>
            <a:off x="2369304" y="2351603"/>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91" name="TextBox 59"/>
          <p:cNvSpPr txBox="1">
            <a:spLocks noChangeArrowheads="1"/>
          </p:cNvSpPr>
          <p:nvPr/>
        </p:nvSpPr>
        <p:spPr bwMode="auto">
          <a:xfrm>
            <a:off x="2355228" y="3667636"/>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2" name="TextBox 59"/>
          <p:cNvSpPr txBox="1">
            <a:spLocks noChangeArrowheads="1"/>
          </p:cNvSpPr>
          <p:nvPr/>
        </p:nvSpPr>
        <p:spPr bwMode="auto">
          <a:xfrm>
            <a:off x="2362011" y="4997967"/>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96" name="TextBox 59"/>
          <p:cNvSpPr txBox="1">
            <a:spLocks noChangeArrowheads="1"/>
          </p:cNvSpPr>
          <p:nvPr/>
        </p:nvSpPr>
        <p:spPr bwMode="auto">
          <a:xfrm>
            <a:off x="3721911" y="3688350"/>
            <a:ext cx="5000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98" name="Flowchart: Decision 97"/>
          <p:cNvSpPr/>
          <p:nvPr/>
        </p:nvSpPr>
        <p:spPr bwMode="auto">
          <a:xfrm>
            <a:off x="5275395" y="2403191"/>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99" name="Flowchart: Decision 98"/>
          <p:cNvSpPr/>
          <p:nvPr/>
        </p:nvSpPr>
        <p:spPr bwMode="auto">
          <a:xfrm>
            <a:off x="5271859" y="3718657"/>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0" name="Flowchart: Decision 99"/>
          <p:cNvSpPr/>
          <p:nvPr/>
        </p:nvSpPr>
        <p:spPr bwMode="auto">
          <a:xfrm>
            <a:off x="5284127" y="5048750"/>
            <a:ext cx="398463" cy="355022"/>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101" name="TextBox 59"/>
          <p:cNvSpPr txBox="1">
            <a:spLocks noChangeArrowheads="1"/>
          </p:cNvSpPr>
          <p:nvPr/>
        </p:nvSpPr>
        <p:spPr bwMode="auto">
          <a:xfrm>
            <a:off x="5353405" y="2395191"/>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02" name="TextBox 59"/>
          <p:cNvSpPr txBox="1">
            <a:spLocks noChangeArrowheads="1"/>
          </p:cNvSpPr>
          <p:nvPr/>
        </p:nvSpPr>
        <p:spPr bwMode="auto">
          <a:xfrm>
            <a:off x="5339329" y="3711224"/>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sp>
        <p:nvSpPr>
          <p:cNvPr id="103" name="TextBox 59"/>
          <p:cNvSpPr txBox="1">
            <a:spLocks noChangeArrowheads="1"/>
          </p:cNvSpPr>
          <p:nvPr/>
        </p:nvSpPr>
        <p:spPr bwMode="auto">
          <a:xfrm>
            <a:off x="5346112" y="5041555"/>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38" name="Oval 137"/>
          <p:cNvSpPr/>
          <p:nvPr/>
        </p:nvSpPr>
        <p:spPr>
          <a:xfrm>
            <a:off x="6862886" y="245471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39" name="Oval 138"/>
          <p:cNvSpPr/>
          <p:nvPr/>
        </p:nvSpPr>
        <p:spPr>
          <a:xfrm>
            <a:off x="6865188" y="375720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0" name="Oval 139"/>
          <p:cNvSpPr/>
          <p:nvPr/>
        </p:nvSpPr>
        <p:spPr>
          <a:xfrm>
            <a:off x="6874718" y="5107384"/>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41" name="TextBox 59"/>
          <p:cNvSpPr txBox="1">
            <a:spLocks noChangeArrowheads="1"/>
          </p:cNvSpPr>
          <p:nvPr/>
        </p:nvSpPr>
        <p:spPr bwMode="auto">
          <a:xfrm>
            <a:off x="6957344" y="2434424"/>
            <a:ext cx="1123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42" name="TextBox 61"/>
          <p:cNvSpPr txBox="1">
            <a:spLocks noChangeArrowheads="1"/>
          </p:cNvSpPr>
          <p:nvPr/>
        </p:nvSpPr>
        <p:spPr bwMode="auto">
          <a:xfrm>
            <a:off x="6941790" y="5077403"/>
            <a:ext cx="1649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2</a:t>
            </a:r>
            <a:endParaRPr lang="en-GB" altLang="en-US" dirty="0"/>
          </a:p>
        </p:txBody>
      </p:sp>
      <p:sp>
        <p:nvSpPr>
          <p:cNvPr id="143" name="TextBox 59"/>
          <p:cNvSpPr txBox="1">
            <a:spLocks noChangeArrowheads="1"/>
          </p:cNvSpPr>
          <p:nvPr/>
        </p:nvSpPr>
        <p:spPr bwMode="auto">
          <a:xfrm>
            <a:off x="6832794" y="3718657"/>
            <a:ext cx="32714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1</a:t>
            </a:r>
            <a:endParaRPr lang="en-GB" altLang="en-US" dirty="0"/>
          </a:p>
        </p:txBody>
      </p:sp>
      <p:cxnSp>
        <p:nvCxnSpPr>
          <p:cNvPr id="144" name="Straight Arrow Connector 143"/>
          <p:cNvCxnSpPr>
            <a:stCxn id="98" idx="3"/>
            <a:endCxn id="138" idx="2"/>
          </p:cNvCxnSpPr>
          <p:nvPr/>
        </p:nvCxnSpPr>
        <p:spPr>
          <a:xfrm>
            <a:off x="5673858" y="2580702"/>
            <a:ext cx="1189028" cy="16887"/>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4" name="Straight Arrow Connector 153"/>
          <p:cNvCxnSpPr>
            <a:stCxn id="99" idx="3"/>
            <a:endCxn id="138" idx="3"/>
          </p:cNvCxnSpPr>
          <p:nvPr/>
        </p:nvCxnSpPr>
        <p:spPr>
          <a:xfrm flipV="1">
            <a:off x="5670322" y="2698617"/>
            <a:ext cx="1234411" cy="119755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5" name="Straight Arrow Connector 154"/>
          <p:cNvCxnSpPr>
            <a:stCxn id="99" idx="3"/>
            <a:endCxn id="139" idx="2"/>
          </p:cNvCxnSpPr>
          <p:nvPr/>
        </p:nvCxnSpPr>
        <p:spPr>
          <a:xfrm>
            <a:off x="5670322" y="3896168"/>
            <a:ext cx="1194866" cy="3910"/>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p:cNvCxnSpPr>
            <a:stCxn id="100" idx="3"/>
            <a:endCxn id="139" idx="2"/>
          </p:cNvCxnSpPr>
          <p:nvPr/>
        </p:nvCxnSpPr>
        <p:spPr>
          <a:xfrm flipV="1">
            <a:off x="5682590" y="3900078"/>
            <a:ext cx="1182598" cy="1326183"/>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00" idx="3"/>
            <a:endCxn id="140" idx="2"/>
          </p:cNvCxnSpPr>
          <p:nvPr/>
        </p:nvCxnSpPr>
        <p:spPr>
          <a:xfrm>
            <a:off x="5682590" y="5226261"/>
            <a:ext cx="1192128" cy="23998"/>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p:cNvCxnSpPr>
            <a:stCxn id="140" idx="6"/>
            <a:endCxn id="179" idx="4"/>
          </p:cNvCxnSpPr>
          <p:nvPr/>
        </p:nvCxnSpPr>
        <p:spPr>
          <a:xfrm flipV="1">
            <a:off x="7160468" y="2758213"/>
            <a:ext cx="1206730" cy="24920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9" name="Oval 178"/>
          <p:cNvSpPr/>
          <p:nvPr/>
        </p:nvSpPr>
        <p:spPr>
          <a:xfrm>
            <a:off x="8224323" y="2472463"/>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solidFill>
                <a:srgbClr val="FFFFFF"/>
              </a:solidFill>
            </a:endParaRPr>
          </a:p>
        </p:txBody>
      </p:sp>
      <p:sp>
        <p:nvSpPr>
          <p:cNvPr id="192" name="TextBox 59"/>
          <p:cNvSpPr txBox="1">
            <a:spLocks noChangeArrowheads="1"/>
          </p:cNvSpPr>
          <p:nvPr/>
        </p:nvSpPr>
        <p:spPr bwMode="auto">
          <a:xfrm>
            <a:off x="8249224" y="2430755"/>
            <a:ext cx="273769"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0</a:t>
            </a:r>
            <a:endParaRPr lang="en-GB" altLang="en-US" dirty="0"/>
          </a:p>
        </p:txBody>
      </p:sp>
      <p:sp>
        <p:nvSpPr>
          <p:cNvPr id="197" name="TextBox 196"/>
          <p:cNvSpPr txBox="1">
            <a:spLocks noChangeArrowheads="1"/>
          </p:cNvSpPr>
          <p:nvPr/>
        </p:nvSpPr>
        <p:spPr bwMode="auto">
          <a:xfrm>
            <a:off x="1310044" y="216693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198" name="TextBox 197"/>
          <p:cNvSpPr txBox="1">
            <a:spLocks noChangeArrowheads="1"/>
          </p:cNvSpPr>
          <p:nvPr/>
        </p:nvSpPr>
        <p:spPr bwMode="auto">
          <a:xfrm>
            <a:off x="1466740" y="2921584"/>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199" name="TextBox 198"/>
          <p:cNvSpPr txBox="1">
            <a:spLocks noChangeArrowheads="1"/>
          </p:cNvSpPr>
          <p:nvPr/>
        </p:nvSpPr>
        <p:spPr bwMode="auto">
          <a:xfrm>
            <a:off x="858821" y="371865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0.8</a:t>
            </a:r>
            <a:endParaRPr lang="en-GB" altLang="en-US" dirty="0">
              <a:solidFill>
                <a:srgbClr val="0070C0"/>
              </a:solidFill>
            </a:endParaRPr>
          </a:p>
        </p:txBody>
      </p:sp>
      <p:sp>
        <p:nvSpPr>
          <p:cNvPr id="200" name="TextBox 199"/>
          <p:cNvSpPr txBox="1">
            <a:spLocks noChangeArrowheads="1"/>
          </p:cNvSpPr>
          <p:nvPr/>
        </p:nvSpPr>
        <p:spPr bwMode="auto">
          <a:xfrm>
            <a:off x="2805665" y="21865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1" name="TextBox 200"/>
          <p:cNvSpPr txBox="1">
            <a:spLocks noChangeArrowheads="1"/>
          </p:cNvSpPr>
          <p:nvPr/>
        </p:nvSpPr>
        <p:spPr bwMode="auto">
          <a:xfrm>
            <a:off x="4275681" y="2231941"/>
            <a:ext cx="847324" cy="369332"/>
          </a:xfrm>
          <a:prstGeom prst="rect">
            <a:avLst/>
          </a:prstGeom>
          <a:ln>
            <a:noFill/>
            <a:tailEnd type="arrow"/>
          </a:ln>
        </p:spPr>
        <p:style>
          <a:lnRef idx="1">
            <a:schemeClr val="accent1"/>
          </a:lnRef>
          <a:fillRef idx="0">
            <a:schemeClr val="accent1"/>
          </a:fillRef>
          <a:effectRef idx="0">
            <a:schemeClr val="accent1"/>
          </a:effectRef>
          <a:fontRef idx="minor">
            <a:schemeClr val="tx1"/>
          </a:fontRef>
        </p:style>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2" name="TextBox 201"/>
          <p:cNvSpPr txBox="1">
            <a:spLocks noChangeArrowheads="1"/>
          </p:cNvSpPr>
          <p:nvPr/>
        </p:nvSpPr>
        <p:spPr bwMode="auto">
          <a:xfrm>
            <a:off x="5779066" y="22198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3" name="TextBox 202"/>
          <p:cNvSpPr txBox="1">
            <a:spLocks noChangeArrowheads="1"/>
          </p:cNvSpPr>
          <p:nvPr/>
        </p:nvSpPr>
        <p:spPr bwMode="auto">
          <a:xfrm>
            <a:off x="7211939" y="226464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4" name="TextBox 203"/>
          <p:cNvSpPr txBox="1">
            <a:spLocks noChangeArrowheads="1"/>
          </p:cNvSpPr>
          <p:nvPr/>
        </p:nvSpPr>
        <p:spPr bwMode="auto">
          <a:xfrm>
            <a:off x="7200944" y="3060589"/>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5" name="TextBox 204"/>
          <p:cNvSpPr txBox="1">
            <a:spLocks noChangeArrowheads="1"/>
          </p:cNvSpPr>
          <p:nvPr/>
        </p:nvSpPr>
        <p:spPr bwMode="auto">
          <a:xfrm>
            <a:off x="7211939" y="388901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06" name="TextBox 205"/>
          <p:cNvSpPr txBox="1">
            <a:spLocks noChangeArrowheads="1"/>
          </p:cNvSpPr>
          <p:nvPr/>
        </p:nvSpPr>
        <p:spPr bwMode="auto">
          <a:xfrm>
            <a:off x="4431913" y="2962815"/>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0.4</a:t>
            </a:r>
            <a:endParaRPr lang="en-GB" altLang="en-US" dirty="0">
              <a:solidFill>
                <a:srgbClr val="0070C0"/>
              </a:solidFill>
            </a:endParaRPr>
          </a:p>
        </p:txBody>
      </p:sp>
      <p:sp>
        <p:nvSpPr>
          <p:cNvPr id="207" name="TextBox 206"/>
          <p:cNvSpPr txBox="1">
            <a:spLocks noChangeArrowheads="1"/>
          </p:cNvSpPr>
          <p:nvPr/>
        </p:nvSpPr>
        <p:spPr bwMode="auto">
          <a:xfrm>
            <a:off x="2770155" y="295060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8" name="TextBox 207"/>
          <p:cNvSpPr txBox="1">
            <a:spLocks noChangeArrowheads="1"/>
          </p:cNvSpPr>
          <p:nvPr/>
        </p:nvSpPr>
        <p:spPr bwMode="auto">
          <a:xfrm>
            <a:off x="2759028" y="432463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09" name="TextBox 208"/>
          <p:cNvSpPr txBox="1">
            <a:spLocks noChangeArrowheads="1"/>
          </p:cNvSpPr>
          <p:nvPr/>
        </p:nvSpPr>
        <p:spPr bwMode="auto">
          <a:xfrm>
            <a:off x="2805564" y="352481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0" name="TextBox 209"/>
          <p:cNvSpPr txBox="1">
            <a:spLocks noChangeArrowheads="1"/>
          </p:cNvSpPr>
          <p:nvPr/>
        </p:nvSpPr>
        <p:spPr bwMode="auto">
          <a:xfrm>
            <a:off x="2768908" y="483925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1" name="TextBox 210"/>
          <p:cNvSpPr txBox="1">
            <a:spLocks noChangeArrowheads="1"/>
          </p:cNvSpPr>
          <p:nvPr/>
        </p:nvSpPr>
        <p:spPr bwMode="auto">
          <a:xfrm>
            <a:off x="5749862" y="3023711"/>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2" name="TextBox 211"/>
          <p:cNvSpPr txBox="1">
            <a:spLocks noChangeArrowheads="1"/>
          </p:cNvSpPr>
          <p:nvPr/>
        </p:nvSpPr>
        <p:spPr bwMode="auto">
          <a:xfrm>
            <a:off x="5738735" y="4397745"/>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-1, </a:t>
            </a:r>
            <a:r>
              <a:rPr lang="en-US" altLang="en-US" dirty="0">
                <a:solidFill>
                  <a:srgbClr val="FF0000"/>
                </a:solidFill>
              </a:rPr>
              <a:t>p=1/2 </a:t>
            </a:r>
            <a:endParaRPr lang="en-GB" altLang="en-US" dirty="0">
              <a:solidFill>
                <a:srgbClr val="FF0000"/>
              </a:solidFill>
            </a:endParaRPr>
          </a:p>
        </p:txBody>
      </p:sp>
      <p:sp>
        <p:nvSpPr>
          <p:cNvPr id="213" name="TextBox 212"/>
          <p:cNvSpPr txBox="1">
            <a:spLocks noChangeArrowheads="1"/>
          </p:cNvSpPr>
          <p:nvPr/>
        </p:nvSpPr>
        <p:spPr bwMode="auto">
          <a:xfrm>
            <a:off x="5785271" y="359792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4" name="TextBox 213"/>
          <p:cNvSpPr txBox="1">
            <a:spLocks noChangeArrowheads="1"/>
          </p:cNvSpPr>
          <p:nvPr/>
        </p:nvSpPr>
        <p:spPr bwMode="auto">
          <a:xfrm>
            <a:off x="5748615" y="4912369"/>
            <a:ext cx="122697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 </a:t>
            </a:r>
            <a:r>
              <a:rPr lang="en-US" altLang="en-US" dirty="0">
                <a:solidFill>
                  <a:srgbClr val="FF0000"/>
                </a:solidFill>
              </a:rPr>
              <a:t>p=1/2 </a:t>
            </a:r>
            <a:endParaRPr lang="en-GB" altLang="en-US" dirty="0">
              <a:solidFill>
                <a:srgbClr val="FF0000"/>
              </a:solidFill>
            </a:endParaRPr>
          </a:p>
        </p:txBody>
      </p:sp>
      <p:sp>
        <p:nvSpPr>
          <p:cNvPr id="215" name="TextBox 214"/>
          <p:cNvSpPr txBox="1">
            <a:spLocks noChangeArrowheads="1"/>
          </p:cNvSpPr>
          <p:nvPr/>
        </p:nvSpPr>
        <p:spPr bwMode="auto">
          <a:xfrm>
            <a:off x="4206640" y="3546390"/>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
        <p:nvSpPr>
          <p:cNvPr id="216" name="TextBox 215"/>
          <p:cNvSpPr txBox="1">
            <a:spLocks noChangeArrowheads="1"/>
          </p:cNvSpPr>
          <p:nvPr/>
        </p:nvSpPr>
        <p:spPr bwMode="auto">
          <a:xfrm>
            <a:off x="4243120" y="4837861"/>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0</a:t>
            </a:r>
            <a:endParaRPr lang="en-GB" altLang="en-US" dirty="0">
              <a:solidFill>
                <a:srgbClr val="0070C0"/>
              </a:solidFill>
            </a:endParaRPr>
          </a:p>
        </p:txBody>
      </p:sp>
    </p:spTree>
    <p:extLst>
      <p:ext uri="{BB962C8B-B14F-4D97-AF65-F5344CB8AC3E}">
        <p14:creationId xmlns:p14="http://schemas.microsoft.com/office/powerpoint/2010/main" val="20041790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Deterministic DP vs Stochastic DP</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0" y="1281643"/>
                <a:ext cx="9143999" cy="2273450"/>
              </a:xfrm>
            </p:spPr>
            <p:txBody>
              <a:bodyPr/>
              <a:lstStyle/>
              <a:p>
                <a:r>
                  <a:rPr lang="en-US" altLang="en-US" sz="2800" dirty="0">
                    <a:effectLst/>
                  </a:rPr>
                  <a:t>Deterministic DP:</a:t>
                </a:r>
              </a:p>
              <a:p>
                <a:endParaRPr lang="en-US" altLang="en-US" dirty="0">
                  <a:effectLst/>
                </a:endParaRPr>
              </a:p>
              <a:p>
                <a:endParaRPr lang="en-US" altLang="en-US" dirty="0">
                  <a:solidFill>
                    <a:srgbClr val="FF0000"/>
                  </a:solidFill>
                  <a:effectLst/>
                </a:endParaRPr>
              </a:p>
              <a:p>
                <a:pPr lvl="1"/>
                <a:r>
                  <a:rPr lang="en-US" altLang="en-US" dirty="0">
                    <a:solidFill>
                      <a:srgbClr val="FF0000"/>
                    </a:solidFill>
                    <a:effectLst/>
                  </a:rPr>
                  <a:t>Choosing </a:t>
                </a:r>
                <a14:m>
                  <m:oMath xmlns:m="http://schemas.openxmlformats.org/officeDocument/2006/math">
                    <m:sSub>
                      <m:sSubPr>
                        <m:ctrlPr>
                          <a:rPr lang="en-US" altLang="en-US" i="1">
                            <a:solidFill>
                              <a:schemeClr val="tx1"/>
                            </a:solidFill>
                            <a:effectLst/>
                            <a:latin typeface="Cambria Math" panose="02040503050406030204" pitchFamily="18" charset="0"/>
                            <a:ea typeface="Cambria Math" panose="02040503050406030204" pitchFamily="18" charset="0"/>
                          </a:rPr>
                        </m:ctrlPr>
                      </m:sSubPr>
                      <m:e>
                        <m:r>
                          <a:rPr lang="en-US" altLang="en-US" i="1">
                            <a:solidFill>
                              <a:schemeClr val="tx1"/>
                            </a:solidFill>
                            <a:effectLst/>
                            <a:latin typeface="Cambria Math" panose="02040503050406030204" pitchFamily="18" charset="0"/>
                            <a:ea typeface="Cambria Math" panose="02040503050406030204" pitchFamily="18" charset="0"/>
                          </a:rPr>
                          <m:t>𝒙</m:t>
                        </m:r>
                      </m:e>
                      <m:sub>
                        <m:r>
                          <a:rPr lang="en-US" altLang="en-US" i="1">
                            <a:solidFill>
                              <a:schemeClr val="tx1"/>
                            </a:solidFill>
                            <a:effectLst/>
                            <a:latin typeface="Cambria Math" panose="02040503050406030204" pitchFamily="18" charset="0"/>
                            <a:ea typeface="Cambria Math" panose="02040503050406030204" pitchFamily="18" charset="0"/>
                          </a:rPr>
                          <m:t>𝒌</m:t>
                        </m:r>
                      </m:sub>
                    </m:sSub>
                  </m:oMath>
                </a14:m>
                <a:r>
                  <a:rPr lang="en-US" altLang="en-US" dirty="0">
                    <a:solidFill>
                      <a:srgbClr val="FF0000"/>
                    </a:solidFill>
                    <a:effectLst/>
                  </a:rPr>
                  <a:t> is equivalent as choosing the next state: </a:t>
                </a:r>
                <a14:m>
                  <m:oMath xmlns:m="http://schemas.openxmlformats.org/officeDocument/2006/math">
                    <m:sSub>
                      <m:sSubPr>
                        <m:ctrlPr>
                          <a:rPr lang="en-US" altLang="en-US" i="1">
                            <a:solidFill>
                              <a:schemeClr val="tx1"/>
                            </a:solidFill>
                            <a:effectLst/>
                            <a:latin typeface="Cambria Math" panose="02040503050406030204" pitchFamily="18" charset="0"/>
                            <a:ea typeface="Cambria Math" panose="02040503050406030204" pitchFamily="18" charset="0"/>
                          </a:rPr>
                        </m:ctrlPr>
                      </m:sSubPr>
                      <m:e>
                        <m:r>
                          <a:rPr lang="en-US" altLang="en-US" i="1">
                            <a:solidFill>
                              <a:schemeClr val="tx1"/>
                            </a:solidFill>
                            <a:effectLst/>
                            <a:latin typeface="Cambria Math" panose="02040503050406030204" pitchFamily="18" charset="0"/>
                            <a:ea typeface="Cambria Math" panose="02040503050406030204" pitchFamily="18" charset="0"/>
                          </a:rPr>
                          <m:t>𝒔</m:t>
                        </m:r>
                      </m:e>
                      <m:sub>
                        <m:r>
                          <a:rPr lang="en-US" altLang="en-US" i="1">
                            <a:solidFill>
                              <a:schemeClr val="tx1"/>
                            </a:solidFill>
                            <a:effectLst/>
                            <a:latin typeface="Cambria Math" panose="02040503050406030204" pitchFamily="18" charset="0"/>
                            <a:ea typeface="Cambria Math" panose="02040503050406030204" pitchFamily="18" charset="0"/>
                          </a:rPr>
                          <m:t>𝒌</m:t>
                        </m:r>
                        <m:r>
                          <a:rPr lang="en-US" altLang="en-US" i="1">
                            <a:solidFill>
                              <a:schemeClr val="tx1"/>
                            </a:solidFill>
                            <a:effectLst/>
                            <a:latin typeface="Cambria Math" panose="02040503050406030204" pitchFamily="18" charset="0"/>
                            <a:ea typeface="Cambria Math" panose="02040503050406030204" pitchFamily="18" charset="0"/>
                          </a:rPr>
                          <m:t>−</m:t>
                        </m:r>
                        <m:r>
                          <a:rPr lang="en-US" altLang="en-US" i="1">
                            <a:solidFill>
                              <a:schemeClr val="tx1"/>
                            </a:solidFill>
                            <a:effectLst/>
                            <a:latin typeface="Cambria Math" panose="02040503050406030204" pitchFamily="18" charset="0"/>
                            <a:ea typeface="Cambria Math" panose="02040503050406030204" pitchFamily="18" charset="0"/>
                          </a:rPr>
                          <m:t>𝟏</m:t>
                        </m:r>
                      </m:sub>
                    </m:sSub>
                  </m:oMath>
                </a14:m>
                <a:endParaRPr lang="en-US" altLang="en-US" dirty="0">
                  <a:solidFill>
                    <a:srgbClr val="FF0000"/>
                  </a:solidFill>
                </a:endParaRPr>
              </a:p>
              <a:p>
                <a:r>
                  <a:rPr lang="en-US" altLang="en-US" sz="2800" dirty="0">
                    <a:effectLst/>
                  </a:rPr>
                  <a:t>Stochastic DP:</a:t>
                </a:r>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0" y="1281643"/>
                <a:ext cx="9143999" cy="2273450"/>
              </a:xfrm>
              <a:blipFill rotWithShape="0">
                <a:blip r:embed="rId2"/>
                <a:stretch>
                  <a:fillRect l="-1200" t="-2681" b="-3914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 name="Flowchart: Connector 1"/>
              <p:cNvSpPr/>
              <p:nvPr/>
            </p:nvSpPr>
            <p:spPr bwMode="auto">
              <a:xfrm>
                <a:off x="990020" y="1938263"/>
                <a:ext cx="1022652" cy="908864"/>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sSub>
                        <m:sSubPr>
                          <m:ctrlP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𝒔</m:t>
                          </m:r>
                        </m:e>
                        <m:sub>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sub>
                      </m:sSub>
                    </m:oMath>
                  </m:oMathPara>
                </a14:m>
                <a:endParaRPr kumimoji="0" lang="en-SG" sz="1800" b="0" i="0" u="none" strike="noStrike" cap="none" normalizeH="0" baseline="0" dirty="0">
                  <a:ln>
                    <a:noFill/>
                  </a:ln>
                  <a:solidFill>
                    <a:schemeClr val="tx1"/>
                  </a:solidFill>
                  <a:effectLst/>
                  <a:latin typeface="Arial" pitchFamily="34" charset="0"/>
                </a:endParaRPr>
              </a:p>
            </p:txBody>
          </p:sp>
        </mc:Choice>
        <mc:Fallback xmlns="">
          <p:sp>
            <p:nvSpPr>
              <p:cNvPr id="2" name="Flowchart: Connector 1"/>
              <p:cNvSpPr>
                <a:spLocks noRot="1" noChangeAspect="1" noMove="1" noResize="1" noEditPoints="1" noAdjustHandles="1" noChangeArrowheads="1" noChangeShapeType="1" noTextEdit="1"/>
              </p:cNvSpPr>
              <p:nvPr/>
            </p:nvSpPr>
            <p:spPr bwMode="auto">
              <a:xfrm>
                <a:off x="990020" y="1938263"/>
                <a:ext cx="1022652" cy="908864"/>
              </a:xfrm>
              <a:prstGeom prst="flowChartConnector">
                <a:avLst/>
              </a:prstGeom>
              <a:blipFill rotWithShape="0">
                <a:blip r:embed="rId3"/>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p:sp>
        <p:nvSpPr>
          <p:cNvPr id="6" name="Right Arrow 5"/>
          <p:cNvSpPr/>
          <p:nvPr/>
        </p:nvSpPr>
        <p:spPr bwMode="auto">
          <a:xfrm>
            <a:off x="2496064" y="2307595"/>
            <a:ext cx="1482811" cy="376881"/>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9" name="Flowchart: Connector 8"/>
              <p:cNvSpPr/>
              <p:nvPr/>
            </p:nvSpPr>
            <p:spPr bwMode="auto">
              <a:xfrm>
                <a:off x="4462267" y="1938263"/>
                <a:ext cx="1025104" cy="908864"/>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sSub>
                        <m:sSubPr>
                          <m:ctrlP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𝒔</m:t>
                          </m:r>
                        </m:e>
                        <m:sub>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sub>
                      </m:sSub>
                    </m:oMath>
                  </m:oMathPara>
                </a14:m>
                <a:endParaRPr kumimoji="0" lang="en-SG" sz="1800" b="0" i="0" u="none" strike="noStrike" cap="none" normalizeH="0" baseline="0" dirty="0">
                  <a:ln>
                    <a:noFill/>
                  </a:ln>
                  <a:solidFill>
                    <a:schemeClr val="tx1"/>
                  </a:solidFill>
                  <a:effectLst/>
                  <a:latin typeface="Arial" pitchFamily="34" charset="0"/>
                </a:endParaRPr>
              </a:p>
            </p:txBody>
          </p:sp>
        </mc:Choice>
        <mc:Fallback xmlns="">
          <p:sp>
            <p:nvSpPr>
              <p:cNvPr id="9" name="Flowchart: Connector 8"/>
              <p:cNvSpPr>
                <a:spLocks noRot="1" noChangeAspect="1" noMove="1" noResize="1" noEditPoints="1" noAdjustHandles="1" noChangeArrowheads="1" noChangeShapeType="1" noTextEdit="1"/>
              </p:cNvSpPr>
              <p:nvPr/>
            </p:nvSpPr>
            <p:spPr bwMode="auto">
              <a:xfrm>
                <a:off x="4462267" y="1938263"/>
                <a:ext cx="1025104" cy="908864"/>
              </a:xfrm>
              <a:prstGeom prst="flowChartConnector">
                <a:avLst/>
              </a:prstGeom>
              <a:blipFill rotWithShape="0">
                <a:blip r:embed="rId6"/>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537309" y="1938263"/>
                <a:ext cx="1263424" cy="369332"/>
              </a:xfrm>
              <a:prstGeom prst="rect">
                <a:avLst/>
              </a:prstGeom>
            </p:spPr>
            <p:txBody>
              <a:bodyPr wrap="none">
                <a:spAutoFit/>
              </a:bodyPr>
              <a:lstStyle/>
              <a:p>
                <a:r>
                  <a:rPr lang="en-US" altLang="en-US" dirty="0"/>
                  <a:t>Action: </a:t>
                </a:r>
                <a14:m>
                  <m:oMath xmlns:m="http://schemas.openxmlformats.org/officeDocument/2006/math">
                    <m:sSub>
                      <m:sSubPr>
                        <m:ctrlPr>
                          <a:rPr lang="en-US" altLang="en-US"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altLang="en-US"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𝒙</m:t>
                        </m:r>
                      </m:e>
                      <m:sub>
                        <m:r>
                          <a:rPr lang="en-US" altLang="en-US"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sub>
                    </m:sSub>
                  </m:oMath>
                </a14:m>
                <a:r>
                  <a:rPr lang="en-US" altLang="en-US" dirty="0"/>
                  <a:t> </a:t>
                </a:r>
                <a:endParaRPr lang="en-SG" dirty="0"/>
              </a:p>
            </p:txBody>
          </p:sp>
        </mc:Choice>
        <mc:Fallback xmlns="">
          <p:sp>
            <p:nvSpPr>
              <p:cNvPr id="7" name="Rectangle 6"/>
              <p:cNvSpPr>
                <a:spLocks noRot="1" noChangeAspect="1" noMove="1" noResize="1" noEditPoints="1" noAdjustHandles="1" noChangeArrowheads="1" noChangeShapeType="1" noTextEdit="1"/>
              </p:cNvSpPr>
              <p:nvPr/>
            </p:nvSpPr>
            <p:spPr>
              <a:xfrm>
                <a:off x="2537309" y="1938263"/>
                <a:ext cx="1263424" cy="369332"/>
              </a:xfrm>
              <a:prstGeom prst="rect">
                <a:avLst/>
              </a:prstGeom>
              <a:blipFill rotWithShape="0">
                <a:blip r:embed="rId7"/>
                <a:stretch>
                  <a:fillRect l="-3865" t="-9836" b="-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Flowchart: Connector 10"/>
              <p:cNvSpPr/>
              <p:nvPr/>
            </p:nvSpPr>
            <p:spPr bwMode="auto">
              <a:xfrm>
                <a:off x="932355" y="4772079"/>
                <a:ext cx="1022652" cy="908864"/>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sSub>
                        <m:sSubPr>
                          <m:ctrlP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𝒔</m:t>
                          </m:r>
                        </m:e>
                        <m:sub>
                          <m:r>
                            <a:rPr lang="en-US" altLang="en-US"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sub>
                      </m:sSub>
                    </m:oMath>
                  </m:oMathPara>
                </a14:m>
                <a:endParaRPr kumimoji="0" lang="en-SG" sz="1800" b="0" i="0" u="none" strike="noStrike" cap="none" normalizeH="0" baseline="0" dirty="0">
                  <a:ln>
                    <a:noFill/>
                  </a:ln>
                  <a:solidFill>
                    <a:schemeClr val="tx1"/>
                  </a:solidFill>
                  <a:effectLst/>
                  <a:latin typeface="Arial" pitchFamily="34" charset="0"/>
                </a:endParaRPr>
              </a:p>
            </p:txBody>
          </p:sp>
        </mc:Choice>
        <mc:Fallback xmlns="">
          <p:sp>
            <p:nvSpPr>
              <p:cNvPr id="11" name="Flowchart: Connector 10"/>
              <p:cNvSpPr>
                <a:spLocks noRot="1" noChangeAspect="1" noMove="1" noResize="1" noEditPoints="1" noAdjustHandles="1" noChangeArrowheads="1" noChangeShapeType="1" noTextEdit="1"/>
              </p:cNvSpPr>
              <p:nvPr/>
            </p:nvSpPr>
            <p:spPr bwMode="auto">
              <a:xfrm>
                <a:off x="932355" y="4772079"/>
                <a:ext cx="1022652" cy="908864"/>
              </a:xfrm>
              <a:prstGeom prst="flowChartConnector">
                <a:avLst/>
              </a:prstGeom>
              <a:blipFill rotWithShape="0">
                <a:blip r:embed="rId8"/>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p:sp>
        <p:nvSpPr>
          <p:cNvPr id="12" name="Right Arrow 11"/>
          <p:cNvSpPr/>
          <p:nvPr/>
        </p:nvSpPr>
        <p:spPr bwMode="auto">
          <a:xfrm>
            <a:off x="2496064" y="5141411"/>
            <a:ext cx="1482811" cy="376881"/>
          </a:xfrm>
          <a:prstGeom prst="rightArrow">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14" name="Flowchart: Connector 13"/>
              <p:cNvSpPr/>
              <p:nvPr/>
            </p:nvSpPr>
            <p:spPr bwMode="auto">
              <a:xfrm>
                <a:off x="6566065" y="3592132"/>
                <a:ext cx="866524" cy="735747"/>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r>
                        <a:rPr lang="en-US" altLang="en-US" sz="1400"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𝟏</m:t>
                      </m:r>
                    </m:oMath>
                  </m:oMathPara>
                </a14:m>
                <a:endParaRPr kumimoji="0" lang="en-SG" sz="1400" b="0" i="0" u="none" strike="noStrike" cap="none" normalizeH="0" baseline="0" dirty="0">
                  <a:ln>
                    <a:noFill/>
                  </a:ln>
                  <a:solidFill>
                    <a:schemeClr val="tx1"/>
                  </a:solidFill>
                  <a:effectLst/>
                  <a:latin typeface="Arial" pitchFamily="34" charset="0"/>
                </a:endParaRPr>
              </a:p>
            </p:txBody>
          </p:sp>
        </mc:Choice>
        <mc:Fallback xmlns="">
          <p:sp>
            <p:nvSpPr>
              <p:cNvPr id="14" name="Flowchart: Connector 13"/>
              <p:cNvSpPr>
                <a:spLocks noRot="1" noChangeAspect="1" noMove="1" noResize="1" noEditPoints="1" noAdjustHandles="1" noChangeArrowheads="1" noChangeShapeType="1" noTextEdit="1"/>
              </p:cNvSpPr>
              <p:nvPr/>
            </p:nvSpPr>
            <p:spPr bwMode="auto">
              <a:xfrm>
                <a:off x="6566065" y="3592132"/>
                <a:ext cx="866524" cy="735747"/>
              </a:xfrm>
              <a:prstGeom prst="flowChartConnector">
                <a:avLst/>
              </a:prstGeom>
              <a:blipFill rotWithShape="0">
                <a:blip r:embed="rId11"/>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p:sp>
        <p:nvSpPr>
          <p:cNvPr id="8" name="Flowchart: Decision 7"/>
          <p:cNvSpPr/>
          <p:nvPr/>
        </p:nvSpPr>
        <p:spPr bwMode="auto">
          <a:xfrm>
            <a:off x="4138221" y="4772079"/>
            <a:ext cx="1173892" cy="1081216"/>
          </a:xfrm>
          <a:prstGeom prst="flowChartDecision">
            <a:avLst/>
          </a:prstGeom>
          <a:solidFill>
            <a:schemeClr val="accent1"/>
          </a:solidFill>
          <a:ln w="28575" cap="flat" cmpd="sng" algn="ctr">
            <a:solidFill>
              <a:srgbClr val="0033CC"/>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dirty="0">
              <a:ln>
                <a:noFill/>
              </a:ln>
              <a:solidFill>
                <a:schemeClr val="tx1"/>
              </a:solidFill>
              <a:effectLst/>
              <a:latin typeface="Arial" pitchFamily="34" charset="0"/>
            </a:endParaRPr>
          </a:p>
        </p:txBody>
      </p:sp>
      <mc:AlternateContent xmlns:mc="http://schemas.openxmlformats.org/markup-compatibility/2006" xmlns:a14="http://schemas.microsoft.com/office/drawing/2010/main">
        <mc:Choice Requires="a14">
          <p:sp>
            <p:nvSpPr>
              <p:cNvPr id="16" name="Rectangle 15"/>
              <p:cNvSpPr/>
              <p:nvPr/>
            </p:nvSpPr>
            <p:spPr>
              <a:xfrm>
                <a:off x="4144399" y="5097131"/>
                <a:ext cx="1263424" cy="369332"/>
              </a:xfrm>
              <a:prstGeom prst="rect">
                <a:avLst/>
              </a:prstGeom>
            </p:spPr>
            <p:txBody>
              <a:bodyPr wrap="none">
                <a:spAutoFit/>
              </a:bodyPr>
              <a:lstStyle/>
              <a:p>
                <a:r>
                  <a:rPr lang="en-US" altLang="en-US" dirty="0"/>
                  <a:t>Action: </a:t>
                </a:r>
                <a14:m>
                  <m:oMath xmlns:m="http://schemas.openxmlformats.org/officeDocument/2006/math">
                    <m:sSub>
                      <m:sSubPr>
                        <m:ctrlPr>
                          <a:rPr lang="en-US" altLang="en-US"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sSubPr>
                      <m:e>
                        <m:r>
                          <a:rPr lang="en-US" altLang="en-US" b="1" i="1" smtClean="0">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𝒙</m:t>
                        </m:r>
                      </m:e>
                      <m:sub>
                        <m:r>
                          <a:rPr lang="en-US" altLang="en-US" b="1" i="1">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sub>
                    </m:sSub>
                  </m:oMath>
                </a14:m>
                <a:r>
                  <a:rPr lang="en-US" altLang="en-US" dirty="0"/>
                  <a:t> </a:t>
                </a:r>
                <a:endParaRPr lang="en-SG" dirty="0"/>
              </a:p>
            </p:txBody>
          </p:sp>
        </mc:Choice>
        <mc:Fallback xmlns="">
          <p:sp>
            <p:nvSpPr>
              <p:cNvPr id="16" name="Rectangle 15"/>
              <p:cNvSpPr>
                <a:spLocks noRot="1" noChangeAspect="1" noMove="1" noResize="1" noEditPoints="1" noAdjustHandles="1" noChangeArrowheads="1" noChangeShapeType="1" noTextEdit="1"/>
              </p:cNvSpPr>
              <p:nvPr/>
            </p:nvSpPr>
            <p:spPr>
              <a:xfrm>
                <a:off x="4144399" y="5097131"/>
                <a:ext cx="1263424" cy="369332"/>
              </a:xfrm>
              <a:prstGeom prst="rect">
                <a:avLst/>
              </a:prstGeom>
              <a:blipFill rotWithShape="0">
                <a:blip r:embed="rId10"/>
                <a:stretch>
                  <a:fillRect l="-4348" t="-8197" b="-2459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 name="Flowchart: Connector 16"/>
              <p:cNvSpPr/>
              <p:nvPr/>
            </p:nvSpPr>
            <p:spPr bwMode="auto">
              <a:xfrm>
                <a:off x="6566065" y="4488563"/>
                <a:ext cx="866524" cy="735747"/>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r>
                        <a:rPr lang="en-US" altLang="en-US" sz="1400"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𝟐</m:t>
                      </m:r>
                    </m:oMath>
                  </m:oMathPara>
                </a14:m>
                <a:endParaRPr kumimoji="0" lang="en-SG" sz="1400" b="0" i="0" u="none" strike="noStrike" cap="none" normalizeH="0" baseline="0" dirty="0">
                  <a:ln>
                    <a:noFill/>
                  </a:ln>
                  <a:solidFill>
                    <a:schemeClr val="tx1"/>
                  </a:solidFill>
                  <a:effectLst/>
                  <a:latin typeface="Arial" pitchFamily="34" charset="0"/>
                </a:endParaRPr>
              </a:p>
            </p:txBody>
          </p:sp>
        </mc:Choice>
        <mc:Fallback xmlns="">
          <p:sp>
            <p:nvSpPr>
              <p:cNvPr id="17" name="Flowchart: Connector 16"/>
              <p:cNvSpPr>
                <a:spLocks noRot="1" noChangeAspect="1" noMove="1" noResize="1" noEditPoints="1" noAdjustHandles="1" noChangeArrowheads="1" noChangeShapeType="1" noTextEdit="1"/>
              </p:cNvSpPr>
              <p:nvPr/>
            </p:nvSpPr>
            <p:spPr bwMode="auto">
              <a:xfrm>
                <a:off x="6566065" y="4488563"/>
                <a:ext cx="866524" cy="735747"/>
              </a:xfrm>
              <a:prstGeom prst="flowChartConnector">
                <a:avLst/>
              </a:prstGeom>
              <a:blipFill rotWithShape="0">
                <a:blip r:embed="rId12"/>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 name="Flowchart: Connector 17"/>
              <p:cNvSpPr/>
              <p:nvPr/>
            </p:nvSpPr>
            <p:spPr bwMode="auto">
              <a:xfrm>
                <a:off x="6628803" y="5769889"/>
                <a:ext cx="866524" cy="735747"/>
              </a:xfrm>
              <a:prstGeom prst="flowChartConnector">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rPr>
                  <a:t>State</a:t>
                </a:r>
              </a:p>
              <a:p>
                <a:pPr/>
                <a14:m>
                  <m:oMathPara xmlns:m="http://schemas.openxmlformats.org/officeDocument/2006/math">
                    <m:oMath>
                      <m:r>
                        <a:rPr lang="en-US" altLang="en-US" sz="1400" b="1" i="1" smtClean="0">
                          <a:solidFill>
                            <a:schemeClr val="tx1"/>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𝒏</m:t>
                      </m:r>
                    </m:oMath>
                  </m:oMathPara>
                </a14:m>
                <a:endParaRPr kumimoji="0" lang="en-SG" sz="1400" b="0" i="0" u="none" strike="noStrike" cap="none" normalizeH="0" baseline="0" dirty="0">
                  <a:ln>
                    <a:noFill/>
                  </a:ln>
                  <a:solidFill>
                    <a:schemeClr val="tx1"/>
                  </a:solidFill>
                  <a:effectLst/>
                  <a:latin typeface="Arial" pitchFamily="34" charset="0"/>
                </a:endParaRPr>
              </a:p>
            </p:txBody>
          </p:sp>
        </mc:Choice>
        <mc:Fallback xmlns="">
          <p:sp>
            <p:nvSpPr>
              <p:cNvPr id="18" name="Flowchart: Connector 17"/>
              <p:cNvSpPr>
                <a:spLocks noRot="1" noChangeAspect="1" noMove="1" noResize="1" noEditPoints="1" noAdjustHandles="1" noChangeArrowheads="1" noChangeShapeType="1" noTextEdit="1"/>
              </p:cNvSpPr>
              <p:nvPr/>
            </p:nvSpPr>
            <p:spPr bwMode="auto">
              <a:xfrm>
                <a:off x="6628803" y="5769889"/>
                <a:ext cx="866524" cy="735747"/>
              </a:xfrm>
              <a:prstGeom prst="flowChartConnector">
                <a:avLst/>
              </a:prstGeom>
              <a:blipFill rotWithShape="0">
                <a:blip r:embed="rId13"/>
                <a:stretch>
                  <a:fillRect/>
                </a:stretch>
              </a:blipFill>
              <a:ln w="28575" cap="flat" cmpd="sng" algn="ctr">
                <a:solidFill>
                  <a:srgbClr val="0033CC"/>
                </a:solidFill>
                <a:prstDash val="solid"/>
                <a:round/>
                <a:headEnd type="none" w="med" len="med"/>
                <a:tailEnd type="triangle" w="med" len="med"/>
              </a:ln>
              <a:effectLst/>
            </p:spPr>
            <p:txBody>
              <a:bodyPr/>
              <a:lstStyle/>
              <a:p>
                <a:r>
                  <a:rPr lang="en-SG">
                    <a:noFill/>
                  </a:rPr>
                  <a:t> </a:t>
                </a:r>
              </a:p>
            </p:txBody>
          </p:sp>
        </mc:Fallback>
      </mc:AlternateContent>
      <p:cxnSp>
        <p:nvCxnSpPr>
          <p:cNvPr id="15" name="Straight Connector 14"/>
          <p:cNvCxnSpPr/>
          <p:nvPr/>
        </p:nvCxnSpPr>
        <p:spPr bwMode="auto">
          <a:xfrm>
            <a:off x="7041978" y="5409306"/>
            <a:ext cx="0" cy="200260"/>
          </a:xfrm>
          <a:prstGeom prst="line">
            <a:avLst/>
          </a:prstGeom>
          <a:solidFill>
            <a:schemeClr val="accent1"/>
          </a:solidFill>
          <a:ln w="28575" cap="flat" cmpd="sng" algn="ctr">
            <a:solidFill>
              <a:srgbClr val="0033CC"/>
            </a:solidFill>
            <a:prstDash val="sysDot"/>
            <a:round/>
            <a:headEnd type="none" w="med" len="med"/>
            <a:tailEnd type="none" w="med" len="med"/>
          </a:ln>
          <a:effectLst/>
        </p:spPr>
      </p:cxnSp>
      <p:cxnSp>
        <p:nvCxnSpPr>
          <p:cNvPr id="25" name="Straight Arrow Connector 24"/>
          <p:cNvCxnSpPr/>
          <p:nvPr/>
        </p:nvCxnSpPr>
        <p:spPr bwMode="auto">
          <a:xfrm flipV="1">
            <a:off x="5149733" y="4040706"/>
            <a:ext cx="1320622" cy="895865"/>
          </a:xfrm>
          <a:prstGeom prst="straightConnector1">
            <a:avLst/>
          </a:prstGeom>
          <a:solidFill>
            <a:schemeClr val="accent1"/>
          </a:solidFill>
          <a:ln w="28575" cap="flat" cmpd="sng" algn="ctr">
            <a:solidFill>
              <a:srgbClr val="0033CC"/>
            </a:solidFill>
            <a:prstDash val="lgDash"/>
            <a:round/>
            <a:headEnd type="none" w="med" len="med"/>
            <a:tailEnd type="triangle"/>
          </a:ln>
          <a:effectLst/>
        </p:spPr>
      </p:cxnSp>
      <p:cxnSp>
        <p:nvCxnSpPr>
          <p:cNvPr id="28" name="Straight Arrow Connector 27"/>
          <p:cNvCxnSpPr/>
          <p:nvPr/>
        </p:nvCxnSpPr>
        <p:spPr bwMode="auto">
          <a:xfrm flipV="1">
            <a:off x="5354978" y="4953149"/>
            <a:ext cx="1168222" cy="176837"/>
          </a:xfrm>
          <a:prstGeom prst="straightConnector1">
            <a:avLst/>
          </a:prstGeom>
          <a:solidFill>
            <a:schemeClr val="accent1"/>
          </a:solidFill>
          <a:ln w="28575" cap="flat" cmpd="sng" algn="ctr">
            <a:solidFill>
              <a:srgbClr val="0033CC"/>
            </a:solidFill>
            <a:prstDash val="lgDash"/>
            <a:round/>
            <a:headEnd type="none" w="med" len="med"/>
            <a:tailEnd type="triangle"/>
          </a:ln>
          <a:effectLst/>
        </p:spPr>
      </p:cxnSp>
      <p:cxnSp>
        <p:nvCxnSpPr>
          <p:cNvPr id="30" name="Straight Arrow Connector 29"/>
          <p:cNvCxnSpPr/>
          <p:nvPr/>
        </p:nvCxnSpPr>
        <p:spPr bwMode="auto">
          <a:xfrm>
            <a:off x="5289872" y="5509436"/>
            <a:ext cx="1233328" cy="668911"/>
          </a:xfrm>
          <a:prstGeom prst="straightConnector1">
            <a:avLst/>
          </a:prstGeom>
          <a:solidFill>
            <a:schemeClr val="accent1"/>
          </a:solidFill>
          <a:ln w="28575" cap="flat" cmpd="sng" algn="ctr">
            <a:solidFill>
              <a:srgbClr val="0033CC"/>
            </a:solidFill>
            <a:prstDash val="lgDash"/>
            <a:round/>
            <a:headEnd type="none" w="med" len="med"/>
            <a:tailEnd type="triangle"/>
          </a:ln>
          <a:effectLst/>
        </p:spPr>
      </p:cxnSp>
      <mc:AlternateContent xmlns:mc="http://schemas.openxmlformats.org/markup-compatibility/2006" xmlns:a14="http://schemas.microsoft.com/office/drawing/2010/main">
        <mc:Choice Requires="a14">
          <p:sp>
            <p:nvSpPr>
              <p:cNvPr id="34" name="Rectangle 33"/>
              <p:cNvSpPr/>
              <p:nvPr/>
            </p:nvSpPr>
            <p:spPr>
              <a:xfrm rot="19581761">
                <a:off x="4710210" y="4266573"/>
                <a:ext cx="1805365" cy="307777"/>
              </a:xfrm>
              <a:prstGeom prst="rect">
                <a:avLst/>
              </a:prstGeom>
            </p:spPr>
            <p:txBody>
              <a:bodyPr wrap="square">
                <a:spAutoFit/>
              </a:bodyPr>
              <a:lstStyle/>
              <a:p>
                <a14:m>
                  <m:oMath xmlns:m="http://schemas.openxmlformats.org/officeDocument/2006/math">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𝑃</m:t>
                        </m:r>
                        <m:r>
                          <a:rPr lang="en-US" altLang="en-US" sz="1400" b="0" i="1" smtClean="0">
                            <a:effectLst/>
                            <a:latin typeface="Cambria Math" panose="02040503050406030204" pitchFamily="18" charset="0"/>
                            <a:ea typeface="Cambria Math" panose="02040503050406030204" pitchFamily="18" charset="0"/>
                          </a:rPr>
                          <m:t>(</m:t>
                        </m:r>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r>
                          <a:rPr lang="en-US" altLang="en-US" sz="1400" b="0" i="1" smtClean="0">
                            <a:effectLst/>
                            <a:latin typeface="Cambria Math" panose="02040503050406030204" pitchFamily="18" charset="0"/>
                            <a:ea typeface="Cambria Math" panose="02040503050406030204" pitchFamily="18" charset="0"/>
                          </a:rPr>
                          <m:t>−1</m:t>
                        </m:r>
                      </m:sub>
                    </m:sSub>
                    <m:r>
                      <a:rPr lang="en-US" altLang="en-US" sz="1400" b="0" i="1" smtClean="0">
                        <a:effectLst/>
                        <a:latin typeface="Cambria Math" panose="02040503050406030204" pitchFamily="18" charset="0"/>
                        <a:ea typeface="Cambria Math" panose="02040503050406030204" pitchFamily="18" charset="0"/>
                      </a:rPr>
                      <m:t>=1|</m:t>
                    </m:r>
                    <m:sSub>
                      <m:sSubPr>
                        <m:ctrlPr>
                          <a:rPr lang="en-US" altLang="en-US" sz="1400" b="0" i="1">
                            <a:effectLst/>
                            <a:latin typeface="Cambria Math" panose="02040503050406030204" pitchFamily="18" charset="0"/>
                            <a:ea typeface="Cambria Math" panose="02040503050406030204" pitchFamily="18" charset="0"/>
                          </a:rPr>
                        </m:ctrlPr>
                      </m:sSubPr>
                      <m:e>
                        <m:r>
                          <a:rPr lang="en-US" altLang="en-US" sz="1400" b="0" i="1">
                            <a:effectLst/>
                            <a:latin typeface="Cambria Math" panose="02040503050406030204" pitchFamily="18" charset="0"/>
                            <a:ea typeface="Cambria Math" panose="02040503050406030204" pitchFamily="18" charset="0"/>
                          </a:rPr>
                          <m:t>𝑥</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oMath>
                </a14:m>
                <a:r>
                  <a:rPr lang="en-US" altLang="en-US" sz="1400" dirty="0">
                    <a:effectLst/>
                  </a:rPr>
                  <a:t> </a:t>
                </a:r>
                <a:endParaRPr lang="en-SG" sz="1400" dirty="0">
                  <a:effectLst/>
                </a:endParaRPr>
              </a:p>
            </p:txBody>
          </p:sp>
        </mc:Choice>
        <mc:Fallback xmlns="">
          <p:sp>
            <p:nvSpPr>
              <p:cNvPr id="34" name="Rectangle 33"/>
              <p:cNvSpPr>
                <a:spLocks noRot="1" noChangeAspect="1" noMove="1" noResize="1" noEditPoints="1" noAdjustHandles="1" noChangeArrowheads="1" noChangeShapeType="1" noTextEdit="1"/>
              </p:cNvSpPr>
              <p:nvPr/>
            </p:nvSpPr>
            <p:spPr>
              <a:xfrm rot="19581761">
                <a:off x="4710210" y="4266573"/>
                <a:ext cx="1805365" cy="307777"/>
              </a:xfrm>
              <a:prstGeom prst="rect">
                <a:avLst/>
              </a:prstGeom>
              <a:blipFill rotWithShape="0">
                <a:blip r:embed="rId14"/>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rot="21027639">
                <a:off x="4963114" y="4747053"/>
                <a:ext cx="1805365" cy="307777"/>
              </a:xfrm>
              <a:prstGeom prst="rect">
                <a:avLst/>
              </a:prstGeom>
            </p:spPr>
            <p:txBody>
              <a:bodyPr wrap="square">
                <a:spAutoFit/>
              </a:bodyPr>
              <a:lstStyle/>
              <a:p>
                <a14:m>
                  <m:oMath xmlns:m="http://schemas.openxmlformats.org/officeDocument/2006/math">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𝑃</m:t>
                        </m:r>
                        <m:r>
                          <a:rPr lang="en-US" altLang="en-US" sz="1400" b="0" i="1" smtClean="0">
                            <a:effectLst/>
                            <a:latin typeface="Cambria Math" panose="02040503050406030204" pitchFamily="18" charset="0"/>
                            <a:ea typeface="Cambria Math" panose="02040503050406030204" pitchFamily="18" charset="0"/>
                          </a:rPr>
                          <m:t>(</m:t>
                        </m:r>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r>
                          <a:rPr lang="en-US" altLang="en-US" sz="1400" b="0" i="1" smtClean="0">
                            <a:effectLst/>
                            <a:latin typeface="Cambria Math" panose="02040503050406030204" pitchFamily="18" charset="0"/>
                            <a:ea typeface="Cambria Math" panose="02040503050406030204" pitchFamily="18" charset="0"/>
                          </a:rPr>
                          <m:t>−1</m:t>
                        </m:r>
                      </m:sub>
                    </m:sSub>
                    <m:r>
                      <a:rPr lang="en-US" altLang="en-US" sz="1400" b="0" i="1" smtClean="0">
                        <a:effectLst/>
                        <a:latin typeface="Cambria Math" panose="02040503050406030204" pitchFamily="18" charset="0"/>
                        <a:ea typeface="Cambria Math" panose="02040503050406030204" pitchFamily="18" charset="0"/>
                      </a:rPr>
                      <m:t>=2|</m:t>
                    </m:r>
                    <m:sSub>
                      <m:sSubPr>
                        <m:ctrlPr>
                          <a:rPr lang="en-US" altLang="en-US" sz="1400" b="0" i="1">
                            <a:effectLst/>
                            <a:latin typeface="Cambria Math" panose="02040503050406030204" pitchFamily="18" charset="0"/>
                            <a:ea typeface="Cambria Math" panose="02040503050406030204" pitchFamily="18" charset="0"/>
                          </a:rPr>
                        </m:ctrlPr>
                      </m:sSubPr>
                      <m:e>
                        <m:r>
                          <a:rPr lang="en-US" altLang="en-US" sz="1400" b="0" i="1">
                            <a:effectLst/>
                            <a:latin typeface="Cambria Math" panose="02040503050406030204" pitchFamily="18" charset="0"/>
                            <a:ea typeface="Cambria Math" panose="02040503050406030204" pitchFamily="18" charset="0"/>
                          </a:rPr>
                          <m:t>𝑥</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oMath>
                </a14:m>
                <a:r>
                  <a:rPr lang="en-US" altLang="en-US" sz="1400" dirty="0">
                    <a:effectLst/>
                  </a:rPr>
                  <a:t> </a:t>
                </a:r>
                <a:endParaRPr lang="en-SG" sz="1400" dirty="0">
                  <a:effectLst/>
                </a:endParaRPr>
              </a:p>
            </p:txBody>
          </p:sp>
        </mc:Choice>
        <mc:Fallback xmlns="">
          <p:sp>
            <p:nvSpPr>
              <p:cNvPr id="35" name="Rectangle 34"/>
              <p:cNvSpPr>
                <a:spLocks noRot="1" noChangeAspect="1" noMove="1" noResize="1" noEditPoints="1" noAdjustHandles="1" noChangeArrowheads="1" noChangeShapeType="1" noTextEdit="1"/>
              </p:cNvSpPr>
              <p:nvPr/>
            </p:nvSpPr>
            <p:spPr>
              <a:xfrm rot="21027639">
                <a:off x="4963114" y="4747053"/>
                <a:ext cx="1805365" cy="307777"/>
              </a:xfrm>
              <a:prstGeom prst="rect">
                <a:avLst/>
              </a:prstGeom>
              <a:blipFill rotWithShape="0">
                <a:blip r:embed="rId1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rot="1658229">
                <a:off x="5084262" y="5553505"/>
                <a:ext cx="1805365" cy="307777"/>
              </a:xfrm>
              <a:prstGeom prst="rect">
                <a:avLst/>
              </a:prstGeom>
            </p:spPr>
            <p:txBody>
              <a:bodyPr wrap="square">
                <a:spAutoFit/>
              </a:bodyPr>
              <a:lstStyle/>
              <a:p>
                <a14:m>
                  <m:oMath xmlns:m="http://schemas.openxmlformats.org/officeDocument/2006/math">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𝑃</m:t>
                        </m:r>
                        <m:r>
                          <a:rPr lang="en-US" altLang="en-US" sz="1400" b="0" i="1" smtClean="0">
                            <a:effectLst/>
                            <a:latin typeface="Cambria Math" panose="02040503050406030204" pitchFamily="18" charset="0"/>
                            <a:ea typeface="Cambria Math" panose="02040503050406030204" pitchFamily="18" charset="0"/>
                          </a:rPr>
                          <m:t>(</m:t>
                        </m:r>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r>
                          <a:rPr lang="en-US" altLang="en-US" sz="1400" b="0" i="1" smtClean="0">
                            <a:effectLst/>
                            <a:latin typeface="Cambria Math" panose="02040503050406030204" pitchFamily="18" charset="0"/>
                            <a:ea typeface="Cambria Math" panose="02040503050406030204" pitchFamily="18" charset="0"/>
                          </a:rPr>
                          <m:t>−1</m:t>
                        </m:r>
                      </m:sub>
                    </m:sSub>
                    <m:r>
                      <a:rPr lang="en-US" altLang="en-US" sz="1400" b="0" i="1" smtClean="0">
                        <a:effectLst/>
                        <a:latin typeface="Cambria Math" panose="02040503050406030204" pitchFamily="18" charset="0"/>
                        <a:ea typeface="Cambria Math" panose="02040503050406030204" pitchFamily="18" charset="0"/>
                      </a:rPr>
                      <m:t>=</m:t>
                    </m:r>
                    <m:r>
                      <a:rPr lang="en-US" altLang="en-US" sz="1400" b="0" i="1" smtClean="0">
                        <a:effectLst/>
                        <a:latin typeface="Cambria Math" panose="02040503050406030204" pitchFamily="18" charset="0"/>
                        <a:ea typeface="Cambria Math" panose="02040503050406030204" pitchFamily="18" charset="0"/>
                      </a:rPr>
                      <m:t>𝑛</m:t>
                    </m:r>
                    <m:r>
                      <a:rPr lang="en-US" altLang="en-US" sz="1400" b="0" i="1" smtClean="0">
                        <a:effectLst/>
                        <a:latin typeface="Cambria Math" panose="02040503050406030204" pitchFamily="18" charset="0"/>
                        <a:ea typeface="Cambria Math" panose="02040503050406030204" pitchFamily="18" charset="0"/>
                      </a:rPr>
                      <m:t>|</m:t>
                    </m:r>
                    <m:sSub>
                      <m:sSubPr>
                        <m:ctrlPr>
                          <a:rPr lang="en-US" altLang="en-US" sz="1400" b="0" i="1">
                            <a:effectLst/>
                            <a:latin typeface="Cambria Math" panose="02040503050406030204" pitchFamily="18" charset="0"/>
                            <a:ea typeface="Cambria Math" panose="02040503050406030204" pitchFamily="18" charset="0"/>
                          </a:rPr>
                        </m:ctrlPr>
                      </m:sSubPr>
                      <m:e>
                        <m:r>
                          <a:rPr lang="en-US" altLang="en-US" sz="1400" b="0" i="1">
                            <a:effectLst/>
                            <a:latin typeface="Cambria Math" panose="02040503050406030204" pitchFamily="18" charset="0"/>
                            <a:ea typeface="Cambria Math" panose="02040503050406030204" pitchFamily="18" charset="0"/>
                          </a:rPr>
                          <m:t>𝑥</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sSub>
                      <m:sSubPr>
                        <m:ctrlPr>
                          <a:rPr lang="en-US" altLang="en-US" sz="1400" b="0" i="1" smtClean="0">
                            <a:effectLst/>
                            <a:latin typeface="Cambria Math" panose="02040503050406030204" pitchFamily="18" charset="0"/>
                            <a:ea typeface="Cambria Math" panose="02040503050406030204" pitchFamily="18" charset="0"/>
                          </a:rPr>
                        </m:ctrlPr>
                      </m:sSubPr>
                      <m:e>
                        <m:r>
                          <a:rPr lang="en-US" altLang="en-US" sz="1400" b="0" i="1" smtClean="0">
                            <a:effectLst/>
                            <a:latin typeface="Cambria Math" panose="02040503050406030204" pitchFamily="18" charset="0"/>
                            <a:ea typeface="Cambria Math" panose="02040503050406030204" pitchFamily="18" charset="0"/>
                          </a:rPr>
                          <m:t>𝑠</m:t>
                        </m:r>
                      </m:e>
                      <m:sub>
                        <m:r>
                          <a:rPr lang="en-US" altLang="en-US" sz="1400" b="0" i="1">
                            <a:effectLst/>
                            <a:latin typeface="Cambria Math" panose="02040503050406030204" pitchFamily="18" charset="0"/>
                            <a:ea typeface="Cambria Math" panose="02040503050406030204" pitchFamily="18" charset="0"/>
                          </a:rPr>
                          <m:t>𝑘</m:t>
                        </m:r>
                      </m:sub>
                    </m:sSub>
                    <m:r>
                      <a:rPr lang="en-US" altLang="en-US" sz="1400" b="0" i="1" smtClean="0">
                        <a:effectLst/>
                        <a:latin typeface="Cambria Math" panose="02040503050406030204" pitchFamily="18" charset="0"/>
                        <a:ea typeface="Cambria Math" panose="02040503050406030204" pitchFamily="18" charset="0"/>
                      </a:rPr>
                      <m:t>)</m:t>
                    </m:r>
                  </m:oMath>
                </a14:m>
                <a:r>
                  <a:rPr lang="en-US" altLang="en-US" sz="1400" dirty="0">
                    <a:effectLst/>
                  </a:rPr>
                  <a:t> </a:t>
                </a:r>
                <a:endParaRPr lang="en-SG" sz="1400" dirty="0"/>
              </a:p>
            </p:txBody>
          </p:sp>
        </mc:Choice>
        <mc:Fallback xmlns="">
          <p:sp>
            <p:nvSpPr>
              <p:cNvPr id="36" name="Rectangle 35"/>
              <p:cNvSpPr>
                <a:spLocks noRot="1" noChangeAspect="1" noMove="1" noResize="1" noEditPoints="1" noAdjustHandles="1" noChangeArrowheads="1" noChangeShapeType="1" noTextEdit="1"/>
              </p:cNvSpPr>
              <p:nvPr/>
            </p:nvSpPr>
            <p:spPr>
              <a:xfrm rot="1658229">
                <a:off x="5084262" y="5553505"/>
                <a:ext cx="1805365" cy="307777"/>
              </a:xfrm>
              <a:prstGeom prst="rect">
                <a:avLst/>
              </a:prstGeom>
              <a:blipFill rotWithShape="0">
                <a:blip r:embed="rId16"/>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989772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Open-loop vs State Dependent Solution</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8730" y="1170431"/>
                <a:ext cx="9143999" cy="4825825"/>
              </a:xfrm>
            </p:spPr>
            <p:txBody>
              <a:bodyPr/>
              <a:lstStyle/>
              <a:p>
                <a:r>
                  <a:rPr lang="en-US" altLang="en-US" sz="2800" dirty="0">
                    <a:effectLst/>
                  </a:rPr>
                  <a:t>Open-loop solution:</a:t>
                </a:r>
                <a:endParaRPr lang="en-US" altLang="en-US" dirty="0">
                  <a:solidFill>
                    <a:srgbClr val="FF0000"/>
                  </a:solidFill>
                  <a:effectLst/>
                </a:endParaRPr>
              </a:p>
              <a:p>
                <a:pPr lvl="1"/>
                <a:r>
                  <a:rPr lang="en-US" altLang="en-US" sz="2400" dirty="0">
                    <a:effectLst/>
                  </a:rPr>
                  <a:t>The actions </a:t>
                </a:r>
                <a14:m>
                  <m:oMath xmlns:m="http://schemas.openxmlformats.org/officeDocument/2006/math">
                    <m:sSub>
                      <m:sSubPr>
                        <m:ctrlPr>
                          <a:rPr lang="en-US" altLang="en-US" sz="2400">
                            <a:effectLst/>
                            <a:latin typeface="Cambria Math" panose="02040503050406030204" pitchFamily="18" charset="0"/>
                          </a:rPr>
                        </m:ctrlPr>
                      </m:sSubPr>
                      <m:e>
                        <m:r>
                          <a:rPr lang="en-US" altLang="en-US" sz="2400">
                            <a:effectLst/>
                            <a:latin typeface="Cambria Math" panose="02040503050406030204" pitchFamily="18" charset="0"/>
                          </a:rPr>
                          <m:t>𝒙</m:t>
                        </m:r>
                      </m:e>
                      <m:sub>
                        <m:r>
                          <a:rPr lang="en-US" altLang="en-US" sz="2400">
                            <a:effectLst/>
                            <a:latin typeface="Cambria Math" panose="02040503050406030204" pitchFamily="18" charset="0"/>
                          </a:rPr>
                          <m:t>𝒌</m:t>
                        </m:r>
                      </m:sub>
                    </m:sSub>
                  </m:oMath>
                </a14:m>
                <a:r>
                  <a:rPr lang="en-US" altLang="en-US" sz="2400" dirty="0">
                    <a:effectLst/>
                  </a:rPr>
                  <a:t> are determined no matter what the state </a:t>
                </a:r>
                <a14:m>
                  <m:oMath xmlns:m="http://schemas.openxmlformats.org/officeDocument/2006/math">
                    <m:sSub>
                      <m:sSubPr>
                        <m:ctrlPr>
                          <a:rPr lang="en-US" altLang="en-US" sz="2400">
                            <a:effectLst/>
                            <a:latin typeface="Cambria Math" panose="02040503050406030204" pitchFamily="18" charset="0"/>
                          </a:rPr>
                        </m:ctrlPr>
                      </m:sSubPr>
                      <m:e>
                        <m:r>
                          <a:rPr lang="en-US" altLang="en-US" sz="2400">
                            <a:effectLst/>
                            <a:latin typeface="Cambria Math" panose="02040503050406030204" pitchFamily="18" charset="0"/>
                          </a:rPr>
                          <m:t>𝒔</m:t>
                        </m:r>
                      </m:e>
                      <m:sub>
                        <m:r>
                          <a:rPr lang="en-US" altLang="en-US" sz="2400">
                            <a:effectLst/>
                            <a:latin typeface="Cambria Math" panose="02040503050406030204" pitchFamily="18" charset="0"/>
                          </a:rPr>
                          <m:t>𝒌</m:t>
                        </m:r>
                      </m:sub>
                    </m:sSub>
                  </m:oMath>
                </a14:m>
                <a:r>
                  <a:rPr lang="en-US" altLang="en-US" sz="2400" dirty="0">
                    <a:effectLst/>
                  </a:rPr>
                  <a:t> is.</a:t>
                </a: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1</m:t>
                        </m:r>
                      </m:sub>
                    </m:sSub>
                    <m:r>
                      <a:rPr lang="en-US" altLang="en-US" sz="2400" b="0" i="1">
                        <a:solidFill>
                          <a:srgbClr val="FF0000"/>
                        </a:solidFill>
                        <a:effectLst/>
                        <a:latin typeface="Cambria Math" panose="02040503050406030204" pitchFamily="18" charset="0"/>
                        <a:ea typeface="Cambria Math" panose="02040503050406030204" pitchFamily="18" charset="0"/>
                      </a:rPr>
                      <m:t>,</m:t>
                    </m:r>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r>
                      <a:rPr lang="en-US" altLang="en-US" sz="2400" b="0" i="1">
                        <a:solidFill>
                          <a:srgbClr val="FF0000"/>
                        </a:solidFill>
                        <a:effectLst/>
                        <a:latin typeface="Cambria Math" panose="02040503050406030204" pitchFamily="18" charset="0"/>
                        <a:ea typeface="Cambria Math" panose="02040503050406030204" pitchFamily="18" charset="0"/>
                      </a:rPr>
                      <m:t>)=</m:t>
                    </m:r>
                    <m:d>
                      <m:dPr>
                        <m:ctrlPr>
                          <a:rPr lang="en-US" altLang="en-US" sz="2400" b="0" i="1">
                            <a:solidFill>
                              <a:srgbClr val="FF0000"/>
                            </a:solidFill>
                            <a:effectLst/>
                            <a:latin typeface="Cambria Math" panose="02040503050406030204" pitchFamily="18" charset="0"/>
                            <a:ea typeface="Cambria Math" panose="02040503050406030204" pitchFamily="18" charset="0"/>
                          </a:rPr>
                        </m:ctrlPr>
                      </m:dPr>
                      <m:e>
                        <m:r>
                          <a:rPr lang="en-US" altLang="en-US" sz="2400" b="0" i="1">
                            <a:solidFill>
                              <a:srgbClr val="FF0000"/>
                            </a:solidFill>
                            <a:effectLst/>
                            <a:latin typeface="Cambria Math" panose="02040503050406030204" pitchFamily="18" charset="0"/>
                            <a:ea typeface="Cambria Math" panose="02040503050406030204" pitchFamily="18" charset="0"/>
                          </a:rPr>
                          <m:t>1,0</m:t>
                        </m:r>
                      </m:e>
                    </m:d>
                  </m:oMath>
                </a14:m>
                <a:r>
                  <a:rPr lang="en-US" altLang="en-US" sz="2400" dirty="0">
                    <a:effectLst/>
                  </a:rPr>
                  <a:t> is determined no matter whether the first day demand is 1 or 0.  </a:t>
                </a:r>
                <a:endParaRPr lang="en-US" altLang="en-US" sz="2400" dirty="0">
                  <a:solidFill>
                    <a:srgbClr val="FF0000"/>
                  </a:solidFill>
                  <a:effectLst/>
                </a:endParaRPr>
              </a:p>
              <a:p>
                <a:r>
                  <a:rPr lang="en-US" altLang="en-US" sz="2800" dirty="0">
                    <a:effectLst/>
                  </a:rPr>
                  <a:t>State dependent solution:</a:t>
                </a:r>
              </a:p>
              <a:p>
                <a:pPr lvl="1"/>
                <a:r>
                  <a:rPr lang="en-US" altLang="en-US" sz="2400" dirty="0">
                    <a:effectLst/>
                  </a:rPr>
                  <a:t>The actions </a:t>
                </a:r>
                <a14:m>
                  <m:oMath xmlns:m="http://schemas.openxmlformats.org/officeDocument/2006/math">
                    <m:sSub>
                      <m:sSubPr>
                        <m:ctrlPr>
                          <a:rPr lang="en-US" altLang="en-US" sz="2400">
                            <a:effectLst/>
                            <a:latin typeface="Cambria Math" panose="02040503050406030204" pitchFamily="18" charset="0"/>
                          </a:rPr>
                        </m:ctrlPr>
                      </m:sSubPr>
                      <m:e>
                        <m:r>
                          <a:rPr lang="en-US" altLang="en-US" sz="2400">
                            <a:effectLst/>
                            <a:latin typeface="Cambria Math" panose="02040503050406030204" pitchFamily="18" charset="0"/>
                          </a:rPr>
                          <m:t>𝒙</m:t>
                        </m:r>
                      </m:e>
                      <m:sub>
                        <m:r>
                          <a:rPr lang="en-US" altLang="en-US" sz="2400">
                            <a:effectLst/>
                            <a:latin typeface="Cambria Math" panose="02040503050406030204" pitchFamily="18" charset="0"/>
                          </a:rPr>
                          <m:t>𝒌</m:t>
                        </m:r>
                      </m:sub>
                    </m:sSub>
                  </m:oMath>
                </a14:m>
                <a:r>
                  <a:rPr lang="en-US" altLang="en-US" sz="2400" dirty="0">
                    <a:effectLst/>
                  </a:rPr>
                  <a:t> depend on what the state </a:t>
                </a:r>
                <a14:m>
                  <m:oMath xmlns:m="http://schemas.openxmlformats.org/officeDocument/2006/math">
                    <m:sSub>
                      <m:sSubPr>
                        <m:ctrlPr>
                          <a:rPr lang="en-US" altLang="en-US" sz="2400">
                            <a:effectLst/>
                            <a:latin typeface="Cambria Math" panose="02040503050406030204" pitchFamily="18" charset="0"/>
                          </a:rPr>
                        </m:ctrlPr>
                      </m:sSubPr>
                      <m:e>
                        <m:r>
                          <a:rPr lang="en-US" altLang="en-US" sz="2400">
                            <a:effectLst/>
                            <a:latin typeface="Cambria Math" panose="02040503050406030204" pitchFamily="18" charset="0"/>
                          </a:rPr>
                          <m:t>𝒔</m:t>
                        </m:r>
                      </m:e>
                      <m:sub>
                        <m:r>
                          <a:rPr lang="en-US" altLang="en-US" sz="2400">
                            <a:effectLst/>
                            <a:latin typeface="Cambria Math" panose="02040503050406030204" pitchFamily="18" charset="0"/>
                          </a:rPr>
                          <m:t>𝒌</m:t>
                        </m:r>
                      </m:sub>
                    </m:sSub>
                  </m:oMath>
                </a14:m>
                <a:r>
                  <a:rPr lang="en-US" altLang="en-US" sz="2400" dirty="0">
                    <a:effectLst/>
                  </a:rPr>
                  <a:t> is.</a:t>
                </a:r>
              </a:p>
              <a:p>
                <a:pPr lvl="1"/>
                <a14:m>
                  <m:oMath xmlns:m="http://schemas.openxmlformats.org/officeDocument/2006/math">
                    <m:sSub>
                      <m:sSubPr>
                        <m:ctrlPr>
                          <a:rPr lang="en-US" altLang="en-US" sz="2400" b="0" i="1">
                            <a:solidFill>
                              <a:srgbClr val="FF0000"/>
                            </a:solidFill>
                            <a:effectLst/>
                            <a:latin typeface="Cambria Math" panose="02040503050406030204" pitchFamily="18" charset="0"/>
                            <a:ea typeface="Cambria Math" panose="02040503050406030204" pitchFamily="18" charset="0"/>
                          </a:rPr>
                        </m:ctrlPr>
                      </m:sSubPr>
                      <m:e>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d>
                      <m:dPr>
                        <m:ctrlPr>
                          <a:rPr lang="en-US" altLang="en-US" sz="2400" b="0" i="1" smtClean="0">
                            <a:solidFill>
                              <a:srgbClr val="FF0000"/>
                            </a:solidFill>
                            <a:effectLst/>
                            <a:latin typeface="Cambria Math" panose="02040503050406030204" pitchFamily="18" charset="0"/>
                            <a:ea typeface="Cambria Math" panose="02040503050406030204" pitchFamily="18" charset="0"/>
                          </a:rPr>
                        </m:ctrlPr>
                      </m:dPr>
                      <m:e>
                        <m:r>
                          <a:rPr lang="en-US" altLang="en-US" sz="2400" b="0" i="1" smtClean="0">
                            <a:solidFill>
                              <a:srgbClr val="FF0000"/>
                            </a:solidFill>
                            <a:effectLst/>
                            <a:latin typeface="Cambria Math" panose="02040503050406030204" pitchFamily="18" charset="0"/>
                            <a:ea typeface="Cambria Math" panose="02040503050406030204" pitchFamily="18" charset="0"/>
                          </a:rPr>
                          <m:t>1</m:t>
                        </m:r>
                      </m:e>
                    </m:d>
                    <m:r>
                      <a:rPr lang="en-US" altLang="en-US" sz="2400" b="0" i="1">
                        <a:solidFill>
                          <a:srgbClr val="FF0000"/>
                        </a:solidFill>
                        <a:effectLst/>
                        <a:latin typeface="Cambria Math" panose="02040503050406030204" pitchFamily="18" charset="0"/>
                        <a:ea typeface="Cambria Math" panose="02040503050406030204" pitchFamily="18" charset="0"/>
                      </a:rPr>
                      <m:t>=</m:t>
                    </m:r>
                    <m:r>
                      <a:rPr lang="en-US" altLang="en-US" sz="2400" b="0" i="1" smtClean="0">
                        <a:solidFill>
                          <a:srgbClr val="FF0000"/>
                        </a:solidFill>
                        <a:effectLst/>
                        <a:latin typeface="Cambria Math" panose="02040503050406030204" pitchFamily="18" charset="0"/>
                        <a:ea typeface="Cambria Math" panose="02040503050406030204" pitchFamily="18" charset="0"/>
                      </a:rPr>
                      <m:t>0</m:t>
                    </m:r>
                    <m:sSub>
                      <m:sSubPr>
                        <m:ctrlPr>
                          <a:rPr lang="en-US" altLang="en-US" sz="2400" b="0" i="1" smtClean="0">
                            <a:solidFill>
                              <a:srgbClr val="FF0000"/>
                            </a:solidFill>
                            <a:effectLst/>
                            <a:latin typeface="Cambria Math" panose="02040503050406030204" pitchFamily="18" charset="0"/>
                            <a:ea typeface="Cambria Math" panose="02040503050406030204" pitchFamily="18" charset="0"/>
                          </a:rPr>
                        </m:ctrlPr>
                      </m:sSubPr>
                      <m:e>
                        <m:r>
                          <a:rPr lang="en-US" altLang="en-US" sz="2400" b="0" i="1" smtClean="0">
                            <a:solidFill>
                              <a:srgbClr val="FF0000"/>
                            </a:solidFill>
                            <a:effectLst/>
                            <a:latin typeface="Cambria Math" panose="02040503050406030204" pitchFamily="18" charset="0"/>
                            <a:ea typeface="Cambria Math" panose="02040503050406030204" pitchFamily="18" charset="0"/>
                          </a:rPr>
                          <m:t>,</m:t>
                        </m:r>
                        <m:r>
                          <a:rPr lang="en-US" altLang="en-US" sz="2400" b="0" i="1">
                            <a:solidFill>
                              <a:srgbClr val="FF0000"/>
                            </a:solidFill>
                            <a:effectLst/>
                            <a:latin typeface="Cambria Math" panose="02040503050406030204" pitchFamily="18" charset="0"/>
                            <a:ea typeface="Cambria Math" panose="02040503050406030204" pitchFamily="18" charset="0"/>
                          </a:rPr>
                          <m:t> </m:t>
                        </m:r>
                        <m:r>
                          <a:rPr lang="en-US" altLang="en-US" sz="2400" b="0" i="1" smtClean="0">
                            <a:solidFill>
                              <a:srgbClr val="FF0000"/>
                            </a:solidFill>
                            <a:effectLst/>
                            <a:latin typeface="Cambria Math" panose="02040503050406030204" pitchFamily="18" charset="0"/>
                            <a:ea typeface="Cambria Math" panose="02040503050406030204" pitchFamily="18" charset="0"/>
                          </a:rPr>
                          <m:t> </m:t>
                        </m:r>
                        <m:r>
                          <a:rPr lang="en-US" altLang="en-US" sz="2400" b="0" i="1">
                            <a:solidFill>
                              <a:srgbClr val="FF0000"/>
                            </a:solidFill>
                            <a:effectLst/>
                            <a:latin typeface="Cambria Math" panose="02040503050406030204" pitchFamily="18" charset="0"/>
                            <a:ea typeface="Cambria Math" panose="02040503050406030204" pitchFamily="18" charset="0"/>
                          </a:rPr>
                          <m:t>𝑥</m:t>
                        </m:r>
                      </m:e>
                      <m:sub>
                        <m:r>
                          <a:rPr lang="en-US" altLang="en-US" sz="2400" b="0" i="1">
                            <a:solidFill>
                              <a:srgbClr val="FF0000"/>
                            </a:solidFill>
                            <a:effectLst/>
                            <a:latin typeface="Cambria Math" panose="02040503050406030204" pitchFamily="18" charset="0"/>
                            <a:ea typeface="Cambria Math" panose="02040503050406030204" pitchFamily="18" charset="0"/>
                          </a:rPr>
                          <m:t>2</m:t>
                        </m:r>
                      </m:sub>
                    </m:sSub>
                    <m:d>
                      <m:dPr>
                        <m:ctrlPr>
                          <a:rPr lang="en-US" altLang="en-US" sz="2400" b="0" i="1" smtClean="0">
                            <a:solidFill>
                              <a:srgbClr val="FF0000"/>
                            </a:solidFill>
                            <a:effectLst/>
                            <a:latin typeface="Cambria Math" panose="02040503050406030204" pitchFamily="18" charset="0"/>
                            <a:ea typeface="Cambria Math" panose="02040503050406030204" pitchFamily="18" charset="0"/>
                          </a:rPr>
                        </m:ctrlPr>
                      </m:dPr>
                      <m:e>
                        <m:r>
                          <a:rPr lang="en-US" altLang="en-US" sz="2400" b="0" i="1" smtClean="0">
                            <a:solidFill>
                              <a:srgbClr val="FF0000"/>
                            </a:solidFill>
                            <a:effectLst/>
                            <a:latin typeface="Cambria Math" panose="02040503050406030204" pitchFamily="18" charset="0"/>
                            <a:ea typeface="Cambria Math" panose="02040503050406030204" pitchFamily="18" charset="0"/>
                          </a:rPr>
                          <m:t>0</m:t>
                        </m:r>
                      </m:e>
                    </m:d>
                    <m:r>
                      <a:rPr lang="en-US" altLang="en-US" sz="2400" b="0" i="1" smtClean="0">
                        <a:solidFill>
                          <a:srgbClr val="FF0000"/>
                        </a:solidFill>
                        <a:effectLst/>
                        <a:latin typeface="Cambria Math" panose="02040503050406030204" pitchFamily="18" charset="0"/>
                        <a:ea typeface="Cambria Math" panose="02040503050406030204" pitchFamily="18" charset="0"/>
                      </a:rPr>
                      <m:t>=1</m:t>
                    </m:r>
                  </m:oMath>
                </a14:m>
                <a:r>
                  <a:rPr lang="en-US" altLang="en-US" sz="2400" dirty="0">
                    <a:effectLst/>
                  </a:rPr>
                  <a:t>.</a:t>
                </a:r>
              </a:p>
              <a:p>
                <a:pPr lvl="1"/>
                <a:endParaRPr lang="en-US" altLang="en-US" sz="2400" dirty="0"/>
              </a:p>
              <a:p>
                <a:pPr lvl="1"/>
                <a:endParaRPr lang="en-US" altLang="en-US" sz="2400" dirty="0"/>
              </a:p>
              <a:p>
                <a:pPr lvl="1"/>
                <a:endParaRPr lang="en-US" altLang="en-US" sz="2600" dirty="0"/>
              </a:p>
              <a:p>
                <a:pPr lvl="1"/>
                <a:endParaRPr lang="en-US" altLang="en-US" sz="2600" dirty="0">
                  <a:solidFill>
                    <a:srgbClr val="FF0000"/>
                  </a:solidFill>
                </a:endParaRPr>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8730" y="1170431"/>
                <a:ext cx="9143999" cy="4825825"/>
              </a:xfrm>
              <a:blipFill rotWithShape="0">
                <a:blip r:embed="rId2"/>
                <a:stretch>
                  <a:fillRect l="-1133" t="-1389"/>
                </a:stretch>
              </a:blipFill>
            </p:spPr>
            <p:txBody>
              <a:bodyPr/>
              <a:lstStyle/>
              <a:p>
                <a:r>
                  <a:rPr lang="en-SG">
                    <a:noFill/>
                  </a:rPr>
                  <a:t> </a:t>
                </a:r>
              </a:p>
            </p:txBody>
          </p:sp>
        </mc:Fallback>
      </mc:AlternateContent>
    </p:spTree>
    <p:extLst>
      <p:ext uri="{BB962C8B-B14F-4D97-AF65-F5344CB8AC3E}">
        <p14:creationId xmlns:p14="http://schemas.microsoft.com/office/powerpoint/2010/main" val="35109645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Secretary Problem</a:t>
            </a:r>
            <a:endParaRPr lang="en-GB" altLang="en-US" sz="2800" dirty="0"/>
          </a:p>
        </p:txBody>
      </p:sp>
      <p:sp>
        <p:nvSpPr>
          <p:cNvPr id="47107" name="Content Placeholder 2"/>
          <p:cNvSpPr>
            <a:spLocks noGrp="1"/>
          </p:cNvSpPr>
          <p:nvPr>
            <p:ph sz="quarter" idx="1"/>
          </p:nvPr>
        </p:nvSpPr>
        <p:spPr>
          <a:xfrm>
            <a:off x="229185" y="1013753"/>
            <a:ext cx="8229600" cy="4937125"/>
          </a:xfrm>
        </p:spPr>
        <p:txBody>
          <a:bodyPr/>
          <a:lstStyle/>
          <a:p>
            <a:r>
              <a:rPr lang="en-US" altLang="en-US" sz="2600" dirty="0">
                <a:effectLst/>
              </a:rPr>
              <a:t>There is a single secretary position to fill</a:t>
            </a:r>
          </a:p>
          <a:p>
            <a:r>
              <a:rPr lang="en-US" altLang="en-US" sz="2600" dirty="0">
                <a:effectLst/>
              </a:rPr>
              <a:t>There are n applicants for the position</a:t>
            </a:r>
          </a:p>
          <a:p>
            <a:r>
              <a:rPr lang="en-US" altLang="en-US" sz="2600" dirty="0">
                <a:effectLst/>
              </a:rPr>
              <a:t>The applicants, if seen altogether, can be ranked from best to worst.</a:t>
            </a:r>
          </a:p>
          <a:p>
            <a:r>
              <a:rPr lang="en-US" altLang="en-US" sz="2600" dirty="0">
                <a:effectLst/>
              </a:rPr>
              <a:t>Applicants are interviewed sequentially in random order with each order being equally likely.</a:t>
            </a:r>
          </a:p>
          <a:p>
            <a:r>
              <a:rPr lang="en-US" altLang="en-US" sz="2600" dirty="0">
                <a:effectLst/>
              </a:rPr>
              <a:t>After an interview, an offer or rejection must be made, based on the applicants interviewed so far.</a:t>
            </a:r>
          </a:p>
          <a:p>
            <a:r>
              <a:rPr lang="en-US" altLang="en-US" sz="2600" dirty="0">
                <a:effectLst/>
              </a:rPr>
              <a:t>Objective is to choose the best candidate:</a:t>
            </a:r>
          </a:p>
          <a:p>
            <a:pPr lvl="1"/>
            <a:r>
              <a:rPr lang="en-US" altLang="en-US" sz="2000" dirty="0">
                <a:effectLst/>
              </a:rPr>
              <a:t>Maximize the probability that the chosen candidate is the best</a:t>
            </a:r>
          </a:p>
        </p:txBody>
      </p:sp>
    </p:spTree>
    <p:extLst>
      <p:ext uri="{BB962C8B-B14F-4D97-AF65-F5344CB8AC3E}">
        <p14:creationId xmlns:p14="http://schemas.microsoft.com/office/powerpoint/2010/main" val="24180910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itle 1"/>
          <p:cNvSpPr>
            <a:spLocks noGrp="1"/>
          </p:cNvSpPr>
          <p:nvPr>
            <p:ph type="title"/>
          </p:nvPr>
        </p:nvSpPr>
        <p:spPr/>
        <p:txBody>
          <a:bodyPr/>
          <a:lstStyle/>
          <a:p>
            <a:r>
              <a:rPr lang="en-US" altLang="en-US" dirty="0"/>
              <a:t>Naïve Method: Open-loop Solution</a:t>
            </a:r>
            <a:endParaRPr lang="en-GB" altLang="en-US" dirty="0"/>
          </a:p>
        </p:txBody>
      </p:sp>
      <p:sp>
        <p:nvSpPr>
          <p:cNvPr id="8" name="TextBox 7"/>
          <p:cNvSpPr txBox="1">
            <a:spLocks noChangeArrowheads="1"/>
          </p:cNvSpPr>
          <p:nvPr/>
        </p:nvSpPr>
        <p:spPr bwMode="auto">
          <a:xfrm>
            <a:off x="882086" y="1579487"/>
            <a:ext cx="737030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Before the interviews begin, choose the k-</a:t>
            </a:r>
            <a:r>
              <a:rPr lang="en-US" altLang="en-US" sz="2400" b="1" dirty="0" err="1"/>
              <a:t>th</a:t>
            </a:r>
            <a:r>
              <a:rPr lang="en-US" altLang="en-US" sz="2400" b="1" dirty="0"/>
              <a:t> applicant, k = 1,…,n such that the probability of selecting the best candidate is maximized.</a:t>
            </a:r>
            <a:endParaRPr lang="en-GB" altLang="en-US" sz="2400" b="1" dirty="0"/>
          </a:p>
        </p:txBody>
      </p:sp>
      <p:sp>
        <p:nvSpPr>
          <p:cNvPr id="6" name="TextBox 5"/>
          <p:cNvSpPr txBox="1">
            <a:spLocks noChangeArrowheads="1"/>
          </p:cNvSpPr>
          <p:nvPr/>
        </p:nvSpPr>
        <p:spPr bwMode="auto">
          <a:xfrm>
            <a:off x="882085" y="3512561"/>
            <a:ext cx="73703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What is the best k and what is the optimal probability ?</a:t>
            </a:r>
            <a:endParaRPr lang="en-GB" altLang="en-US" sz="2400" b="1" dirty="0"/>
          </a:p>
        </p:txBody>
      </p:sp>
      <p:sp>
        <p:nvSpPr>
          <p:cNvPr id="9" name="TextBox 8"/>
          <p:cNvSpPr txBox="1">
            <a:spLocks noChangeArrowheads="1"/>
          </p:cNvSpPr>
          <p:nvPr/>
        </p:nvSpPr>
        <p:spPr bwMode="auto">
          <a:xfrm>
            <a:off x="1241708" y="4645633"/>
            <a:ext cx="6651055" cy="9541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rPr>
              <a:t>Information flow is not utilized in making decisions.</a:t>
            </a:r>
            <a:endParaRPr lang="en-GB" altLang="en-US" sz="2800" dirty="0">
              <a:solidFill>
                <a:srgbClr val="FF0000"/>
              </a:solidFill>
            </a:endParaRPr>
          </a:p>
        </p:txBody>
      </p:sp>
    </p:spTree>
    <p:extLst>
      <p:ext uri="{BB962C8B-B14F-4D97-AF65-F5344CB8AC3E}">
        <p14:creationId xmlns:p14="http://schemas.microsoft.com/office/powerpoint/2010/main" val="3321422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Stochastic DP</a:t>
            </a:r>
            <a:endParaRPr lang="en-GB" altLang="en-US" sz="2800" dirty="0"/>
          </a:p>
        </p:txBody>
      </p:sp>
      <p:sp>
        <p:nvSpPr>
          <p:cNvPr id="47107" name="Content Placeholder 2"/>
          <p:cNvSpPr>
            <a:spLocks noGrp="1"/>
          </p:cNvSpPr>
          <p:nvPr>
            <p:ph sz="quarter" idx="1"/>
          </p:nvPr>
        </p:nvSpPr>
        <p:spPr>
          <a:xfrm>
            <a:off x="0" y="1711411"/>
            <a:ext cx="9143999" cy="2273450"/>
          </a:xfrm>
        </p:spPr>
        <p:txBody>
          <a:bodyPr/>
          <a:lstStyle/>
          <a:p>
            <a:r>
              <a:rPr lang="en-US" altLang="en-US" dirty="0">
                <a:effectLst/>
              </a:rPr>
              <a:t>State: </a:t>
            </a:r>
          </a:p>
          <a:p>
            <a:pPr lvl="1"/>
            <a:r>
              <a:rPr lang="en-US" altLang="en-US" dirty="0">
                <a:effectLst/>
              </a:rPr>
              <a:t>It is sufficient to know whether or not the current applicant is the best among all those interviewed before. Suppose </a:t>
            </a:r>
            <a:r>
              <a:rPr lang="en-US" altLang="en-US" dirty="0">
                <a:solidFill>
                  <a:srgbClr val="FF0000"/>
                </a:solidFill>
                <a:effectLst/>
              </a:rPr>
              <a:t>0</a:t>
            </a:r>
            <a:r>
              <a:rPr lang="en-US" altLang="en-US" dirty="0">
                <a:effectLst/>
              </a:rPr>
              <a:t> means it is not the best, </a:t>
            </a:r>
            <a:r>
              <a:rPr lang="en-US" altLang="en-US" dirty="0">
                <a:solidFill>
                  <a:srgbClr val="FF0000"/>
                </a:solidFill>
                <a:effectLst/>
              </a:rPr>
              <a:t>1</a:t>
            </a:r>
            <a:r>
              <a:rPr lang="en-US" altLang="en-US" dirty="0">
                <a:effectLst/>
              </a:rPr>
              <a:t> means it is the best.</a:t>
            </a:r>
          </a:p>
          <a:p>
            <a:endParaRPr lang="en-US" altLang="en-US" dirty="0"/>
          </a:p>
          <a:p>
            <a:pPr marL="0" indent="0">
              <a:buNone/>
            </a:pPr>
            <a:endParaRPr lang="en-US" altLang="en-US" dirty="0"/>
          </a:p>
        </p:txBody>
      </p:sp>
    </p:spTree>
    <p:extLst>
      <p:ext uri="{BB962C8B-B14F-4D97-AF65-F5344CB8AC3E}">
        <p14:creationId xmlns:p14="http://schemas.microsoft.com/office/powerpoint/2010/main" val="216337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Stage 0 (the n-</a:t>
            </a:r>
            <a:r>
              <a:rPr lang="en-US" altLang="en-US" dirty="0" err="1"/>
              <a:t>th</a:t>
            </a:r>
            <a:r>
              <a:rPr lang="en-US" altLang="en-US" dirty="0"/>
              <a:t> candidate)</a:t>
            </a:r>
            <a:endParaRPr lang="en-GB" altLang="en-US" dirty="0"/>
          </a:p>
        </p:txBody>
      </p:sp>
      <p:sp>
        <p:nvSpPr>
          <p:cNvPr id="32817" name="TextBox 65"/>
          <p:cNvSpPr txBox="1">
            <a:spLocks noChangeArrowheads="1"/>
          </p:cNvSpPr>
          <p:nvPr/>
        </p:nvSpPr>
        <p:spPr bwMode="auto">
          <a:xfrm>
            <a:off x="6997158" y="1438465"/>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0</a:t>
            </a:r>
            <a:endParaRPr lang="en-GB" altLang="en-US" dirty="0"/>
          </a:p>
        </p:txBody>
      </p:sp>
      <mc:AlternateContent xmlns:mc="http://schemas.openxmlformats.org/markup-compatibility/2006" xmlns:a14="http://schemas.microsoft.com/office/drawing/2010/main">
        <mc:Choice Requires="a14">
          <p:sp>
            <p:nvSpPr>
              <p:cNvPr id="20" name="TextBox 19"/>
              <p:cNvSpPr txBox="1">
                <a:spLocks noChangeArrowheads="1"/>
              </p:cNvSpPr>
              <p:nvPr/>
            </p:nvSpPr>
            <p:spPr bwMode="auto">
              <a:xfrm>
                <a:off x="6922124" y="2234455"/>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20" name="TextBox 19"/>
              <p:cNvSpPr txBox="1">
                <a:spLocks noRot="1" noChangeAspect="1" noMove="1" noResize="1" noEditPoints="1" noAdjustHandles="1" noChangeArrowheads="1" noChangeShapeType="1" noTextEdit="1"/>
              </p:cNvSpPr>
              <p:nvPr/>
            </p:nvSpPr>
            <p:spPr bwMode="auto">
              <a:xfrm>
                <a:off x="6922124" y="2234455"/>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a:spLocks noChangeArrowheads="1"/>
              </p:cNvSpPr>
              <p:nvPr/>
            </p:nvSpPr>
            <p:spPr bwMode="auto">
              <a:xfrm>
                <a:off x="6870634" y="4745625"/>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b="1" i="1" dirty="0">
                  <a:solidFill>
                    <a:srgbClr val="FF0000"/>
                  </a:solidFill>
                  <a:effectLst/>
                </a:endParaRPr>
              </a:p>
            </p:txBody>
          </p:sp>
        </mc:Choice>
        <mc:Fallback xmlns="">
          <p:sp>
            <p:nvSpPr>
              <p:cNvPr id="21" name="TextBox 20"/>
              <p:cNvSpPr txBox="1">
                <a:spLocks noRot="1" noChangeAspect="1" noMove="1" noResize="1" noEditPoints="1" noAdjustHandles="1" noChangeArrowheads="1" noChangeShapeType="1" noTextEdit="1"/>
              </p:cNvSpPr>
              <p:nvPr/>
            </p:nvSpPr>
            <p:spPr bwMode="auto">
              <a:xfrm>
                <a:off x="6870634" y="4745625"/>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22" name="Oval 21"/>
          <p:cNvSpPr/>
          <p:nvPr/>
        </p:nvSpPr>
        <p:spPr>
          <a:xfrm>
            <a:off x="7390064" y="2910652"/>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0</a:t>
            </a:r>
            <a:endParaRPr lang="en-GB" dirty="0">
              <a:solidFill>
                <a:srgbClr val="FFFFFF"/>
              </a:solidFill>
            </a:endParaRPr>
          </a:p>
        </p:txBody>
      </p:sp>
      <p:sp>
        <p:nvSpPr>
          <p:cNvPr id="23" name="Oval 22"/>
          <p:cNvSpPr/>
          <p:nvPr/>
        </p:nvSpPr>
        <p:spPr>
          <a:xfrm>
            <a:off x="7390064" y="4334357"/>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1</a:t>
            </a:r>
            <a:endParaRPr lang="en-GB" dirty="0">
              <a:solidFill>
                <a:srgbClr val="FFFFFF"/>
              </a:solidFill>
            </a:endParaRPr>
          </a:p>
        </p:txBody>
      </p:sp>
    </p:spTree>
    <p:extLst>
      <p:ext uri="{BB962C8B-B14F-4D97-AF65-F5344CB8AC3E}">
        <p14:creationId xmlns:p14="http://schemas.microsoft.com/office/powerpoint/2010/main" val="90531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altLang="en-US" dirty="0"/>
              <a:t>Stage 1 (the n-1-th candidate)</a:t>
            </a:r>
            <a:endParaRPr lang="en-GB" altLang="en-US" dirty="0"/>
          </a:p>
        </p:txBody>
      </p:sp>
      <p:sp>
        <p:nvSpPr>
          <p:cNvPr id="32817" name="TextBox 65"/>
          <p:cNvSpPr txBox="1">
            <a:spLocks noChangeArrowheads="1"/>
          </p:cNvSpPr>
          <p:nvPr/>
        </p:nvSpPr>
        <p:spPr bwMode="auto">
          <a:xfrm>
            <a:off x="7079496" y="1473991"/>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0</a:t>
            </a:r>
            <a:endParaRPr lang="en-GB" altLang="en-US" dirty="0"/>
          </a:p>
        </p:txBody>
      </p:sp>
      <mc:AlternateContent xmlns:mc="http://schemas.openxmlformats.org/markup-compatibility/2006" xmlns:a14="http://schemas.microsoft.com/office/drawing/2010/main">
        <mc:Choice Requires="a14">
          <p:sp>
            <p:nvSpPr>
              <p:cNvPr id="20" name="TextBox 19"/>
              <p:cNvSpPr txBox="1">
                <a:spLocks noChangeArrowheads="1"/>
              </p:cNvSpPr>
              <p:nvPr/>
            </p:nvSpPr>
            <p:spPr bwMode="auto">
              <a:xfrm>
                <a:off x="6918704" y="2164489"/>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oMath>
                </a14:m>
                <a:endParaRPr lang="en-GB" altLang="en-US" b="1" i="1" dirty="0">
                  <a:solidFill>
                    <a:srgbClr val="FF0000"/>
                  </a:solidFill>
                  <a:effectLst/>
                </a:endParaRPr>
              </a:p>
            </p:txBody>
          </p:sp>
        </mc:Choice>
        <mc:Fallback xmlns="">
          <p:sp>
            <p:nvSpPr>
              <p:cNvPr id="20" name="TextBox 19"/>
              <p:cNvSpPr txBox="1">
                <a:spLocks noRot="1" noChangeAspect="1" noMove="1" noResize="1" noEditPoints="1" noAdjustHandles="1" noChangeArrowheads="1" noChangeShapeType="1" noTextEdit="1"/>
              </p:cNvSpPr>
              <p:nvPr/>
            </p:nvSpPr>
            <p:spPr bwMode="auto">
              <a:xfrm>
                <a:off x="6918704" y="2164489"/>
                <a:ext cx="1775036" cy="523220"/>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 name="TextBox 20"/>
              <p:cNvSpPr txBox="1">
                <a:spLocks noChangeArrowheads="1"/>
              </p:cNvSpPr>
              <p:nvPr/>
            </p:nvSpPr>
            <p:spPr bwMode="auto">
              <a:xfrm>
                <a:off x="6867214" y="4675659"/>
                <a:ext cx="177503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b="1" i="1" dirty="0">
                  <a:solidFill>
                    <a:srgbClr val="FF0000"/>
                  </a:solidFill>
                  <a:effectLst/>
                </a:endParaRPr>
              </a:p>
            </p:txBody>
          </p:sp>
        </mc:Choice>
        <mc:Fallback xmlns="">
          <p:sp>
            <p:nvSpPr>
              <p:cNvPr id="21" name="TextBox 20"/>
              <p:cNvSpPr txBox="1">
                <a:spLocks noRot="1" noChangeAspect="1" noMove="1" noResize="1" noEditPoints="1" noAdjustHandles="1" noChangeArrowheads="1" noChangeShapeType="1" noTextEdit="1"/>
              </p:cNvSpPr>
              <p:nvPr/>
            </p:nvSpPr>
            <p:spPr bwMode="auto">
              <a:xfrm>
                <a:off x="6867214" y="4675659"/>
                <a:ext cx="1775036"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22" name="Oval 21"/>
          <p:cNvSpPr/>
          <p:nvPr/>
        </p:nvSpPr>
        <p:spPr>
          <a:xfrm>
            <a:off x="7386644" y="2840686"/>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0</a:t>
            </a:r>
            <a:endParaRPr lang="en-GB" dirty="0">
              <a:solidFill>
                <a:srgbClr val="FFFFFF"/>
              </a:solidFill>
            </a:endParaRPr>
          </a:p>
        </p:txBody>
      </p:sp>
      <p:sp>
        <p:nvSpPr>
          <p:cNvPr id="23" name="Oval 22"/>
          <p:cNvSpPr/>
          <p:nvPr/>
        </p:nvSpPr>
        <p:spPr>
          <a:xfrm>
            <a:off x="7386644" y="4264391"/>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1</a:t>
            </a:r>
            <a:endParaRPr lang="en-GB" dirty="0">
              <a:solidFill>
                <a:srgbClr val="FFFFFF"/>
              </a:solidFill>
            </a:endParaRPr>
          </a:p>
        </p:txBody>
      </p:sp>
      <p:cxnSp>
        <p:nvCxnSpPr>
          <p:cNvPr id="8" name="Straight Connector 7"/>
          <p:cNvCxnSpPr/>
          <p:nvPr/>
        </p:nvCxnSpPr>
        <p:spPr>
          <a:xfrm rot="5400000">
            <a:off x="4228017" y="3716527"/>
            <a:ext cx="5002212" cy="1587"/>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 name="TextBox 65"/>
          <p:cNvSpPr txBox="1">
            <a:spLocks noChangeArrowheads="1"/>
          </p:cNvSpPr>
          <p:nvPr/>
        </p:nvSpPr>
        <p:spPr bwMode="auto">
          <a:xfrm>
            <a:off x="3992920" y="1473990"/>
            <a:ext cx="13573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Stage 1</a:t>
            </a:r>
            <a:endParaRPr lang="en-GB" altLang="en-US" dirty="0"/>
          </a:p>
        </p:txBody>
      </p:sp>
      <mc:AlternateContent xmlns:mc="http://schemas.openxmlformats.org/markup-compatibility/2006" xmlns:a14="http://schemas.microsoft.com/office/drawing/2010/main">
        <mc:Choice Requires="a14">
          <p:sp>
            <p:nvSpPr>
              <p:cNvPr id="10" name="TextBox 9"/>
              <p:cNvSpPr txBox="1">
                <a:spLocks noChangeArrowheads="1"/>
              </p:cNvSpPr>
              <p:nvPr/>
            </p:nvSpPr>
            <p:spPr bwMode="auto">
              <a:xfrm>
                <a:off x="-498045" y="2080531"/>
                <a:ext cx="6121576"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𝒎𝒂𝒙</m:t>
                    </m:r>
                    <m:r>
                      <a:rPr lang="en-US" altLang="en-US" b="1" i="1" smtClean="0">
                        <a:solidFill>
                          <a:srgbClr val="FF0000"/>
                        </a:solidFill>
                        <a:effectLst/>
                        <a:latin typeface="Cambria Math" panose="02040503050406030204" pitchFamily="18" charset="0"/>
                        <a:ea typeface="Cambria Math" panose="02040503050406030204" pitchFamily="18" charset="0"/>
                      </a:rPr>
                      <m:t> {</m:t>
                    </m:r>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smtClean="0">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smtClean="0">
                            <a:solidFill>
                              <a:srgbClr val="FF0000"/>
                            </a:solidFill>
                            <a:effectLst/>
                            <a:latin typeface="Cambria Math" panose="02040503050406030204" pitchFamily="18" charset="0"/>
                            <a:ea typeface="Cambria Math" panose="02040503050406030204" pitchFamily="18" charset="0"/>
                          </a:rPr>
                          <m:t>𝒏</m:t>
                        </m:r>
                      </m:den>
                    </m:f>
                    <m:r>
                      <a:rPr lang="en-US" altLang="en-US" b="1" i="1">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 </m:t>
                        </m:r>
                        <m:r>
                          <a:rPr lang="en-US" altLang="en-US" b="1" i="1">
                            <a:solidFill>
                              <a:srgbClr val="FF0000"/>
                            </a:solidFill>
                            <a:effectLst/>
                            <a:latin typeface="Cambria Math" panose="02040503050406030204" pitchFamily="18" charset="0"/>
                            <a:ea typeface="Cambria Math" panose="02040503050406030204" pitchFamily="18" charset="0"/>
                          </a:rPr>
                          <m:t>𝟏</m:t>
                        </m:r>
                      </m:e>
                    </m:d>
                    <m:r>
                      <a:rPr lang="en-US" altLang="en-US" b="1" i="1">
                        <a:solidFill>
                          <a:srgbClr val="FF0000"/>
                        </a:solidFill>
                        <a:effectLst/>
                        <a:latin typeface="Cambria Math" panose="02040503050406030204" pitchFamily="18" charset="0"/>
                        <a:ea typeface="Cambria Math" panose="02040503050406030204" pitchFamily="18" charset="0"/>
                      </a:rPr>
                      <m:t>+ </m:t>
                    </m:r>
                    <m:f>
                      <m:fPr>
                        <m:ctrlPr>
                          <a:rPr lang="en-US" altLang="en-US" b="1" i="1" smtClean="0">
                            <a:solidFill>
                              <a:srgbClr val="FF0000"/>
                            </a:solidFill>
                            <a:effectLst/>
                            <a:latin typeface="Cambria Math" panose="02040503050406030204" pitchFamily="18" charset="0"/>
                            <a:ea typeface="Cambria Math" panose="02040503050406030204" pitchFamily="18" charset="0"/>
                          </a:rPr>
                        </m:ctrlPr>
                      </m:fPr>
                      <m:num>
                        <m:r>
                          <a:rPr lang="en-US" altLang="en-US" b="1" i="1" smtClean="0">
                            <a:solidFill>
                              <a:srgbClr val="FF0000"/>
                            </a:solidFill>
                            <a:effectLst/>
                            <a:latin typeface="Cambria Math" panose="02040503050406030204" pitchFamily="18" charset="0"/>
                            <a:ea typeface="Cambria Math" panose="02040503050406030204" pitchFamily="18" charset="0"/>
                          </a:rPr>
                          <m:t>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num>
                      <m:den>
                        <m:r>
                          <a:rPr lang="en-US" altLang="en-US" b="1" i="1" smtClean="0">
                            <a:solidFill>
                              <a:srgbClr val="FF0000"/>
                            </a:solidFill>
                            <a:effectLst/>
                            <a:latin typeface="Cambria Math" panose="02040503050406030204" pitchFamily="18" charset="0"/>
                            <a:ea typeface="Cambria Math" panose="02040503050406030204" pitchFamily="18" charset="0"/>
                          </a:rPr>
                          <m:t>𝒏</m:t>
                        </m:r>
                      </m:den>
                    </m:f>
                    <m:r>
                      <a:rPr lang="en-US" altLang="en-US" b="1" i="1">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e>
                    </m:d>
                    <m:r>
                      <a:rPr lang="en-US" altLang="en-US" b="1" i="1" smtClean="0">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𝒏</m:t>
                        </m:r>
                      </m:den>
                    </m:f>
                  </m:oMath>
                </a14:m>
                <a:endParaRPr lang="en-GB" altLang="en-US" b="1" i="1" dirty="0">
                  <a:solidFill>
                    <a:srgbClr val="FF0000"/>
                  </a:solidFill>
                  <a:effectLst>
                    <a:outerShdw blurRad="38100" dist="38100" dir="2700000" algn="tl">
                      <a:srgbClr val="000000">
                        <a:alpha val="43137"/>
                      </a:srgbClr>
                    </a:outerShdw>
                  </a:effectLst>
                </a:endParaRPr>
              </a:p>
            </p:txBody>
          </p:sp>
        </mc:Choice>
        <mc:Fallback xmlns="">
          <p:sp>
            <p:nvSpPr>
              <p:cNvPr id="10" name="TextBox 9"/>
              <p:cNvSpPr txBox="1">
                <a:spLocks noRot="1" noChangeAspect="1" noMove="1" noResize="1" noEditPoints="1" noAdjustHandles="1" noChangeArrowheads="1" noChangeShapeType="1" noTextEdit="1"/>
              </p:cNvSpPr>
              <p:nvPr/>
            </p:nvSpPr>
            <p:spPr bwMode="auto">
              <a:xfrm>
                <a:off x="-498045" y="2080531"/>
                <a:ext cx="6121576" cy="523220"/>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 name="TextBox 10"/>
              <p:cNvSpPr txBox="1">
                <a:spLocks noChangeArrowheads="1"/>
              </p:cNvSpPr>
              <p:nvPr/>
            </p:nvSpPr>
            <p:spPr bwMode="auto">
              <a:xfrm>
                <a:off x="0" y="5034899"/>
                <a:ext cx="5541489"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𝟏</m:t>
                        </m:r>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smtClean="0">
                            <a:solidFill>
                              <a:srgbClr val="FF0000"/>
                            </a:solidFill>
                            <a:effectLst/>
                            <a:latin typeface="Cambria Math" panose="02040503050406030204" pitchFamily="18" charset="0"/>
                            <a:ea typeface="Cambria Math" panose="02040503050406030204" pitchFamily="18" charset="0"/>
                          </a:rPr>
                          <m:t>𝟏</m:t>
                        </m:r>
                      </m:e>
                    </m:d>
                    <m:r>
                      <a:rPr lang="en-US" altLang="en-US" b="1" i="1" smtClean="0">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𝒎𝒂𝒙</m:t>
                    </m:r>
                    <m:r>
                      <a:rPr lang="en-US" altLang="en-US" b="1" i="1">
                        <a:solidFill>
                          <a:srgbClr val="FF0000"/>
                        </a:solidFill>
                        <a:effectLst/>
                        <a:latin typeface="Cambria Math" panose="02040503050406030204" pitchFamily="18" charset="0"/>
                        <a:ea typeface="Cambria Math" panose="02040503050406030204" pitchFamily="18" charset="0"/>
                      </a:rPr>
                      <m:t> {</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𝒏</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𝒏</m:t>
                        </m:r>
                      </m:den>
                    </m:f>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𝒏</m:t>
                        </m:r>
                      </m:den>
                    </m:f>
                    <m:r>
                      <a:rPr lang="en-US" altLang="en-US" b="1" i="1">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 </m:t>
                        </m:r>
                        <m:r>
                          <a:rPr lang="en-US" altLang="en-US" b="1" i="1">
                            <a:solidFill>
                              <a:srgbClr val="FF0000"/>
                            </a:solidFill>
                            <a:effectLst/>
                            <a:latin typeface="Cambria Math" panose="02040503050406030204" pitchFamily="18" charset="0"/>
                            <a:ea typeface="Cambria Math" panose="02040503050406030204" pitchFamily="18" charset="0"/>
                          </a:rPr>
                          <m:t>𝟏</m:t>
                        </m:r>
                      </m:e>
                    </m:d>
                    <m:r>
                      <a:rPr lang="en-US" altLang="en-US" b="1" i="1">
                        <a:solidFill>
                          <a:srgbClr val="FF0000"/>
                        </a:solidFill>
                        <a:effectLst/>
                        <a:latin typeface="Cambria Math" panose="02040503050406030204" pitchFamily="18" charset="0"/>
                        <a:ea typeface="Cambria Math" panose="02040503050406030204" pitchFamily="18" charset="0"/>
                      </a:rPr>
                      <m:t>+ </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𝒏</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𝒏</m:t>
                        </m:r>
                      </m:den>
                    </m:f>
                    <m:r>
                      <a:rPr lang="en-US" altLang="en-US" b="1" i="1">
                        <a:solidFill>
                          <a:srgbClr val="FF0000"/>
                        </a:solidFill>
                        <a:effectLst/>
                        <a:latin typeface="Cambria Math" panose="02040503050406030204" pitchFamily="18" charset="0"/>
                        <a:ea typeface="Cambria Math" panose="02040503050406030204" pitchFamily="18" charset="0"/>
                      </a:rPr>
                      <m:t>𝑽</m:t>
                    </m:r>
                    <m:d>
                      <m:dPr>
                        <m:ctrlPr>
                          <a:rPr lang="en-US" altLang="en-US" b="1" i="1" smtClean="0">
                            <a:solidFill>
                              <a:srgbClr val="FF0000"/>
                            </a:solidFill>
                            <a:effectLst/>
                            <a:latin typeface="Cambria Math" panose="02040503050406030204" pitchFamily="18" charset="0"/>
                            <a:ea typeface="Cambria Math" panose="02040503050406030204" pitchFamily="18" charset="0"/>
                          </a:rPr>
                        </m:ctrlPr>
                      </m:dPr>
                      <m:e>
                        <m:r>
                          <a:rPr lang="en-US" altLang="en-US" b="1" i="1" smtClean="0">
                            <a:solidFill>
                              <a:srgbClr val="FF0000"/>
                            </a:solidFill>
                            <a:effectLst/>
                            <a:latin typeface="Cambria Math" panose="02040503050406030204" pitchFamily="18" charset="0"/>
                            <a:ea typeface="Cambria Math" panose="02040503050406030204" pitchFamily="18" charset="0"/>
                          </a:rPr>
                          <m:t>𝟎</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𝟎</m:t>
                        </m:r>
                      </m:e>
                    </m:d>
                    <m:r>
                      <a:rPr lang="en-US" altLang="en-US" b="1" i="1">
                        <a:solidFill>
                          <a:srgbClr val="FF0000"/>
                        </a:solidFill>
                        <a:effectLst/>
                        <a:latin typeface="Cambria Math" panose="02040503050406030204" pitchFamily="18" charset="0"/>
                        <a:ea typeface="Cambria Math" panose="02040503050406030204" pitchFamily="18" charset="0"/>
                      </a:rPr>
                      <m:t>}=</m:t>
                    </m:r>
                    <m:f>
                      <m:fPr>
                        <m:ctrlPr>
                          <a:rPr lang="en-US" altLang="en-US" b="1" i="1">
                            <a:solidFill>
                              <a:srgbClr val="FF0000"/>
                            </a:solidFill>
                            <a:effectLst/>
                            <a:latin typeface="Cambria Math" panose="02040503050406030204" pitchFamily="18" charset="0"/>
                            <a:ea typeface="Cambria Math" panose="02040503050406030204" pitchFamily="18" charset="0"/>
                          </a:rPr>
                        </m:ctrlPr>
                      </m:fPr>
                      <m:num>
                        <m:r>
                          <a:rPr lang="en-US" altLang="en-US" b="1" i="1">
                            <a:solidFill>
                              <a:srgbClr val="FF0000"/>
                            </a:solidFill>
                            <a:effectLst/>
                            <a:latin typeface="Cambria Math" panose="02040503050406030204" pitchFamily="18" charset="0"/>
                            <a:ea typeface="Cambria Math" panose="02040503050406030204" pitchFamily="18" charset="0"/>
                          </a:rPr>
                          <m:t>𝒏</m:t>
                        </m:r>
                        <m:r>
                          <a:rPr lang="en-US" altLang="en-US" b="1" i="1">
                            <a:solidFill>
                              <a:srgbClr val="FF0000"/>
                            </a:solidFill>
                            <a:effectLst/>
                            <a:latin typeface="Cambria Math" panose="02040503050406030204" pitchFamily="18" charset="0"/>
                            <a:ea typeface="Cambria Math" panose="02040503050406030204" pitchFamily="18" charset="0"/>
                          </a:rPr>
                          <m:t>−</m:t>
                        </m:r>
                        <m:r>
                          <a:rPr lang="en-US" altLang="en-US" b="1" i="1">
                            <a:solidFill>
                              <a:srgbClr val="FF0000"/>
                            </a:solidFill>
                            <a:effectLst/>
                            <a:latin typeface="Cambria Math" panose="02040503050406030204" pitchFamily="18" charset="0"/>
                            <a:ea typeface="Cambria Math" panose="02040503050406030204" pitchFamily="18" charset="0"/>
                          </a:rPr>
                          <m:t>𝟏</m:t>
                        </m:r>
                      </m:num>
                      <m:den>
                        <m:r>
                          <a:rPr lang="en-US" altLang="en-US" b="1" i="1">
                            <a:solidFill>
                              <a:srgbClr val="FF0000"/>
                            </a:solidFill>
                            <a:effectLst/>
                            <a:latin typeface="Cambria Math" panose="02040503050406030204" pitchFamily="18" charset="0"/>
                            <a:ea typeface="Cambria Math" panose="02040503050406030204" pitchFamily="18" charset="0"/>
                          </a:rPr>
                          <m:t>𝒏</m:t>
                        </m:r>
                      </m:den>
                    </m:f>
                  </m:oMath>
                </a14:m>
                <a:endParaRPr lang="en-GB" altLang="en-US" b="1" i="1" dirty="0">
                  <a:solidFill>
                    <a:srgbClr val="FF0000"/>
                  </a:solidFill>
                  <a:effectLst/>
                </a:endParaRPr>
              </a:p>
            </p:txBody>
          </p:sp>
        </mc:Choice>
        <mc:Fallback xmlns="">
          <p:sp>
            <p:nvSpPr>
              <p:cNvPr id="11" name="TextBox 10"/>
              <p:cNvSpPr txBox="1">
                <a:spLocks noRot="1" noChangeAspect="1" noMove="1" noResize="1" noEditPoints="1" noAdjustHandles="1" noChangeArrowheads="1" noChangeShapeType="1" noTextEdit="1"/>
              </p:cNvSpPr>
              <p:nvPr/>
            </p:nvSpPr>
            <p:spPr bwMode="auto">
              <a:xfrm>
                <a:off x="0" y="5034899"/>
                <a:ext cx="5541489" cy="523220"/>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
        <p:nvSpPr>
          <p:cNvPr id="12" name="Oval 11"/>
          <p:cNvSpPr/>
          <p:nvPr/>
        </p:nvSpPr>
        <p:spPr>
          <a:xfrm>
            <a:off x="3544806" y="2817110"/>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0</a:t>
            </a:r>
            <a:endParaRPr lang="en-GB" dirty="0">
              <a:solidFill>
                <a:srgbClr val="FFFFFF"/>
              </a:solidFill>
            </a:endParaRPr>
          </a:p>
        </p:txBody>
      </p:sp>
      <p:sp>
        <p:nvSpPr>
          <p:cNvPr id="13" name="Oval 12"/>
          <p:cNvSpPr/>
          <p:nvPr/>
        </p:nvSpPr>
        <p:spPr>
          <a:xfrm>
            <a:off x="3544806" y="4240815"/>
            <a:ext cx="571500" cy="571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FFFFFF"/>
                </a:solidFill>
              </a:rPr>
              <a:t>1</a:t>
            </a:r>
            <a:endParaRPr lang="en-GB" dirty="0">
              <a:solidFill>
                <a:srgbClr val="FFFFFF"/>
              </a:solidFill>
            </a:endParaRPr>
          </a:p>
        </p:txBody>
      </p:sp>
      <p:sp>
        <p:nvSpPr>
          <p:cNvPr id="2" name="Diamond 1"/>
          <p:cNvSpPr/>
          <p:nvPr/>
        </p:nvSpPr>
        <p:spPr bwMode="auto">
          <a:xfrm>
            <a:off x="5526722" y="3610006"/>
            <a:ext cx="541698" cy="507146"/>
          </a:xfrm>
          <a:prstGeom prst="diamond">
            <a:avLst/>
          </a:prstGeom>
          <a:solidFill>
            <a:srgbClr val="FF0000"/>
          </a:solid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cxnSp>
        <p:nvCxnSpPr>
          <p:cNvPr id="15" name="Straight Arrow Connector 14"/>
          <p:cNvCxnSpPr>
            <a:stCxn id="12" idx="5"/>
            <a:endCxn id="2" idx="1"/>
          </p:cNvCxnSpPr>
          <p:nvPr/>
        </p:nvCxnSpPr>
        <p:spPr>
          <a:xfrm>
            <a:off x="4032612" y="3304916"/>
            <a:ext cx="1494110" cy="5586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Diamond 18"/>
          <p:cNvSpPr/>
          <p:nvPr/>
        </p:nvSpPr>
        <p:spPr bwMode="auto">
          <a:xfrm>
            <a:off x="5526722" y="2849287"/>
            <a:ext cx="541698" cy="507146"/>
          </a:xfrm>
          <a:prstGeom prst="diamond">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cxnSp>
        <p:nvCxnSpPr>
          <p:cNvPr id="24" name="Straight Arrow Connector 23"/>
          <p:cNvCxnSpPr>
            <a:stCxn id="12" idx="6"/>
            <a:endCxn id="19" idx="1"/>
          </p:cNvCxnSpPr>
          <p:nvPr/>
        </p:nvCxnSpPr>
        <p:spPr>
          <a:xfrm>
            <a:off x="4116306" y="3102860"/>
            <a:ext cx="14104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a:spLocks noChangeArrowheads="1"/>
          </p:cNvSpPr>
          <p:nvPr/>
        </p:nvSpPr>
        <p:spPr bwMode="auto">
          <a:xfrm>
            <a:off x="4427861" y="3292452"/>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Offer</a:t>
            </a:r>
            <a:endParaRPr lang="en-GB" altLang="en-US" dirty="0">
              <a:solidFill>
                <a:srgbClr val="0070C0"/>
              </a:solidFill>
            </a:endParaRPr>
          </a:p>
        </p:txBody>
      </p:sp>
      <p:sp>
        <p:nvSpPr>
          <p:cNvPr id="28" name="TextBox 27"/>
          <p:cNvSpPr txBox="1">
            <a:spLocks noChangeArrowheads="1"/>
          </p:cNvSpPr>
          <p:nvPr/>
        </p:nvSpPr>
        <p:spPr bwMode="auto">
          <a:xfrm>
            <a:off x="4288079" y="2757675"/>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Reject</a:t>
            </a:r>
            <a:endParaRPr lang="en-GB" altLang="en-US" dirty="0">
              <a:solidFill>
                <a:srgbClr val="0070C0"/>
              </a:solidFill>
            </a:endParaRPr>
          </a:p>
        </p:txBody>
      </p:sp>
      <p:cxnSp>
        <p:nvCxnSpPr>
          <p:cNvPr id="35" name="Straight Arrow Connector 34"/>
          <p:cNvCxnSpPr>
            <a:stCxn id="13" idx="7"/>
            <a:endCxn id="2" idx="1"/>
          </p:cNvCxnSpPr>
          <p:nvPr/>
        </p:nvCxnSpPr>
        <p:spPr>
          <a:xfrm flipV="1">
            <a:off x="4032612" y="3863579"/>
            <a:ext cx="1494110" cy="4609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3" idx="6"/>
            <a:endCxn id="40" idx="1"/>
          </p:cNvCxnSpPr>
          <p:nvPr/>
        </p:nvCxnSpPr>
        <p:spPr>
          <a:xfrm>
            <a:off x="4116306" y="4526565"/>
            <a:ext cx="141065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0" name="Diamond 39"/>
          <p:cNvSpPr/>
          <p:nvPr/>
        </p:nvSpPr>
        <p:spPr bwMode="auto">
          <a:xfrm>
            <a:off x="5526958" y="4272992"/>
            <a:ext cx="541698" cy="507146"/>
          </a:xfrm>
          <a:prstGeom prst="diamond">
            <a:avLst/>
          </a:prstGeom>
          <a:solidFill>
            <a:schemeClr val="accent1"/>
          </a:solidFill>
          <a:ln w="28575" cap="flat" cmpd="sng" algn="ctr">
            <a:solidFill>
              <a:srgbClr val="0033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800" b="0" i="0" u="none" strike="noStrike" cap="none" normalizeH="0" baseline="0">
              <a:ln>
                <a:noFill/>
              </a:ln>
              <a:solidFill>
                <a:schemeClr val="tx1"/>
              </a:solidFill>
              <a:effectLst/>
              <a:latin typeface="Arial" pitchFamily="34" charset="0"/>
            </a:endParaRPr>
          </a:p>
        </p:txBody>
      </p:sp>
      <p:sp>
        <p:nvSpPr>
          <p:cNvPr id="46" name="TextBox 45"/>
          <p:cNvSpPr txBox="1">
            <a:spLocks noChangeArrowheads="1"/>
          </p:cNvSpPr>
          <p:nvPr/>
        </p:nvSpPr>
        <p:spPr bwMode="auto">
          <a:xfrm>
            <a:off x="4427861" y="3766933"/>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Offer</a:t>
            </a:r>
            <a:endParaRPr lang="en-GB" altLang="en-US" dirty="0">
              <a:solidFill>
                <a:srgbClr val="0070C0"/>
              </a:solidFill>
            </a:endParaRPr>
          </a:p>
        </p:txBody>
      </p:sp>
      <p:sp>
        <p:nvSpPr>
          <p:cNvPr id="47" name="TextBox 46"/>
          <p:cNvSpPr txBox="1">
            <a:spLocks noChangeArrowheads="1"/>
          </p:cNvSpPr>
          <p:nvPr/>
        </p:nvSpPr>
        <p:spPr bwMode="auto">
          <a:xfrm>
            <a:off x="4269976" y="4220447"/>
            <a:ext cx="8473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solidFill>
                  <a:srgbClr val="0070C0"/>
                </a:solidFill>
              </a:rPr>
              <a:t>Reject</a:t>
            </a:r>
            <a:endParaRPr lang="en-GB" altLang="en-US" dirty="0">
              <a:solidFill>
                <a:srgbClr val="0070C0"/>
              </a:solidFill>
            </a:endParaRPr>
          </a:p>
        </p:txBody>
      </p:sp>
      <p:cxnSp>
        <p:nvCxnSpPr>
          <p:cNvPr id="48" name="Straight Arrow Connector 47"/>
          <p:cNvCxnSpPr>
            <a:stCxn id="19" idx="3"/>
            <a:endCxn id="22" idx="2"/>
          </p:cNvCxnSpPr>
          <p:nvPr/>
        </p:nvCxnSpPr>
        <p:spPr>
          <a:xfrm>
            <a:off x="6068420" y="3102860"/>
            <a:ext cx="1318224" cy="23576"/>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9" idx="3"/>
            <a:endCxn id="23" idx="2"/>
          </p:cNvCxnSpPr>
          <p:nvPr/>
        </p:nvCxnSpPr>
        <p:spPr>
          <a:xfrm>
            <a:off x="6068420" y="3102860"/>
            <a:ext cx="1318224" cy="1447281"/>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0" idx="3"/>
            <a:endCxn id="22" idx="2"/>
          </p:cNvCxnSpPr>
          <p:nvPr/>
        </p:nvCxnSpPr>
        <p:spPr>
          <a:xfrm flipV="1">
            <a:off x="6068656" y="3126436"/>
            <a:ext cx="1317988" cy="1400129"/>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0" idx="3"/>
            <a:endCxn id="23" idx="2"/>
          </p:cNvCxnSpPr>
          <p:nvPr/>
        </p:nvCxnSpPr>
        <p:spPr>
          <a:xfrm>
            <a:off x="6068656" y="4526565"/>
            <a:ext cx="1317988" cy="23576"/>
          </a:xfrm>
          <a:prstGeom prst="straightConnector1">
            <a:avLst/>
          </a:prstGeom>
          <a:ln>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sp>
        <p:nvSpPr>
          <p:cNvPr id="67" name="TextBox 66"/>
          <p:cNvSpPr txBox="1">
            <a:spLocks noChangeArrowheads="1"/>
          </p:cNvSpPr>
          <p:nvPr/>
        </p:nvSpPr>
        <p:spPr bwMode="auto">
          <a:xfrm>
            <a:off x="6111658" y="2439997"/>
            <a:ext cx="122697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rPr>
              <a:t>p=? </a:t>
            </a:r>
            <a:endParaRPr lang="en-GB" altLang="en-US" sz="2800" dirty="0">
              <a:solidFill>
                <a:srgbClr val="FF0000"/>
              </a:solidFill>
            </a:endParaRPr>
          </a:p>
        </p:txBody>
      </p:sp>
      <p:sp>
        <p:nvSpPr>
          <p:cNvPr id="68" name="TextBox 67"/>
          <p:cNvSpPr txBox="1">
            <a:spLocks noChangeArrowheads="1"/>
          </p:cNvSpPr>
          <p:nvPr/>
        </p:nvSpPr>
        <p:spPr bwMode="auto">
          <a:xfrm>
            <a:off x="5244506" y="3208753"/>
            <a:ext cx="13465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rPr>
              <a:t>value? </a:t>
            </a:r>
            <a:endParaRPr lang="en-GB" altLang="en-US" sz="2800" dirty="0">
              <a:solidFill>
                <a:srgbClr val="FF0000"/>
              </a:solidFill>
            </a:endParaRPr>
          </a:p>
        </p:txBody>
      </p:sp>
    </p:spTree>
    <p:extLst>
      <p:ext uri="{BB962C8B-B14F-4D97-AF65-F5344CB8AC3E}">
        <p14:creationId xmlns:p14="http://schemas.microsoft.com/office/powerpoint/2010/main" val="1143549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67" grpId="0"/>
      <p:bldP spid="6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sz="2800" dirty="0"/>
              <a:t>Stage n-k (the k-</a:t>
            </a:r>
            <a:r>
              <a:rPr lang="en-US" altLang="en-US" sz="2800" dirty="0" err="1"/>
              <a:t>th</a:t>
            </a:r>
            <a:r>
              <a:rPr lang="en-US" altLang="en-US" sz="2800" dirty="0"/>
              <a:t> candidate)</a:t>
            </a:r>
            <a:endParaRPr lang="en-GB" altLang="en-US" sz="2800"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7462" y="1167713"/>
                <a:ext cx="9143999" cy="2273450"/>
              </a:xfrm>
            </p:spPr>
            <p:txBody>
              <a:bodyPr/>
              <a:lstStyle/>
              <a:p>
                <a:r>
                  <a:rPr lang="en-US" altLang="en-US" dirty="0">
                    <a:effectLst/>
                  </a:rPr>
                  <a:t>Let </a:t>
                </a:r>
                <a14:m>
                  <m:oMath xmlns:m="http://schemas.openxmlformats.org/officeDocument/2006/math">
                    <m:r>
                      <a:rPr lang="en-US" altLang="zh-CN" i="1" dirty="0">
                        <a:effectLst/>
                        <a:latin typeface="Cambria Math" panose="02040503050406030204" pitchFamily="18" charset="0"/>
                        <a:ea typeface="宋体" pitchFamily="2" charset="-122"/>
                      </a:rPr>
                      <m:t>𝑽</m:t>
                    </m:r>
                    <m:d>
                      <m:dPr>
                        <m:ctrlPr>
                          <a:rPr lang="en-US" altLang="zh-CN" b="1" i="1" dirty="0" smtClean="0">
                            <a:effectLst/>
                            <a:latin typeface="Cambria Math" panose="02040503050406030204" pitchFamily="18" charset="0"/>
                            <a:ea typeface="宋体" pitchFamily="2" charset="-122"/>
                          </a:rPr>
                        </m:ctrlPr>
                      </m:dPr>
                      <m:e>
                        <m:r>
                          <a:rPr lang="en-US" altLang="zh-CN" b="1" i="1" dirty="0" smtClean="0">
                            <a:effectLst/>
                            <a:latin typeface="Cambria Math" panose="02040503050406030204" pitchFamily="18" charset="0"/>
                            <a:ea typeface="宋体" pitchFamily="2" charset="-122"/>
                          </a:rPr>
                          <m:t>𝒏</m:t>
                        </m:r>
                        <m:r>
                          <a:rPr lang="en-US" altLang="zh-CN" b="1" i="1" dirty="0" smtClean="0">
                            <a:effectLst/>
                            <a:latin typeface="Cambria Math" panose="02040503050406030204" pitchFamily="18" charset="0"/>
                            <a:ea typeface="宋体" pitchFamily="2" charset="-122"/>
                          </a:rPr>
                          <m:t>−</m:t>
                        </m:r>
                        <m:r>
                          <a:rPr lang="en-US" altLang="zh-CN" i="1" dirty="0">
                            <a:effectLst/>
                            <a:latin typeface="Cambria Math" panose="02040503050406030204" pitchFamily="18" charset="0"/>
                            <a:ea typeface="宋体" pitchFamily="2" charset="-122"/>
                          </a:rPr>
                          <m:t>𝒌</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𝒊</m:t>
                        </m:r>
                      </m:e>
                    </m:d>
                  </m:oMath>
                </a14:m>
                <a:r>
                  <a:rPr lang="en-US" altLang="en-US" dirty="0">
                    <a:effectLst/>
                  </a:rPr>
                  <a:t> be the best value we can expect when applicant </a:t>
                </a:r>
                <a14:m>
                  <m:oMath xmlns:m="http://schemas.openxmlformats.org/officeDocument/2006/math">
                    <m:r>
                      <a:rPr lang="en-US" altLang="en-US" b="1" i="1" smtClean="0">
                        <a:effectLst/>
                        <a:latin typeface="Cambria Math" panose="02040503050406030204" pitchFamily="18" charset="0"/>
                      </a:rPr>
                      <m:t>𝒌</m:t>
                    </m:r>
                  </m:oMath>
                </a14:m>
                <a:r>
                  <a:rPr lang="en-US" altLang="en-US" dirty="0">
                    <a:effectLst/>
                  </a:rPr>
                  <a:t> is at state </a:t>
                </a:r>
                <a14:m>
                  <m:oMath xmlns:m="http://schemas.openxmlformats.org/officeDocument/2006/math">
                    <m:r>
                      <a:rPr lang="en-US" altLang="zh-CN" i="1" dirty="0">
                        <a:effectLst/>
                        <a:latin typeface="Cambria Math" panose="02040503050406030204" pitchFamily="18" charset="0"/>
                        <a:ea typeface="宋体" pitchFamily="2" charset="-122"/>
                      </a:rPr>
                      <m:t>𝒊</m:t>
                    </m:r>
                  </m:oMath>
                </a14:m>
                <a:r>
                  <a:rPr lang="en-US" altLang="en-US" dirty="0">
                    <a:effectLst/>
                  </a:rPr>
                  <a:t>, </a:t>
                </a:r>
                <a14:m>
                  <m:oMath xmlns:m="http://schemas.openxmlformats.org/officeDocument/2006/math">
                    <m:r>
                      <a:rPr lang="en-US" altLang="zh-CN" i="1" dirty="0">
                        <a:effectLst/>
                        <a:latin typeface="Cambria Math" panose="02040503050406030204" pitchFamily="18" charset="0"/>
                        <a:ea typeface="宋体" pitchFamily="2" charset="-122"/>
                      </a:rPr>
                      <m:t>𝒊</m:t>
                    </m:r>
                    <m:r>
                      <a:rPr lang="en-US" altLang="zh-CN" b="1" i="1" dirty="0" smtClean="0">
                        <a:effectLst/>
                        <a:latin typeface="Cambria Math" panose="02040503050406030204" pitchFamily="18" charset="0"/>
                        <a:ea typeface="宋体" pitchFamily="2" charset="-122"/>
                      </a:rPr>
                      <m:t>=</m:t>
                    </m:r>
                    <m:r>
                      <a:rPr lang="en-US" altLang="zh-CN" b="1" i="1" dirty="0" smtClean="0">
                        <a:effectLst/>
                        <a:latin typeface="Cambria Math" panose="02040503050406030204" pitchFamily="18" charset="0"/>
                        <a:ea typeface="宋体" pitchFamily="2" charset="-122"/>
                      </a:rPr>
                      <m:t>𝟎</m:t>
                    </m:r>
                    <m:r>
                      <a:rPr lang="en-US" altLang="zh-CN" b="1" i="1" dirty="0" smtClean="0">
                        <a:effectLst/>
                        <a:latin typeface="Cambria Math" panose="02040503050406030204" pitchFamily="18" charset="0"/>
                        <a:ea typeface="宋体" pitchFamily="2" charset="-122"/>
                      </a:rPr>
                      <m:t>,</m:t>
                    </m:r>
                    <m:r>
                      <a:rPr lang="en-US" altLang="zh-CN" b="1" i="1" dirty="0" smtClean="0">
                        <a:effectLst/>
                        <a:latin typeface="Cambria Math" panose="02040503050406030204" pitchFamily="18" charset="0"/>
                        <a:ea typeface="宋体" pitchFamily="2" charset="-122"/>
                      </a:rPr>
                      <m:t>𝟏</m:t>
                    </m:r>
                    <m:r>
                      <a:rPr lang="en-US" altLang="zh-CN" i="1" dirty="0">
                        <a:effectLst/>
                        <a:latin typeface="Cambria Math" panose="02040503050406030204" pitchFamily="18" charset="0"/>
                        <a:ea typeface="宋体" pitchFamily="2" charset="-122"/>
                      </a:rPr>
                      <m:t> </m:t>
                    </m:r>
                  </m:oMath>
                </a14:m>
                <a:r>
                  <a:rPr lang="en-US" altLang="en-US" dirty="0">
                    <a:effectLst/>
                  </a:rPr>
                  <a:t>. We want to know </a:t>
                </a:r>
                <a14:m>
                  <m:oMath xmlns:m="http://schemas.openxmlformats.org/officeDocument/2006/math">
                    <m:r>
                      <a:rPr lang="en-US" altLang="zh-CN" i="1" dirty="0">
                        <a:effectLst/>
                        <a:latin typeface="Cambria Math" panose="02040503050406030204" pitchFamily="18" charset="0"/>
                        <a:ea typeface="宋体" pitchFamily="2" charset="-122"/>
                      </a:rPr>
                      <m:t>𝑽</m:t>
                    </m:r>
                    <m:d>
                      <m:dPr>
                        <m:ctrlPr>
                          <a:rPr lang="en-US" altLang="zh-CN" i="1" dirty="0">
                            <a:effectLst/>
                            <a:latin typeface="Cambria Math" panose="02040503050406030204" pitchFamily="18" charset="0"/>
                            <a:ea typeface="宋体" pitchFamily="2" charset="-122"/>
                          </a:rPr>
                        </m:ctrlPr>
                      </m:dPr>
                      <m:e>
                        <m:r>
                          <a:rPr lang="en-US" altLang="zh-CN" i="1" dirty="0">
                            <a:effectLst/>
                            <a:latin typeface="Cambria Math" panose="02040503050406030204" pitchFamily="18" charset="0"/>
                            <a:ea typeface="宋体" pitchFamily="2" charset="-122"/>
                          </a:rPr>
                          <m:t>𝒏</m:t>
                        </m:r>
                        <m:r>
                          <a:rPr lang="en-US" altLang="zh-CN" i="1" dirty="0">
                            <a:effectLst/>
                            <a:latin typeface="Cambria Math" panose="02040503050406030204" pitchFamily="18" charset="0"/>
                            <a:ea typeface="宋体" pitchFamily="2" charset="-122"/>
                          </a:rPr>
                          <m:t>−</m:t>
                        </m:r>
                        <m:r>
                          <a:rPr lang="en-US" altLang="zh-CN" b="1" i="1" dirty="0" smtClean="0">
                            <a:effectLst/>
                            <a:latin typeface="Cambria Math" panose="02040503050406030204" pitchFamily="18" charset="0"/>
                            <a:ea typeface="宋体" pitchFamily="2" charset="-122"/>
                          </a:rPr>
                          <m:t>𝟏</m:t>
                        </m:r>
                        <m:r>
                          <a:rPr lang="en-US" altLang="zh-CN" i="1" dirty="0">
                            <a:effectLst/>
                            <a:latin typeface="Cambria Math" panose="02040503050406030204" pitchFamily="18" charset="0"/>
                            <a:ea typeface="宋体" pitchFamily="2" charset="-122"/>
                          </a:rPr>
                          <m:t>, </m:t>
                        </m:r>
                        <m:r>
                          <a:rPr lang="en-US" altLang="zh-CN" b="1" i="1" dirty="0" smtClean="0">
                            <a:effectLst/>
                            <a:latin typeface="Cambria Math" panose="02040503050406030204" pitchFamily="18" charset="0"/>
                            <a:ea typeface="宋体" pitchFamily="2" charset="-122"/>
                          </a:rPr>
                          <m:t>𝟏</m:t>
                        </m:r>
                      </m:e>
                    </m:d>
                  </m:oMath>
                </a14:m>
                <a:endParaRPr lang="en-US" altLang="en-US" dirty="0">
                  <a:effectLst/>
                </a:endParaRPr>
              </a:p>
              <a:p>
                <a:endParaRPr lang="en-US" altLang="en-US" dirty="0">
                  <a:effectLst/>
                </a:endParaRPr>
              </a:p>
              <a:p>
                <a:r>
                  <a:rPr lang="en-US" altLang="en-US" dirty="0">
                    <a:effectLst/>
                  </a:rPr>
                  <a:t>Bellman Equation:</a:t>
                </a:r>
              </a:p>
              <a:p>
                <a:pPr marL="0" indent="0">
                  <a:buNone/>
                </a:pPr>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7462" y="1167713"/>
                <a:ext cx="9143999" cy="2273450"/>
              </a:xfrm>
              <a:blipFill rotWithShape="0">
                <a:blip r:embed="rId2"/>
                <a:stretch>
                  <a:fillRect l="-1267" t="-2957" b="-1693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 name="TextBox 3"/>
              <p:cNvSpPr txBox="1">
                <a:spLocks noChangeArrowheads="1"/>
              </p:cNvSpPr>
              <p:nvPr/>
            </p:nvSpPr>
            <p:spPr bwMode="auto">
              <a:xfrm>
                <a:off x="32132" y="3780233"/>
                <a:ext cx="8969941" cy="631520"/>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𝟎</m:t>
                        </m:r>
                      </m:e>
                    </m:d>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𝒎𝒂𝒙</m:t>
                    </m:r>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𝟎</m:t>
                    </m:r>
                    <m:r>
                      <a:rPr lang="en-US" altLang="en-US" sz="24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400" b="1" i="1" smtClean="0">
                            <a:solidFill>
                              <a:srgbClr val="FF0000"/>
                            </a:solidFill>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den>
                    </m:f>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e>
                    </m:d>
                    <m:r>
                      <a:rPr lang="en-US" altLang="en-US" sz="24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400" b="1" i="1" smtClean="0">
                            <a:solidFill>
                              <a:srgbClr val="FF0000"/>
                            </a:solidFill>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latin typeface="Cambria Math" panose="02040503050406030204" pitchFamily="18" charset="0"/>
                            <a:ea typeface="Cambria Math" panose="02040503050406030204" pitchFamily="18" charset="0"/>
                          </a:rPr>
                          <m:t>𝒌</m:t>
                        </m:r>
                      </m:num>
                      <m:den>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den>
                    </m:f>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𝟎</m:t>
                        </m:r>
                      </m:e>
                    </m:d>
                    <m:r>
                      <a:rPr lang="en-US" altLang="en-US" sz="2400" b="1" i="1" smtClean="0">
                        <a:solidFill>
                          <a:srgbClr val="FF0000"/>
                        </a:solidFill>
                        <a:effectLst/>
                        <a:latin typeface="Cambria Math" panose="02040503050406030204" pitchFamily="18" charset="0"/>
                        <a:ea typeface="Cambria Math" panose="02040503050406030204" pitchFamily="18" charset="0"/>
                      </a:rPr>
                      <m:t>}</m:t>
                    </m:r>
                  </m:oMath>
                </a14:m>
                <a:r>
                  <a:rPr lang="en-US" altLang="en-US" sz="2400" b="1" i="1" dirty="0">
                    <a:solidFill>
                      <a:srgbClr val="FF0000"/>
                    </a:solidFill>
                    <a:effectLst/>
                  </a:rPr>
                  <a:t> </a:t>
                </a:r>
                <a:endParaRPr lang="en-GB" altLang="en-US" sz="2400" b="1" i="1" dirty="0">
                  <a:solidFill>
                    <a:srgbClr val="FF0000"/>
                  </a:solidFill>
                  <a:effectLst>
                    <a:outerShdw blurRad="38100" dist="38100" dir="2700000" algn="tl">
                      <a:srgbClr val="000000">
                        <a:alpha val="43137"/>
                      </a:srgbClr>
                    </a:outerShdw>
                  </a:effectLst>
                </a:endParaRPr>
              </a:p>
            </p:txBody>
          </p:sp>
        </mc:Choice>
        <mc:Fallback xmlns="">
          <p:sp>
            <p:nvSpPr>
              <p:cNvPr id="4" name="TextBox 3"/>
              <p:cNvSpPr txBox="1">
                <a:spLocks noRot="1" noChangeAspect="1" noMove="1" noResize="1" noEditPoints="1" noAdjustHandles="1" noChangeArrowheads="1" noChangeShapeType="1" noTextEdit="1"/>
              </p:cNvSpPr>
              <p:nvPr/>
            </p:nvSpPr>
            <p:spPr bwMode="auto">
              <a:xfrm>
                <a:off x="32132" y="3780233"/>
                <a:ext cx="8969941" cy="631520"/>
              </a:xfrm>
              <a:prstGeom prst="rect">
                <a:avLst/>
              </a:prstGeom>
              <a:blipFill rotWithShape="0">
                <a:blip r:embed="rId3"/>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28660" y="4516891"/>
                <a:ext cx="9074431" cy="1170705"/>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e>
                    </m:d>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𝒎𝒂𝒙</m:t>
                    </m:r>
                    <m:r>
                      <a:rPr lang="en-US" altLang="en-US" sz="24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400" b="1" i="1" smtClean="0">
                            <a:solidFill>
                              <a:srgbClr val="FF0000"/>
                            </a:solidFill>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latin typeface="Cambria Math" panose="02040503050406030204" pitchFamily="18" charset="0"/>
                            <a:ea typeface="Cambria Math" panose="02040503050406030204" pitchFamily="18" charset="0"/>
                          </a:rPr>
                          <m:t>𝒌</m:t>
                        </m:r>
                      </m:num>
                      <m:den>
                        <m:r>
                          <a:rPr lang="en-US" altLang="en-US" sz="2400" b="1" i="1" smtClean="0">
                            <a:solidFill>
                              <a:srgbClr val="FF0000"/>
                            </a:solidFill>
                            <a:effectLst/>
                            <a:latin typeface="Cambria Math" panose="02040503050406030204" pitchFamily="18" charset="0"/>
                            <a:ea typeface="Cambria Math" panose="02040503050406030204" pitchFamily="18" charset="0"/>
                          </a:rPr>
                          <m:t>𝒏</m:t>
                        </m:r>
                      </m:den>
                    </m:f>
                    <m:r>
                      <a:rPr lang="en-US" altLang="en-US" sz="24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400" b="1" i="1" smtClean="0">
                            <a:solidFill>
                              <a:srgbClr val="FF0000"/>
                            </a:solidFill>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den>
                    </m:f>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 </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e>
                    </m:d>
                    <m:r>
                      <a:rPr lang="en-US" altLang="en-US" sz="24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400" b="1" i="1" smtClean="0">
                            <a:solidFill>
                              <a:srgbClr val="FF0000"/>
                            </a:solidFill>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latin typeface="Cambria Math" panose="02040503050406030204" pitchFamily="18" charset="0"/>
                            <a:ea typeface="Cambria Math" panose="02040503050406030204" pitchFamily="18" charset="0"/>
                          </a:rPr>
                          <m:t>𝒌</m:t>
                        </m:r>
                      </m:num>
                      <m:den>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den>
                    </m:f>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𝟎</m:t>
                        </m:r>
                      </m:e>
                    </m:d>
                    <m:r>
                      <a:rPr lang="en-US" altLang="en-US" sz="2400" b="1" i="1" smtClean="0">
                        <a:solidFill>
                          <a:srgbClr val="FF0000"/>
                        </a:solidFill>
                        <a:effectLst/>
                        <a:latin typeface="Cambria Math" panose="02040503050406030204" pitchFamily="18" charset="0"/>
                        <a:ea typeface="Cambria Math" panose="02040503050406030204" pitchFamily="18" charset="0"/>
                      </a:rPr>
                      <m:t> }</m:t>
                    </m:r>
                  </m:oMath>
                </a14:m>
                <a:r>
                  <a:rPr lang="en-US" altLang="en-US" sz="2400" b="1" i="1" dirty="0">
                    <a:solidFill>
                      <a:srgbClr val="FF0000"/>
                    </a:solidFill>
                    <a:effectLst/>
                  </a:rPr>
                  <a:t>        </a:t>
                </a:r>
                <a14:m>
                  <m:oMath xmlns:m="http://schemas.openxmlformats.org/officeDocument/2006/math">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𝒎𝒂𝒙</m:t>
                    </m:r>
                    <m:r>
                      <a:rPr lang="en-US" altLang="en-US" sz="2400" b="1" i="1">
                        <a:solidFill>
                          <a:srgbClr val="FF0000"/>
                        </a:solidFill>
                        <a:effectLst/>
                        <a:latin typeface="Cambria Math" panose="02040503050406030204" pitchFamily="18" charset="0"/>
                        <a:ea typeface="Cambria Math" panose="02040503050406030204" pitchFamily="18" charset="0"/>
                      </a:rPr>
                      <m:t>{ </m:t>
                    </m:r>
                    <m:f>
                      <m:fPr>
                        <m:ctrlPr>
                          <a:rPr lang="en-US" altLang="en-US" sz="2400" b="1" i="1">
                            <a:solidFill>
                              <a:srgbClr val="FF0000"/>
                            </a:solidFill>
                            <a:effectLst/>
                            <a:latin typeface="Cambria Math" panose="02040503050406030204" pitchFamily="18" charset="0"/>
                            <a:ea typeface="Cambria Math" panose="02040503050406030204" pitchFamily="18" charset="0"/>
                          </a:rPr>
                        </m:ctrlPr>
                      </m:fPr>
                      <m:num>
                        <m:r>
                          <a:rPr lang="en-US" altLang="en-US" sz="2400" b="1" i="1">
                            <a:solidFill>
                              <a:srgbClr val="FF0000"/>
                            </a:solidFill>
                            <a:effectLst/>
                            <a:latin typeface="Cambria Math" panose="02040503050406030204" pitchFamily="18" charset="0"/>
                            <a:ea typeface="Cambria Math" panose="02040503050406030204" pitchFamily="18" charset="0"/>
                          </a:rPr>
                          <m:t>𝒌</m:t>
                        </m:r>
                      </m:num>
                      <m:den>
                        <m:r>
                          <a:rPr lang="en-US" altLang="en-US" sz="2400" b="1" i="1">
                            <a:solidFill>
                              <a:srgbClr val="FF0000"/>
                            </a:solidFill>
                            <a:effectLst/>
                            <a:latin typeface="Cambria Math" panose="02040503050406030204" pitchFamily="18" charset="0"/>
                            <a:ea typeface="Cambria Math" panose="02040503050406030204" pitchFamily="18" charset="0"/>
                          </a:rPr>
                          <m:t>𝒏</m:t>
                        </m:r>
                      </m:den>
                    </m:f>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𝑽</m:t>
                    </m:r>
                    <m:d>
                      <m:dPr>
                        <m:ctrlPr>
                          <a:rPr lang="en-US" altLang="en-US" sz="2400" b="1" i="1">
                            <a:solidFill>
                              <a:srgbClr val="FF0000"/>
                            </a:solidFill>
                            <a:effectLst/>
                            <a:latin typeface="Cambria Math" panose="02040503050406030204" pitchFamily="18" charset="0"/>
                            <a:ea typeface="Cambria Math" panose="02040503050406030204" pitchFamily="18" charset="0"/>
                          </a:rPr>
                        </m:ctrlPr>
                      </m:dPr>
                      <m:e>
                        <m:r>
                          <a:rPr lang="en-US" altLang="en-US" sz="2400" b="1" i="1">
                            <a:solidFill>
                              <a:srgbClr val="FF0000"/>
                            </a:solidFill>
                            <a:effectLst/>
                            <a:latin typeface="Cambria Math" panose="02040503050406030204" pitchFamily="18" charset="0"/>
                            <a:ea typeface="Cambria Math" panose="02040503050406030204" pitchFamily="18" charset="0"/>
                          </a:rPr>
                          <m:t>𝒏</m:t>
                        </m:r>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𝒌</m:t>
                        </m:r>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𝟎</m:t>
                        </m:r>
                      </m:e>
                    </m:d>
                    <m:r>
                      <a:rPr lang="en-US" altLang="en-US" sz="2400" b="1" i="1">
                        <a:solidFill>
                          <a:srgbClr val="FF0000"/>
                        </a:solidFill>
                        <a:effectLst/>
                        <a:latin typeface="Cambria Math" panose="02040503050406030204" pitchFamily="18" charset="0"/>
                        <a:ea typeface="Cambria Math" panose="02040503050406030204" pitchFamily="18" charset="0"/>
                      </a:rPr>
                      <m:t>}</m:t>
                    </m:r>
                  </m:oMath>
                </a14:m>
                <a:endParaRPr lang="en-GB" altLang="en-US" sz="2400" b="1" i="1" dirty="0">
                  <a:solidFill>
                    <a:srgbClr val="FF0000"/>
                  </a:solidFill>
                  <a:effectLst/>
                </a:endParaRP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28660" y="4516891"/>
                <a:ext cx="9074431" cy="1170705"/>
              </a:xfrm>
              <a:prstGeom prst="rect">
                <a:avLst/>
              </a:prstGeom>
              <a:blipFill rotWithShape="0">
                <a:blip r:embed="rId4"/>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29339" y="5792734"/>
                <a:ext cx="4156986" cy="523220"/>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4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𝟎</m:t>
                        </m:r>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𝟎</m:t>
                        </m:r>
                      </m:e>
                    </m:d>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𝟎</m:t>
                    </m:r>
                    <m:r>
                      <a:rPr lang="en-US" altLang="en-US" sz="2400" b="1" i="1" smtClean="0">
                        <a:solidFill>
                          <a:srgbClr val="FF0000"/>
                        </a:solidFill>
                        <a:effectLst/>
                        <a:latin typeface="Cambria Math" panose="02040503050406030204" pitchFamily="18" charset="0"/>
                        <a:ea typeface="Cambria Math" panose="02040503050406030204" pitchFamily="18" charset="0"/>
                      </a:rPr>
                      <m:t>,</m:t>
                    </m:r>
                    <m:r>
                      <a:rPr lang="en-US" altLang="en-US" sz="2400" b="1" i="1">
                        <a:solidFill>
                          <a:srgbClr val="FF0000"/>
                        </a:solidFill>
                        <a:effectLst/>
                        <a:latin typeface="Cambria Math" panose="02040503050406030204" pitchFamily="18" charset="0"/>
                        <a:ea typeface="Cambria Math" panose="02040503050406030204" pitchFamily="18" charset="0"/>
                      </a:rPr>
                      <m:t>𝑽</m:t>
                    </m:r>
                    <m:d>
                      <m:dPr>
                        <m:ctrlPr>
                          <a:rPr lang="en-US" altLang="en-US" sz="2400" b="1" i="1" smtClean="0">
                            <a:solidFill>
                              <a:srgbClr val="FF0000"/>
                            </a:solidFill>
                            <a:effectLst/>
                            <a:latin typeface="Cambria Math" panose="02040503050406030204" pitchFamily="18" charset="0"/>
                            <a:ea typeface="Cambria Math" panose="02040503050406030204" pitchFamily="18" charset="0"/>
                          </a:rPr>
                        </m:ctrlPr>
                      </m:dPr>
                      <m:e>
                        <m:r>
                          <a:rPr lang="en-US" altLang="en-US" sz="2400" b="1" i="1" smtClean="0">
                            <a:solidFill>
                              <a:srgbClr val="FF0000"/>
                            </a:solidFill>
                            <a:effectLst/>
                            <a:latin typeface="Cambria Math" panose="02040503050406030204" pitchFamily="18" charset="0"/>
                            <a:ea typeface="Cambria Math" panose="02040503050406030204" pitchFamily="18" charset="0"/>
                          </a:rPr>
                          <m:t>𝟎</m:t>
                        </m:r>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e>
                    </m:d>
                    <m:r>
                      <a:rPr lang="en-US" altLang="en-US" sz="2400" b="1" i="1">
                        <a:solidFill>
                          <a:srgbClr val="FF0000"/>
                        </a:solidFill>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sz="2400" b="1" i="1" dirty="0">
                  <a:solidFill>
                    <a:srgbClr val="FF0000"/>
                  </a:solidFill>
                  <a:effectLst/>
                  <a:latin typeface="Cambria Math" panose="02040503050406030204" pitchFamily="18" charset="0"/>
                  <a:ea typeface="Cambria Math" panose="02040503050406030204" pitchFamily="18" charset="0"/>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29339" y="5792734"/>
                <a:ext cx="4156986" cy="523220"/>
              </a:xfrm>
              <a:prstGeom prst="rect">
                <a:avLst/>
              </a:prstGeom>
              <a:blipFill rotWithShape="0">
                <a:blip r:embed="rId5"/>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2351327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Secretary Problem: n = 4</a:t>
            </a:r>
            <a:endParaRPr lang="en-GB" altLang="en-US" dirty="0"/>
          </a:p>
        </p:txBody>
      </p:sp>
      <p:sp>
        <p:nvSpPr>
          <p:cNvPr id="47107" name="Content Placeholder 2"/>
          <p:cNvSpPr>
            <a:spLocks noGrp="1"/>
          </p:cNvSpPr>
          <p:nvPr>
            <p:ph sz="quarter" idx="1"/>
          </p:nvPr>
        </p:nvSpPr>
        <p:spPr>
          <a:xfrm>
            <a:off x="17462" y="941388"/>
            <a:ext cx="8741527" cy="5030607"/>
          </a:xfrm>
        </p:spPr>
        <p:txBody>
          <a:bodyPr/>
          <a:lstStyle/>
          <a:p>
            <a:r>
              <a:rPr lang="en-US" altLang="en-US" dirty="0">
                <a:effectLst/>
              </a:rPr>
              <a:t>k = 4</a:t>
            </a:r>
          </a:p>
          <a:p>
            <a:endParaRPr lang="en-US" altLang="en-US" dirty="0">
              <a:effectLst/>
            </a:endParaRPr>
          </a:p>
          <a:p>
            <a:r>
              <a:rPr lang="en-US" altLang="en-US" dirty="0">
                <a:effectLst/>
              </a:rPr>
              <a:t>k = 3</a:t>
            </a:r>
          </a:p>
          <a:p>
            <a:endParaRPr lang="en-US" altLang="en-US" dirty="0">
              <a:effectLst/>
            </a:endParaRPr>
          </a:p>
          <a:p>
            <a:r>
              <a:rPr lang="en-US" altLang="en-US" dirty="0">
                <a:effectLst/>
              </a:rPr>
              <a:t>k = 2</a:t>
            </a:r>
          </a:p>
          <a:p>
            <a:endParaRPr lang="en-US" altLang="en-US" dirty="0">
              <a:effectLst/>
            </a:endParaRPr>
          </a:p>
          <a:p>
            <a:r>
              <a:rPr lang="en-US" altLang="en-US" dirty="0">
                <a:effectLst/>
              </a:rPr>
              <a:t>k = 1</a:t>
            </a:r>
          </a:p>
          <a:p>
            <a:pPr marL="0" indent="0">
              <a:buNone/>
            </a:pPr>
            <a:endParaRPr lang="en-US" altLang="en-US" dirty="0">
              <a:effectLst/>
            </a:endParaRPr>
          </a:p>
          <a:p>
            <a:pPr marL="0" indent="0">
              <a:buNone/>
            </a:pPr>
            <a:endParaRPr lang="en-US" altLang="en-US" dirty="0">
              <a:effectLst/>
            </a:endParaRPr>
          </a:p>
          <a:p>
            <a:r>
              <a:rPr lang="en-US" altLang="en-US" dirty="0">
                <a:effectLst/>
              </a:rPr>
              <a:t>1: Reject; 2-4: Accept if the best seen so far.</a:t>
            </a:r>
          </a:p>
        </p:txBody>
      </p:sp>
      <mc:AlternateContent xmlns:mc="http://schemas.openxmlformats.org/markup-compatibility/2006" xmlns:a14="http://schemas.microsoft.com/office/drawing/2010/main">
        <mc:Choice Requires="a14">
          <p:sp>
            <p:nvSpPr>
              <p:cNvPr id="4" name="TextBox 3"/>
              <p:cNvSpPr txBox="1">
                <a:spLocks noChangeArrowheads="1"/>
              </p:cNvSpPr>
              <p:nvPr/>
            </p:nvSpPr>
            <p:spPr bwMode="auto">
              <a:xfrm>
                <a:off x="255618" y="2462846"/>
                <a:ext cx="8650224" cy="750847"/>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e>
                    </m:d>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𝟑</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𝟏</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𝒎𝒂𝒙</m:t>
                    </m:r>
                    <m:d>
                      <m:dPr>
                        <m:begChr m:val="{"/>
                        <m:endChr m:val="}"/>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𝟑</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e>
                    </m:d>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𝟑</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oMath>
                </a14:m>
                <a:r>
                  <a:rPr lang="en-US" altLang="en-US" sz="2800" b="1" i="1" dirty="0">
                    <a:solidFill>
                      <a:srgbClr val="FF0000"/>
                    </a:solidFill>
                    <a:effectLst/>
                  </a:rPr>
                  <a:t> </a:t>
                </a:r>
                <a:endParaRPr lang="en-GB" altLang="en-US" sz="2800" b="1" i="1" dirty="0">
                  <a:solidFill>
                    <a:srgbClr val="FF0000"/>
                  </a:solidFill>
                  <a:effectLst/>
                </a:endParaRPr>
              </a:p>
            </p:txBody>
          </p:sp>
        </mc:Choice>
        <mc:Fallback xmlns="">
          <p:sp>
            <p:nvSpPr>
              <p:cNvPr id="4" name="TextBox 3"/>
              <p:cNvSpPr txBox="1">
                <a:spLocks noRot="1" noChangeAspect="1" noMove="1" noResize="1" noEditPoints="1" noAdjustHandles="1" noChangeArrowheads="1" noChangeShapeType="1" noTextEdit="1"/>
              </p:cNvSpPr>
              <p:nvPr/>
            </p:nvSpPr>
            <p:spPr bwMode="auto">
              <a:xfrm>
                <a:off x="255618" y="2462846"/>
                <a:ext cx="8650224" cy="750847"/>
              </a:xfrm>
              <a:prstGeom prst="rect">
                <a:avLst/>
              </a:prstGeom>
              <a:blipFill rotWithShape="0">
                <a:blip r:embed="rId2"/>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 name="TextBox 4"/>
              <p:cNvSpPr txBox="1">
                <a:spLocks noChangeArrowheads="1"/>
              </p:cNvSpPr>
              <p:nvPr/>
            </p:nvSpPr>
            <p:spPr bwMode="auto">
              <a:xfrm>
                <a:off x="255618" y="1508683"/>
                <a:ext cx="8650224" cy="523220"/>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𝟎</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oMath>
                </a14:m>
                <a:endParaRPr lang="en-GB" altLang="en-US" sz="2800" b="1" i="1" dirty="0">
                  <a:solidFill>
                    <a:srgbClr val="FF0000"/>
                  </a:solidFill>
                  <a:effectLst/>
                </a:endParaRPr>
              </a:p>
            </p:txBody>
          </p:sp>
        </mc:Choice>
        <mc:Fallback xmlns="">
          <p:sp>
            <p:nvSpPr>
              <p:cNvPr id="5" name="TextBox 4"/>
              <p:cNvSpPr txBox="1">
                <a:spLocks noRot="1" noChangeAspect="1" noMove="1" noResize="1" noEditPoints="1" noAdjustHandles="1" noChangeArrowheads="1" noChangeShapeType="1" noTextEdit="1"/>
              </p:cNvSpPr>
              <p:nvPr/>
            </p:nvSpPr>
            <p:spPr bwMode="auto">
              <a:xfrm>
                <a:off x="255618" y="1508683"/>
                <a:ext cx="8650224" cy="523220"/>
              </a:xfrm>
              <a:prstGeom prst="rect">
                <a:avLst/>
              </a:prstGeom>
              <a:blipFill rotWithShape="0">
                <a:blip r:embed="rId3"/>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p:cNvSpPr txBox="1">
                <a:spLocks noChangeArrowheads="1"/>
              </p:cNvSpPr>
              <p:nvPr/>
            </p:nvSpPr>
            <p:spPr bwMode="auto">
              <a:xfrm>
                <a:off x="255618" y="3455554"/>
                <a:ext cx="8650224" cy="750847"/>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𝟐</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e>
                    </m:d>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𝟑</m:t>
                        </m:r>
                      </m:den>
                    </m:f>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𝟑</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𝟐</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𝟑</m:t>
                        </m:r>
                      </m:den>
                    </m:f>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𝟓</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𝟏𝟐</m:t>
                        </m:r>
                      </m:den>
                    </m:f>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𝟐</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𝒎𝒂𝒙</m:t>
                    </m:r>
                    <m:d>
                      <m:dPr>
                        <m:begChr m:val="{"/>
                        <m:endChr m:val="}"/>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𝟐</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𝟓</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𝟏𝟐</m:t>
                            </m:r>
                          </m:den>
                        </m:f>
                      </m:e>
                    </m:d>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m:t>
                        </m:r>
                      </m:den>
                    </m:f>
                  </m:oMath>
                </a14:m>
                <a:r>
                  <a:rPr lang="en-US" altLang="en-US" sz="2800" b="1" i="1" dirty="0">
                    <a:solidFill>
                      <a:srgbClr val="FF0000"/>
                    </a:solidFill>
                    <a:effectLst/>
                  </a:rPr>
                  <a:t> </a:t>
                </a:r>
                <a:endParaRPr lang="en-GB" altLang="en-US" sz="2800" b="1" i="1" dirty="0">
                  <a:solidFill>
                    <a:srgbClr val="FF0000"/>
                  </a:solidFill>
                  <a:effectLst/>
                </a:endParaRPr>
              </a:p>
            </p:txBody>
          </p:sp>
        </mc:Choice>
        <mc:Fallback xmlns="">
          <p:sp>
            <p:nvSpPr>
              <p:cNvPr id="8" name="TextBox 7"/>
              <p:cNvSpPr txBox="1">
                <a:spLocks noRot="1" noChangeAspect="1" noMove="1" noResize="1" noEditPoints="1" noAdjustHandles="1" noChangeArrowheads="1" noChangeShapeType="1" noTextEdit="1"/>
              </p:cNvSpPr>
              <p:nvPr/>
            </p:nvSpPr>
            <p:spPr bwMode="auto">
              <a:xfrm>
                <a:off x="255618" y="3455554"/>
                <a:ext cx="8650224" cy="750847"/>
              </a:xfrm>
              <a:prstGeom prst="rect">
                <a:avLst/>
              </a:prstGeom>
              <a:blipFill rotWithShape="0">
                <a:blip r:embed="rId4"/>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p:cNvSpPr txBox="1">
                <a:spLocks noChangeArrowheads="1"/>
              </p:cNvSpPr>
              <p:nvPr/>
            </p:nvSpPr>
            <p:spPr bwMode="auto">
              <a:xfrm>
                <a:off x="255618" y="4448262"/>
                <a:ext cx="8650224" cy="750847"/>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𝟑</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𝟎</m:t>
                        </m:r>
                      </m:e>
                    </m:d>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m:t>
                        </m:r>
                      </m:den>
                    </m:f>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m:t>
                        </m:r>
                      </m:den>
                    </m:f>
                    <m:r>
                      <a:rPr lang="en-US" altLang="en-US" sz="2800" b="1" i="1" smtClean="0">
                        <a:solidFill>
                          <a:srgbClr val="FF0000"/>
                        </a:solidFill>
                        <a:effectLst/>
                        <a:latin typeface="Cambria Math" panose="02040503050406030204" pitchFamily="18" charset="0"/>
                        <a:ea typeface="Cambria Math" panose="02040503050406030204" pitchFamily="18" charset="0"/>
                      </a:rPr>
                      <m:t>+ </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m:t>
                        </m:r>
                      </m:den>
                    </m:f>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𝟓</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𝟏𝟐</m:t>
                        </m:r>
                      </m:den>
                    </m:f>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 </m:t>
                    </m:r>
                    <m:r>
                      <a:rPr lang="en-US" altLang="en-US" sz="2800" b="1" i="1" smtClean="0">
                        <a:solidFill>
                          <a:srgbClr val="FF0000"/>
                        </a:solidFill>
                        <a:effectLst/>
                        <a:latin typeface="Cambria Math" panose="02040503050406030204" pitchFamily="18" charset="0"/>
                        <a:ea typeface="Cambria Math" panose="02040503050406030204" pitchFamily="18" charset="0"/>
                      </a:rPr>
                      <m:t>𝑽</m:t>
                    </m:r>
                    <m:d>
                      <m:dPr>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r>
                          <a:rPr lang="en-US" altLang="en-US" sz="2800" b="1" i="1" smtClean="0">
                            <a:solidFill>
                              <a:srgbClr val="FF0000"/>
                            </a:solidFill>
                            <a:effectLst/>
                            <a:latin typeface="Cambria Math" panose="02040503050406030204" pitchFamily="18" charset="0"/>
                            <a:ea typeface="Cambria Math" panose="02040503050406030204" pitchFamily="18" charset="0"/>
                          </a:rPr>
                          <m:t>𝟑</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𝟏</m:t>
                        </m:r>
                      </m:e>
                    </m:d>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𝒎𝒂𝒙</m:t>
                    </m:r>
                    <m:d>
                      <m:dPr>
                        <m:begChr m:val="{"/>
                        <m:endChr m:val="}"/>
                        <m:ctrlPr>
                          <a:rPr lang="en-US" altLang="en-US" sz="2800" b="1" i="1" smtClean="0">
                            <a:solidFill>
                              <a:srgbClr val="FF0000"/>
                            </a:solidFill>
                            <a:effectLst/>
                            <a:latin typeface="Cambria Math" panose="02040503050406030204" pitchFamily="18" charset="0"/>
                            <a:ea typeface="Cambria Math" panose="02040503050406030204" pitchFamily="18" charset="0"/>
                          </a:rPr>
                        </m:ctrlPr>
                      </m:dPr>
                      <m:e>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𝟒</m:t>
                            </m:r>
                          </m:den>
                        </m:f>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𝟐𝟒</m:t>
                            </m:r>
                          </m:den>
                        </m:f>
                      </m:e>
                    </m:d>
                    <m:r>
                      <a:rPr lang="en-US" altLang="en-US" sz="2800" b="1" i="1" smtClean="0">
                        <a:solidFill>
                          <a:srgbClr val="FF0000"/>
                        </a:solidFill>
                        <a:effectLst/>
                        <a:latin typeface="Cambria Math" panose="02040503050406030204" pitchFamily="18" charset="0"/>
                        <a:ea typeface="Cambria Math" panose="02040503050406030204" pitchFamily="18" charset="0"/>
                      </a:rPr>
                      <m:t>=</m:t>
                    </m:r>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𝟏𝟏</m:t>
                        </m:r>
                      </m:num>
                      <m:den>
                        <m:r>
                          <a:rPr lang="en-US" altLang="en-US" sz="2800" b="1" i="1" smtClean="0">
                            <a:solidFill>
                              <a:srgbClr val="FF0000"/>
                            </a:solidFill>
                            <a:effectLst/>
                            <a:latin typeface="Cambria Math" panose="02040503050406030204" pitchFamily="18" charset="0"/>
                            <a:ea typeface="Cambria Math" panose="02040503050406030204" pitchFamily="18" charset="0"/>
                          </a:rPr>
                          <m:t>𝟐𝟒</m:t>
                        </m:r>
                      </m:den>
                    </m:f>
                  </m:oMath>
                </a14:m>
                <a:r>
                  <a:rPr lang="en-US" altLang="en-US" sz="2800" b="1" i="1" dirty="0">
                    <a:solidFill>
                      <a:srgbClr val="FF0000"/>
                    </a:solidFill>
                    <a:effectLst>
                      <a:outerShdw blurRad="38100" dist="38100" dir="2700000" algn="tl">
                        <a:srgbClr val="000000">
                          <a:alpha val="43137"/>
                        </a:srgbClr>
                      </a:outerShdw>
                    </a:effectLst>
                  </a:rPr>
                  <a:t> </a:t>
                </a:r>
                <a:endParaRPr lang="en-GB" altLang="en-US" sz="2800" b="1" i="1" dirty="0">
                  <a:solidFill>
                    <a:srgbClr val="FF0000"/>
                  </a:solidFill>
                  <a:effectLst>
                    <a:outerShdw blurRad="38100" dist="38100" dir="2700000" algn="tl">
                      <a:srgbClr val="000000">
                        <a:alpha val="43137"/>
                      </a:srgbClr>
                    </a:outerShdw>
                  </a:effectLst>
                </a:endParaRPr>
              </a:p>
            </p:txBody>
          </p:sp>
        </mc:Choice>
        <mc:Fallback xmlns="">
          <p:sp>
            <p:nvSpPr>
              <p:cNvPr id="9" name="TextBox 8"/>
              <p:cNvSpPr txBox="1">
                <a:spLocks noRot="1" noChangeAspect="1" noMove="1" noResize="1" noEditPoints="1" noAdjustHandles="1" noChangeArrowheads="1" noChangeShapeType="1" noTextEdit="1"/>
              </p:cNvSpPr>
              <p:nvPr/>
            </p:nvSpPr>
            <p:spPr bwMode="auto">
              <a:xfrm>
                <a:off x="255618" y="4448262"/>
                <a:ext cx="8650224" cy="750847"/>
              </a:xfrm>
              <a:prstGeom prst="rect">
                <a:avLst/>
              </a:prstGeom>
              <a:blipFill rotWithShape="0">
                <a:blip r:embed="rId5"/>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24532252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17462" y="9525"/>
            <a:ext cx="9126537" cy="931863"/>
          </a:xfrm>
        </p:spPr>
        <p:txBody>
          <a:bodyPr/>
          <a:lstStyle/>
          <a:p>
            <a:r>
              <a:rPr lang="en-US" altLang="en-US" dirty="0"/>
              <a:t>Secretary Problem: In General</a:t>
            </a:r>
            <a:endParaRPr lang="en-GB" altLang="en-US" dirty="0"/>
          </a:p>
        </p:txBody>
      </p:sp>
      <mc:AlternateContent xmlns:mc="http://schemas.openxmlformats.org/markup-compatibility/2006" xmlns:a14="http://schemas.microsoft.com/office/drawing/2010/main">
        <mc:Choice Requires="a14">
          <p:sp>
            <p:nvSpPr>
              <p:cNvPr id="47107" name="Content Placeholder 2"/>
              <p:cNvSpPr>
                <a:spLocks noGrp="1"/>
              </p:cNvSpPr>
              <p:nvPr>
                <p:ph sz="quarter" idx="1"/>
              </p:nvPr>
            </p:nvSpPr>
            <p:spPr>
              <a:xfrm>
                <a:off x="17462" y="576852"/>
                <a:ext cx="8741527" cy="5030607"/>
              </a:xfrm>
            </p:spPr>
            <p:txBody>
              <a:bodyPr/>
              <a:lstStyle/>
              <a:p>
                <a:pPr marL="0" indent="0">
                  <a:buNone/>
                </a:pPr>
                <a:endParaRPr lang="en-US" altLang="en-US" dirty="0"/>
              </a:p>
              <a:p>
                <a:r>
                  <a:rPr lang="en-US" altLang="en-US" dirty="0">
                    <a:effectLst/>
                  </a:rPr>
                  <a:t>There is a threshold </a:t>
                </a:r>
                <a14:m>
                  <m:oMath xmlns:m="http://schemas.openxmlformats.org/officeDocument/2006/math">
                    <m:sSup>
                      <m:sSup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pPr>
                      <m:e>
                        <m:r>
                          <a:rPr lang="en-US" altLang="en-US" sz="2800" b="1" i="1" smtClean="0">
                            <a:solidFill>
                              <a:srgbClr val="FF0000"/>
                            </a:solidFill>
                            <a:effectLst/>
                            <a:latin typeface="Cambria Math" panose="02040503050406030204" pitchFamily="18" charset="0"/>
                            <a:ea typeface="Cambria Math" panose="02040503050406030204" pitchFamily="18" charset="0"/>
                          </a:rPr>
                          <m:t>𝒌</m:t>
                        </m:r>
                      </m:e>
                      <m:sup>
                        <m:r>
                          <a:rPr lang="en-US" altLang="en-US" sz="2800" b="1" i="1" smtClean="0">
                            <a:solidFill>
                              <a:srgbClr val="FF0000"/>
                            </a:solidFill>
                            <a:effectLst/>
                            <a:latin typeface="Cambria Math" panose="02040503050406030204" pitchFamily="18" charset="0"/>
                            <a:ea typeface="Cambria Math" panose="02040503050406030204" pitchFamily="18" charset="0"/>
                          </a:rPr>
                          <m:t>∗</m:t>
                        </m:r>
                      </m:sup>
                    </m:sSup>
                  </m:oMath>
                </a14:m>
                <a:r>
                  <a:rPr lang="en-US" altLang="en-US" dirty="0">
                    <a:effectLst/>
                  </a:rPr>
                  <a:t> such that if </a:t>
                </a:r>
                <a14:m>
                  <m:oMath xmlns:m="http://schemas.openxmlformats.org/officeDocument/2006/math">
                    <m:sSup>
                      <m:sSup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pPr>
                      <m:e>
                        <m:r>
                          <a:rPr lang="en-US" altLang="en-US" sz="2800" b="1" i="1" smtClean="0">
                            <a:solidFill>
                              <a:srgbClr val="FF0000"/>
                            </a:solidFill>
                            <a:effectLst/>
                            <a:latin typeface="Cambria Math" panose="02040503050406030204" pitchFamily="18" charset="0"/>
                            <a:ea typeface="Cambria Math" panose="02040503050406030204" pitchFamily="18" charset="0"/>
                          </a:rPr>
                          <m:t>𝒌</m:t>
                        </m:r>
                        <m:r>
                          <a:rPr lang="en-US" altLang="en-US" sz="2800" b="1" i="1" smtClean="0">
                            <a:solidFill>
                              <a:srgbClr val="FF0000"/>
                            </a:solidFill>
                            <a:effectLst/>
                            <a:latin typeface="Cambria Math" panose="02040503050406030204" pitchFamily="18" charset="0"/>
                            <a:ea typeface="Cambria Math" panose="02040503050406030204" pitchFamily="18" charset="0"/>
                          </a:rPr>
                          <m:t>&gt;</m:t>
                        </m:r>
                        <m:r>
                          <a:rPr lang="en-US" altLang="en-US" sz="2800" b="1" i="1" smtClean="0">
                            <a:solidFill>
                              <a:srgbClr val="FF0000"/>
                            </a:solidFill>
                            <a:effectLst/>
                            <a:latin typeface="Cambria Math" panose="02040503050406030204" pitchFamily="18" charset="0"/>
                            <a:ea typeface="Cambria Math" panose="02040503050406030204" pitchFamily="18" charset="0"/>
                          </a:rPr>
                          <m:t>𝒌</m:t>
                        </m:r>
                      </m:e>
                      <m:sup>
                        <m:r>
                          <a:rPr lang="en-US" altLang="en-US" sz="2800" i="1">
                            <a:solidFill>
                              <a:srgbClr val="FF0000"/>
                            </a:solidFill>
                            <a:effectLst/>
                            <a:latin typeface="Cambria Math" panose="02040503050406030204" pitchFamily="18" charset="0"/>
                            <a:ea typeface="Cambria Math" panose="02040503050406030204" pitchFamily="18" charset="0"/>
                          </a:rPr>
                          <m:t>∗</m:t>
                        </m:r>
                      </m:sup>
                    </m:sSup>
                  </m:oMath>
                </a14:m>
                <a:endParaRPr lang="en-US" altLang="en-US" dirty="0">
                  <a:effectLst/>
                </a:endParaRPr>
              </a:p>
              <a:p>
                <a:endParaRPr lang="en-US" altLang="en-US" dirty="0">
                  <a:effectLst/>
                </a:endParaRPr>
              </a:p>
              <a:p>
                <a:pPr marL="0" indent="0">
                  <a:buNone/>
                </a:pPr>
                <a:r>
                  <a:rPr lang="en-US" altLang="en-US" dirty="0">
                    <a:effectLst/>
                  </a:rPr>
                  <a:t>That is,  we accept the candidate as long as the candidate is the best seen so far (state </a:t>
                </a:r>
                <a14:m>
                  <m:oMath xmlns:m="http://schemas.openxmlformats.org/officeDocument/2006/math">
                    <m:r>
                      <a:rPr lang="en-US" altLang="en-US" b="1" i="1" smtClean="0">
                        <a:solidFill>
                          <a:srgbClr val="FF0000"/>
                        </a:solidFill>
                        <a:effectLst/>
                        <a:latin typeface="Cambria Math" panose="02040503050406030204" pitchFamily="18" charset="0"/>
                      </a:rPr>
                      <m:t>𝟏</m:t>
                    </m:r>
                  </m:oMath>
                </a14:m>
                <a:r>
                  <a:rPr lang="en-US" altLang="en-US" dirty="0">
                    <a:effectLst/>
                  </a:rPr>
                  <a:t>).</a:t>
                </a:r>
              </a:p>
              <a:p>
                <a:r>
                  <a:rPr lang="en-US" altLang="en-US" dirty="0">
                    <a:effectLst/>
                  </a:rPr>
                  <a:t>If </a:t>
                </a:r>
                <a14:m>
                  <m:oMath xmlns:m="http://schemas.openxmlformats.org/officeDocument/2006/math">
                    <m:sSup>
                      <m:sSupPr>
                        <m:ctrlPr>
                          <a:rPr lang="en-US" altLang="en-US" sz="2800" b="1" i="1" smtClean="0">
                            <a:solidFill>
                              <a:srgbClr val="FF0000"/>
                            </a:solidFill>
                            <a:effectLst/>
                            <a:latin typeface="Cambria Math" panose="02040503050406030204" pitchFamily="18" charset="0"/>
                            <a:ea typeface="Cambria Math" panose="02040503050406030204" pitchFamily="18" charset="0"/>
                          </a:rPr>
                        </m:ctrlPr>
                      </m:sSupPr>
                      <m:e>
                        <m:r>
                          <a:rPr lang="en-US" altLang="en-US" sz="2800" b="1" i="1" smtClean="0">
                            <a:solidFill>
                              <a:srgbClr val="FF0000"/>
                            </a:solidFill>
                            <a:effectLst/>
                            <a:latin typeface="Cambria Math" panose="02040503050406030204" pitchFamily="18" charset="0"/>
                            <a:ea typeface="Cambria Math" panose="02040503050406030204" pitchFamily="18" charset="0"/>
                          </a:rPr>
                          <m:t>𝒌</m:t>
                        </m:r>
                        <m:r>
                          <a:rPr lang="en-US" altLang="en-US" sz="2800" b="1" i="1" smtClean="0">
                            <a:solidFill>
                              <a:srgbClr val="FF0000"/>
                            </a:solidFill>
                            <a:effectLst/>
                            <a:latin typeface="Cambria Math" panose="02040503050406030204" pitchFamily="18" charset="0"/>
                            <a:ea typeface="Cambria Math" panose="02040503050406030204" pitchFamily="18" charset="0"/>
                          </a:rPr>
                          <m:t>&lt;</m:t>
                        </m:r>
                        <m:r>
                          <a:rPr lang="en-US" altLang="en-US" sz="2800" b="1" i="1" smtClean="0">
                            <a:solidFill>
                              <a:srgbClr val="FF0000"/>
                            </a:solidFill>
                            <a:effectLst/>
                            <a:latin typeface="Cambria Math" panose="02040503050406030204" pitchFamily="18" charset="0"/>
                            <a:ea typeface="Cambria Math" panose="02040503050406030204" pitchFamily="18" charset="0"/>
                          </a:rPr>
                          <m:t>𝒌</m:t>
                        </m:r>
                      </m:e>
                      <m:sup>
                        <m:r>
                          <a:rPr lang="en-US" altLang="en-US" sz="2800" i="1">
                            <a:solidFill>
                              <a:srgbClr val="FF0000"/>
                            </a:solidFill>
                            <a:effectLst/>
                            <a:latin typeface="Cambria Math" panose="02040503050406030204" pitchFamily="18" charset="0"/>
                            <a:ea typeface="Cambria Math" panose="02040503050406030204" pitchFamily="18" charset="0"/>
                          </a:rPr>
                          <m:t>∗</m:t>
                        </m:r>
                      </m:sup>
                    </m:sSup>
                  </m:oMath>
                </a14:m>
                <a:r>
                  <a:rPr lang="en-US" altLang="en-US" sz="2800" dirty="0">
                    <a:effectLst/>
                  </a:rPr>
                  <a:t>, </a:t>
                </a:r>
                <a14:m>
                  <m:oMath xmlns:m="http://schemas.openxmlformats.org/officeDocument/2006/math">
                    <m:f>
                      <m:fPr>
                        <m:ctrlPr>
                          <a:rPr lang="en-US" altLang="en-US" sz="2800" b="1" i="1" smtClean="0">
                            <a:solidFill>
                              <a:srgbClr val="FF0000"/>
                            </a:solidFill>
                            <a:effectLst/>
                            <a:latin typeface="Cambria Math" panose="02040503050406030204" pitchFamily="18" charset="0"/>
                            <a:ea typeface="Cambria Math" panose="02040503050406030204" pitchFamily="18" charset="0"/>
                          </a:rPr>
                        </m:ctrlPr>
                      </m:fPr>
                      <m:num>
                        <m:r>
                          <a:rPr lang="en-US" altLang="en-US" sz="2800" b="1" i="1" smtClean="0">
                            <a:solidFill>
                              <a:srgbClr val="FF0000"/>
                            </a:solidFill>
                            <a:effectLst/>
                            <a:latin typeface="Cambria Math" panose="02040503050406030204" pitchFamily="18" charset="0"/>
                            <a:ea typeface="Cambria Math" panose="02040503050406030204" pitchFamily="18" charset="0"/>
                          </a:rPr>
                          <m:t>𝒌</m:t>
                        </m:r>
                      </m:num>
                      <m:den>
                        <m:r>
                          <a:rPr lang="en-US" altLang="en-US" sz="2800" i="1">
                            <a:solidFill>
                              <a:srgbClr val="FF0000"/>
                            </a:solidFill>
                            <a:effectLst/>
                            <a:latin typeface="Cambria Math" panose="02040503050406030204" pitchFamily="18" charset="0"/>
                            <a:ea typeface="Cambria Math" panose="02040503050406030204" pitchFamily="18" charset="0"/>
                          </a:rPr>
                          <m:t>𝒏</m:t>
                        </m:r>
                      </m:den>
                    </m:f>
                    <m:r>
                      <a:rPr lang="en-US" altLang="en-US" sz="2800" b="1" i="1" smtClean="0">
                        <a:solidFill>
                          <a:srgbClr val="FF0000"/>
                        </a:solidFill>
                        <a:effectLst/>
                        <a:latin typeface="Cambria Math" panose="02040503050406030204" pitchFamily="18" charset="0"/>
                        <a:ea typeface="Cambria Math" panose="02040503050406030204" pitchFamily="18" charset="0"/>
                      </a:rPr>
                      <m:t>&lt;</m:t>
                    </m:r>
                    <m:r>
                      <a:rPr lang="en-US" altLang="en-US" sz="2800" i="1">
                        <a:solidFill>
                          <a:srgbClr val="FF0000"/>
                        </a:solidFill>
                        <a:effectLst/>
                        <a:latin typeface="Cambria Math" panose="02040503050406030204" pitchFamily="18" charset="0"/>
                        <a:ea typeface="Cambria Math" panose="02040503050406030204" pitchFamily="18" charset="0"/>
                      </a:rPr>
                      <m:t>𝑽</m:t>
                    </m:r>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𝒏</m:t>
                    </m:r>
                    <m:r>
                      <a:rPr lang="en-US" altLang="en-US" sz="2800" b="1" i="1" smtClean="0">
                        <a:solidFill>
                          <a:srgbClr val="FF0000"/>
                        </a:solidFill>
                        <a:effectLst/>
                        <a:latin typeface="Cambria Math" panose="02040503050406030204" pitchFamily="18" charset="0"/>
                        <a:ea typeface="Cambria Math" panose="02040503050406030204" pitchFamily="18" charset="0"/>
                      </a:rPr>
                      <m:t>−</m:t>
                    </m:r>
                    <m:r>
                      <a:rPr lang="en-US" altLang="en-US" sz="2800" b="1" i="1" smtClean="0">
                        <a:solidFill>
                          <a:srgbClr val="FF0000"/>
                        </a:solidFill>
                        <a:effectLst/>
                        <a:latin typeface="Cambria Math" panose="02040503050406030204" pitchFamily="18" charset="0"/>
                        <a:ea typeface="Cambria Math" panose="02040503050406030204" pitchFamily="18" charset="0"/>
                      </a:rPr>
                      <m:t>𝒌</m:t>
                    </m:r>
                    <m:r>
                      <a:rPr lang="en-US" altLang="en-US" sz="2800" i="1">
                        <a:solidFill>
                          <a:srgbClr val="FF0000"/>
                        </a:solidFill>
                        <a:effectLst/>
                        <a:latin typeface="Cambria Math" panose="02040503050406030204" pitchFamily="18" charset="0"/>
                        <a:ea typeface="Cambria Math" panose="02040503050406030204" pitchFamily="18" charset="0"/>
                      </a:rPr>
                      <m:t>,</m:t>
                    </m:r>
                    <m:r>
                      <a:rPr lang="en-US" altLang="en-US" sz="2800" i="1">
                        <a:solidFill>
                          <a:srgbClr val="FF0000"/>
                        </a:solidFill>
                        <a:effectLst/>
                        <a:latin typeface="Cambria Math" panose="02040503050406030204" pitchFamily="18" charset="0"/>
                        <a:ea typeface="Cambria Math" panose="02040503050406030204" pitchFamily="18" charset="0"/>
                      </a:rPr>
                      <m:t>𝟎</m:t>
                    </m:r>
                    <m:r>
                      <a:rPr lang="en-US" altLang="en-US" sz="2800" i="1">
                        <a:solidFill>
                          <a:srgbClr val="FF0000"/>
                        </a:solidFill>
                        <a:effectLst/>
                        <a:latin typeface="Cambria Math" panose="02040503050406030204" pitchFamily="18" charset="0"/>
                        <a:ea typeface="Cambria Math" panose="02040503050406030204" pitchFamily="18" charset="0"/>
                      </a:rPr>
                      <m:t>)</m:t>
                    </m:r>
                  </m:oMath>
                </a14:m>
                <a:r>
                  <a:rPr lang="en-US" altLang="en-US" sz="2800" i="1" dirty="0">
                    <a:solidFill>
                      <a:srgbClr val="FF0000"/>
                    </a:solidFill>
                    <a:effectLst/>
                  </a:rPr>
                  <a:t> </a:t>
                </a:r>
                <a:r>
                  <a:rPr lang="en-US" altLang="en-US" dirty="0">
                    <a:effectLst/>
                  </a:rPr>
                  <a:t>and we reject the candidate.</a:t>
                </a:r>
              </a:p>
              <a:p>
                <a:endParaRPr lang="en-US" altLang="en-US" dirty="0"/>
              </a:p>
              <a:p>
                <a:endParaRPr lang="en-US" altLang="en-US" dirty="0"/>
              </a:p>
              <a:p>
                <a:endParaRPr lang="en-US" altLang="en-US" dirty="0"/>
              </a:p>
              <a:p>
                <a:endParaRPr lang="en-US" altLang="en-US" dirty="0"/>
              </a:p>
            </p:txBody>
          </p:sp>
        </mc:Choice>
        <mc:Fallback xmlns="">
          <p:sp>
            <p:nvSpPr>
              <p:cNvPr id="47107" name="Content Placeholder 2"/>
              <p:cNvSpPr>
                <a:spLocks noGrp="1" noRot="1" noChangeAspect="1" noMove="1" noResize="1" noEditPoints="1" noAdjustHandles="1" noChangeArrowheads="1" noChangeShapeType="1" noTextEdit="1"/>
              </p:cNvSpPr>
              <p:nvPr>
                <p:ph sz="quarter" idx="1"/>
              </p:nvPr>
            </p:nvSpPr>
            <p:spPr>
              <a:xfrm>
                <a:off x="17462" y="576852"/>
                <a:ext cx="8741527" cy="5030607"/>
              </a:xfrm>
              <a:blipFill rotWithShape="0">
                <a:blip r:embed="rId2"/>
                <a:stretch>
                  <a:fillRect l="-153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p:cNvSpPr txBox="1">
                <a:spLocks noChangeArrowheads="1"/>
              </p:cNvSpPr>
              <p:nvPr/>
            </p:nvSpPr>
            <p:spPr bwMode="auto">
              <a:xfrm>
                <a:off x="145479" y="1675943"/>
                <a:ext cx="8650224" cy="631391"/>
              </a:xfrm>
              <a:prstGeom prst="rect">
                <a:avLst/>
              </a:prstGeom>
              <a:noFill/>
              <a:ln w="9525">
                <a:no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rgbClr val="FF0000"/>
                    </a:solidFill>
                    <a:effectLst>
                      <a:outerShdw blurRad="38100" dist="38100" dir="2700000" algn="tl">
                        <a:srgbClr val="000000">
                          <a:alpha val="43137"/>
                        </a:srgbClr>
                      </a:outerShdw>
                    </a:effectLst>
                  </a:rPr>
                  <a:t> </a:t>
                </a:r>
                <a14:m>
                  <m:oMath xmlns:m="http://schemas.openxmlformats.org/officeDocument/2006/math">
                    <m:f>
                      <m:fPr>
                        <m:ctrlP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ctrlPr>
                      </m:fPr>
                      <m:num>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num>
                      <m:den>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𝒏</m:t>
                        </m:r>
                      </m:den>
                    </m:f>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𝑽</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𝒏</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𝒌</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𝟎</m:t>
                    </m:r>
                    <m:r>
                      <a:rPr lang="en-US" altLang="en-US" sz="2400" b="1" i="1" smtClean="0">
                        <a:solidFill>
                          <a:srgbClr val="FF0000"/>
                        </a:solidFill>
                        <a:effectLst>
                          <a:outerShdw blurRad="38100" dist="38100" dir="2700000" algn="tl">
                            <a:srgbClr val="000000">
                              <a:alpha val="43137"/>
                            </a:srgbClr>
                          </a:outerShdw>
                        </a:effectLst>
                        <a:latin typeface="Cambria Math" panose="02040503050406030204" pitchFamily="18" charset="0"/>
                        <a:ea typeface="Cambria Math" panose="02040503050406030204" pitchFamily="18" charset="0"/>
                      </a:rPr>
                      <m:t>)</m:t>
                    </m:r>
                  </m:oMath>
                </a14:m>
                <a:r>
                  <a:rPr lang="en-US" altLang="en-US" sz="2400" b="1" i="1" dirty="0">
                    <a:solidFill>
                      <a:srgbClr val="FF0000"/>
                    </a:solidFill>
                    <a:effectLst>
                      <a:outerShdw blurRad="38100" dist="38100" dir="2700000" algn="tl">
                        <a:srgbClr val="000000">
                          <a:alpha val="43137"/>
                        </a:srgbClr>
                      </a:outerShdw>
                    </a:effectLst>
                  </a:rPr>
                  <a:t> </a:t>
                </a:r>
                <a:endParaRPr lang="en-GB" altLang="en-US" sz="2400" b="1" i="1" dirty="0">
                  <a:solidFill>
                    <a:srgbClr val="FF0000"/>
                  </a:solidFill>
                  <a:effectLst>
                    <a:outerShdw blurRad="38100" dist="38100" dir="2700000" algn="tl">
                      <a:srgbClr val="000000">
                        <a:alpha val="43137"/>
                      </a:srgbClr>
                    </a:outerShdw>
                  </a:effectLst>
                </a:endParaRPr>
              </a:p>
            </p:txBody>
          </p:sp>
        </mc:Choice>
        <mc:Fallback xmlns="">
          <p:sp>
            <p:nvSpPr>
              <p:cNvPr id="6" name="TextBox 5"/>
              <p:cNvSpPr txBox="1">
                <a:spLocks noRot="1" noChangeAspect="1" noMove="1" noResize="1" noEditPoints="1" noAdjustHandles="1" noChangeArrowheads="1" noChangeShapeType="1" noTextEdit="1"/>
              </p:cNvSpPr>
              <p:nvPr/>
            </p:nvSpPr>
            <p:spPr bwMode="auto">
              <a:xfrm>
                <a:off x="145479" y="1675943"/>
                <a:ext cx="8650224" cy="631391"/>
              </a:xfrm>
              <a:prstGeom prst="rect">
                <a:avLst/>
              </a:prstGeom>
              <a:blipFill rotWithShape="0">
                <a:blip r:embed="rId6"/>
                <a:stretch>
                  <a:fillRect/>
                </a:stretch>
              </a:blipFill>
              <a:ln w="9525">
                <a:no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p:cNvSpPr txBox="1">
                <a:spLocks noChangeArrowheads="1"/>
              </p:cNvSpPr>
              <p:nvPr/>
            </p:nvSpPr>
            <p:spPr bwMode="auto">
              <a:xfrm>
                <a:off x="255618" y="4375540"/>
                <a:ext cx="8650224" cy="786177"/>
              </a:xfrm>
              <a:prstGeom prst="rect">
                <a:avLst/>
              </a:prstGeom>
              <a:noFill/>
              <a:ln w="9525">
                <a:solidFill>
                  <a:srgbClr val="000000"/>
                </a:solidFill>
                <a:miter lim="800000"/>
                <a:headEnd/>
                <a:tailEnd/>
              </a:ln>
              <a:extLst>
                <a:ext uri="{909E8E84-426E-40DD-AFC4-6F175D3DCCD1}">
                  <a14:hiddenFill>
                    <a:solidFill>
                      <a:srgbClr val="FFFFFF"/>
                    </a:solidFill>
                  </a14:hiddenFill>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14:m>
                  <m:oMathPara xmlns:m="http://schemas.openxmlformats.org/officeDocument/2006/math">
                    <m:oMath>
                      <m:sSup>
                        <m:sSupPr>
                          <m:ctrlPr>
                            <a:rPr lang="en-US" altLang="en-US" sz="2400" b="1" i="1" smtClean="0">
                              <a:solidFill>
                                <a:schemeClr val="tx1"/>
                              </a:solidFill>
                              <a:effectLst/>
                              <a:latin typeface="Cambria Math" panose="02040503050406030204" pitchFamily="18" charset="0"/>
                              <a:ea typeface="Cambria Math" panose="02040503050406030204" pitchFamily="18" charset="0"/>
                            </a:rPr>
                          </m:ctrlPr>
                        </m:sSupPr>
                        <m:e>
                          <m:r>
                            <a:rPr lang="en-US" altLang="en-US" sz="2400" b="1" i="1" smtClean="0">
                              <a:solidFill>
                                <a:schemeClr val="tx1"/>
                              </a:solidFill>
                              <a:effectLst/>
                              <a:latin typeface="Cambria Math" panose="02040503050406030204" pitchFamily="18" charset="0"/>
                              <a:ea typeface="Cambria Math" panose="02040503050406030204" pitchFamily="18" charset="0"/>
                            </a:rPr>
                            <m:t>𝒌</m:t>
                          </m:r>
                        </m:e>
                        <m:sup>
                          <m:r>
                            <a:rPr lang="en-US" altLang="en-US" sz="2400" b="1" i="1" smtClean="0">
                              <a:solidFill>
                                <a:schemeClr val="tx1"/>
                              </a:solidFill>
                              <a:effectLst/>
                              <a:latin typeface="Cambria Math" panose="02040503050406030204" pitchFamily="18" charset="0"/>
                              <a:ea typeface="Cambria Math" panose="02040503050406030204" pitchFamily="18" charset="0"/>
                            </a:rPr>
                            <m:t>∗</m:t>
                          </m:r>
                        </m:sup>
                      </m:sSup>
                      <m:r>
                        <a:rPr lang="en-US" altLang="en-US" sz="2400" b="1" i="1" smtClean="0">
                          <a:solidFill>
                            <a:schemeClr val="tx1"/>
                          </a:solidFill>
                          <a:effectLst/>
                          <a:latin typeface="Cambria Math" panose="02040503050406030204" pitchFamily="18" charset="0"/>
                          <a:ea typeface="Cambria Math" panose="02040503050406030204" pitchFamily="18" charset="0"/>
                        </a:rPr>
                        <m:t>≈</m:t>
                      </m:r>
                      <m:f>
                        <m:fPr>
                          <m:ctrlPr>
                            <a:rPr lang="en-US" altLang="en-US" sz="2400" b="1" i="1" smtClean="0">
                              <a:solidFill>
                                <a:schemeClr val="tx1"/>
                              </a:solidFill>
                              <a:effectLst/>
                              <a:latin typeface="Cambria Math" panose="02040503050406030204" pitchFamily="18" charset="0"/>
                              <a:ea typeface="Cambria Math" panose="02040503050406030204" pitchFamily="18" charset="0"/>
                            </a:rPr>
                          </m:ctrlPr>
                        </m:fPr>
                        <m:num>
                          <m:r>
                            <a:rPr lang="en-US" altLang="en-US" sz="2400" b="1" i="1" smtClean="0">
                              <a:solidFill>
                                <a:schemeClr val="tx1"/>
                              </a:solidFill>
                              <a:effectLst/>
                              <a:latin typeface="Cambria Math" panose="02040503050406030204" pitchFamily="18" charset="0"/>
                              <a:ea typeface="Cambria Math" panose="02040503050406030204" pitchFamily="18" charset="0"/>
                            </a:rPr>
                            <m:t>𝟏</m:t>
                          </m:r>
                        </m:num>
                        <m:den>
                          <m:r>
                            <a:rPr lang="en-US" altLang="en-US" sz="2400" b="1" i="1" smtClean="0">
                              <a:solidFill>
                                <a:schemeClr val="tx1"/>
                              </a:solidFill>
                              <a:effectLst/>
                              <a:latin typeface="Cambria Math" panose="02040503050406030204" pitchFamily="18" charset="0"/>
                              <a:ea typeface="Cambria Math" panose="02040503050406030204" pitchFamily="18" charset="0"/>
                            </a:rPr>
                            <m:t>𝒆</m:t>
                          </m:r>
                        </m:den>
                      </m:f>
                      <m:r>
                        <a:rPr lang="en-US" altLang="en-US" sz="2400" b="1" i="1" smtClean="0">
                          <a:solidFill>
                            <a:schemeClr val="tx1"/>
                          </a:solidFill>
                          <a:effectLst/>
                          <a:latin typeface="Cambria Math" panose="02040503050406030204" pitchFamily="18" charset="0"/>
                          <a:ea typeface="Cambria Math" panose="02040503050406030204" pitchFamily="18" charset="0"/>
                        </a:rPr>
                        <m:t>𝒏</m:t>
                      </m:r>
                      <m:r>
                        <a:rPr lang="en-US" altLang="en-US" sz="2400" b="1" i="1" smtClean="0">
                          <a:solidFill>
                            <a:schemeClr val="tx1"/>
                          </a:solidFill>
                          <a:effectLst/>
                          <a:latin typeface="Cambria Math" panose="02040503050406030204" pitchFamily="18" charset="0"/>
                          <a:ea typeface="Cambria Math" panose="02040503050406030204" pitchFamily="18" charset="0"/>
                        </a:rPr>
                        <m:t>≈</m:t>
                      </m:r>
                      <m:r>
                        <a:rPr lang="en-US" altLang="en-US" sz="2400" b="1" i="1" smtClean="0">
                          <a:solidFill>
                            <a:schemeClr val="tx1"/>
                          </a:solidFill>
                          <a:effectLst/>
                          <a:latin typeface="Cambria Math" panose="02040503050406030204" pitchFamily="18" charset="0"/>
                          <a:ea typeface="Cambria Math" panose="02040503050406030204" pitchFamily="18" charset="0"/>
                        </a:rPr>
                        <m:t>𝟎</m:t>
                      </m:r>
                      <m:r>
                        <a:rPr lang="en-US" altLang="en-US" sz="2400" b="1" i="1" smtClean="0">
                          <a:solidFill>
                            <a:schemeClr val="tx1"/>
                          </a:solidFill>
                          <a:effectLst/>
                          <a:latin typeface="Cambria Math" panose="02040503050406030204" pitchFamily="18" charset="0"/>
                          <a:ea typeface="Cambria Math" panose="02040503050406030204" pitchFamily="18" charset="0"/>
                        </a:rPr>
                        <m:t>.</m:t>
                      </m:r>
                      <m:r>
                        <a:rPr lang="en-US" altLang="en-US" sz="2400" b="1" i="1" smtClean="0">
                          <a:solidFill>
                            <a:schemeClr val="tx1"/>
                          </a:solidFill>
                          <a:effectLst/>
                          <a:latin typeface="Cambria Math" panose="02040503050406030204" pitchFamily="18" charset="0"/>
                          <a:ea typeface="Cambria Math" panose="02040503050406030204" pitchFamily="18" charset="0"/>
                        </a:rPr>
                        <m:t>𝟑𝟕</m:t>
                      </m:r>
                      <m:r>
                        <a:rPr lang="en-US" altLang="en-US" sz="2400" b="1" i="1" smtClean="0">
                          <a:solidFill>
                            <a:schemeClr val="tx1"/>
                          </a:solidFill>
                          <a:effectLst/>
                          <a:latin typeface="Cambria Math" panose="02040503050406030204" pitchFamily="18" charset="0"/>
                          <a:ea typeface="Cambria Math" panose="02040503050406030204" pitchFamily="18" charset="0"/>
                        </a:rPr>
                        <m:t>𝒏</m:t>
                      </m:r>
                    </m:oMath>
                  </m:oMathPara>
                </a14:m>
                <a:endParaRPr lang="en-GB" altLang="en-US" sz="2400" b="1" i="1" dirty="0">
                  <a:effectLst/>
                </a:endParaRPr>
              </a:p>
            </p:txBody>
          </p:sp>
        </mc:Choice>
        <mc:Fallback xmlns="">
          <p:sp>
            <p:nvSpPr>
              <p:cNvPr id="8" name="TextBox 7"/>
              <p:cNvSpPr txBox="1">
                <a:spLocks noRot="1" noChangeAspect="1" noMove="1" noResize="1" noEditPoints="1" noAdjustHandles="1" noChangeArrowheads="1" noChangeShapeType="1" noTextEdit="1"/>
              </p:cNvSpPr>
              <p:nvPr/>
            </p:nvSpPr>
            <p:spPr bwMode="auto">
              <a:xfrm>
                <a:off x="255618" y="4375540"/>
                <a:ext cx="8650224" cy="786177"/>
              </a:xfrm>
              <a:prstGeom prst="rect">
                <a:avLst/>
              </a:prstGeom>
              <a:blipFill rotWithShape="0">
                <a:blip r:embed="rId7"/>
                <a:stretch>
                  <a:fillRect/>
                </a:stretch>
              </a:blip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r>
                  <a:rPr lang="en-SG">
                    <a:noFill/>
                  </a:rPr>
                  <a:t> </a:t>
                </a:r>
              </a:p>
            </p:txBody>
          </p:sp>
        </mc:Fallback>
      </mc:AlternateContent>
    </p:spTree>
    <p:extLst>
      <p:ext uri="{BB962C8B-B14F-4D97-AF65-F5344CB8AC3E}">
        <p14:creationId xmlns:p14="http://schemas.microsoft.com/office/powerpoint/2010/main" val="46099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a:xfrm>
            <a:off x="-81391" y="0"/>
            <a:ext cx="9099550" cy="931863"/>
          </a:xfrm>
        </p:spPr>
        <p:txBody>
          <a:bodyPr/>
          <a:lstStyle/>
          <a:p>
            <a:pPr>
              <a:defRPr/>
            </a:pPr>
            <a:endParaRPr lang="en-US" altLang="zh-CN" dirty="0">
              <a:ea typeface="宋体" pitchFamily="2" charset="-122"/>
            </a:endParaRPr>
          </a:p>
        </p:txBody>
      </p:sp>
      <p:sp>
        <p:nvSpPr>
          <p:cNvPr id="109571" name="Rectangle 3"/>
          <p:cNvSpPr>
            <a:spLocks noGrp="1" noChangeArrowheads="1"/>
          </p:cNvSpPr>
          <p:nvPr>
            <p:ph type="body" idx="1"/>
          </p:nvPr>
        </p:nvSpPr>
        <p:spPr>
          <a:xfrm>
            <a:off x="836753" y="1154499"/>
            <a:ext cx="9110663" cy="5472113"/>
          </a:xfrm>
        </p:spPr>
        <p:txBody>
          <a:bodyPr/>
          <a:lstStyle/>
          <a:p>
            <a:pPr marL="0" indent="0">
              <a:buNone/>
              <a:defRPr/>
            </a:pPr>
            <a:endParaRPr lang="en-US" altLang="zh-CN" dirty="0">
              <a:ea typeface="宋体" pitchFamily="2" charset="-122"/>
            </a:endParaRPr>
          </a:p>
          <a:p>
            <a:pPr marL="0" indent="0">
              <a:buNone/>
              <a:defRPr/>
            </a:pPr>
            <a:r>
              <a:rPr lang="en-US" altLang="zh-CN" dirty="0">
                <a:ea typeface="宋体" pitchFamily="2" charset="-122"/>
              </a:rPr>
              <a:t>    </a:t>
            </a:r>
          </a:p>
          <a:p>
            <a:pPr marL="0" indent="0">
              <a:buNone/>
              <a:defRPr/>
            </a:pPr>
            <a:endParaRPr lang="en-US" altLang="zh-CN" dirty="0">
              <a:ea typeface="宋体" pitchFamily="2" charset="-122"/>
            </a:endParaRPr>
          </a:p>
          <a:p>
            <a:pPr marL="0" indent="0">
              <a:buNone/>
              <a:defRPr/>
            </a:pPr>
            <a:r>
              <a:rPr lang="en-US" altLang="zh-CN" sz="4000" dirty="0">
                <a:ea typeface="宋体" pitchFamily="2" charset="-122"/>
              </a:rPr>
              <a:t>                   Review</a:t>
            </a:r>
          </a:p>
          <a:p>
            <a:pPr marL="0" indent="0">
              <a:buNone/>
              <a:defRPr/>
            </a:pPr>
            <a:endParaRPr lang="en-US" altLang="zh-CN" sz="4000" dirty="0">
              <a:ea typeface="宋体" pitchFamily="2" charset="-122"/>
            </a:endParaRPr>
          </a:p>
          <a:p>
            <a:pPr marL="0" indent="0">
              <a:buNone/>
              <a:defRPr/>
            </a:pPr>
            <a:endParaRPr lang="en-US" altLang="zh-CN" sz="4000"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20125304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What You Should Expect</a:t>
            </a:r>
          </a:p>
        </p:txBody>
      </p:sp>
      <p:sp>
        <p:nvSpPr>
          <p:cNvPr id="109571" name="Rectangle 3"/>
          <p:cNvSpPr>
            <a:spLocks noGrp="1" noChangeArrowheads="1"/>
          </p:cNvSpPr>
          <p:nvPr>
            <p:ph type="body" idx="1"/>
          </p:nvPr>
        </p:nvSpPr>
        <p:spPr>
          <a:xfrm>
            <a:off x="0" y="385515"/>
            <a:ext cx="9110663" cy="5472113"/>
          </a:xfrm>
        </p:spPr>
        <p:txBody>
          <a:bodyPr/>
          <a:lstStyle/>
          <a:p>
            <a:pPr marL="0" indent="0">
              <a:buNone/>
              <a:defRPr/>
            </a:pPr>
            <a:endParaRPr lang="en-US" altLang="zh-CN" dirty="0">
              <a:ea typeface="宋体" pitchFamily="2" charset="-122"/>
            </a:endParaRPr>
          </a:p>
          <a:p>
            <a:pPr>
              <a:defRPr/>
            </a:pPr>
            <a:r>
              <a:rPr lang="en-US" altLang="zh-CN" sz="2800" dirty="0">
                <a:effectLst/>
                <a:ea typeface="宋体" pitchFamily="2" charset="-122"/>
              </a:rPr>
              <a:t>Mathematical Thinking</a:t>
            </a:r>
          </a:p>
          <a:p>
            <a:pPr lvl="1">
              <a:defRPr/>
            </a:pPr>
            <a:r>
              <a:rPr lang="en-US" altLang="zh-CN" sz="2400" dirty="0">
                <a:effectLst/>
                <a:ea typeface="宋体" pitchFamily="2" charset="-122"/>
              </a:rPr>
              <a:t>Understand the basic logic behind algorithms</a:t>
            </a:r>
          </a:p>
          <a:p>
            <a:pPr lvl="2">
              <a:defRPr/>
            </a:pPr>
            <a:r>
              <a:rPr lang="en-US" altLang="zh-CN" sz="2200" dirty="0">
                <a:effectLst/>
                <a:ea typeface="宋体" pitchFamily="2" charset="-122"/>
              </a:rPr>
              <a:t>Simplex (BFS, local search, spanning tree)</a:t>
            </a:r>
          </a:p>
          <a:p>
            <a:pPr lvl="2">
              <a:defRPr/>
            </a:pPr>
            <a:r>
              <a:rPr lang="en-US" altLang="zh-CN" sz="2200" dirty="0">
                <a:effectLst/>
                <a:ea typeface="宋体" pitchFamily="2" charset="-122"/>
              </a:rPr>
              <a:t>Branch and Bound (relaxation, bounding)</a:t>
            </a:r>
          </a:p>
          <a:p>
            <a:pPr lvl="2">
              <a:defRPr/>
            </a:pPr>
            <a:r>
              <a:rPr lang="en-US" altLang="zh-CN" sz="2200" dirty="0">
                <a:effectLst/>
                <a:ea typeface="宋体" pitchFamily="2" charset="-122"/>
              </a:rPr>
              <a:t>Dynamic Programming (state, value function)</a:t>
            </a:r>
          </a:p>
          <a:p>
            <a:pPr lvl="1">
              <a:defRPr/>
            </a:pPr>
            <a:r>
              <a:rPr lang="en-US" altLang="zh-CN" sz="2400" dirty="0">
                <a:effectLst/>
                <a:ea typeface="宋体" pitchFamily="2" charset="-122"/>
              </a:rPr>
              <a:t>Understand the general principles in optimization</a:t>
            </a:r>
          </a:p>
          <a:p>
            <a:pPr lvl="2">
              <a:defRPr/>
            </a:pPr>
            <a:r>
              <a:rPr lang="en-US" altLang="zh-CN" sz="2200" dirty="0">
                <a:effectLst/>
                <a:ea typeface="宋体" pitchFamily="2" charset="-122"/>
              </a:rPr>
              <a:t>Convex vs. non-convex (global vs. local)</a:t>
            </a:r>
          </a:p>
          <a:p>
            <a:pPr lvl="2">
              <a:defRPr/>
            </a:pPr>
            <a:r>
              <a:rPr lang="en-US" altLang="zh-CN" sz="2200" dirty="0">
                <a:effectLst/>
                <a:ea typeface="宋体" pitchFamily="2" charset="-122"/>
              </a:rPr>
              <a:t>Deterministic vs. stochastic (hedging risk, value of information)</a:t>
            </a:r>
          </a:p>
          <a:p>
            <a:pPr lvl="2">
              <a:defRPr/>
            </a:pPr>
            <a:r>
              <a:rPr lang="en-US" altLang="zh-CN" sz="2200" dirty="0" err="1">
                <a:effectLst/>
                <a:ea typeface="宋体" pitchFamily="2" charset="-122"/>
              </a:rPr>
              <a:t>Lagrangian</a:t>
            </a:r>
            <a:r>
              <a:rPr lang="en-US" altLang="zh-CN" sz="2200" dirty="0">
                <a:effectLst/>
                <a:ea typeface="宋体" pitchFamily="2" charset="-122"/>
              </a:rPr>
              <a:t> relaxation, duality, lower bound/upper bound</a:t>
            </a:r>
          </a:p>
          <a:p>
            <a:pPr lvl="1">
              <a:defRPr/>
            </a:pPr>
            <a:r>
              <a:rPr lang="en-US" altLang="zh-CN" sz="2400" dirty="0">
                <a:effectLst/>
                <a:ea typeface="宋体" pitchFamily="2" charset="-122"/>
              </a:rPr>
              <a:t>Judgement on the difficulty of a problem; be able to assess the quality of a solution</a:t>
            </a:r>
          </a:p>
          <a:p>
            <a:pPr lvl="2">
              <a:defRPr/>
            </a:pPr>
            <a:r>
              <a:rPr lang="en-US" altLang="zh-CN" sz="2200" dirty="0">
                <a:effectLst/>
                <a:ea typeface="宋体" pitchFamily="2" charset="-122"/>
              </a:rPr>
              <a:t>Problem size/type; exponential vs. polynomial</a:t>
            </a:r>
          </a:p>
          <a:p>
            <a:pPr lvl="2">
              <a:defRPr/>
            </a:pPr>
            <a:r>
              <a:rPr lang="en-US" altLang="zh-CN" sz="2200" dirty="0">
                <a:effectLst/>
                <a:ea typeface="宋体" pitchFamily="2" charset="-122"/>
              </a:rPr>
              <a:t>Relaxation and bounding</a:t>
            </a:r>
          </a:p>
          <a:p>
            <a:pPr lvl="1">
              <a:defRPr/>
            </a:pPr>
            <a:endParaRPr lang="en-US" altLang="zh-CN" dirty="0">
              <a:ea typeface="宋体" pitchFamily="2" charset="-122"/>
            </a:endParaRPr>
          </a:p>
          <a:p>
            <a:pPr marL="0" indent="0">
              <a:buNone/>
              <a:defRPr/>
            </a:pPr>
            <a:endParaRPr lang="en-US" altLang="zh-CN" dirty="0">
              <a:ea typeface="宋体" pitchFamily="2" charset="-122"/>
            </a:endParaRP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11841121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defRPr/>
            </a:pPr>
            <a:r>
              <a:rPr lang="en-US" altLang="zh-CN" dirty="0">
                <a:ea typeface="宋体" pitchFamily="2" charset="-122"/>
              </a:rPr>
              <a:t>What You Should Expect</a:t>
            </a:r>
          </a:p>
        </p:txBody>
      </p:sp>
      <p:sp>
        <p:nvSpPr>
          <p:cNvPr id="109571" name="Rectangle 3"/>
          <p:cNvSpPr>
            <a:spLocks noGrp="1" noChangeArrowheads="1"/>
          </p:cNvSpPr>
          <p:nvPr>
            <p:ph type="body" idx="1"/>
          </p:nvPr>
        </p:nvSpPr>
        <p:spPr>
          <a:xfrm>
            <a:off x="0" y="571274"/>
            <a:ext cx="9110663" cy="5472113"/>
          </a:xfrm>
        </p:spPr>
        <p:txBody>
          <a:bodyPr/>
          <a:lstStyle/>
          <a:p>
            <a:pPr marL="454025" lvl="1" indent="0">
              <a:buNone/>
              <a:defRPr/>
            </a:pPr>
            <a:endParaRPr lang="en-US" altLang="zh-CN" dirty="0">
              <a:ea typeface="宋体" pitchFamily="2" charset="-122"/>
            </a:endParaRPr>
          </a:p>
          <a:p>
            <a:pPr>
              <a:defRPr/>
            </a:pPr>
            <a:r>
              <a:rPr lang="en-US" altLang="zh-CN" dirty="0">
                <a:effectLst/>
                <a:ea typeface="宋体" pitchFamily="2" charset="-122"/>
              </a:rPr>
              <a:t>Analytics Skills</a:t>
            </a:r>
          </a:p>
          <a:p>
            <a:pPr lvl="1">
              <a:defRPr/>
            </a:pPr>
            <a:r>
              <a:rPr lang="en-US" altLang="zh-CN" dirty="0">
                <a:effectLst/>
                <a:ea typeface="宋体" pitchFamily="2" charset="-122"/>
              </a:rPr>
              <a:t>Building up models</a:t>
            </a:r>
          </a:p>
          <a:p>
            <a:pPr lvl="2">
              <a:defRPr/>
            </a:pPr>
            <a:r>
              <a:rPr lang="en-US" altLang="zh-CN" dirty="0">
                <a:effectLst/>
                <a:ea typeface="宋体" pitchFamily="2" charset="-122"/>
              </a:rPr>
              <a:t>LP: production-type problem, simple pricing and sourcing problem</a:t>
            </a:r>
          </a:p>
          <a:p>
            <a:pPr lvl="2">
              <a:defRPr/>
            </a:pPr>
            <a:r>
              <a:rPr lang="en-US" altLang="zh-CN" dirty="0">
                <a:effectLst/>
                <a:ea typeface="宋体" pitchFamily="2" charset="-122"/>
              </a:rPr>
              <a:t>Network flow: project management, process flexibility, transportation and matching</a:t>
            </a:r>
          </a:p>
          <a:p>
            <a:pPr lvl="2">
              <a:defRPr/>
            </a:pPr>
            <a:r>
              <a:rPr lang="en-US" altLang="zh-CN" dirty="0">
                <a:effectLst/>
                <a:ea typeface="宋体" pitchFamily="2" charset="-122"/>
              </a:rPr>
              <a:t>IP: multi-product pricing, routing and scheduling, Sudoku</a:t>
            </a:r>
          </a:p>
          <a:p>
            <a:pPr lvl="2">
              <a:defRPr/>
            </a:pPr>
            <a:r>
              <a:rPr lang="en-US" altLang="zh-CN" dirty="0">
                <a:effectLst/>
                <a:ea typeface="宋体" pitchFamily="2" charset="-122"/>
              </a:rPr>
              <a:t>DP: shortest path problem, inventory problem, optimal stopping</a:t>
            </a:r>
          </a:p>
          <a:p>
            <a:pPr lvl="2">
              <a:defRPr/>
            </a:pPr>
            <a:endParaRPr lang="en-US" altLang="zh-CN" dirty="0">
              <a:effectLst/>
              <a:ea typeface="宋体" pitchFamily="2" charset="-122"/>
            </a:endParaRPr>
          </a:p>
          <a:p>
            <a:pPr lvl="1">
              <a:defRPr/>
            </a:pPr>
            <a:r>
              <a:rPr lang="en-US" altLang="zh-CN" dirty="0">
                <a:effectLst/>
                <a:ea typeface="宋体" pitchFamily="2" charset="-122"/>
              </a:rPr>
              <a:t>Picking the right tools</a:t>
            </a:r>
          </a:p>
          <a:p>
            <a:pPr lvl="1">
              <a:defRPr/>
            </a:pPr>
            <a:r>
              <a:rPr lang="en-US" altLang="zh-CN" dirty="0">
                <a:effectLst/>
                <a:ea typeface="宋体" pitchFamily="2" charset="-122"/>
              </a:rPr>
              <a:t>Implementing in Software</a:t>
            </a:r>
          </a:p>
        </p:txBody>
      </p:sp>
      <p:sp>
        <p:nvSpPr>
          <p:cNvPr id="1029" name="Rectangle 6"/>
          <p:cNvSpPr>
            <a:spLocks noChangeArrowheads="1"/>
          </p:cNvSpPr>
          <p:nvPr/>
        </p:nvSpPr>
        <p:spPr bwMode="auto">
          <a:xfrm>
            <a:off x="3600450" y="2633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endParaRPr lang="en-US"/>
          </a:p>
        </p:txBody>
      </p:sp>
    </p:spTree>
    <p:extLst>
      <p:ext uri="{BB962C8B-B14F-4D97-AF65-F5344CB8AC3E}">
        <p14:creationId xmlns:p14="http://schemas.microsoft.com/office/powerpoint/2010/main" val="31205985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Tru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300"/>
  <p:tag name="DEFAULTMAGNIFICATION" val="1.5"/>
  <p:tag name="DEFAULTFONTSIZE" val="10"/>
  <p:tag name="DEFAULTWIDTH" val="394"/>
  <p:tag name="DEFAULTHEIGHT" val="338"/>
  <p:tag name="FIRSTXINCHEN@SUSY3254AVWXY596" val="2652"/>
  <p:tag name="FIRSTXIN20CHEN@ELDXLB0FUVWYY57I" val="3665"/>
</p:tagLst>
</file>

<file path=ppt/theme/theme1.xml><?xml version="1.0" encoding="utf-8"?>
<a:theme xmlns:a="http://schemas.openxmlformats.org/drawingml/2006/main" name="Lectures">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Lectur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0033CC"/>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solidFill>
            <a:srgbClr val="0033CC"/>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Lectures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ctures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s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s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s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ctures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C:\WINDOWS\Application Data\Microsoft\Templates\Lectures.pot</Template>
  <TotalTime>54813</TotalTime>
  <Words>3455</Words>
  <Application>Microsoft Office PowerPoint</Application>
  <PresentationFormat>On-screen Show (4:3)</PresentationFormat>
  <Paragraphs>1137</Paragraphs>
  <Slides>69</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Gill Sans MT</vt:lpstr>
      <vt:lpstr>Cambria Math</vt:lpstr>
      <vt:lpstr>Arial</vt:lpstr>
      <vt:lpstr>Times New Roman</vt:lpstr>
      <vt:lpstr>宋体</vt:lpstr>
      <vt:lpstr>Lectures</vt:lpstr>
      <vt:lpstr>DBA5103</vt:lpstr>
      <vt:lpstr>Dynamic Programming</vt:lpstr>
      <vt:lpstr>PowerPoint Presentation</vt:lpstr>
      <vt:lpstr>AlphaGo</vt:lpstr>
      <vt:lpstr>AlphaGo</vt:lpstr>
      <vt:lpstr>OpenAI</vt:lpstr>
      <vt:lpstr>OpenAI</vt:lpstr>
      <vt:lpstr>Deterministic vs. Stochastic DP</vt:lpstr>
      <vt:lpstr>PowerPoint Presentation</vt:lpstr>
      <vt:lpstr>A Computational Point of View</vt:lpstr>
      <vt:lpstr>A Computational Point of View</vt:lpstr>
      <vt:lpstr>First Algorithm: Tree View n=5 </vt:lpstr>
      <vt:lpstr>Second Algorithm: Tree View n=5 </vt:lpstr>
      <vt:lpstr>Key Idea: Value Function</vt:lpstr>
      <vt:lpstr>Shortest Path Problem</vt:lpstr>
      <vt:lpstr>Cost on the Edges</vt:lpstr>
      <vt:lpstr>Decomposition</vt:lpstr>
      <vt:lpstr>Decomposition</vt:lpstr>
      <vt:lpstr>State</vt:lpstr>
      <vt:lpstr>State</vt:lpstr>
      <vt:lpstr>Value Function</vt:lpstr>
      <vt:lpstr>Stage 1</vt:lpstr>
      <vt:lpstr>Stage 2</vt:lpstr>
      <vt:lpstr>Stage 3</vt:lpstr>
      <vt:lpstr>Final Stage</vt:lpstr>
      <vt:lpstr>Solution</vt:lpstr>
      <vt:lpstr>Shortest Path Problem: Summary</vt:lpstr>
      <vt:lpstr>A General Deterministic DP</vt:lpstr>
      <vt:lpstr>Shortest Path Problem</vt:lpstr>
      <vt:lpstr>Summary: Components of DP</vt:lpstr>
      <vt:lpstr>Knapsack Problem</vt:lpstr>
      <vt:lpstr>Think in a Sequential Way</vt:lpstr>
      <vt:lpstr>Decomposition</vt:lpstr>
      <vt:lpstr>Single Stage Problem: Only Product 4</vt:lpstr>
      <vt:lpstr>Stage 1</vt:lpstr>
      <vt:lpstr>Stage 2</vt:lpstr>
      <vt:lpstr>Stage 2</vt:lpstr>
      <vt:lpstr>Stage 3</vt:lpstr>
      <vt:lpstr>Stage 3</vt:lpstr>
      <vt:lpstr>Final Stage</vt:lpstr>
      <vt:lpstr>Final Stage</vt:lpstr>
      <vt:lpstr>Complete Solution</vt:lpstr>
      <vt:lpstr>Knapsack Problem: Bellman Equation</vt:lpstr>
      <vt:lpstr>A Very Complicated Dynamic Problem: Go</vt:lpstr>
      <vt:lpstr>State Transition</vt:lpstr>
      <vt:lpstr>Rough Estimate of Complexity</vt:lpstr>
      <vt:lpstr>PowerPoint Presentation</vt:lpstr>
      <vt:lpstr>Newsvendor Problem</vt:lpstr>
      <vt:lpstr>Multi-Period Newsvendor Problem</vt:lpstr>
      <vt:lpstr>Stochastic Optimization</vt:lpstr>
      <vt:lpstr>Stochastic Optimization</vt:lpstr>
      <vt:lpstr>Open-loop Solution</vt:lpstr>
      <vt:lpstr>Stochastic Shortest Path Formulation</vt:lpstr>
      <vt:lpstr>Stage 2 (Day 2)</vt:lpstr>
      <vt:lpstr>Last Stage (Day 1)</vt:lpstr>
      <vt:lpstr>Optimal Policy</vt:lpstr>
      <vt:lpstr>Deterministic DP vs Stochastic DP</vt:lpstr>
      <vt:lpstr>Open-loop vs State Dependent Solution</vt:lpstr>
      <vt:lpstr>Secretary Problem</vt:lpstr>
      <vt:lpstr>Naïve Method: Open-loop Solution</vt:lpstr>
      <vt:lpstr>Stochastic DP</vt:lpstr>
      <vt:lpstr>Stage 0 (the n-th candidate)</vt:lpstr>
      <vt:lpstr>Stage 1 (the n-1-th candidate)</vt:lpstr>
      <vt:lpstr>Stage n-k (the k-th candidate)</vt:lpstr>
      <vt:lpstr>Secretary Problem: n = 4</vt:lpstr>
      <vt:lpstr>Secretary Problem: In General</vt:lpstr>
      <vt:lpstr>PowerPoint Presentation</vt:lpstr>
      <vt:lpstr>What You Should Expect</vt:lpstr>
      <vt:lpstr>What You Should Expect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 to LP</dc:title>
  <dc:creator>Xin Chen</dc:creator>
  <cp:lastModifiedBy>Hu Zhenyu</cp:lastModifiedBy>
  <cp:revision>663</cp:revision>
  <dcterms:created xsi:type="dcterms:W3CDTF">2002-09-09T04:16:02Z</dcterms:created>
  <dcterms:modified xsi:type="dcterms:W3CDTF">2026-10-26T09:19:07Z</dcterms:modified>
</cp:coreProperties>
</file>