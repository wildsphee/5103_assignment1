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9" r:id="rId1"/>
  </p:sldMasterIdLst>
  <p:notesMasterIdLst>
    <p:notesMasterId r:id="rId51"/>
  </p:notesMasterIdLst>
  <p:handoutMasterIdLst>
    <p:handoutMasterId r:id="rId52"/>
  </p:handoutMasterIdLst>
  <p:sldIdLst>
    <p:sldId id="363" r:id="rId2"/>
    <p:sldId id="665" r:id="rId3"/>
    <p:sldId id="666" r:id="rId4"/>
    <p:sldId id="667" r:id="rId5"/>
    <p:sldId id="668" r:id="rId6"/>
    <p:sldId id="669" r:id="rId7"/>
    <p:sldId id="671" r:id="rId8"/>
    <p:sldId id="673" r:id="rId9"/>
    <p:sldId id="675" r:id="rId10"/>
    <p:sldId id="498" r:id="rId11"/>
    <p:sldId id="597" r:id="rId12"/>
    <p:sldId id="598" r:id="rId13"/>
    <p:sldId id="599" r:id="rId14"/>
    <p:sldId id="600" r:id="rId15"/>
    <p:sldId id="601" r:id="rId16"/>
    <p:sldId id="602" r:id="rId17"/>
    <p:sldId id="604" r:id="rId18"/>
    <p:sldId id="603" r:id="rId19"/>
    <p:sldId id="605" r:id="rId20"/>
    <p:sldId id="606" r:id="rId21"/>
    <p:sldId id="650" r:id="rId22"/>
    <p:sldId id="651" r:id="rId23"/>
    <p:sldId id="652" r:id="rId24"/>
    <p:sldId id="607" r:id="rId25"/>
    <p:sldId id="624" r:id="rId26"/>
    <p:sldId id="608" r:id="rId27"/>
    <p:sldId id="609" r:id="rId28"/>
    <p:sldId id="613" r:id="rId29"/>
    <p:sldId id="616" r:id="rId30"/>
    <p:sldId id="612" r:id="rId31"/>
    <p:sldId id="614" r:id="rId32"/>
    <p:sldId id="615" r:id="rId33"/>
    <p:sldId id="617" r:id="rId34"/>
    <p:sldId id="619" r:id="rId35"/>
    <p:sldId id="618" r:id="rId36"/>
    <p:sldId id="620" r:id="rId37"/>
    <p:sldId id="621" r:id="rId38"/>
    <p:sldId id="622" r:id="rId39"/>
    <p:sldId id="623" r:id="rId40"/>
    <p:sldId id="656" r:id="rId41"/>
    <p:sldId id="657" r:id="rId42"/>
    <p:sldId id="654" r:id="rId43"/>
    <p:sldId id="655" r:id="rId44"/>
    <p:sldId id="660" r:id="rId45"/>
    <p:sldId id="661" r:id="rId46"/>
    <p:sldId id="662" r:id="rId47"/>
    <p:sldId id="663" r:id="rId48"/>
    <p:sldId id="664" r:id="rId49"/>
    <p:sldId id="636" r:id="rId50"/>
  </p:sldIdLst>
  <p:sldSz cx="9144000" cy="6858000" type="screen4x3"/>
  <p:notesSz cx="6858000" cy="9144000"/>
  <p:embeddedFontLst>
    <p:embeddedFont>
      <p:font typeface="宋体" panose="02010600030101010101" pitchFamily="2" charset="-122"/>
      <p:regular r:id="rId53"/>
    </p:embeddedFont>
    <p:embeddedFont>
      <p:font typeface="Cambria" panose="02040503050406030204" pitchFamily="18" charset="0"/>
      <p:regular r:id="rId54"/>
      <p:bold r:id="rId55"/>
      <p:italic r:id="rId56"/>
      <p:boldItalic r:id="rId57"/>
    </p:embeddedFont>
    <p:embeddedFont>
      <p:font typeface="Cambria Math" panose="02040503050406030204" pitchFamily="18" charset="0"/>
      <p:regular r:id="rId58"/>
    </p:embeddedFont>
    <p:embeddedFont>
      <p:font typeface="MS PGothic" panose="020B0600070205080204" pitchFamily="34" charset="-128"/>
      <p:regular r:id="rId59"/>
    </p:embeddedFont>
    <p:embeddedFont>
      <p:font typeface="MS PGothic" panose="020B0600070205080204" pitchFamily="34" charset="-128"/>
      <p:regular r:id="rId59"/>
    </p:embeddedFont>
  </p:embeddedFontLst>
  <p:custDataLst>
    <p:tags r:id="rId60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2C129C"/>
    <a:srgbClr val="C6D6FE"/>
    <a:srgbClr val="BACDFE"/>
    <a:srgbClr val="E9EFFF"/>
    <a:srgbClr val="FF33CC"/>
    <a:srgbClr val="FFFF00"/>
    <a:srgbClr val="A8C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6" autoAdjust="0"/>
    <p:restoredTop sz="88790" autoAdjust="0"/>
  </p:normalViewPr>
  <p:slideViewPr>
    <p:cSldViewPr snapToGrid="0">
      <p:cViewPr varScale="1">
        <p:scale>
          <a:sx n="109" d="100"/>
          <a:sy n="109" d="100"/>
        </p:scale>
        <p:origin x="174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2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tags" Target="tags/tag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yu Hu" userId="38117962_tp_dropbox" providerId="OAuth2" clId="{5EF11072-9274-754D-8833-6FBB6F8EAE40}"/>
    <pc:docChg chg="modSld">
      <pc:chgData name="Zhenyu Hu" userId="38117962_tp_dropbox" providerId="OAuth2" clId="{5EF11072-9274-754D-8833-6FBB6F8EAE40}" dt="2020-08-27T08:30:00.438" v="0" actId="1076"/>
      <pc:docMkLst>
        <pc:docMk/>
      </pc:docMkLst>
      <pc:sldChg chg="modSp">
        <pc:chgData name="Zhenyu Hu" userId="38117962_tp_dropbox" providerId="OAuth2" clId="{5EF11072-9274-754D-8833-6FBB6F8EAE40}" dt="2020-08-27T08:30:00.438" v="0" actId="1076"/>
        <pc:sldMkLst>
          <pc:docMk/>
          <pc:sldMk cId="622047131" sldId="363"/>
        </pc:sldMkLst>
        <pc:picChg chg="mod">
          <ac:chgData name="Zhenyu Hu" userId="38117962_tp_dropbox" providerId="OAuth2" clId="{5EF11072-9274-754D-8833-6FBB6F8EAE40}" dt="2020-08-27T08:30:00.438" v="0" actId="1076"/>
          <ac:picMkLst>
            <pc:docMk/>
            <pc:sldMk cId="622047131" sldId="363"/>
            <ac:picMk id="6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B1C7EBB-BE00-44DC-AAA2-1213A86712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461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2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5696EE8-B9BB-4DC7-BDD3-AEC2C65202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6585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56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242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316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C6E467-2521-45FC-98B8-D98C1BF0FC72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636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(0, 1.5), (0, 1</a:t>
            </a:r>
            <a:r>
              <a:rPr lang="en-US" baseline="0" dirty="0"/>
              <a:t>), (0, 3)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696EE8-B9BB-4DC7-BDD3-AEC2C6520280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1700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506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788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995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112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587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x_1</a:t>
            </a:r>
            <a:r>
              <a:rPr lang="en-US" altLang="zh-CN" baseline="0" dirty="0"/>
              <a:t>A_1 + x_2A_2 + … + </a:t>
            </a:r>
            <a:r>
              <a:rPr lang="en-US" altLang="zh-CN" baseline="0" dirty="0" err="1"/>
              <a:t>x_nA_n</a:t>
            </a:r>
            <a:r>
              <a:rPr lang="en-US" altLang="zh-CN" baseline="0" dirty="0"/>
              <a:t> = 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0345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034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791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190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(0, 0, 0, 8, 12, 4, 6)</a:t>
            </a:r>
            <a:endParaRPr lang="en-GB" altLang="en-US" sz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8503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633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2333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418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2769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975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9439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080210D-FA10-4DD7-AA24-ED48DD488809}" type="slidenum">
              <a:rPr lang="zh-CN" altLang="en-US" smtClean="0">
                <a:latin typeface="Times New Roman" pitchFamily="18" charset="0"/>
              </a:rPr>
              <a:pPr/>
              <a:t>36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2523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080210D-FA10-4DD7-AA24-ED48DD488809}" type="slidenum">
              <a:rPr lang="zh-CN" altLang="en-US" smtClean="0">
                <a:latin typeface="Times New Roman" pitchFamily="18" charset="0"/>
              </a:rPr>
              <a:pPr/>
              <a:t>37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3471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8600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4883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13335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1746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86389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6249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0304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3410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51621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227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4082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77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8673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56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1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903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30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0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38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602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54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1650" y="9525"/>
            <a:ext cx="2278063" cy="6523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463" y="9525"/>
            <a:ext cx="6681787" cy="6523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15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3" y="9525"/>
            <a:ext cx="9099550" cy="9318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187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7938" y="-1588"/>
            <a:ext cx="9129712" cy="976313"/>
          </a:xfrm>
          <a:prstGeom prst="rect">
            <a:avLst/>
          </a:prstGeom>
          <a:solidFill>
            <a:srgbClr val="0033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463" y="9525"/>
            <a:ext cx="909955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Title: Cap All Words, Bold, Helvetica 32, White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" y="1060450"/>
            <a:ext cx="9110663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Level one: int. cap, bold, helvetica 30, maroon</a:t>
            </a:r>
          </a:p>
          <a:p>
            <a:pPr lvl="1"/>
            <a:r>
              <a:rPr lang="en-US" altLang="zh-CN"/>
              <a:t>Level two: initial cap, bold, helvetica 27, blue</a:t>
            </a:r>
          </a:p>
          <a:p>
            <a:pPr lvl="2"/>
            <a:r>
              <a:rPr lang="en-US" altLang="zh-CN"/>
              <a:t>Level three: initial cap, italics, helvetica 24, blue</a:t>
            </a:r>
          </a:p>
          <a:p>
            <a:pPr lvl="3"/>
            <a:r>
              <a:rPr lang="en-US" altLang="zh-CN"/>
              <a:t>Level four: </a:t>
            </a: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0" y="6592888"/>
            <a:ext cx="8874125" cy="6350"/>
          </a:xfrm>
          <a:prstGeom prst="line">
            <a:avLst/>
          </a:prstGeom>
          <a:noFill/>
          <a:ln w="25400">
            <a:solidFill>
              <a:srgbClr val="00279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341313" indent="-341313" algn="l" defTabSz="909638" rtl="0" eaLnBrk="0" fontAlgn="base" hangingPunct="0">
        <a:spcBef>
          <a:spcPct val="20000"/>
        </a:spcBef>
        <a:spcAft>
          <a:spcPct val="0"/>
        </a:spcAft>
        <a:buClr>
          <a:srgbClr val="790015"/>
        </a:buClr>
        <a:buSzPct val="100000"/>
        <a:buChar char="•"/>
        <a:defRPr sz="2900" b="1">
          <a:solidFill>
            <a:srgbClr val="790015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38188" indent="-284163" algn="l" defTabSz="909638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100000"/>
        <a:buChar char="­"/>
        <a:defRPr sz="2700" b="1">
          <a:solidFill>
            <a:srgbClr val="00279F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38238" indent="-228600" algn="l" defTabSz="909638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100000"/>
        <a:buChar char="·"/>
        <a:defRPr sz="2400" i="1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473200" indent="-209550" algn="l" defTabSz="909638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33CC"/>
          </a:solidFill>
          <a:latin typeface="+mn-lt"/>
        </a:defRPr>
      </a:lvl4pPr>
      <a:lvl5pPr marL="18954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5pPr>
      <a:lvl6pPr marL="23526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6pPr>
      <a:lvl7pPr marL="28098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7pPr>
      <a:lvl8pPr marL="32670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8pPr>
      <a:lvl9pPr marL="37242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0.png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0.png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DBA5103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sz="2800" dirty="0">
                <a:ea typeface="宋体" pitchFamily="2" charset="-122"/>
              </a:rPr>
              <a:t>Operations Research and Analytics</a:t>
            </a:r>
            <a:endParaRPr lang="en-US" altLang="zh-CN" sz="32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3200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Zhenyu Hu</a:t>
            </a: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Semester I, 2026/2027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481" y="4108868"/>
            <a:ext cx="29718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04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lvl="0" indent="0">
              <a:buNone/>
            </a:pP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         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Implementation		</a:t>
            </a:r>
            <a:endParaRPr lang="en-US" altLang="zh-CN" sz="40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15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Wyndor</a:t>
            </a:r>
            <a:r>
              <a:rPr lang="en-US" dirty="0"/>
              <a:t> Glass Co.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1095829"/>
            <a:ext cx="7587343" cy="2894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320800" y="4359479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4359479"/>
                <a:ext cx="4572000" cy="1938992"/>
              </a:xfrm>
              <a:prstGeom prst="rect">
                <a:avLst/>
              </a:prstGeom>
              <a:blipFill rotWithShape="0">
                <a:blip r:embed="rId3"/>
                <a:stretch>
                  <a:fillRect b="-3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63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in Solver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1" y="1900237"/>
            <a:ext cx="8872299" cy="25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5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in Solver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006250"/>
            <a:ext cx="6012180" cy="552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8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in </a:t>
            </a:r>
            <a:r>
              <a:rPr lang="en-US" dirty="0" err="1"/>
              <a:t>Gurobi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" y="1492157"/>
            <a:ext cx="9168450" cy="415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20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Model and Display Output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9050" y="1060450"/>
            <a:ext cx="6772275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t" anchorCtr="0" compatLnSpc="1">
            <a:prstTxWarp prst="textNoShape">
              <a:avLst/>
            </a:prstTxWarp>
          </a:bodyPr>
          <a:lstStyle>
            <a:lvl1pPr marL="341313" indent="-34131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90015"/>
              </a:buClr>
              <a:buSzPct val="100000"/>
              <a:buChar char="•"/>
              <a:defRPr sz="2900" b="1">
                <a:solidFill>
                  <a:srgbClr val="79001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38188" indent="-28416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Char char="­"/>
              <a:defRPr sz="2700" b="1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38238" indent="-22860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100000"/>
              <a:buChar char="·"/>
              <a:defRPr sz="2400" i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473200" indent="-20955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CC"/>
                </a:solidFill>
                <a:latin typeface="+mn-lt"/>
              </a:defRPr>
            </a:lvl4pPr>
            <a:lvl5pPr marL="18954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3526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8098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2670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7242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800" kern="0" dirty="0">
                <a:effectLst/>
              </a:rPr>
              <a:t>Solving the model</a:t>
            </a:r>
          </a:p>
          <a:p>
            <a:endParaRPr lang="en-US" sz="2800" kern="0" dirty="0">
              <a:solidFill>
                <a:srgbClr val="FF0000"/>
              </a:solidFill>
              <a:effectLst/>
            </a:endParaRPr>
          </a:p>
          <a:p>
            <a:endParaRPr lang="en-US" sz="2800" kern="0" dirty="0">
              <a:solidFill>
                <a:srgbClr val="FF0000"/>
              </a:solidFill>
              <a:effectLst/>
            </a:endParaRPr>
          </a:p>
          <a:p>
            <a:endParaRPr lang="en-US" sz="2800" kern="0" dirty="0">
              <a:solidFill>
                <a:srgbClr val="FF0000"/>
              </a:solidFill>
              <a:effectLst/>
            </a:endParaRPr>
          </a:p>
          <a:p>
            <a:r>
              <a:rPr lang="en-US" sz="2800" kern="0" dirty="0">
                <a:effectLst/>
              </a:rPr>
              <a:t>Display solution and optimal value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4166"/>
            <a:ext cx="8480466" cy="6530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3" y="4049274"/>
            <a:ext cx="6183640" cy="160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47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Separating Model and Data: Model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1727191"/>
            <a:ext cx="9107488" cy="280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5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Separating Model and Data: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8" y="1169118"/>
            <a:ext cx="5994708" cy="4381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8" y="1607291"/>
            <a:ext cx="5931205" cy="5715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7" y="2178820"/>
            <a:ext cx="5931205" cy="8445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7" y="3023413"/>
            <a:ext cx="7340977" cy="51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81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lvl="0" indent="0">
              <a:buNone/>
            </a:pP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 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Geometry of Linear Programming    		</a:t>
            </a:r>
            <a:endParaRPr lang="en-US" altLang="zh-CN" sz="40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04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31"/>
          <p:cNvGrpSpPr>
            <a:grpSpLocks/>
          </p:cNvGrpSpPr>
          <p:nvPr/>
        </p:nvGrpSpPr>
        <p:grpSpPr bwMode="auto">
          <a:xfrm>
            <a:off x="2425700" y="4495800"/>
            <a:ext cx="2055813" cy="1295400"/>
            <a:chOff x="2426039" y="4495800"/>
            <a:chExt cx="2055232" cy="1295400"/>
          </a:xfrm>
        </p:grpSpPr>
        <p:sp>
          <p:nvSpPr>
            <p:cNvPr id="43" name="Right Triangle 42"/>
            <p:cNvSpPr/>
            <p:nvPr/>
          </p:nvSpPr>
          <p:spPr>
            <a:xfrm>
              <a:off x="2591092" y="4495800"/>
              <a:ext cx="1523569" cy="1295400"/>
            </a:xfrm>
            <a:prstGeom prst="rtTriangle">
              <a:avLst/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44" name="Isosceles Triangle 43"/>
            <p:cNvSpPr/>
            <p:nvPr/>
          </p:nvSpPr>
          <p:spPr>
            <a:xfrm rot="2424316">
              <a:off x="2426039" y="4833938"/>
              <a:ext cx="2055232" cy="330200"/>
            </a:xfrm>
            <a:prstGeom prst="triangle">
              <a:avLst>
                <a:gd name="adj" fmla="val 49234"/>
              </a:avLst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6387" name="Content Placeholder 2"/>
          <p:cNvSpPr>
            <a:spLocks noGrp="1"/>
          </p:cNvSpPr>
          <p:nvPr>
            <p:ph idx="1"/>
          </p:nvPr>
        </p:nvSpPr>
        <p:spPr bwMode="auto">
          <a:xfrm>
            <a:off x="381000" y="1066800"/>
            <a:ext cx="8382000" cy="1290638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dirty="0">
                <a:effectLst/>
                <a:latin typeface="Cambria" panose="02040503050406030204" pitchFamily="18" charset="0"/>
              </a:rPr>
              <a:t>Objective: </a:t>
            </a:r>
            <a:r>
              <a:rPr lang="en-US" altLang="en-US" sz="2400" b="1" i="1" dirty="0">
                <a:effectLst/>
                <a:latin typeface="Cambria" panose="02040503050406030204" pitchFamily="18" charset="0"/>
              </a:rPr>
              <a:t>maximize x</a:t>
            </a:r>
            <a:r>
              <a:rPr lang="en-US" altLang="en-US" sz="2400" b="1" i="1" baseline="-25000" dirty="0">
                <a:effectLst/>
                <a:latin typeface="Cambria" panose="02040503050406030204" pitchFamily="18" charset="0"/>
              </a:rPr>
              <a:t>1</a:t>
            </a:r>
            <a:r>
              <a:rPr lang="en-US" altLang="en-US" sz="2400" b="1" i="1" dirty="0">
                <a:effectLst/>
                <a:latin typeface="Cambria" panose="02040503050406030204" pitchFamily="18" charset="0"/>
              </a:rPr>
              <a:t> + x</a:t>
            </a:r>
            <a:r>
              <a:rPr lang="en-US" altLang="en-US" sz="2400" b="1" i="1" baseline="-25000" dirty="0">
                <a:effectLst/>
                <a:latin typeface="Cambria" panose="02040503050406030204" pitchFamily="18" charset="0"/>
              </a:rPr>
              <a:t>2</a:t>
            </a:r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>
            <a:off x="1752600" y="5789613"/>
            <a:ext cx="5410200" cy="317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 rot="5400000" flipH="1" flipV="1">
            <a:off x="571501" y="4532312"/>
            <a:ext cx="4038600" cy="317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390" name="TextBox 14"/>
          <p:cNvSpPr txBox="1">
            <a:spLocks noChangeArrowheads="1"/>
          </p:cNvSpPr>
          <p:nvPr/>
        </p:nvSpPr>
        <p:spPr bwMode="auto">
          <a:xfrm>
            <a:off x="6705600" y="5786438"/>
            <a:ext cx="76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6391" name="TextBox 15"/>
          <p:cNvSpPr txBox="1">
            <a:spLocks noChangeArrowheads="1"/>
          </p:cNvSpPr>
          <p:nvPr/>
        </p:nvSpPr>
        <p:spPr bwMode="auto">
          <a:xfrm>
            <a:off x="2057400" y="2433638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6392" name="TextBox 18"/>
          <p:cNvSpPr txBox="1">
            <a:spLocks noChangeArrowheads="1"/>
          </p:cNvSpPr>
          <p:nvPr/>
        </p:nvSpPr>
        <p:spPr bwMode="auto">
          <a:xfrm>
            <a:off x="2286000" y="5791200"/>
            <a:ext cx="457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cxnSp>
        <p:nvCxnSpPr>
          <p:cNvPr id="22" name="Straight Connector 21"/>
          <p:cNvCxnSpPr>
            <a:cxnSpLocks noChangeShapeType="1"/>
          </p:cNvCxnSpPr>
          <p:nvPr/>
        </p:nvCxnSpPr>
        <p:spPr bwMode="auto">
          <a:xfrm rot="16200000" flipH="1">
            <a:off x="3048000" y="4800600"/>
            <a:ext cx="1524000" cy="914400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</p:cNvCxnSpPr>
          <p:nvPr/>
        </p:nvCxnSpPr>
        <p:spPr bwMode="auto">
          <a:xfrm>
            <a:off x="2362200" y="4343400"/>
            <a:ext cx="1676400" cy="685800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16395" name="Picture 2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825" y="2750974"/>
            <a:ext cx="2241550" cy="11890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Connector 35"/>
          <p:cNvCxnSpPr>
            <a:cxnSpLocks noChangeShapeType="1"/>
          </p:cNvCxnSpPr>
          <p:nvPr/>
        </p:nvCxnSpPr>
        <p:spPr bwMode="auto">
          <a:xfrm>
            <a:off x="1294607" y="4565650"/>
            <a:ext cx="2133600" cy="1981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457200" y="4267200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b="1" i="1"/>
              <a:t>x</a:t>
            </a:r>
            <a:r>
              <a:rPr lang="en-US" altLang="en-US" b="1" i="1" baseline="-25000"/>
              <a:t>1</a:t>
            </a:r>
            <a:r>
              <a:rPr lang="en-US" altLang="en-US" b="1" i="1"/>
              <a:t> + x</a:t>
            </a:r>
            <a:r>
              <a:rPr lang="en-US" altLang="en-US" b="1" i="1" baseline="-25000"/>
              <a:t>2</a:t>
            </a:r>
            <a:r>
              <a:rPr lang="en-US" altLang="en-US" b="1" i="1"/>
              <a:t> = 0</a:t>
            </a:r>
          </a:p>
        </p:txBody>
      </p:sp>
      <p:sp>
        <p:nvSpPr>
          <p:cNvPr id="1639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Geometry of LP in 2D </a:t>
            </a:r>
          </a:p>
        </p:txBody>
      </p:sp>
    </p:spTree>
    <p:extLst>
      <p:ext uri="{BB962C8B-B14F-4D97-AF65-F5344CB8AC3E}">
        <p14:creationId xmlns:p14="http://schemas.microsoft.com/office/powerpoint/2010/main" val="357444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31"/>
          <p:cNvGrpSpPr>
            <a:grpSpLocks/>
          </p:cNvGrpSpPr>
          <p:nvPr/>
        </p:nvGrpSpPr>
        <p:grpSpPr bwMode="auto">
          <a:xfrm>
            <a:off x="2767781" y="4788874"/>
            <a:ext cx="2055812" cy="1295400"/>
            <a:chOff x="2426039" y="4495800"/>
            <a:chExt cx="2055232" cy="1295400"/>
          </a:xfrm>
        </p:grpSpPr>
        <p:sp>
          <p:nvSpPr>
            <p:cNvPr id="56" name="Right Triangle 55"/>
            <p:cNvSpPr/>
            <p:nvPr/>
          </p:nvSpPr>
          <p:spPr>
            <a:xfrm>
              <a:off x="2591092" y="4495800"/>
              <a:ext cx="1523570" cy="1295400"/>
            </a:xfrm>
            <a:prstGeom prst="rtTriangle">
              <a:avLst/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57" name="Isosceles Triangle 56"/>
            <p:cNvSpPr/>
            <p:nvPr/>
          </p:nvSpPr>
          <p:spPr>
            <a:xfrm rot="2424316">
              <a:off x="2426039" y="4833937"/>
              <a:ext cx="2055232" cy="330200"/>
            </a:xfrm>
            <a:prstGeom prst="triangle">
              <a:avLst>
                <a:gd name="adj" fmla="val 49234"/>
              </a:avLst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5363" name="Content Placeholder 2"/>
          <p:cNvSpPr>
            <a:spLocks noGrp="1"/>
          </p:cNvSpPr>
          <p:nvPr>
            <p:ph idx="1"/>
          </p:nvPr>
        </p:nvSpPr>
        <p:spPr bwMode="auto">
          <a:xfrm>
            <a:off x="17463" y="1013974"/>
            <a:ext cx="8382000" cy="45307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200" b="1" u="sng" dirty="0">
                <a:effectLst/>
                <a:latin typeface="Cambria" panose="02040503050406030204" pitchFamily="18" charset="0"/>
              </a:rPr>
              <a:t>Feasible Region</a:t>
            </a:r>
            <a:r>
              <a:rPr lang="en-US" altLang="en-US" sz="2200" b="1" dirty="0">
                <a:effectLst/>
                <a:latin typeface="Cambria" panose="02040503050406030204" pitchFamily="18" charset="0"/>
              </a:rPr>
              <a:t>:</a:t>
            </a:r>
            <a:r>
              <a:rPr lang="en-US" altLang="en-US" sz="2200" dirty="0">
                <a:effectLst/>
                <a:latin typeface="Cambria" panose="02040503050406030204" pitchFamily="18" charset="0"/>
              </a:rPr>
              <a:t> The set of all the allowed solutions; a polyhedron described by the constraints </a:t>
            </a:r>
          </a:p>
          <a:p>
            <a:pPr lvl="1"/>
            <a:r>
              <a:rPr lang="en-US" altLang="en-US" sz="2000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Each equality constraint defines a </a:t>
            </a:r>
            <a:r>
              <a:rPr lang="en-US" altLang="en-US" sz="2000" b="1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line</a:t>
            </a:r>
            <a:endParaRPr lang="en-US" altLang="en-US" sz="2000" dirty="0">
              <a:effectLst/>
              <a:latin typeface="Cambria" panose="02040503050406030204" pitchFamily="18" charset="0"/>
              <a:ea typeface="Arial" panose="020B0604020202020204" pitchFamily="34" charset="0"/>
            </a:endParaRPr>
          </a:p>
          <a:p>
            <a:pPr lvl="1"/>
            <a:r>
              <a:rPr lang="en-US" altLang="en-US" sz="2000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Each inequality constraint defines a </a:t>
            </a:r>
            <a:r>
              <a:rPr lang="en-US" altLang="en-US" sz="2000" b="1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half-space</a:t>
            </a:r>
          </a:p>
          <a:p>
            <a:r>
              <a:rPr lang="en-US" altLang="en-US" sz="2200" b="1" u="sng" dirty="0">
                <a:effectLst/>
                <a:latin typeface="Cambria" panose="02040503050406030204" pitchFamily="18" charset="0"/>
              </a:rPr>
              <a:t>Extreme Points (Corner-Point Feasible Solution)</a:t>
            </a:r>
            <a:r>
              <a:rPr lang="en-US" altLang="en-US" sz="2200" b="1" dirty="0">
                <a:effectLst/>
                <a:latin typeface="Cambria" panose="02040503050406030204" pitchFamily="18" charset="0"/>
              </a:rPr>
              <a:t>: </a:t>
            </a:r>
            <a:r>
              <a:rPr lang="en-US" altLang="en-US" sz="2200" dirty="0">
                <a:effectLst/>
                <a:latin typeface="Cambria" panose="02040503050406030204" pitchFamily="18" charset="0"/>
              </a:rPr>
              <a:t>Corner points on the boundary of the feasible region. E.g., (0, 0), (1.5, 0), (0, 1.5), and (1, 1)</a:t>
            </a:r>
          </a:p>
          <a:p>
            <a:r>
              <a:rPr lang="en-US" altLang="en-US" sz="2200" b="1" u="sng" dirty="0">
                <a:effectLst/>
                <a:latin typeface="Cambria" panose="02040503050406030204" pitchFamily="18" charset="0"/>
              </a:rPr>
              <a:t>Infeasible problem</a:t>
            </a:r>
            <a:r>
              <a:rPr lang="en-US" altLang="en-US" sz="2200" b="1" dirty="0">
                <a:effectLst/>
                <a:latin typeface="Cambria" panose="02040503050406030204" pitchFamily="18" charset="0"/>
              </a:rPr>
              <a:t>: </a:t>
            </a:r>
            <a:r>
              <a:rPr lang="en-US" altLang="en-US" sz="2200" dirty="0">
                <a:effectLst/>
                <a:latin typeface="Cambria" panose="02040503050406030204" pitchFamily="18" charset="0"/>
              </a:rPr>
              <a:t>A problem with an empty feasible region</a:t>
            </a:r>
          </a:p>
          <a:p>
            <a:endParaRPr lang="en-US" altLang="en-US" sz="2200" b="1" dirty="0">
              <a:effectLst/>
              <a:latin typeface="Cambria" panose="02040503050406030204" pitchFamily="18" charset="0"/>
            </a:endParaRPr>
          </a:p>
        </p:txBody>
      </p:sp>
      <p:grpSp>
        <p:nvGrpSpPr>
          <p:cNvPr id="15364" name="Group 53"/>
          <p:cNvGrpSpPr>
            <a:grpSpLocks/>
          </p:cNvGrpSpPr>
          <p:nvPr/>
        </p:nvGrpSpPr>
        <p:grpSpPr bwMode="auto">
          <a:xfrm>
            <a:off x="2249399" y="4060952"/>
            <a:ext cx="3794982" cy="2480521"/>
            <a:chOff x="1920018" y="3771349"/>
            <a:chExt cx="3794982" cy="2480723"/>
          </a:xfrm>
        </p:grpSpPr>
        <p:cxnSp>
          <p:nvCxnSpPr>
            <p:cNvPr id="31" name="Straight Arrow Connector 30"/>
            <p:cNvCxnSpPr>
              <a:cxnSpLocks noChangeShapeType="1"/>
            </p:cNvCxnSpPr>
            <p:nvPr/>
          </p:nvCxnSpPr>
          <p:spPr bwMode="auto">
            <a:xfrm>
              <a:off x="2133600" y="5791660"/>
              <a:ext cx="3200400" cy="1587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2" name="Straight Arrow Connector 31"/>
            <p:cNvCxnSpPr>
              <a:cxnSpLocks noChangeShapeType="1"/>
            </p:cNvCxnSpPr>
            <p:nvPr/>
          </p:nvCxnSpPr>
          <p:spPr bwMode="auto">
            <a:xfrm rot="5400000" flipH="1" flipV="1">
              <a:off x="1409605" y="5066113"/>
              <a:ext cx="2362392" cy="3175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5372" name="TextBox 32"/>
            <p:cNvSpPr txBox="1">
              <a:spLocks noChangeArrowheads="1"/>
            </p:cNvSpPr>
            <p:nvPr/>
          </p:nvSpPr>
          <p:spPr bwMode="auto">
            <a:xfrm>
              <a:off x="4953000" y="5786735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400" dirty="0"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73" name="TextBox 33"/>
            <p:cNvSpPr txBox="1">
              <a:spLocks noChangeArrowheads="1"/>
            </p:cNvSpPr>
            <p:nvPr/>
          </p:nvSpPr>
          <p:spPr bwMode="auto">
            <a:xfrm>
              <a:off x="1920018" y="3771349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400" dirty="0"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74" name="TextBox 34"/>
            <p:cNvSpPr txBox="1">
              <a:spLocks noChangeArrowheads="1"/>
            </p:cNvSpPr>
            <p:nvPr/>
          </p:nvSpPr>
          <p:spPr bwMode="auto">
            <a:xfrm>
              <a:off x="2286000" y="5790407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36" name="Straight Connector 35"/>
            <p:cNvCxnSpPr>
              <a:cxnSpLocks noChangeShapeType="1"/>
            </p:cNvCxnSpPr>
            <p:nvPr/>
          </p:nvCxnSpPr>
          <p:spPr bwMode="auto">
            <a:xfrm rot="16200000" flipH="1">
              <a:off x="2781223" y="4534307"/>
              <a:ext cx="1905155" cy="1219200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7" name="Straight Connector 36"/>
            <p:cNvCxnSpPr>
              <a:cxnSpLocks noChangeShapeType="1"/>
            </p:cNvCxnSpPr>
            <p:nvPr/>
          </p:nvCxnSpPr>
          <p:spPr bwMode="auto">
            <a:xfrm>
              <a:off x="2286000" y="4343742"/>
              <a:ext cx="1828800" cy="762062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5369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Geometry of LP in 2D 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3819958" y="5086631"/>
            <a:ext cx="139700" cy="146094"/>
          </a:xfrm>
          <a:prstGeom prst="ellips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2856633" y="4688883"/>
            <a:ext cx="139700" cy="146094"/>
          </a:xfrm>
          <a:prstGeom prst="ellips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2851016" y="5998284"/>
            <a:ext cx="139700" cy="146094"/>
          </a:xfrm>
          <a:prstGeom prst="ellips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4425131" y="6002145"/>
            <a:ext cx="139700" cy="146094"/>
          </a:xfrm>
          <a:prstGeom prst="ellips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728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31"/>
          <p:cNvGrpSpPr>
            <a:grpSpLocks/>
          </p:cNvGrpSpPr>
          <p:nvPr/>
        </p:nvGrpSpPr>
        <p:grpSpPr bwMode="auto">
          <a:xfrm>
            <a:off x="2425700" y="4495800"/>
            <a:ext cx="2055813" cy="1295400"/>
            <a:chOff x="2426039" y="4495800"/>
            <a:chExt cx="2055232" cy="1295400"/>
          </a:xfrm>
        </p:grpSpPr>
        <p:sp>
          <p:nvSpPr>
            <p:cNvPr id="39" name="Right Triangle 38"/>
            <p:cNvSpPr/>
            <p:nvPr/>
          </p:nvSpPr>
          <p:spPr>
            <a:xfrm>
              <a:off x="2591092" y="4495800"/>
              <a:ext cx="1523569" cy="1295400"/>
            </a:xfrm>
            <a:prstGeom prst="rtTriangle">
              <a:avLst/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  <p:sp>
          <p:nvSpPr>
            <p:cNvPr id="40" name="Isosceles Triangle 39"/>
            <p:cNvSpPr/>
            <p:nvPr/>
          </p:nvSpPr>
          <p:spPr>
            <a:xfrm rot="2424316">
              <a:off x="2426039" y="4833938"/>
              <a:ext cx="2055232" cy="330200"/>
            </a:xfrm>
            <a:prstGeom prst="triangle">
              <a:avLst>
                <a:gd name="adj" fmla="val 49234"/>
              </a:avLst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</p:grpSp>
      <p:sp>
        <p:nvSpPr>
          <p:cNvPr id="17" name="Content Placeholder 2"/>
          <p:cNvSpPr>
            <a:spLocks noGrp="1"/>
          </p:cNvSpPr>
          <p:nvPr>
            <p:ph idx="1"/>
          </p:nvPr>
        </p:nvSpPr>
        <p:spPr bwMode="auto">
          <a:xfrm>
            <a:off x="381000" y="1066800"/>
            <a:ext cx="8382000" cy="202565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b="1" u="sng" dirty="0">
                <a:effectLst/>
                <a:latin typeface="Cambria" panose="02040503050406030204" pitchFamily="18" charset="0"/>
              </a:rPr>
              <a:t>Optimal Solution:</a:t>
            </a:r>
            <a:r>
              <a:rPr lang="en-US" altLang="en-US" sz="2400" dirty="0">
                <a:effectLst/>
                <a:latin typeface="Cambria" panose="02040503050406030204" pitchFamily="18" charset="0"/>
              </a:rPr>
              <a:t> The </a:t>
            </a:r>
            <a:r>
              <a:rPr lang="en-US" altLang="en-US" sz="2400" b="1" i="1" dirty="0">
                <a:effectLst/>
                <a:latin typeface="Cambria" panose="02040503050406030204" pitchFamily="18" charset="0"/>
              </a:rPr>
              <a:t>best feasible </a:t>
            </a:r>
            <a:r>
              <a:rPr lang="en-US" altLang="en-US" sz="2400" dirty="0">
                <a:effectLst/>
                <a:latin typeface="Cambria" panose="02040503050406030204" pitchFamily="18" charset="0"/>
              </a:rPr>
              <a:t>solution</a:t>
            </a:r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>
            <a:off x="1752600" y="5789613"/>
            <a:ext cx="5410200" cy="317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 rot="5400000" flipH="1" flipV="1">
            <a:off x="571501" y="4532312"/>
            <a:ext cx="4038600" cy="317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7414" name="TextBox 14"/>
          <p:cNvSpPr txBox="1">
            <a:spLocks noChangeArrowheads="1"/>
          </p:cNvSpPr>
          <p:nvPr/>
        </p:nvSpPr>
        <p:spPr bwMode="auto">
          <a:xfrm>
            <a:off x="6705600" y="5786438"/>
            <a:ext cx="76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15" name="TextBox 15"/>
          <p:cNvSpPr txBox="1">
            <a:spLocks noChangeArrowheads="1"/>
          </p:cNvSpPr>
          <p:nvPr/>
        </p:nvSpPr>
        <p:spPr bwMode="auto">
          <a:xfrm>
            <a:off x="2057400" y="2433638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7416" name="TextBox 18"/>
          <p:cNvSpPr txBox="1">
            <a:spLocks noChangeArrowheads="1"/>
          </p:cNvSpPr>
          <p:nvPr/>
        </p:nvSpPr>
        <p:spPr bwMode="auto">
          <a:xfrm>
            <a:off x="2286000" y="5791200"/>
            <a:ext cx="457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cxnSp>
        <p:nvCxnSpPr>
          <p:cNvPr id="22" name="Straight Connector 21"/>
          <p:cNvCxnSpPr>
            <a:cxnSpLocks noChangeShapeType="1"/>
          </p:cNvCxnSpPr>
          <p:nvPr/>
        </p:nvCxnSpPr>
        <p:spPr bwMode="auto">
          <a:xfrm rot="16200000" flipH="1">
            <a:off x="3048000" y="4800600"/>
            <a:ext cx="1524000" cy="914400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</p:cNvCxnSpPr>
          <p:nvPr/>
        </p:nvCxnSpPr>
        <p:spPr bwMode="auto">
          <a:xfrm>
            <a:off x="2362200" y="4343400"/>
            <a:ext cx="1676400" cy="685800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17419" name="Picture 2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352800"/>
            <a:ext cx="2241550" cy="11890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Connector 35"/>
          <p:cNvCxnSpPr>
            <a:cxnSpLocks noChangeShapeType="1"/>
          </p:cNvCxnSpPr>
          <p:nvPr/>
        </p:nvCxnSpPr>
        <p:spPr bwMode="auto">
          <a:xfrm>
            <a:off x="381000" y="3352800"/>
            <a:ext cx="3429000" cy="3124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" name="Straight Connector 25"/>
          <p:cNvCxnSpPr>
            <a:cxnSpLocks noChangeShapeType="1"/>
          </p:cNvCxnSpPr>
          <p:nvPr/>
        </p:nvCxnSpPr>
        <p:spPr bwMode="auto">
          <a:xfrm>
            <a:off x="381000" y="3352800"/>
            <a:ext cx="3429000" cy="3124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" name="Straight Arrow Connector 26"/>
          <p:cNvCxnSpPr/>
          <p:nvPr/>
        </p:nvCxnSpPr>
        <p:spPr>
          <a:xfrm flipV="1">
            <a:off x="1219200" y="3352800"/>
            <a:ext cx="685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0" y="2906713"/>
            <a:ext cx="1752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dirty="0"/>
              <a:t>Max </a:t>
            </a:r>
            <a:r>
              <a:rPr lang="en-US" altLang="en-US" b="1" i="1" dirty="0"/>
              <a:t>x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 + x</a:t>
            </a:r>
            <a:r>
              <a:rPr lang="en-US" altLang="en-US" b="1" i="1" baseline="-25000" dirty="0"/>
              <a:t>2</a:t>
            </a:r>
            <a:endParaRPr lang="en-US" altLang="en-US" b="1" i="1" dirty="0"/>
          </a:p>
        </p:txBody>
      </p:sp>
      <p:sp>
        <p:nvSpPr>
          <p:cNvPr id="42" name="Line Callout 2 41"/>
          <p:cNvSpPr/>
          <p:nvPr/>
        </p:nvSpPr>
        <p:spPr>
          <a:xfrm>
            <a:off x="3732213" y="3333781"/>
            <a:ext cx="2286000" cy="8382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80431"/>
              <a:gd name="adj6" fmla="val -839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b="1" dirty="0">
                <a:latin typeface="Cambria" pitchFamily="18" charset="0"/>
              </a:rPr>
              <a:t>Optimal Solution:</a:t>
            </a:r>
          </a:p>
          <a:p>
            <a:pPr algn="ctr" eaLnBrk="1" hangingPunct="1">
              <a:defRPr/>
            </a:pPr>
            <a:r>
              <a:rPr lang="en-US" sz="2400" b="1" dirty="0">
                <a:latin typeface="Cambria" pitchFamily="18" charset="0"/>
              </a:rPr>
              <a:t>(1, 1)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267200" y="6167438"/>
            <a:ext cx="1752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400" b="1" i="1"/>
              <a:t>x</a:t>
            </a:r>
            <a:r>
              <a:rPr lang="en-US" altLang="en-US" sz="2400" b="1" i="1" baseline="-25000"/>
              <a:t>1</a:t>
            </a:r>
            <a:r>
              <a:rPr lang="en-US" altLang="en-US" sz="2400" b="1" i="1"/>
              <a:t> + x</a:t>
            </a:r>
            <a:r>
              <a:rPr lang="en-US" altLang="en-US" sz="2400" b="1" i="1" baseline="-25000"/>
              <a:t>2</a:t>
            </a:r>
            <a:r>
              <a:rPr lang="en-US" altLang="en-US" sz="2400" b="1" i="1"/>
              <a:t> = 2 </a:t>
            </a:r>
          </a:p>
        </p:txBody>
      </p:sp>
      <p:sp>
        <p:nvSpPr>
          <p:cNvPr id="1742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Geometry of LP in 2D 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222189" y="1626613"/>
            <a:ext cx="8568000" cy="828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For any feasible LP with a </a:t>
            </a:r>
            <a:r>
              <a:rPr lang="en-US" altLang="en-US" sz="2400" u="sng" dirty="0">
                <a:solidFill>
                  <a:srgbClr val="FF0000"/>
                </a:solidFill>
              </a:rPr>
              <a:t>finite</a:t>
            </a:r>
            <a:r>
              <a:rPr lang="en-US" altLang="en-US" sz="2400" dirty="0">
                <a:solidFill>
                  <a:srgbClr val="FF0000"/>
                </a:solidFill>
              </a:rPr>
              <a:t> optimal solution, there </a:t>
            </a:r>
            <a:r>
              <a:rPr lang="en-US" altLang="en-US" sz="2400" u="sng" dirty="0">
                <a:solidFill>
                  <a:srgbClr val="FF0000"/>
                </a:solidFill>
              </a:rPr>
              <a:t>exists </a:t>
            </a:r>
            <a:r>
              <a:rPr lang="en-US" altLang="en-US" sz="2400" dirty="0">
                <a:solidFill>
                  <a:srgbClr val="FF0000"/>
                </a:solidFill>
              </a:rPr>
              <a:t>an optimal solution that is an extreme point</a:t>
            </a:r>
          </a:p>
          <a:p>
            <a:pPr eaLnBrk="1" hangingPunct="1"/>
            <a:endParaRPr lang="en-GB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89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0.15416 -0.0166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0" y="-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2" grpId="0" animBg="1"/>
      <p:bldP spid="31" grpId="0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31"/>
          <p:cNvGrpSpPr>
            <a:grpSpLocks/>
          </p:cNvGrpSpPr>
          <p:nvPr/>
        </p:nvGrpSpPr>
        <p:grpSpPr bwMode="auto">
          <a:xfrm>
            <a:off x="2425700" y="4495800"/>
            <a:ext cx="2055813" cy="1295400"/>
            <a:chOff x="2426039" y="4495800"/>
            <a:chExt cx="2055232" cy="1295400"/>
          </a:xfrm>
        </p:grpSpPr>
        <p:sp>
          <p:nvSpPr>
            <p:cNvPr id="30" name="Right Triangle 29"/>
            <p:cNvSpPr/>
            <p:nvPr/>
          </p:nvSpPr>
          <p:spPr>
            <a:xfrm>
              <a:off x="2591092" y="4495800"/>
              <a:ext cx="1523569" cy="1295400"/>
            </a:xfrm>
            <a:prstGeom prst="rtTriangle">
              <a:avLst/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  <p:sp>
          <p:nvSpPr>
            <p:cNvPr id="31" name="Isosceles Triangle 30"/>
            <p:cNvSpPr/>
            <p:nvPr/>
          </p:nvSpPr>
          <p:spPr>
            <a:xfrm rot="2424316">
              <a:off x="2426039" y="4833938"/>
              <a:ext cx="2055232" cy="330200"/>
            </a:xfrm>
            <a:prstGeom prst="triangle">
              <a:avLst>
                <a:gd name="adj" fmla="val 49234"/>
              </a:avLst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</p:grpSp>
      <p:sp>
        <p:nvSpPr>
          <p:cNvPr id="18435" name="Content Placeholder 2"/>
          <p:cNvSpPr>
            <a:spLocks noGrp="1"/>
          </p:cNvSpPr>
          <p:nvPr>
            <p:ph idx="1"/>
          </p:nvPr>
        </p:nvSpPr>
        <p:spPr bwMode="auto">
          <a:xfrm>
            <a:off x="381000" y="1112838"/>
            <a:ext cx="8229600" cy="452596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dirty="0">
                <a:effectLst/>
                <a:latin typeface="Cambria" panose="02040503050406030204" pitchFamily="18" charset="0"/>
              </a:rPr>
              <a:t>Optimal solutions may NOT be </a:t>
            </a:r>
            <a:r>
              <a:rPr lang="en-US" altLang="en-US" sz="2400" u="sng" dirty="0">
                <a:effectLst/>
                <a:latin typeface="Cambria" panose="02040503050406030204" pitchFamily="18" charset="0"/>
              </a:rPr>
              <a:t>unique</a:t>
            </a:r>
          </a:p>
          <a:p>
            <a:endParaRPr lang="en-US" altLang="en-US" sz="2400" b="1" u="sng" dirty="0">
              <a:effectLst/>
              <a:latin typeface="Cambria" panose="02040503050406030204" pitchFamily="18" charset="0"/>
            </a:endParaRPr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>
            <a:off x="1752600" y="5789613"/>
            <a:ext cx="5410200" cy="317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 rot="5400000" flipH="1" flipV="1">
            <a:off x="571501" y="4532312"/>
            <a:ext cx="4038600" cy="317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8438" name="TextBox 14"/>
          <p:cNvSpPr txBox="1">
            <a:spLocks noChangeArrowheads="1"/>
          </p:cNvSpPr>
          <p:nvPr/>
        </p:nvSpPr>
        <p:spPr bwMode="auto">
          <a:xfrm>
            <a:off x="6705600" y="5786438"/>
            <a:ext cx="76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39" name="TextBox 15"/>
          <p:cNvSpPr txBox="1">
            <a:spLocks noChangeArrowheads="1"/>
          </p:cNvSpPr>
          <p:nvPr/>
        </p:nvSpPr>
        <p:spPr bwMode="auto">
          <a:xfrm>
            <a:off x="2057400" y="2433638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40" name="TextBox 18"/>
          <p:cNvSpPr txBox="1">
            <a:spLocks noChangeArrowheads="1"/>
          </p:cNvSpPr>
          <p:nvPr/>
        </p:nvSpPr>
        <p:spPr bwMode="auto">
          <a:xfrm>
            <a:off x="2286000" y="5791200"/>
            <a:ext cx="457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cxnSp>
        <p:nvCxnSpPr>
          <p:cNvPr id="22" name="Straight Connector 21"/>
          <p:cNvCxnSpPr>
            <a:cxnSpLocks noChangeShapeType="1"/>
          </p:cNvCxnSpPr>
          <p:nvPr/>
        </p:nvCxnSpPr>
        <p:spPr bwMode="auto">
          <a:xfrm rot="16200000" flipH="1">
            <a:off x="3048000" y="4800600"/>
            <a:ext cx="1524000" cy="9144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</p:cNvCxnSpPr>
          <p:nvPr/>
        </p:nvCxnSpPr>
        <p:spPr bwMode="auto">
          <a:xfrm>
            <a:off x="2362200" y="4343400"/>
            <a:ext cx="1676400" cy="685800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1219200" y="2971800"/>
            <a:ext cx="2057400" cy="3429000"/>
            <a:chOff x="1219200" y="2971800"/>
            <a:chExt cx="2057400" cy="3429000"/>
          </a:xfrm>
        </p:grpSpPr>
        <p:cxnSp>
          <p:nvCxnSpPr>
            <p:cNvPr id="36" name="Straight Connector 35"/>
            <p:cNvCxnSpPr>
              <a:cxnSpLocks noChangeShapeType="1"/>
            </p:cNvCxnSpPr>
            <p:nvPr/>
          </p:nvCxnSpPr>
          <p:spPr bwMode="auto">
            <a:xfrm rot="16200000" flipH="1">
              <a:off x="533400" y="3657600"/>
              <a:ext cx="3429000" cy="2057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" name="Straight Arrow Connector 28"/>
            <p:cNvCxnSpPr/>
            <p:nvPr/>
          </p:nvCxnSpPr>
          <p:spPr>
            <a:xfrm flipV="1">
              <a:off x="1676400" y="3200400"/>
              <a:ext cx="838200" cy="533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28600" y="2667000"/>
            <a:ext cx="1752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/>
              <a:t>Max </a:t>
            </a:r>
            <a:r>
              <a:rPr lang="en-US" altLang="en-US" b="1" i="1"/>
              <a:t>2x</a:t>
            </a:r>
            <a:r>
              <a:rPr lang="en-US" altLang="en-US" b="1" i="1" baseline="-25000"/>
              <a:t>1</a:t>
            </a:r>
            <a:r>
              <a:rPr lang="en-US" altLang="en-US" b="1" i="1"/>
              <a:t> + x</a:t>
            </a:r>
            <a:r>
              <a:rPr lang="en-US" altLang="en-US" b="1" i="1" baseline="-25000"/>
              <a:t>2</a:t>
            </a:r>
            <a:endParaRPr lang="en-US" altLang="en-US" b="1" i="1"/>
          </a:p>
        </p:txBody>
      </p:sp>
      <p:pic>
        <p:nvPicPr>
          <p:cNvPr id="18445" name="Picture 31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352800"/>
            <a:ext cx="2209800" cy="12192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/>
          <p:cNvSpPr/>
          <p:nvPr/>
        </p:nvSpPr>
        <p:spPr>
          <a:xfrm>
            <a:off x="3470275" y="4781550"/>
            <a:ext cx="114300" cy="1143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057650" y="5735638"/>
            <a:ext cx="114300" cy="1143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cxnSp>
        <p:nvCxnSpPr>
          <p:cNvPr id="12" name="Straight Connector 11"/>
          <p:cNvCxnSpPr>
            <a:endCxn id="32" idx="1"/>
          </p:cNvCxnSpPr>
          <p:nvPr/>
        </p:nvCxnSpPr>
        <p:spPr>
          <a:xfrm>
            <a:off x="3556000" y="4862513"/>
            <a:ext cx="519113" cy="88900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9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Geometry of LP in 2D </a:t>
            </a:r>
          </a:p>
        </p:txBody>
      </p:sp>
    </p:spTree>
    <p:extLst>
      <p:ext uri="{BB962C8B-B14F-4D97-AF65-F5344CB8AC3E}">
        <p14:creationId xmlns:p14="http://schemas.microsoft.com/office/powerpoint/2010/main" val="244207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12917 -0.0055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00" y="-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0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46"/>
          <p:cNvGrpSpPr>
            <a:grpSpLocks/>
          </p:cNvGrpSpPr>
          <p:nvPr/>
        </p:nvGrpSpPr>
        <p:grpSpPr bwMode="auto">
          <a:xfrm>
            <a:off x="2581275" y="3460750"/>
            <a:ext cx="6024563" cy="2330450"/>
            <a:chOff x="2580631" y="3460428"/>
            <a:chExt cx="6025810" cy="2330772"/>
          </a:xfrm>
        </p:grpSpPr>
        <p:sp>
          <p:nvSpPr>
            <p:cNvPr id="43" name="Right Triangle 42"/>
            <p:cNvSpPr/>
            <p:nvPr/>
          </p:nvSpPr>
          <p:spPr>
            <a:xfrm>
              <a:off x="2590158" y="5029095"/>
              <a:ext cx="1829179" cy="762105"/>
            </a:xfrm>
            <a:prstGeom prst="rtTriangl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  <p:sp>
          <p:nvSpPr>
            <p:cNvPr id="45" name="Flowchart: Manual Operation 44"/>
            <p:cNvSpPr/>
            <p:nvPr/>
          </p:nvSpPr>
          <p:spPr>
            <a:xfrm rot="19813984">
              <a:off x="2580631" y="3460428"/>
              <a:ext cx="6025810" cy="1560729"/>
            </a:xfrm>
            <a:prstGeom prst="flowChartManualOperation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</p:grpSp>
      <p:sp>
        <p:nvSpPr>
          <p:cNvPr id="19459" name="Content Placeholder 2"/>
          <p:cNvSpPr>
            <a:spLocks noGrp="1"/>
          </p:cNvSpPr>
          <p:nvPr>
            <p:ph idx="1"/>
          </p:nvPr>
        </p:nvSpPr>
        <p:spPr bwMode="auto">
          <a:xfrm>
            <a:off x="381000" y="1112838"/>
            <a:ext cx="8229600" cy="452596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dirty="0">
                <a:effectLst/>
                <a:latin typeface="Cambria" panose="02040503050406030204" pitchFamily="18" charset="0"/>
              </a:rPr>
              <a:t>Optimal solution may NOT be </a:t>
            </a:r>
            <a:r>
              <a:rPr lang="en-US" altLang="en-US" sz="2400" u="sng" dirty="0">
                <a:effectLst/>
                <a:latin typeface="Cambria" panose="02040503050406030204" pitchFamily="18" charset="0"/>
              </a:rPr>
              <a:t>finite</a:t>
            </a:r>
          </a:p>
          <a:p>
            <a:endParaRPr lang="en-US" altLang="en-US" sz="2400" b="1" u="sng" dirty="0">
              <a:effectLst/>
              <a:latin typeface="Cambria" panose="02040503050406030204" pitchFamily="18" charset="0"/>
            </a:endParaRPr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>
            <a:off x="1752600" y="5789613"/>
            <a:ext cx="5410200" cy="317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 rot="5400000" flipH="1" flipV="1">
            <a:off x="571501" y="4532312"/>
            <a:ext cx="4038600" cy="317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9462" name="TextBox 14"/>
          <p:cNvSpPr txBox="1">
            <a:spLocks noChangeArrowheads="1"/>
          </p:cNvSpPr>
          <p:nvPr/>
        </p:nvSpPr>
        <p:spPr bwMode="auto">
          <a:xfrm>
            <a:off x="6705600" y="5786438"/>
            <a:ext cx="76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463" name="TextBox 15"/>
          <p:cNvSpPr txBox="1">
            <a:spLocks noChangeArrowheads="1"/>
          </p:cNvSpPr>
          <p:nvPr/>
        </p:nvSpPr>
        <p:spPr bwMode="auto">
          <a:xfrm>
            <a:off x="2057400" y="2433638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2286000" y="5791200"/>
            <a:ext cx="457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cxnSp>
        <p:nvCxnSpPr>
          <p:cNvPr id="22" name="Straight Connector 21"/>
          <p:cNvCxnSpPr>
            <a:cxnSpLocks noChangeShapeType="1"/>
          </p:cNvCxnSpPr>
          <p:nvPr/>
        </p:nvCxnSpPr>
        <p:spPr bwMode="auto">
          <a:xfrm rot="10800000" flipV="1">
            <a:off x="3124200" y="4038600"/>
            <a:ext cx="4419600" cy="2514600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19466" name="Picture 31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749425"/>
            <a:ext cx="2362200" cy="12223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/>
          <p:cNvGrpSpPr>
            <a:grpSpLocks/>
          </p:cNvGrpSpPr>
          <p:nvPr/>
        </p:nvGrpSpPr>
        <p:grpSpPr bwMode="auto">
          <a:xfrm>
            <a:off x="0" y="2906713"/>
            <a:ext cx="3810000" cy="3494087"/>
            <a:chOff x="0" y="2907268"/>
            <a:chExt cx="3810000" cy="3493532"/>
          </a:xfrm>
        </p:grpSpPr>
        <p:cxnSp>
          <p:nvCxnSpPr>
            <p:cNvPr id="32" name="Straight Arrow Connector 31"/>
            <p:cNvCxnSpPr/>
            <p:nvPr/>
          </p:nvCxnSpPr>
          <p:spPr>
            <a:xfrm rot="5400000" flipH="1" flipV="1">
              <a:off x="1409754" y="3543705"/>
              <a:ext cx="685691" cy="609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77" name="TextBox 32"/>
            <p:cNvSpPr txBox="1">
              <a:spLocks noChangeArrowheads="1"/>
            </p:cNvSpPr>
            <p:nvPr/>
          </p:nvSpPr>
          <p:spPr bwMode="auto">
            <a:xfrm>
              <a:off x="0" y="2907268"/>
              <a:ext cx="175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 eaLnBrk="1" hangingPunct="1"/>
              <a:r>
                <a:rPr lang="en-US" altLang="en-US"/>
                <a:t>Max </a:t>
              </a:r>
              <a:r>
                <a:rPr lang="en-US" altLang="en-US" b="1" i="1"/>
                <a:t>x</a:t>
              </a:r>
              <a:r>
                <a:rPr lang="en-US" altLang="en-US" b="1" i="1" baseline="-25000"/>
                <a:t>1</a:t>
              </a:r>
              <a:r>
                <a:rPr lang="en-US" altLang="en-US" b="1" i="1"/>
                <a:t> + x</a:t>
              </a:r>
              <a:r>
                <a:rPr lang="en-US" altLang="en-US" b="1" i="1" baseline="-25000"/>
                <a:t>2</a:t>
              </a:r>
              <a:endParaRPr lang="en-US" altLang="en-US" b="1" i="1"/>
            </a:p>
          </p:txBody>
        </p:sp>
        <p:cxnSp>
          <p:nvCxnSpPr>
            <p:cNvPr id="28" name="Straight Connector 27"/>
            <p:cNvCxnSpPr>
              <a:cxnSpLocks noChangeShapeType="1"/>
            </p:cNvCxnSpPr>
            <p:nvPr/>
          </p:nvCxnSpPr>
          <p:spPr bwMode="auto">
            <a:xfrm>
              <a:off x="381000" y="3277096"/>
              <a:ext cx="3429000" cy="31237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cxnSp>
        <p:nvCxnSpPr>
          <p:cNvPr id="41" name="Straight Connector 40"/>
          <p:cNvCxnSpPr>
            <a:cxnSpLocks noChangeShapeType="1"/>
          </p:cNvCxnSpPr>
          <p:nvPr/>
        </p:nvCxnSpPr>
        <p:spPr bwMode="auto">
          <a:xfrm rot="10800000" flipV="1">
            <a:off x="1295400" y="2057400"/>
            <a:ext cx="6477000" cy="3733800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9469" name="TextBox 49"/>
          <p:cNvSpPr txBox="1">
            <a:spLocks noChangeArrowheads="1"/>
          </p:cNvSpPr>
          <p:nvPr/>
        </p:nvSpPr>
        <p:spPr bwMode="auto">
          <a:xfrm>
            <a:off x="7315200" y="3668713"/>
            <a:ext cx="1447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/>
              <a:t>X</a:t>
            </a:r>
            <a:r>
              <a:rPr lang="en-US" altLang="en-US" baseline="-25000"/>
              <a:t>1</a:t>
            </a:r>
            <a:r>
              <a:rPr lang="en-US" altLang="en-US"/>
              <a:t> - 2X</a:t>
            </a:r>
            <a:r>
              <a:rPr lang="en-US" altLang="en-US" baseline="-25000"/>
              <a:t>2</a:t>
            </a:r>
            <a:r>
              <a:rPr lang="en-US" altLang="en-US"/>
              <a:t> ≤ 2</a:t>
            </a:r>
          </a:p>
        </p:txBody>
      </p:sp>
      <p:sp>
        <p:nvSpPr>
          <p:cNvPr id="19470" name="TextBox 50"/>
          <p:cNvSpPr txBox="1">
            <a:spLocks noChangeArrowheads="1"/>
          </p:cNvSpPr>
          <p:nvPr/>
        </p:nvSpPr>
        <p:spPr bwMode="auto">
          <a:xfrm>
            <a:off x="7239000" y="22098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/>
              <a:t>-X</a:t>
            </a:r>
            <a:r>
              <a:rPr lang="en-US" altLang="en-US" baseline="-25000"/>
              <a:t>1</a:t>
            </a:r>
            <a:r>
              <a:rPr lang="en-US" altLang="en-US"/>
              <a:t> + 2X</a:t>
            </a:r>
            <a:r>
              <a:rPr lang="en-US" altLang="en-US" baseline="-25000"/>
              <a:t>2</a:t>
            </a:r>
            <a:r>
              <a:rPr lang="en-US" altLang="en-US"/>
              <a:t> ≤ 2</a:t>
            </a:r>
          </a:p>
        </p:txBody>
      </p:sp>
      <p:sp>
        <p:nvSpPr>
          <p:cNvPr id="35" name="Oval 34"/>
          <p:cNvSpPr/>
          <p:nvPr/>
        </p:nvSpPr>
        <p:spPr>
          <a:xfrm>
            <a:off x="4381500" y="5754688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19472" name="TextBox 35"/>
          <p:cNvSpPr txBox="1">
            <a:spLocks noChangeArrowheads="1"/>
          </p:cNvSpPr>
          <p:nvPr/>
        </p:nvSpPr>
        <p:spPr bwMode="auto">
          <a:xfrm>
            <a:off x="4191000" y="58023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(2, 0)</a:t>
            </a:r>
          </a:p>
        </p:txBody>
      </p:sp>
      <p:sp>
        <p:nvSpPr>
          <p:cNvPr id="37" name="Oval 36"/>
          <p:cNvSpPr/>
          <p:nvPr/>
        </p:nvSpPr>
        <p:spPr>
          <a:xfrm>
            <a:off x="2552700" y="4992688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19474" name="TextBox 37"/>
          <p:cNvSpPr txBox="1">
            <a:spLocks noChangeArrowheads="1"/>
          </p:cNvSpPr>
          <p:nvPr/>
        </p:nvSpPr>
        <p:spPr bwMode="auto">
          <a:xfrm>
            <a:off x="2590800" y="48879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(0, 1)</a:t>
            </a:r>
          </a:p>
        </p:txBody>
      </p:sp>
      <p:sp>
        <p:nvSpPr>
          <p:cNvPr id="19475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Geometry of LP in 2D </a:t>
            </a:r>
          </a:p>
        </p:txBody>
      </p:sp>
    </p:spTree>
    <p:extLst>
      <p:ext uri="{BB962C8B-B14F-4D97-AF65-F5344CB8AC3E}">
        <p14:creationId xmlns:p14="http://schemas.microsoft.com/office/powerpoint/2010/main" val="108432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1.06667 -0.6784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300" y="-33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" y="127512"/>
            <a:ext cx="9099550" cy="931863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Summary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09600" y="1143000"/>
            <a:ext cx="8229600" cy="49530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effectLst/>
              </a:rPr>
              <a:t>Solutions of LP</a:t>
            </a:r>
          </a:p>
          <a:p>
            <a:pPr lvl="1" eaLnBrk="1" hangingPunct="1"/>
            <a:r>
              <a:rPr lang="en-US" altLang="en-US" dirty="0">
                <a:effectLst/>
                <a:ea typeface="Arial" panose="020B0604020202020204" pitchFamily="34" charset="0"/>
              </a:rPr>
              <a:t>Unique optimal solution 	</a:t>
            </a:r>
          </a:p>
          <a:p>
            <a:pPr lvl="1" eaLnBrk="1" hangingPunct="1"/>
            <a:r>
              <a:rPr lang="en-US" altLang="en-US" dirty="0">
                <a:effectLst/>
                <a:ea typeface="Arial" panose="020B0604020202020204" pitchFamily="34" charset="0"/>
              </a:rPr>
              <a:t>Multiple optimal solutions </a:t>
            </a:r>
          </a:p>
          <a:p>
            <a:pPr lvl="1" eaLnBrk="1" hangingPunct="1"/>
            <a:r>
              <a:rPr lang="en-US" altLang="en-US" dirty="0">
                <a:effectLst/>
                <a:ea typeface="Arial" panose="020B0604020202020204" pitchFamily="34" charset="0"/>
              </a:rPr>
              <a:t>The optimal objective is not bounded</a:t>
            </a:r>
          </a:p>
          <a:p>
            <a:pPr lvl="1" eaLnBrk="1" hangingPunct="1"/>
            <a:r>
              <a:rPr lang="en-US" altLang="en-US" dirty="0">
                <a:effectLst/>
                <a:ea typeface="Arial" panose="020B0604020202020204" pitchFamily="34" charset="0"/>
              </a:rPr>
              <a:t>Infeasible</a:t>
            </a:r>
          </a:p>
          <a:p>
            <a:pPr eaLnBrk="1" hangingPunct="1"/>
            <a:endParaRPr lang="en-US" altLang="en-US" dirty="0">
              <a:effectLst/>
              <a:ea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effectLst/>
                <a:ea typeface="Arial" panose="020B0604020202020204" pitchFamily="34" charset="0"/>
              </a:rPr>
              <a:t>Sufficient to focus on extreme point</a:t>
            </a:r>
          </a:p>
          <a:p>
            <a:pPr lvl="1" eaLnBrk="1" hangingPunct="1"/>
            <a:r>
              <a:rPr lang="en-US" altLang="en-US" dirty="0">
                <a:effectLst/>
                <a:ea typeface="Arial" panose="020B0604020202020204" pitchFamily="34" charset="0"/>
              </a:rPr>
              <a:t>How to describe extreme point in high dimension?</a:t>
            </a:r>
          </a:p>
        </p:txBody>
      </p:sp>
    </p:spTree>
    <p:extLst>
      <p:ext uri="{BB962C8B-B14F-4D97-AF65-F5344CB8AC3E}">
        <p14:creationId xmlns:p14="http://schemas.microsoft.com/office/powerpoint/2010/main" val="204568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/>
          </p:cNvSpPr>
          <p:nvPr>
            <p:ph idx="1"/>
          </p:nvPr>
        </p:nvSpPr>
        <p:spPr bwMode="auto">
          <a:xfrm>
            <a:off x="381000" y="1066800"/>
            <a:ext cx="8305800" cy="45720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b="1" u="sng" dirty="0">
                <a:effectLst/>
                <a:latin typeface="Cambria" panose="02040503050406030204" pitchFamily="18" charset="0"/>
              </a:rPr>
              <a:t>Binding (or active) constraints:</a:t>
            </a:r>
            <a:r>
              <a:rPr lang="en-US" altLang="en-US" sz="2400" dirty="0">
                <a:effectLst/>
                <a:latin typeface="Cambria" panose="02040503050406030204" pitchFamily="18" charset="0"/>
              </a:rPr>
              <a:t> The constraints that are satisfied at </a:t>
            </a:r>
            <a:r>
              <a:rPr lang="en-US" altLang="en-US" sz="2400" b="1" i="1" dirty="0">
                <a:effectLst/>
                <a:latin typeface="Cambria" panose="02040503050406030204" pitchFamily="18" charset="0"/>
              </a:rPr>
              <a:t>equality</a:t>
            </a:r>
            <a:r>
              <a:rPr lang="en-US" altLang="en-US" sz="2400" dirty="0">
                <a:effectLst/>
                <a:latin typeface="Cambria" panose="02040503050406030204" pitchFamily="18" charset="0"/>
              </a:rPr>
              <a:t> for a given solution</a:t>
            </a:r>
          </a:p>
          <a:p>
            <a:pPr lvl="1"/>
            <a:r>
              <a:rPr lang="en-US" altLang="en-US" sz="2400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All equality constraints (if satisfied) are binding</a:t>
            </a:r>
          </a:p>
          <a:p>
            <a:pPr lvl="1"/>
            <a:endParaRPr lang="en-US" altLang="en-US" sz="2400" b="1" u="sng" dirty="0">
              <a:effectLst/>
              <a:latin typeface="Cambria" panose="02040503050406030204" pitchFamily="18" charset="0"/>
            </a:endParaRPr>
          </a:p>
          <a:p>
            <a:r>
              <a:rPr lang="en-US" altLang="en-US" sz="2400" b="1" u="sng" dirty="0">
                <a:effectLst/>
                <a:latin typeface="Cambria" panose="02040503050406030204" pitchFamily="18" charset="0"/>
              </a:rPr>
              <a:t>Non-binding (or inactive) constraints</a:t>
            </a:r>
            <a:r>
              <a:rPr lang="en-US" altLang="en-US" sz="2400" dirty="0">
                <a:effectLst/>
                <a:latin typeface="Cambria" panose="02040503050406030204" pitchFamily="18" charset="0"/>
              </a:rPr>
              <a:t> are satisfied at </a:t>
            </a:r>
            <a:r>
              <a:rPr lang="en-US" altLang="en-US" sz="2400" b="1" i="1" dirty="0">
                <a:effectLst/>
                <a:latin typeface="Cambria" panose="02040503050406030204" pitchFamily="18" charset="0"/>
              </a:rPr>
              <a:t>strict inequality </a:t>
            </a:r>
            <a:r>
              <a:rPr lang="en-US" altLang="en-US" sz="2400" dirty="0">
                <a:effectLst/>
                <a:latin typeface="Cambria" panose="02040503050406030204" pitchFamily="18" charset="0"/>
              </a:rPr>
              <a:t>for a given solution</a:t>
            </a:r>
          </a:p>
          <a:p>
            <a:endParaRPr lang="en-US" altLang="en-US" sz="2400" dirty="0">
              <a:effectLst/>
              <a:latin typeface="Cambria" panose="02040503050406030204" pitchFamily="18" charset="0"/>
            </a:endParaRPr>
          </a:p>
          <a:p>
            <a:r>
              <a:rPr lang="en-US" altLang="en-US" sz="2400" dirty="0">
                <a:effectLst/>
                <a:latin typeface="Cambria" panose="02040503050406030204" pitchFamily="18" charset="0"/>
              </a:rPr>
              <a:t>The inequality level is known as the </a:t>
            </a:r>
            <a:r>
              <a:rPr lang="en-US" altLang="en-US" sz="2400" b="1" u="sng" dirty="0">
                <a:effectLst/>
                <a:latin typeface="Cambria" panose="02040503050406030204" pitchFamily="18" charset="0"/>
              </a:rPr>
              <a:t>slack</a:t>
            </a:r>
            <a:endParaRPr lang="en-US" altLang="en-US" sz="2400" dirty="0">
              <a:effectLst/>
              <a:latin typeface="Cambria" panose="02040503050406030204" pitchFamily="18" charset="0"/>
            </a:endParaRPr>
          </a:p>
          <a:p>
            <a:pPr lvl="1"/>
            <a:r>
              <a:rPr lang="en-US" altLang="en-US" sz="2400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Binding constraints have zero slack by definition</a:t>
            </a:r>
          </a:p>
          <a:p>
            <a:endParaRPr lang="en-US" altLang="en-US" sz="2400" dirty="0">
              <a:latin typeface="Cambria" panose="02040503050406030204" pitchFamily="18" charset="0"/>
            </a:endParaRPr>
          </a:p>
          <a:p>
            <a:endParaRPr lang="en-US" altLang="en-US" sz="2400" b="1" u="sng" dirty="0">
              <a:latin typeface="Cambria" panose="02040503050406030204" pitchFamily="18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Active/Binding Constraints</a:t>
            </a:r>
          </a:p>
        </p:txBody>
      </p:sp>
    </p:spTree>
    <p:extLst>
      <p:ext uri="{BB962C8B-B14F-4D97-AF65-F5344CB8AC3E}">
        <p14:creationId xmlns:p14="http://schemas.microsoft.com/office/powerpoint/2010/main" val="3921987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31"/>
          <p:cNvGrpSpPr>
            <a:grpSpLocks/>
          </p:cNvGrpSpPr>
          <p:nvPr/>
        </p:nvGrpSpPr>
        <p:grpSpPr bwMode="auto">
          <a:xfrm>
            <a:off x="979488" y="3321050"/>
            <a:ext cx="2054225" cy="1295400"/>
            <a:chOff x="2426039" y="4495800"/>
            <a:chExt cx="2055232" cy="1295400"/>
          </a:xfrm>
        </p:grpSpPr>
        <p:sp>
          <p:nvSpPr>
            <p:cNvPr id="8" name="Right Triangle 7"/>
            <p:cNvSpPr/>
            <p:nvPr/>
          </p:nvSpPr>
          <p:spPr>
            <a:xfrm>
              <a:off x="2591220" y="4495800"/>
              <a:ext cx="1523158" cy="1295400"/>
            </a:xfrm>
            <a:prstGeom prst="rtTriangle">
              <a:avLst/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  <p:sp>
          <p:nvSpPr>
            <p:cNvPr id="9" name="Isosceles Triangle 8"/>
            <p:cNvSpPr/>
            <p:nvPr/>
          </p:nvSpPr>
          <p:spPr>
            <a:xfrm rot="2424316">
              <a:off x="2426039" y="4833938"/>
              <a:ext cx="2055232" cy="330200"/>
            </a:xfrm>
            <a:prstGeom prst="triangle">
              <a:avLst>
                <a:gd name="adj" fmla="val 49234"/>
              </a:avLst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</p:grp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>
            <a:off x="838200" y="4616450"/>
            <a:ext cx="2438400" cy="1588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" name="Straight Arrow Connector 10"/>
          <p:cNvCxnSpPr>
            <a:cxnSpLocks noChangeShapeType="1"/>
          </p:cNvCxnSpPr>
          <p:nvPr/>
        </p:nvCxnSpPr>
        <p:spPr bwMode="auto">
          <a:xfrm flipH="1" flipV="1">
            <a:off x="1110014" y="1858724"/>
            <a:ext cx="32987" cy="314031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" name="Straight Connector 11"/>
          <p:cNvCxnSpPr>
            <a:cxnSpLocks noChangeShapeType="1"/>
          </p:cNvCxnSpPr>
          <p:nvPr/>
        </p:nvCxnSpPr>
        <p:spPr bwMode="auto">
          <a:xfrm>
            <a:off x="1108427" y="2118943"/>
            <a:ext cx="1710973" cy="2726107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" name="Straight Connector 12"/>
          <p:cNvCxnSpPr>
            <a:cxnSpLocks noChangeShapeType="1"/>
          </p:cNvCxnSpPr>
          <p:nvPr/>
        </p:nvCxnSpPr>
        <p:spPr bwMode="auto">
          <a:xfrm>
            <a:off x="914400" y="3168650"/>
            <a:ext cx="1676400" cy="685800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106324"/>
              </p:ext>
            </p:extLst>
          </p:nvPr>
        </p:nvGraphicFramePr>
        <p:xfrm>
          <a:off x="4296953" y="2687895"/>
          <a:ext cx="4191000" cy="1857375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Constraints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Binding?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Slack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 + 2X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 ≤ 3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Yes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2X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 + X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 ≤ 3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Yes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 ≥ 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No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X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 ≥ 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No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MS PGothic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S PGothic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3578" name="Picture 1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088" y="1201499"/>
            <a:ext cx="2241550" cy="13144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Oval 39"/>
          <p:cNvSpPr/>
          <p:nvPr/>
        </p:nvSpPr>
        <p:spPr>
          <a:xfrm>
            <a:off x="2076450" y="3627438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23580" name="TextBox 40"/>
          <p:cNvSpPr txBox="1">
            <a:spLocks noChangeArrowheads="1"/>
          </p:cNvSpPr>
          <p:nvPr/>
        </p:nvSpPr>
        <p:spPr bwMode="auto">
          <a:xfrm>
            <a:off x="1966044" y="3307087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/>
              <a:t>(1, 1)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5863" y="311943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265863" y="350043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65863" y="385603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265863" y="423703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85063" y="418623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485063" y="385603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485063" y="342423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485063" y="309403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23589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Back to Extreme Point</a:t>
            </a:r>
          </a:p>
        </p:txBody>
      </p:sp>
      <p:sp>
        <p:nvSpPr>
          <p:cNvPr id="22" name="TextBox 40"/>
          <p:cNvSpPr txBox="1">
            <a:spLocks noChangeArrowheads="1"/>
          </p:cNvSpPr>
          <p:nvPr/>
        </p:nvSpPr>
        <p:spPr bwMode="auto">
          <a:xfrm>
            <a:off x="321598" y="1992435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/>
              <a:t>(0, 3)</a:t>
            </a:r>
          </a:p>
        </p:txBody>
      </p:sp>
      <p:sp>
        <p:nvSpPr>
          <p:cNvPr id="23" name="TextBox 40"/>
          <p:cNvSpPr txBox="1">
            <a:spLocks noChangeArrowheads="1"/>
          </p:cNvSpPr>
          <p:nvPr/>
        </p:nvSpPr>
        <p:spPr bwMode="auto">
          <a:xfrm>
            <a:off x="1936750" y="4650581"/>
            <a:ext cx="8509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/>
              <a:t>(1.5, 0)</a:t>
            </a:r>
          </a:p>
        </p:txBody>
      </p:sp>
      <p:sp>
        <p:nvSpPr>
          <p:cNvPr id="24" name="TextBox 40"/>
          <p:cNvSpPr txBox="1">
            <a:spLocks noChangeArrowheads="1"/>
          </p:cNvSpPr>
          <p:nvPr/>
        </p:nvSpPr>
        <p:spPr bwMode="auto">
          <a:xfrm>
            <a:off x="260349" y="4627563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/>
              <a:t>(0, 0)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311151" y="5082592"/>
            <a:ext cx="8546408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FF0000"/>
                </a:solidFill>
              </a:rPr>
              <a:t>How many binding constraints will an extreme point have?</a:t>
            </a:r>
            <a:endParaRPr lang="en-GB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>
                <a:spLocks noChangeArrowheads="1"/>
              </p:cNvSpPr>
              <p:nvPr/>
            </p:nvSpPr>
            <p:spPr bwMode="auto">
              <a:xfrm>
                <a:off x="321598" y="5606936"/>
                <a:ext cx="8546408" cy="40011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FF0000"/>
                    </a:solidFill>
                    <a:effectLst/>
                  </a:rPr>
                  <a:t>What if we add constraints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lang="en-US" altLang="en-US" sz="2000" dirty="0">
                    <a:solidFill>
                      <a:srgbClr val="FF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en-US" sz="2000" dirty="0">
                    <a:solidFill>
                      <a:srgbClr val="FF0000"/>
                    </a:solidFill>
                    <a:effectLst/>
                  </a:rPr>
                  <a:t>? Think about (0,1).</a:t>
                </a:r>
                <a:endParaRPr lang="en-GB" altLang="en-US" sz="20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598" y="5606936"/>
                <a:ext cx="8546408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5970" b="-26866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40"/>
          <p:cNvSpPr txBox="1">
            <a:spLocks noChangeArrowheads="1"/>
          </p:cNvSpPr>
          <p:nvPr/>
        </p:nvSpPr>
        <p:spPr bwMode="auto">
          <a:xfrm>
            <a:off x="311151" y="3078162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/>
              <a:t>(0, 1.5)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11151" y="6131280"/>
            <a:ext cx="8546408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FF0000"/>
                </a:solidFill>
              </a:rPr>
              <a:t>What about (0,3)?</a:t>
            </a:r>
            <a:endParaRPr lang="en-GB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83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Extreme Point: An Algebraic Perspective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Consider a feasible region in n-dimensional space:</a:t>
                </a: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∊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                    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∊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>
                    <a:effectLst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             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                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∊</m:t>
                    </m:r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      </a:t>
                </a:r>
              </a:p>
              <a:p>
                <a:r>
                  <a:rPr lang="en-US" altLang="zh-CN" dirty="0">
                    <a:effectLst/>
                    <a:ea typeface="宋体" pitchFamily="2" charset="-122"/>
                  </a:rPr>
                  <a:t>A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is called basic solution if</a:t>
                </a:r>
              </a:p>
              <a:p>
                <a:pPr lvl="1"/>
                <a:r>
                  <a:rPr lang="en-US" altLang="zh-CN" dirty="0">
                    <a:effectLst/>
                    <a:ea typeface="宋体" pitchFamily="2" charset="-122"/>
                  </a:rPr>
                  <a:t>All equality constraints are active;</a:t>
                </a:r>
              </a:p>
              <a:p>
                <a:pPr lvl="1"/>
                <a:r>
                  <a:rPr lang="en-US" altLang="zh-CN" dirty="0">
                    <a:effectLst/>
                    <a:ea typeface="宋体" pitchFamily="2" charset="-122"/>
                  </a:rPr>
                  <a:t>Out of all constraints that are active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, there are n of them that are linearly independent.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is called a basic feasible solution (BFS) if it is a basic solution and it is feasible.</a:t>
                </a: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1405" t="-1114" r="-9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14629" y="2171998"/>
            <a:ext cx="2105661" cy="4616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Polyhedron:</a:t>
            </a:r>
            <a:endParaRPr lang="en-GB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762465" y="6052968"/>
            <a:ext cx="3652405" cy="4616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BFS = Extreme Point</a:t>
            </a:r>
            <a:endParaRPr lang="en-GB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160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3-D Example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Consider a feasible region in 3-dimensional space:</a:t>
                </a: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=1, </m:t>
                      </m:r>
                    </m:oMath>
                  </m:oMathPara>
                </a14:m>
                <a:endParaRPr lang="en-US" b="0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                                 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0" dirty="0"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>
                    <a:effectLst/>
                  </a:rPr>
                  <a:t>       </a:t>
                </a:r>
              </a:p>
              <a:p>
                <a:r>
                  <a:rPr lang="en-US" altLang="zh-CN" dirty="0">
                    <a:effectLst/>
                    <a:ea typeface="宋体" pitchFamily="2" charset="-122"/>
                  </a:rPr>
                  <a:t>Which points are basic solutions, basic feasible solutions?</a:t>
                </a: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1405" t="-1114" r="-7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3023978"/>
            <a:ext cx="3891731" cy="355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167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3-D Example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Consider a feasible region in 3-dimensional space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                                  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  <m:r>
                      <m:rPr>
                        <m:nor/>
                      </m:rPr>
                      <a:rPr lang="en-US" b="0" dirty="0">
                        <a:effectLst/>
                      </a:rPr>
                      <m:t>, 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                                 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0" dirty="0"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>
                    <a:effectLst/>
                  </a:rPr>
                  <a:t>    </a:t>
                </a: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457200" indent="-457200"/>
                <a:r>
                  <a:rPr lang="en-US" dirty="0">
                    <a:effectLst/>
                  </a:rPr>
                  <a:t>What are the extreme points/BFS?   </a:t>
                </a: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1405" t="-11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01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Insights: Portfolio Management Problem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-271564" y="3184071"/>
                <a:ext cx="9677604" cy="2648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indent="0">
                  <a:buFontTx/>
                  <a:buNone/>
                  <a:defRPr/>
                </a:pPr>
                <a:endParaRPr lang="en-US" altLang="zh-CN" kern="0" dirty="0">
                  <a:ea typeface="宋体" pitchFamily="2" charset="-122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endParaRPr lang="en-US" altLang="zh-CN" kern="0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71564" y="3184071"/>
                <a:ext cx="9677604" cy="26487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39472" y="1223736"/>
                <a:ext cx="9110663" cy="1519464"/>
              </a:xfrm>
            </p:spPr>
            <p:txBody>
              <a:bodyPr/>
              <a:lstStyle/>
              <a:p>
                <a:r>
                  <a:rPr lang="en-US" dirty="0">
                    <a:effectLst/>
                  </a:rPr>
                  <a:t>There are 100 stocks: stock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SG" dirty="0">
                    <a:effectLst/>
                  </a:rPr>
                  <a:t> has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SG" dirty="0">
                    <a:effectLst/>
                  </a:rPr>
                  <a:t> per dollar invested.</a:t>
                </a:r>
              </a:p>
              <a:p>
                <a:r>
                  <a:rPr lang="en-US" dirty="0">
                    <a:effectLst/>
                  </a:rPr>
                  <a:t>Budget constraint: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SG" dirty="0">
                    <a:effectLst/>
                  </a:rPr>
                  <a:t> dollars available.</a:t>
                </a:r>
              </a:p>
              <a:p>
                <a:r>
                  <a:rPr lang="en-US" dirty="0">
                    <a:effectLst/>
                  </a:rPr>
                  <a:t>How many stocks to invest and how to budget?</a:t>
                </a:r>
                <a:endParaRPr lang="en-SG" dirty="0">
                  <a:effectLst/>
                </a:endParaRP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472" y="1223736"/>
                <a:ext cx="9110663" cy="1519464"/>
              </a:xfrm>
              <a:blipFill rotWithShape="0">
                <a:blip r:embed="rId4"/>
                <a:stretch>
                  <a:fillRect l="-1272" t="-4016" b="-4578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263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Insights: Portfolio Management Problem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-271564" y="3184071"/>
                <a:ext cx="9677604" cy="2648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indent="0">
                  <a:buFontTx/>
                  <a:buNone/>
                  <a:defRPr/>
                </a:pPr>
                <a:endParaRPr lang="en-US" altLang="zh-CN" kern="0" dirty="0">
                  <a:ea typeface="宋体" pitchFamily="2" charset="-122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kern="0" dirty="0">
                    <a:effectLst/>
                  </a:rPr>
                  <a:t>,</a:t>
                </a: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𝟏𝟎𝟎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endParaRPr lang="en-US" altLang="zh-CN" kern="0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71564" y="3184071"/>
                <a:ext cx="9677604" cy="26487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337" y="1207408"/>
            <a:ext cx="9110663" cy="1519464"/>
          </a:xfrm>
        </p:spPr>
        <p:txBody>
          <a:bodyPr/>
          <a:lstStyle/>
          <a:p>
            <a:r>
              <a:rPr lang="en-US" dirty="0">
                <a:effectLst/>
              </a:rPr>
              <a:t>Suppose the stocks 1-10 are the top 10% riskiest stocks and at most half of the budget can be allocated to these stocks.</a:t>
            </a:r>
            <a:endParaRPr lang="en-SG" dirty="0">
              <a:effectLst/>
            </a:endParaRPr>
          </a:p>
          <a:p>
            <a:r>
              <a:rPr lang="en-US" dirty="0">
                <a:effectLst/>
              </a:rPr>
              <a:t>How many stocks to invest and how to budget?</a:t>
            </a:r>
            <a:endParaRPr lang="en-SG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0812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Extreme Point in Standard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463" y="1032687"/>
                <a:ext cx="9045677" cy="5472113"/>
              </a:xfrm>
            </p:spPr>
            <p:txBody>
              <a:bodyPr/>
              <a:lstStyle/>
              <a:p>
                <a:r>
                  <a:rPr lang="en-US" dirty="0">
                    <a:effectLst/>
                  </a:rPr>
                  <a:t>For general form, it is not easy to check whether a basic solution is feasible or not; so consider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b="1" i="0" smtClean="0">
                        <a:effectLst/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</a:rPr>
                  <a:t> 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effectLst/>
                  </a:rPr>
                  <a:t> is an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>
                    <a:effectLst/>
                  </a:rPr>
                  <a:t> matrix. Assume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effectLst/>
                  </a:rPr>
                  <a:t>and the </a:t>
                </a:r>
                <a14:m>
                  <m:oMath xmlns:m="http://schemas.openxmlformats.org/officeDocument/2006/math"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𝐦</m:t>
                    </m:r>
                  </m:oMath>
                </a14:m>
                <a:r>
                  <a:rPr lang="en-US" dirty="0">
                    <a:effectLst/>
                  </a:rPr>
                  <a:t> rows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effectLst/>
                  </a:rPr>
                  <a:t> are linearly independent.</a:t>
                </a:r>
              </a:p>
              <a:p>
                <a:r>
                  <a:rPr lang="en-US" altLang="zh-CN" dirty="0">
                    <a:effectLst/>
                    <a:ea typeface="宋体" pitchFamily="2" charset="-122"/>
                  </a:rPr>
                  <a:t>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is a basic solution if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and there exist indices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such that</a:t>
                </a:r>
              </a:p>
              <a:p>
                <a:pPr lvl="1"/>
                <a:r>
                  <a:rPr lang="en-US" altLang="zh-CN" dirty="0">
                    <a:effectLst/>
                    <a:ea typeface="宋体" pitchFamily="2" charset="-122"/>
                  </a:rPr>
                  <a:t>The columns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are linearly independent;</a:t>
                </a:r>
              </a:p>
              <a:p>
                <a:pPr lvl="1"/>
                <a:r>
                  <a:rPr lang="en-US" altLang="zh-CN" dirty="0">
                    <a:effectLst/>
                    <a:ea typeface="宋体" pitchFamily="2" charset="-122"/>
                  </a:rPr>
                  <a:t>If </a:t>
                </a:r>
                <a:r>
                  <a:rPr lang="en-US" b="0" dirty="0"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463" y="1032687"/>
                <a:ext cx="9045677" cy="5472113"/>
              </a:xfrm>
              <a:blipFill rotWithShape="0">
                <a:blip r:embed="rId3"/>
                <a:stretch>
                  <a:fillRect l="-1280" t="-1114" r="-1887" b="-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95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Some 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463" y="1032687"/>
                <a:ext cx="9045677" cy="5472113"/>
              </a:xfrm>
            </p:spPr>
            <p:txBody>
              <a:bodyPr/>
              <a:lstStyle/>
              <a:p>
                <a:r>
                  <a:rPr lang="en-US" altLang="zh-CN" dirty="0">
                    <a:effectLst/>
                    <a:ea typeface="宋体" pitchFamily="2" charset="-122"/>
                  </a:rPr>
                  <a:t>The columns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are called </a:t>
                </a:r>
                <a:r>
                  <a:rPr lang="en-US" dirty="0">
                    <a:solidFill>
                      <a:srgbClr val="FF0000"/>
                    </a:solidFill>
                    <a:effectLst/>
                  </a:rPr>
                  <a:t>basic columns</a:t>
                </a:r>
                <a:r>
                  <a:rPr lang="en-US" dirty="0">
                    <a:effectLst/>
                  </a:rPr>
                  <a:t>. </a:t>
                </a:r>
              </a:p>
              <a:p>
                <a:r>
                  <a:rPr lang="en-US" dirty="0">
                    <a:effectLst/>
                  </a:rPr>
                  <a:t>The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>
                    <a:effectLst/>
                  </a:rPr>
                  <a:t> matrix </a:t>
                </a: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effectLst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is called the </a:t>
                </a:r>
                <a:r>
                  <a:rPr lang="en-US" dirty="0">
                    <a:solidFill>
                      <a:srgbClr val="FF0000"/>
                    </a:solidFill>
                    <a:effectLst/>
                  </a:rPr>
                  <a:t>basis matrix</a:t>
                </a:r>
                <a:r>
                  <a:rPr lang="en-US" dirty="0">
                    <a:effectLst/>
                  </a:rPr>
                  <a:t>. </a:t>
                </a:r>
              </a:p>
              <a:p>
                <a:r>
                  <a:rPr lang="en-US" altLang="zh-CN" dirty="0">
                    <a:effectLst/>
                    <a:ea typeface="宋体" pitchFamily="2" charset="-122"/>
                  </a:rPr>
                  <a:t>The corresponding components of the vector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are called </a:t>
                </a:r>
                <a:r>
                  <a:rPr lang="en-US" altLang="zh-CN" dirty="0">
                    <a:solidFill>
                      <a:srgbClr val="FF0000"/>
                    </a:solidFill>
                    <a:effectLst/>
                    <a:ea typeface="宋体" pitchFamily="2" charset="-122"/>
                  </a:rPr>
                  <a:t>basic variables</a:t>
                </a:r>
                <a:r>
                  <a:rPr lang="en-US" altLang="zh-CN" dirty="0">
                    <a:effectLst/>
                    <a:ea typeface="宋体" pitchFamily="2" charset="-122"/>
                  </a:rPr>
                  <a:t>; the remaining components are called </a:t>
                </a:r>
                <a:r>
                  <a:rPr lang="en-US" altLang="zh-CN" dirty="0" err="1">
                    <a:solidFill>
                      <a:srgbClr val="FF0000"/>
                    </a:solidFill>
                    <a:effectLst/>
                    <a:ea typeface="宋体" pitchFamily="2" charset="-122"/>
                  </a:rPr>
                  <a:t>nonbasic</a:t>
                </a:r>
                <a:r>
                  <a:rPr lang="en-US" altLang="zh-CN" dirty="0">
                    <a:effectLst/>
                    <a:ea typeface="宋体" pitchFamily="2" charset="-122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 </a:t>
                </a:r>
              </a:p>
              <a:p>
                <a:pPr lvl="1"/>
                <a:r>
                  <a:rPr lang="en-US" altLang="zh-CN" dirty="0">
                    <a:effectLst/>
                    <a:ea typeface="宋体" pitchFamily="2" charset="-122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is a </a:t>
                </a:r>
                <a:r>
                  <a:rPr lang="en-US" altLang="zh-CN" dirty="0" err="1">
                    <a:effectLst/>
                    <a:ea typeface="宋体" pitchFamily="2" charset="-122"/>
                  </a:rPr>
                  <a:t>nonbasic</a:t>
                </a:r>
                <a:r>
                  <a:rPr lang="en-US" altLang="zh-CN" dirty="0">
                    <a:effectLst/>
                    <a:ea typeface="宋体" pitchFamily="2" charset="-122"/>
                  </a:rPr>
                  <a:t> variable,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463" y="1032687"/>
                <a:ext cx="9045677" cy="5472113"/>
              </a:xfrm>
              <a:blipFill rotWithShape="0">
                <a:blip r:embed="rId3"/>
                <a:stretch>
                  <a:fillRect l="-1280" t="-122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56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An algorithm to find extreme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941388"/>
                <a:ext cx="9144000" cy="5472113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effectLst/>
                  </a:rPr>
                  <a:t>Convert an LP to standard form</a:t>
                </a:r>
              </a:p>
              <a:p>
                <a:pPr marL="396875" lvl="1" indent="0">
                  <a:buNone/>
                </a:pPr>
                <a:r>
                  <a:rPr lang="en-US" dirty="0">
                    <a:effectLst/>
                  </a:rPr>
                  <a:t>                   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dirty="0">
                    <a:effectLst/>
                  </a:rPr>
                  <a:t>                                 </a:t>
                </a:r>
                <a14:m>
                  <m:oMath xmlns:m="http://schemas.openxmlformats.org/officeDocument/2006/math">
                    <m:r>
                      <a:rPr lang="en-US" b="1" i="0" smtClean="0">
                        <a:effectLst/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</a:rPr>
                  <a:t>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effectLst/>
                  </a:rPr>
                  <a:t>Choose m linearly independent columns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from the matrix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>
                    <a:effectLst/>
                    <a:ea typeface="宋体" pitchFamily="2" charset="-12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if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>
                    <a:effectLst/>
                    <a:ea typeface="宋体" pitchFamily="2" charset="-122"/>
                  </a:rPr>
                  <a:t>Solve the system of m equations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for the unknowns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are all non-negative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>
                    <a:effectLst/>
                  </a:rPr>
                  <a:t>), then we have found an extreme point (BFS); otherwise go back to step 2.</a:t>
                </a:r>
              </a:p>
              <a:p>
                <a:pPr marL="0" indent="0">
                  <a:buNone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941388"/>
                <a:ext cx="9144000" cy="5472113"/>
              </a:xfrm>
              <a:blipFill rotWithShape="0">
                <a:blip r:embed="rId3"/>
                <a:stretch>
                  <a:fillRect l="-1267" t="-1114" r="-200" b="-21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32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Consider following standard form:</a:t>
                </a: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=1, </m:t>
                      </m:r>
                    </m:oMath>
                  </m:oMathPara>
                </a14:m>
                <a:endParaRPr lang="en-US" b="0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                                 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0" dirty="0"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>
                    <a:effectLst/>
                  </a:rPr>
                  <a:t>      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effectLst/>
                  </a:rPr>
                  <a:t> is a </a:t>
                </a:r>
                <a14:m>
                  <m:oMath xmlns:m="http://schemas.openxmlformats.org/officeDocument/2006/math">
                    <m:r>
                      <a:rPr lang="en-US" b="1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dirty="0">
                    <a:effectLst/>
                  </a:rPr>
                  <a:t> matrix (m=1):</a:t>
                </a:r>
              </a:p>
              <a:p>
                <a:pPr lvl="1"/>
                <a:r>
                  <a:rPr lang="en-US" altLang="zh-CN" dirty="0">
                    <a:effectLst/>
                    <a:ea typeface="宋体" pitchFamily="2" charset="-122"/>
                  </a:rPr>
                  <a:t>Choose column 1;</a:t>
                </a:r>
              </a:p>
              <a:p>
                <a:pPr lvl="1"/>
                <a:r>
                  <a:rPr lang="en-US" altLang="zh-CN" dirty="0">
                    <a:effectLst/>
                    <a:ea typeface="宋体" pitchFamily="2" charset="-12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;</a:t>
                </a:r>
              </a:p>
              <a:p>
                <a:pPr lvl="1"/>
                <a:r>
                  <a:rPr lang="en-US" altLang="zh-CN" dirty="0">
                    <a:effectLst/>
                    <a:ea typeface="宋体" pitchFamily="2" charset="-122"/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;</a:t>
                </a:r>
              </a:p>
              <a:p>
                <a:pPr lvl="1"/>
                <a:r>
                  <a:rPr lang="en-US" altLang="zh-CN" dirty="0">
                    <a:effectLst/>
                    <a:ea typeface="宋体" pitchFamily="2" charset="-122"/>
                  </a:rPr>
                  <a:t>Check non-negativity.</a:t>
                </a:r>
              </a:p>
              <a:p>
                <a:pPr lvl="1"/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1405" t="-11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614" y="2804112"/>
            <a:ext cx="3905916" cy="3566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3826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3200" b="0" i="1">
                                  <a:effectLst/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altLang="zh-CN" sz="3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  <m:r>
                                <a:rPr lang="en-US" altLang="zh-CN" sz="3200" b="0" i="1">
                                  <a:effectLst/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  <m:r>
                                <a:rPr lang="en-US" altLang="zh-CN" sz="3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 1  0  0  0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0  1  6  0  1  0  0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1  0  0  0  0  1  0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0  1  0  0  0  0  1</m:t>
                              </m:r>
                            </m:e>
                          </m:eqArr>
                        </m:e>
                      </m:d>
                      <m:r>
                        <a:rPr lang="en-US" altLang="zh-CN" sz="3200" b="1" i="1" smtClean="0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3200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3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zh-CN" sz="3200" b="0" i="1">
                                  <a:effectLst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altLang="zh-CN" sz="3200" b="0" i="1">
                                  <a:effectLst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sz="3200" b="0" i="1">
                                  <a:effectLst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altLang="zh-CN" sz="3200" b="0" i="1">
                                  <a:effectLst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  <m:r>
                        <a:rPr lang="en-US" altLang="zh-CN" sz="3200" b="1" i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32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32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32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en-US" sz="3200" dirty="0">
                  <a:effectLst/>
                </a:endParaRPr>
              </a:p>
              <a:p>
                <a:pPr marL="0" indent="0">
                  <a:buNone/>
                </a:pPr>
                <a:endParaRPr lang="en-US" b="0" i="1" dirty="0">
                  <a:effectLst/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effectLst/>
                  </a:rPr>
                  <a:t>How to find a BFS?</a:t>
                </a:r>
              </a:p>
              <a:p>
                <a:endParaRPr lang="en-US" dirty="0">
                  <a:effectLst/>
                </a:endParaRPr>
              </a:p>
              <a:p>
                <a:r>
                  <a:rPr lang="en-US" dirty="0">
                    <a:effectLst/>
                  </a:rPr>
                  <a:t>Can the constraints be expressed in inequalities?</a:t>
                </a:r>
                <a:r>
                  <a:rPr lang="en-US" b="0" dirty="0">
                    <a:effectLst/>
                  </a:rPr>
                  <a:t> </a:t>
                </a:r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12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82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Each basic solution has </a:t>
            </a:r>
            <a:r>
              <a:rPr lang="en-US" i="1" dirty="0">
                <a:effectLst/>
              </a:rPr>
              <a:t>m</a:t>
            </a:r>
            <a:r>
              <a:rPr lang="en-US" dirty="0">
                <a:effectLst/>
              </a:rPr>
              <a:t> basic variables</a:t>
            </a:r>
          </a:p>
          <a:p>
            <a:pPr lvl="1"/>
            <a:r>
              <a:rPr lang="en-US" dirty="0">
                <a:effectLst/>
              </a:rPr>
              <a:t>Rest of variables are </a:t>
            </a:r>
            <a:r>
              <a:rPr lang="en-US" dirty="0" err="1">
                <a:effectLst/>
              </a:rPr>
              <a:t>nonbasic</a:t>
            </a:r>
            <a:r>
              <a:rPr lang="en-US" dirty="0">
                <a:effectLst/>
              </a:rPr>
              <a:t> variables and are  set to zero</a:t>
            </a:r>
          </a:p>
          <a:p>
            <a:r>
              <a:rPr lang="en-US" dirty="0">
                <a:effectLst/>
              </a:rPr>
              <a:t>Values of basic variables given by:</a:t>
            </a:r>
          </a:p>
          <a:p>
            <a:pPr lvl="1"/>
            <a:r>
              <a:rPr lang="en-US" dirty="0">
                <a:effectLst/>
              </a:rPr>
              <a:t>Solution to a system of </a:t>
            </a:r>
            <a:r>
              <a:rPr lang="en-US" i="1" dirty="0">
                <a:effectLst/>
              </a:rPr>
              <a:t>m</a:t>
            </a:r>
            <a:r>
              <a:rPr lang="en-US" dirty="0">
                <a:effectLst/>
              </a:rPr>
              <a:t> equations</a:t>
            </a:r>
          </a:p>
          <a:p>
            <a:r>
              <a:rPr lang="en-US" dirty="0">
                <a:effectLst/>
              </a:rPr>
              <a:t>A basic feasible solution (BFS)</a:t>
            </a:r>
          </a:p>
          <a:p>
            <a:pPr lvl="1"/>
            <a:r>
              <a:rPr lang="en-US" dirty="0">
                <a:effectLst/>
              </a:rPr>
              <a:t>Basic solution where all </a:t>
            </a:r>
            <a:r>
              <a:rPr lang="en-US" i="1" dirty="0">
                <a:effectLst/>
              </a:rPr>
              <a:t>m</a:t>
            </a:r>
            <a:r>
              <a:rPr lang="en-US" dirty="0">
                <a:effectLst/>
              </a:rPr>
              <a:t> basic variables are nonnegative</a:t>
            </a:r>
          </a:p>
        </p:txBody>
      </p:sp>
    </p:spTree>
    <p:extLst>
      <p:ext uri="{BB962C8B-B14F-4D97-AF65-F5344CB8AC3E}">
        <p14:creationId xmlns:p14="http://schemas.microsoft.com/office/powerpoint/2010/main" val="84945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lvl="0" indent="0">
              <a:buNone/>
            </a:pP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              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Simplex Method		</a:t>
            </a:r>
            <a:endParaRPr lang="en-US" altLang="zh-CN" sz="40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29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Naïve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941388"/>
                <a:ext cx="9144000" cy="5813742"/>
              </a:xfrm>
            </p:spPr>
            <p:txBody>
              <a:bodyPr/>
              <a:lstStyle/>
              <a:p>
                <a:r>
                  <a:rPr lang="en-US" dirty="0">
                    <a:effectLst/>
                  </a:rPr>
                  <a:t>Consider an LP in standard form</a:t>
                </a:r>
              </a:p>
              <a:p>
                <a:pPr marL="396875" lvl="1" indent="0">
                  <a:buNone/>
                </a:pPr>
                <a:r>
                  <a:rPr lang="en-US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>
                  <a:effectLst/>
                </a:endParaRPr>
              </a:p>
              <a:p>
                <a:pPr marL="396875" lvl="1" indent="0">
                  <a:buNone/>
                </a:pPr>
                <a:r>
                  <a:rPr lang="en-US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:r>
                  <a:rPr lang="en-US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</a:rPr>
                  <a:t>  </a:t>
                </a:r>
              </a:p>
              <a:p>
                <a:pPr marL="911225" lvl="1" indent="-514350">
                  <a:buFont typeface="+mj-lt"/>
                  <a:buAutoNum type="arabicPeriod"/>
                </a:pPr>
                <a:r>
                  <a:rPr lang="en-US" dirty="0">
                    <a:effectLst/>
                  </a:rPr>
                  <a:t>Find all extreme points.</a:t>
                </a:r>
              </a:p>
              <a:p>
                <a:pPr marL="911225" lvl="1" indent="-514350">
                  <a:buFont typeface="+mj-lt"/>
                  <a:buAutoNum type="arabicPeriod"/>
                </a:pPr>
                <a:r>
                  <a:rPr lang="en-US" altLang="zh-CN" dirty="0">
                    <a:effectLst/>
                    <a:ea typeface="宋体" pitchFamily="2" charset="-122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effectLst/>
                  </a:rPr>
                  <a:t> at these extreme points.</a:t>
                </a:r>
                <a:endParaRPr lang="en-US" altLang="zh-CN" dirty="0">
                  <a:effectLst/>
                  <a:ea typeface="宋体" pitchFamily="2" charset="-122"/>
                </a:endParaRPr>
              </a:p>
              <a:p>
                <a:pPr marL="911225" lvl="1" indent="-514350">
                  <a:buFont typeface="+mj-lt"/>
                  <a:buAutoNum type="arabicPeriod"/>
                </a:pPr>
                <a:r>
                  <a:rPr lang="en-US" dirty="0">
                    <a:effectLst/>
                  </a:rPr>
                  <a:t>Pick the smallest one.</a:t>
                </a:r>
              </a:p>
              <a:p>
                <a:r>
                  <a:rPr lang="en-US" dirty="0">
                    <a:effectLst/>
                  </a:rPr>
                  <a:t>Reduces from infinite to finite; how many possible basic solutions are there?</a:t>
                </a:r>
              </a:p>
              <a:p>
                <a:pPr lvl="1"/>
                <a:r>
                  <a:rPr lang="en-US" dirty="0">
                    <a:effectLst/>
                  </a:rPr>
                  <a:t>n = 20, m = 10: about 0.2 million;</a:t>
                </a:r>
              </a:p>
              <a:p>
                <a:pPr lvl="1"/>
                <a:r>
                  <a:rPr lang="en-US" dirty="0">
                    <a:effectLst/>
                  </a:rPr>
                  <a:t>n = 30, m = 15: about 155 million.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941388"/>
                <a:ext cx="9144000" cy="5813742"/>
              </a:xfrm>
              <a:blipFill rotWithShape="0">
                <a:blip r:embed="rId3"/>
                <a:stretch>
                  <a:fillRect l="-1267" t="-10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6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 General Idea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26987" y="1147128"/>
            <a:ext cx="9144000" cy="547211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effectLst/>
              </a:rPr>
              <a:t>Find a feasible solution;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effectLst/>
              </a:rPr>
              <a:t>Determine whether the current solution is optimal or not: </a:t>
            </a:r>
            <a:r>
              <a:rPr lang="en-US" dirty="0">
                <a:solidFill>
                  <a:srgbClr val="FF0000"/>
                </a:solidFill>
                <a:effectLst/>
              </a:rPr>
              <a:t>optimality condition</a:t>
            </a:r>
            <a:r>
              <a:rPr lang="en-US" dirty="0">
                <a:effectLst/>
              </a:rPr>
              <a:t>.</a:t>
            </a:r>
          </a:p>
          <a:p>
            <a:pPr marL="911225" lvl="1" indent="-514350"/>
            <a:r>
              <a:rPr lang="en-US" dirty="0">
                <a:effectLst/>
              </a:rPr>
              <a:t>If yes, terminate; else proceed to step 3.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effectLst/>
                <a:ea typeface="宋体" pitchFamily="2" charset="-122"/>
              </a:rPr>
              <a:t>Search the neighborhood of the current solution to find another feasible solution with lower cost, and go back to step 2.</a:t>
            </a:r>
            <a:endParaRPr lang="en-US" dirty="0">
              <a:effectLst/>
            </a:endParaRPr>
          </a:p>
          <a:p>
            <a:pPr marL="0" indent="0">
              <a:buNone/>
            </a:pPr>
            <a:endParaRPr lang="en-US" altLang="zh-CN" dirty="0">
              <a:effectLst/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98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Optimality Condition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26987" y="1147128"/>
            <a:ext cx="9144000" cy="5472113"/>
          </a:xfrm>
        </p:spPr>
        <p:txBody>
          <a:bodyPr/>
          <a:lstStyle/>
          <a:p>
            <a:r>
              <a:rPr lang="en-US" dirty="0">
                <a:effectLst/>
              </a:rPr>
              <a:t>Why is (0, 0) not optimal?</a:t>
            </a: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pPr marL="0" indent="0">
              <a:buNone/>
            </a:pPr>
            <a:endParaRPr lang="en-US" dirty="0">
              <a:effectLst/>
            </a:endParaRPr>
          </a:p>
          <a:p>
            <a:r>
              <a:rPr lang="en-US" dirty="0">
                <a:effectLst/>
              </a:rPr>
              <a:t>Why is (1, 1) optimal?</a:t>
            </a:r>
          </a:p>
          <a:p>
            <a:pPr marL="0" indent="0">
              <a:buNone/>
            </a:pPr>
            <a:endParaRPr lang="en-US" altLang="zh-CN" dirty="0">
              <a:effectLst/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8" name="Group 31"/>
          <p:cNvGrpSpPr>
            <a:grpSpLocks/>
          </p:cNvGrpSpPr>
          <p:nvPr/>
        </p:nvGrpSpPr>
        <p:grpSpPr bwMode="auto">
          <a:xfrm>
            <a:off x="6457564" y="2943686"/>
            <a:ext cx="2054225" cy="1295400"/>
            <a:chOff x="2426039" y="4495800"/>
            <a:chExt cx="2055232" cy="1295400"/>
          </a:xfrm>
        </p:grpSpPr>
        <p:sp>
          <p:nvSpPr>
            <p:cNvPr id="19" name="Right Triangle 18"/>
            <p:cNvSpPr/>
            <p:nvPr/>
          </p:nvSpPr>
          <p:spPr>
            <a:xfrm>
              <a:off x="2591220" y="4495800"/>
              <a:ext cx="1523158" cy="1295400"/>
            </a:xfrm>
            <a:prstGeom prst="rtTriangle">
              <a:avLst/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  <p:sp>
          <p:nvSpPr>
            <p:cNvPr id="20" name="Isosceles Triangle 19"/>
            <p:cNvSpPr/>
            <p:nvPr/>
          </p:nvSpPr>
          <p:spPr>
            <a:xfrm rot="2424316">
              <a:off x="2426039" y="4833938"/>
              <a:ext cx="2055232" cy="330200"/>
            </a:xfrm>
            <a:prstGeom prst="triangle">
              <a:avLst>
                <a:gd name="adj" fmla="val 49234"/>
              </a:avLst>
            </a:prstGeom>
            <a:solidFill>
              <a:srgbClr val="FF66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MS PGothic" charset="0"/>
                <a:cs typeface="MS PGothic" charset="0"/>
              </a:endParaRPr>
            </a:p>
          </p:txBody>
        </p:sp>
      </p:grp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>
            <a:off x="6316276" y="4239086"/>
            <a:ext cx="2438400" cy="1588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" name="Straight Arrow Connector 21"/>
          <p:cNvCxnSpPr>
            <a:cxnSpLocks noChangeShapeType="1"/>
          </p:cNvCxnSpPr>
          <p:nvPr/>
        </p:nvCxnSpPr>
        <p:spPr bwMode="auto">
          <a:xfrm flipH="1" flipV="1">
            <a:off x="6588090" y="1481360"/>
            <a:ext cx="32987" cy="3140315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</p:cNvCxnSpPr>
          <p:nvPr/>
        </p:nvCxnSpPr>
        <p:spPr bwMode="auto">
          <a:xfrm>
            <a:off x="7081783" y="2473500"/>
            <a:ext cx="1192833" cy="1994186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6392476" y="2791286"/>
            <a:ext cx="1676400" cy="685800"/>
          </a:xfrm>
          <a:prstGeom prst="line">
            <a:avLst/>
          </a:prstGeom>
          <a:noFill/>
          <a:ln w="25400">
            <a:solidFill>
              <a:srgbClr val="7F7F7F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5" name="Oval 24"/>
          <p:cNvSpPr/>
          <p:nvPr/>
        </p:nvSpPr>
        <p:spPr>
          <a:xfrm>
            <a:off x="7554526" y="3250074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7444120" y="2929723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/>
              <a:t>(1, 1)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19667" y="3892236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70895" y="4327986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70895" y="4708986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800003" y="4367063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00003" y="3274863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36" name="TextBox 40"/>
          <p:cNvSpPr txBox="1">
            <a:spLocks noChangeArrowheads="1"/>
          </p:cNvSpPr>
          <p:nvPr/>
        </p:nvSpPr>
        <p:spPr bwMode="auto">
          <a:xfrm>
            <a:off x="7414826" y="4273217"/>
            <a:ext cx="8509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/>
              <a:t>(1.5, 0)</a:t>
            </a:r>
          </a:p>
        </p:txBody>
      </p:sp>
      <p:sp>
        <p:nvSpPr>
          <p:cNvPr id="37" name="TextBox 40"/>
          <p:cNvSpPr txBox="1">
            <a:spLocks noChangeArrowheads="1"/>
          </p:cNvSpPr>
          <p:nvPr/>
        </p:nvSpPr>
        <p:spPr bwMode="auto">
          <a:xfrm>
            <a:off x="5738425" y="4250199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/>
              <a:t>(0, 0)</a:t>
            </a:r>
          </a:p>
        </p:txBody>
      </p:sp>
      <p:sp>
        <p:nvSpPr>
          <p:cNvPr id="38" name="TextBox 40"/>
          <p:cNvSpPr txBox="1">
            <a:spLocks noChangeArrowheads="1"/>
          </p:cNvSpPr>
          <p:nvPr/>
        </p:nvSpPr>
        <p:spPr bwMode="auto">
          <a:xfrm>
            <a:off x="5789227" y="2700798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/>
              <a:t>(0, 1.5)</a:t>
            </a:r>
          </a:p>
        </p:txBody>
      </p:sp>
      <p:sp>
        <p:nvSpPr>
          <p:cNvPr id="39" name="Oval 38"/>
          <p:cNvSpPr/>
          <p:nvPr/>
        </p:nvSpPr>
        <p:spPr>
          <a:xfrm flipV="1">
            <a:off x="6575073" y="4207327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cxnSp>
        <p:nvCxnSpPr>
          <p:cNvPr id="40" name="Straight Connector 39"/>
          <p:cNvCxnSpPr>
            <a:cxnSpLocks noChangeShapeType="1"/>
          </p:cNvCxnSpPr>
          <p:nvPr/>
        </p:nvCxnSpPr>
        <p:spPr bwMode="auto">
          <a:xfrm>
            <a:off x="5325676" y="2410286"/>
            <a:ext cx="3429000" cy="3124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6754426" y="5246505"/>
            <a:ext cx="1752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dirty="0"/>
              <a:t>Max </a:t>
            </a:r>
            <a:r>
              <a:rPr lang="en-US" altLang="en-US" b="1" i="1" dirty="0"/>
              <a:t>x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 + x</a:t>
            </a:r>
            <a:r>
              <a:rPr lang="en-US" altLang="en-US" b="1" i="1" baseline="-25000" dirty="0"/>
              <a:t>2</a:t>
            </a:r>
            <a:endParaRPr lang="en-US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2712157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 General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941388"/>
                <a:ext cx="9144000" cy="5813742"/>
              </a:xfrm>
            </p:spPr>
            <p:txBody>
              <a:bodyPr/>
              <a:lstStyle/>
              <a:p>
                <a:r>
                  <a:rPr lang="en-US" dirty="0">
                    <a:effectLst/>
                  </a:rPr>
                  <a:t>A general problem</a:t>
                </a:r>
              </a:p>
              <a:p>
                <a:pPr marL="396875" lvl="1" indent="0">
                  <a:buNone/>
                </a:pPr>
                <a:r>
                  <a:rPr lang="en-US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effectLst/>
                </a:endParaRPr>
              </a:p>
              <a:p>
                <a:pPr marL="396875" lvl="1" indent="0">
                  <a:buNone/>
                </a:pPr>
                <a:r>
                  <a:rPr lang="en-US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</a:rPr>
                  <a:t>  </a:t>
                </a:r>
              </a:p>
              <a:p>
                <a:endParaRPr lang="en-US" dirty="0">
                  <a:effectLst/>
                </a:endParaRPr>
              </a:p>
              <a:p>
                <a:r>
                  <a:rPr lang="en-US" dirty="0">
                    <a:effectLst/>
                  </a:rPr>
                  <a:t>For LP</a:t>
                </a:r>
              </a:p>
              <a:p>
                <a:pPr marL="854075" lvl="1" indent="-457200"/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>
                  <a:effectLst/>
                </a:endParaRPr>
              </a:p>
              <a:p>
                <a:pPr marL="854075" lvl="1" indent="-457200"/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effectLst/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941388"/>
                <a:ext cx="9144000" cy="5813742"/>
              </a:xfrm>
              <a:blipFill rotWithShape="0">
                <a:blip r:embed="rId3"/>
                <a:stretch>
                  <a:fillRect l="-1267" t="-10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48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Local Optimality vs Global Optimality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26987" y="1147128"/>
                <a:ext cx="9144000" cy="5472113"/>
              </a:xfrm>
            </p:spPr>
            <p:txBody>
              <a:bodyPr/>
              <a:lstStyle/>
              <a:p>
                <a:r>
                  <a:rPr lang="en-US" dirty="0">
                    <a:effectLst/>
                  </a:rPr>
                  <a:t>For a feasible solution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en-US" dirty="0">
                    <a:effectLst/>
                  </a:rPr>
                  <a:t>, if no other feasible solution in the </a:t>
                </a:r>
                <a:r>
                  <a:rPr lang="en-US" dirty="0">
                    <a:solidFill>
                      <a:srgbClr val="FF0000"/>
                    </a:solidFill>
                    <a:effectLst/>
                  </a:rPr>
                  <a:t>neighborhood</a:t>
                </a:r>
                <a:r>
                  <a:rPr lang="en-US" dirty="0">
                    <a:effectLst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effectLst/>
                  </a:rPr>
                  <a:t> leads to lower cost,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effectLst/>
                  </a:rPr>
                  <a:t> is called a </a:t>
                </a:r>
                <a:r>
                  <a:rPr lang="en-US" dirty="0">
                    <a:solidFill>
                      <a:srgbClr val="FF0000"/>
                    </a:solidFill>
                    <a:effectLst/>
                  </a:rPr>
                  <a:t>local optimal solution</a:t>
                </a:r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dirty="0">
                    <a:effectLst/>
                  </a:rPr>
                  <a:t>For a feasible solution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en-US" dirty="0">
                    <a:effectLst/>
                  </a:rPr>
                  <a:t>, if no other feasible solution in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en-US" dirty="0">
                    <a:effectLst/>
                  </a:rPr>
                  <a:t> leads to lower cost,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effectLst/>
                  </a:rPr>
                  <a:t> is called a </a:t>
                </a:r>
                <a:r>
                  <a:rPr lang="en-US" dirty="0">
                    <a:solidFill>
                      <a:srgbClr val="FF0000"/>
                    </a:solidFill>
                    <a:effectLst/>
                  </a:rPr>
                  <a:t>global optimal solution</a:t>
                </a:r>
                <a:r>
                  <a:rPr lang="en-US" dirty="0">
                    <a:effectLst/>
                  </a:rPr>
                  <a:t>.</a:t>
                </a:r>
              </a:p>
              <a:p>
                <a:pPr marL="0" indent="0">
                  <a:buNone/>
                </a:pPr>
                <a:endParaRPr lang="en-US" altLang="zh-CN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26987" y="1147128"/>
                <a:ext cx="9144000" cy="5472113"/>
              </a:xfrm>
              <a:blipFill rotWithShape="0">
                <a:blip r:embed="rId3"/>
                <a:stretch>
                  <a:fillRect l="-1267" t="-1114" r="-2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97" y="4497389"/>
            <a:ext cx="3258503" cy="154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4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Convex Set and Convex Function</a:t>
            </a:r>
            <a:endParaRPr lang="zh-CN" altLang="en-US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5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014345"/>
                <a:ext cx="8921931" cy="5517084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A set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is called convex set if 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i="1">
                        <a:effectLst/>
                        <a:latin typeface="Cambria Math" panose="02040503050406030204" pitchFamily="18" charset="0"/>
                      </a:rPr>
                      <m:t>λ</m:t>
                    </m:r>
                    <m:r>
                      <a:rPr lang="el-GR" alt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, we have </a:t>
                </a:r>
              </a:p>
              <a:p>
                <a:pPr marL="0" indent="0">
                  <a:buNone/>
                  <a:defRPr/>
                </a:pPr>
                <a:r>
                  <a:rPr lang="en-US" altLang="en-US" sz="3200" dirty="0">
                    <a:effectLst/>
                  </a:rPr>
                  <a:t>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3200" i="1">
                        <a:effectLst/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en-US" sz="32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320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en-US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200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en-US" sz="3200" i="1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altLang="en-US" sz="3200" i="1">
                            <a:effectLst/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a:rPr lang="en-US" altLang="en-US" sz="3200" i="1">
                        <a:effectLst/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3200" dirty="0"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</m:oMath>
                </a14:m>
                <a:endParaRPr lang="en-US" altLang="zh-CN" sz="3200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Polyhedron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effectLst/>
                  </a:rPr>
                  <a:t> </a:t>
                </a:r>
                <a:r>
                  <a:rPr lang="en-US" altLang="zh-CN" dirty="0">
                    <a:effectLst/>
                    <a:ea typeface="宋体" pitchFamily="2" charset="-122"/>
                  </a:rPr>
                  <a:t>is a convex set.</a:t>
                </a:r>
              </a:p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215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014345"/>
                <a:ext cx="8921931" cy="5517084"/>
              </a:xfrm>
              <a:blipFill rotWithShape="0">
                <a:blip r:embed="rId3"/>
                <a:stretch>
                  <a:fillRect l="-1298" t="-11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657" y="3433762"/>
            <a:ext cx="5681663" cy="26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071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Convex Set and Convex Function</a:t>
            </a:r>
            <a:endParaRPr lang="zh-CN" altLang="en-US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5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014345"/>
                <a:ext cx="8921931" cy="5517084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is called convex on a convex set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if 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i="1">
                        <a:effectLst/>
                        <a:latin typeface="Cambria Math" panose="02040503050406030204" pitchFamily="18" charset="0"/>
                      </a:rPr>
                      <m:t>λ</m:t>
                    </m:r>
                    <m:r>
                      <a:rPr lang="el-GR" altLang="en-U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, we have</a:t>
                </a: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i="1" smtClean="0">
                          <a:effectLst/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en-US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en-US" sz="3200" i="1">
                              <a:effectLst/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en-US" sz="3200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en-US" sz="3200" b="1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32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en-US" sz="32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l-GR" altLang="en-US" sz="3200" i="1">
                                  <a:effectLst/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d>
                          <m: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en-US" sz="3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l-GR" altLang="en-US" sz="3200" i="1">
                          <a:effectLst/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altLang="en-US" sz="3200" b="1" i="1" smtClean="0">
                          <a:effectLst/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3200" b="1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32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1" smtClean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en-US" sz="3200" i="1">
                              <a:effectLst/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r>
                        <a:rPr lang="en-US" altLang="zh-CN" sz="3200" b="1" i="1" smtClean="0">
                          <a:effectLst/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3200" b="1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effectLst/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3200" b="1" i="1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A linear function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is a convex function.</a:t>
                </a: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215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014345"/>
                <a:ext cx="8921931" cy="5517084"/>
              </a:xfrm>
              <a:blipFill rotWithShape="0">
                <a:blip r:embed="rId3"/>
                <a:stretch>
                  <a:fillRect l="-1298" t="-11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022490"/>
            <a:ext cx="2781300" cy="338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89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 General Principle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26987" y="1147128"/>
                <a:ext cx="9144000" cy="5472113"/>
              </a:xfrm>
            </p:spPr>
            <p:txBody>
              <a:bodyPr/>
              <a:lstStyle/>
              <a:p>
                <a:r>
                  <a:rPr lang="en-US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en-US" dirty="0">
                    <a:effectLst/>
                  </a:rPr>
                  <a:t> is a convex set and </a:t>
                </a:r>
                <a14:m>
                  <m:oMath xmlns:m="http://schemas.openxmlformats.org/officeDocument/2006/math">
                    <m:r>
                      <a:rPr lang="en-US" altLang="en-US" i="1">
                        <a:effectLst/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 is a convex function, then </a:t>
                </a:r>
              </a:p>
              <a:p>
                <a:pPr marL="396875" lvl="1" indent="0">
                  <a:buNone/>
                </a:pPr>
                <a:r>
                  <a:rPr lang="en-US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effectLst/>
                </a:endParaRPr>
              </a:p>
              <a:p>
                <a:pPr marL="396875" lvl="1" indent="0">
                  <a:buNone/>
                </a:pPr>
                <a:r>
                  <a:rPr lang="en-US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</a:rPr>
                  <a:t>  </a:t>
                </a:r>
              </a:p>
              <a:p>
                <a:pPr marL="911225" lvl="1" indent="-514350"/>
                <a:r>
                  <a:rPr lang="en-US" dirty="0">
                    <a:effectLst/>
                  </a:rPr>
                  <a:t>is called a convex programming problem;</a:t>
                </a:r>
              </a:p>
              <a:p>
                <a:pPr marL="911225" lvl="1" indent="-514350"/>
                <a:r>
                  <a:rPr lang="en-US" dirty="0">
                    <a:effectLst/>
                  </a:rPr>
                  <a:t>a local optimal solution is a global optimal solution.</a:t>
                </a:r>
              </a:p>
              <a:p>
                <a:r>
                  <a:rPr lang="en-US" dirty="0">
                    <a:effectLst/>
                  </a:rPr>
                  <a:t>LP is a special case of convex programming.</a:t>
                </a:r>
              </a:p>
              <a:p>
                <a:pPr lvl="1"/>
                <a:r>
                  <a:rPr lang="en-US" dirty="0">
                    <a:effectLst/>
                  </a:rPr>
                  <a:t>It is sufficient to check feasible solution nearby.</a:t>
                </a:r>
              </a:p>
              <a:p>
                <a:pPr lvl="1"/>
                <a:r>
                  <a:rPr lang="en-US" dirty="0">
                    <a:effectLst/>
                  </a:rPr>
                  <a:t>It is sufficient to check </a:t>
                </a:r>
                <a:r>
                  <a:rPr lang="en-US" dirty="0">
                    <a:solidFill>
                      <a:srgbClr val="FF0000"/>
                    </a:solidFill>
                    <a:effectLst/>
                  </a:rPr>
                  <a:t>BFS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effectLst/>
                  </a:rPr>
                  <a:t>nearby</a:t>
                </a:r>
                <a:r>
                  <a:rPr lang="en-US" dirty="0">
                    <a:effectLst/>
                  </a:rPr>
                  <a:t>.</a:t>
                </a:r>
              </a:p>
              <a:p>
                <a:pPr marL="0" indent="0">
                  <a:buNone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26987" y="1147128"/>
                <a:ext cx="9144000" cy="5472113"/>
              </a:xfrm>
              <a:blipFill rotWithShape="0">
                <a:blip r:embed="rId3"/>
                <a:stretch>
                  <a:fillRect l="-1267" t="-11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28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BFS nearby: Adjacent BFS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26987" y="1147128"/>
            <a:ext cx="9144000" cy="5472113"/>
          </a:xfrm>
        </p:spPr>
        <p:txBody>
          <a:bodyPr/>
          <a:lstStyle/>
          <a:p>
            <a:r>
              <a:rPr lang="en-US" dirty="0">
                <a:effectLst/>
              </a:rPr>
              <a:t>Two distinct BFSs in n-dimensional space are said to be </a:t>
            </a:r>
            <a:r>
              <a:rPr lang="en-US" dirty="0">
                <a:solidFill>
                  <a:srgbClr val="FF0000"/>
                </a:solidFill>
                <a:effectLst/>
              </a:rPr>
              <a:t>adjacent</a:t>
            </a:r>
            <a:r>
              <a:rPr lang="en-US" dirty="0">
                <a:effectLst/>
              </a:rPr>
              <a:t> if they share n-1 linearly independent active constraints. </a:t>
            </a:r>
          </a:p>
          <a:p>
            <a:pPr marL="911225" lvl="1" indent="-514350"/>
            <a:r>
              <a:rPr lang="en-US" dirty="0">
                <a:effectLst/>
              </a:rPr>
              <a:t>For standard form, this implies that </a:t>
            </a:r>
            <a:r>
              <a:rPr lang="en-US" dirty="0">
                <a:solidFill>
                  <a:srgbClr val="FF0000"/>
                </a:solidFill>
                <a:effectLst/>
              </a:rPr>
              <a:t>all but one</a:t>
            </a:r>
            <a:r>
              <a:rPr lang="en-US" dirty="0">
                <a:effectLst/>
              </a:rPr>
              <a:t> of their </a:t>
            </a:r>
            <a:r>
              <a:rPr lang="en-US" dirty="0" err="1">
                <a:solidFill>
                  <a:srgbClr val="FF0000"/>
                </a:solidFill>
                <a:effectLst/>
              </a:rPr>
              <a:t>nonbasic</a:t>
            </a:r>
            <a:r>
              <a:rPr lang="en-US" dirty="0">
                <a:solidFill>
                  <a:srgbClr val="FF0000"/>
                </a:solidFill>
                <a:effectLst/>
              </a:rPr>
              <a:t> variables</a:t>
            </a:r>
            <a:r>
              <a:rPr lang="en-US" dirty="0">
                <a:effectLst/>
              </a:rPr>
              <a:t> are the same.</a:t>
            </a:r>
          </a:p>
          <a:p>
            <a:pPr marL="0" indent="0">
              <a:buNone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55352" y="5958841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84460" y="599791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84460" y="4905718"/>
            <a:ext cx="6096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MS PGothic" charset="0"/>
              <a:cs typeface="MS P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85" y="3565626"/>
            <a:ext cx="2663371" cy="29111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339" y="3676643"/>
            <a:ext cx="2994925" cy="273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39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        =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3,</m:t>
                      </m:r>
                    </m:oMath>
                  </m:oMathPara>
                </a14:m>
                <a:endParaRPr lang="en-US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3, </m:t>
                      </m:r>
                    </m:oMath>
                  </m:oMathPara>
                </a14:m>
                <a:endParaRPr lang="en-US" b="0" dirty="0">
                  <a:effectLst/>
                </a:endParaRPr>
              </a:p>
              <a:p>
                <a:pPr marL="0" indent="0">
                  <a:buNone/>
                </a:pPr>
                <a:r>
                  <a:rPr lang="en-US" b="0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0" dirty="0">
                    <a:effectLst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0" dirty="0">
                  <a:effectLst/>
                  <a:ea typeface="Cambria Math" panose="02040503050406030204" pitchFamily="18" charset="0"/>
                </a:endParaRPr>
              </a:p>
              <a:p>
                <a:r>
                  <a:rPr lang="en-US" altLang="zh-CN" dirty="0">
                    <a:effectLst/>
                    <a:ea typeface="宋体" pitchFamily="2" charset="-122"/>
                  </a:rPr>
                  <a:t>Which one is adjacent BFS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0, 0, 3, 3</m:t>
                        </m:r>
                      </m:e>
                    </m:d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(0, 1.5, 0, 1.5)</m:t>
                    </m:r>
                  </m:oMath>
                </a14:m>
                <a:endParaRPr lang="en-US" altLang="zh-CN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0, 0, 3, 3</m:t>
                        </m:r>
                      </m:e>
                    </m:d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(1, 1, 0, 0)</m:t>
                    </m:r>
                  </m:oMath>
                </a14:m>
                <a:endParaRPr lang="en-US" altLang="zh-CN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,(0, 1.5, 0, 1.5)</m:t>
                    </m:r>
                  </m:oMath>
                </a14:m>
                <a:endParaRPr lang="en-US" altLang="zh-CN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1,1, 0, 0</m:t>
                        </m:r>
                      </m:e>
                    </m:d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1.5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1.5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12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84" y="2012326"/>
            <a:ext cx="2518229" cy="274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55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>
                                  <a:effectLst/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  <m:r>
                                <a:rPr lang="en-US" altLang="zh-CN" sz="2400" b="0" i="1">
                                  <a:effectLst/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 1  0  0  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0  1  6  0  1  0  0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1  0  0  0  0  1  0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0  1  0  0  0  0  1</m:t>
                              </m:r>
                            </m:e>
                          </m:eqArr>
                        </m:e>
                      </m:d>
                      <m:r>
                        <a:rPr lang="en-US" altLang="zh-CN" sz="2400" b="1" i="1" smtClean="0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zh-CN" sz="2400" b="0" i="1">
                                  <a:effectLst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altLang="zh-CN" sz="2400" b="0" i="1">
                                  <a:effectLst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sz="2400" b="0" i="1">
                                  <a:effectLst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altLang="zh-CN" sz="2400" b="0" i="1">
                                  <a:effectLst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  <m:r>
                        <a:rPr lang="en-US" altLang="zh-CN" sz="2400" b="1" i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</a:endParaRPr>
              </a:p>
              <a:p>
                <a:r>
                  <a:rPr lang="en-US" altLang="zh-CN" sz="2400" dirty="0">
                    <a:effectLst/>
                    <a:ea typeface="宋体" pitchFamily="2" charset="-122"/>
                  </a:rPr>
                  <a:t>Which one is adjacent BFS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0, 0, 0, 8, 12, 4, 6</m:t>
                        </m:r>
                      </m:e>
                    </m:d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4, 0, 0, 4, 12, 0, 6</m:t>
                        </m:r>
                      </m:e>
                    </m:d>
                  </m:oMath>
                </a14:m>
                <a:endParaRPr lang="en-US" sz="2400" b="0" dirty="0">
                  <a:effectLst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0, 0, 0, 8, 12, 4, 6</m:t>
                        </m:r>
                      </m:e>
                    </m:d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0,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2400" b="0" dirty="0">
                  <a:effectLst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0, 6, 0, 2, 6, 4, 0</m:t>
                        </m:r>
                      </m:e>
                    </m:d>
                  </m:oMath>
                </a14:m>
                <a:r>
                  <a:rPr lang="en-US" sz="2400" b="0" dirty="0">
                    <a:effectLst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4, 0, 0, 4, 12, 0, 6</m:t>
                        </m:r>
                      </m:e>
                    </m:d>
                  </m:oMath>
                </a14:m>
                <a:endParaRPr lang="en-US" sz="2400" b="0" dirty="0"/>
              </a:p>
              <a:p>
                <a:pPr lvl="1"/>
                <a:endParaRPr lang="en-US" altLang="zh-CN" sz="2400" b="0" dirty="0">
                  <a:ea typeface="宋体" pitchFamily="2" charset="-122"/>
                </a:endParaRPr>
              </a:p>
              <a:p>
                <a:pPr lvl="1"/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dirty="0">
                  <a:ea typeface="宋体" pitchFamily="2" charset="-122"/>
                </a:endParaRPr>
              </a:p>
              <a:p>
                <a:endParaRPr lang="en-US" altLang="zh-CN" dirty="0">
                  <a:ea typeface="宋体" pitchFamily="2" charset="-122"/>
                </a:endParaRP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685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Example: Iteration 0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        =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3,</m:t>
                      </m:r>
                    </m:oMath>
                  </m:oMathPara>
                </a14:m>
                <a:endParaRPr lang="en-US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3, </m:t>
                      </m:r>
                    </m:oMath>
                  </m:oMathPara>
                </a14:m>
                <a:endParaRPr lang="en-US" b="0" dirty="0">
                  <a:effectLst/>
                </a:endParaRPr>
              </a:p>
              <a:p>
                <a:pPr marL="0" indent="0">
                  <a:buNone/>
                </a:pPr>
                <a:r>
                  <a:rPr lang="en-US" b="0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0" dirty="0">
                    <a:effectLst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0" dirty="0">
                  <a:effectLst/>
                  <a:ea typeface="Cambria Math" panose="02040503050406030204" pitchFamily="18" charset="0"/>
                </a:endParaRPr>
              </a:p>
              <a:p>
                <a:r>
                  <a:rPr lang="en-US" altLang="zh-CN" dirty="0">
                    <a:effectLst/>
                    <a:ea typeface="宋体" pitchFamily="2" charset="-122"/>
                  </a:rPr>
                  <a:t>Adjacent BFS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0, 3, 3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?, ?,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?)</m:t>
                    </m:r>
                  </m:oMath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r>
                  <a:rPr lang="en-US" altLang="zh-CN" dirty="0">
                    <a:effectLst/>
                    <a:ea typeface="宋体" pitchFamily="2" charset="-122"/>
                  </a:rPr>
                  <a:t>How to move?</a:t>
                </a:r>
              </a:p>
              <a:p>
                <a:pPr lvl="1"/>
                <a:r>
                  <a:rPr lang="en-US" b="0" dirty="0">
                    <a:effectLst/>
                  </a:rPr>
                  <a:t>Stay on edge: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=(0, 1,</m:t>
                    </m:r>
                    <m:sSub>
                      <m:sSubPr>
                        <m:ctrlPr>
                          <a:rPr lang="en-US" alt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sz="2800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sz="2800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zh-CN" sz="2800" b="0" dirty="0">
                    <a:effectLst/>
                  </a:rPr>
                  <a:t>Stay feasible: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1  </m:t>
                            </m:r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1  </m:t>
                            </m:r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eqArr>
                      </m:e>
                    </m:d>
                    <m:r>
                      <a:rPr lang="en-US" altLang="zh-CN" sz="20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eqArr>
                      </m:e>
                    </m:d>
                    <m:r>
                      <a:rPr lang="en-US" altLang="zh-CN" sz="20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eqArr>
                      </m:e>
                    </m:d>
                    <m:r>
                      <a:rPr lang="en-US" altLang="zh-CN" sz="200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CN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zh-CN" sz="3600" b="0" dirty="0">
                    <a:effectLst/>
                    <a:latin typeface="Cambria Math" panose="02040503050406030204" pitchFamily="18" charset="0"/>
                  </a:rPr>
                  <a:t>⇒</a:t>
                </a:r>
                <a:r>
                  <a:rPr lang="en-US" altLang="zh-CN" b="0" dirty="0">
                    <a:effectLst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=(0, 1,−2,−1)</m:t>
                    </m:r>
                  </m:oMath>
                </a14:m>
                <a:endParaRPr lang="en-US" altLang="zh-CN" sz="2400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1204" b="-712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84" y="2012326"/>
            <a:ext cx="2518229" cy="27487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893108" y="3798754"/>
                <a:ext cx="3891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108" y="3798754"/>
                <a:ext cx="389145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 bwMode="auto">
          <a:xfrm flipV="1">
            <a:off x="7188069" y="3603470"/>
            <a:ext cx="12831" cy="55253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Down Arrow 11"/>
          <p:cNvSpPr/>
          <p:nvPr/>
        </p:nvSpPr>
        <p:spPr bwMode="auto">
          <a:xfrm>
            <a:off x="1371600" y="2983230"/>
            <a:ext cx="91440" cy="205740"/>
          </a:xfrm>
          <a:prstGeom prst="down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93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Example: Iteration 0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        =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3,</m:t>
                      </m:r>
                    </m:oMath>
                  </m:oMathPara>
                </a14:m>
                <a:endParaRPr lang="en-US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</a:rPr>
                        <m:t>3, </m:t>
                      </m:r>
                    </m:oMath>
                  </m:oMathPara>
                </a14:m>
                <a:endParaRPr lang="en-US" b="0" dirty="0">
                  <a:effectLst/>
                </a:endParaRPr>
              </a:p>
              <a:p>
                <a:pPr marL="0" indent="0">
                  <a:buNone/>
                </a:pPr>
                <a:r>
                  <a:rPr lang="en-US" b="0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0" dirty="0">
                    <a:effectLst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0" dirty="0">
                  <a:effectLst/>
                  <a:ea typeface="Cambria Math" panose="02040503050406030204" pitchFamily="18" charset="0"/>
                </a:endParaRPr>
              </a:p>
              <a:p>
                <a:r>
                  <a:rPr lang="en-US" altLang="zh-CN" dirty="0">
                    <a:effectLst/>
                    <a:ea typeface="宋体" pitchFamily="2" charset="-122"/>
                  </a:rPr>
                  <a:t>Adjacent BFS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 0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 3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 3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</a:rPr>
                      <m:t>, ?, ?,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?)</m:t>
                    </m:r>
                  </m:oMath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r>
                  <a:rPr lang="en-US" altLang="zh-CN" dirty="0">
                    <a:effectLst/>
                    <a:ea typeface="宋体" pitchFamily="2" charset="-122"/>
                  </a:rPr>
                  <a:t>How far to move?</a:t>
                </a:r>
              </a:p>
              <a:p>
                <a:pPr lvl="1"/>
                <a:r>
                  <a:rPr lang="en-US" altLang="zh-CN" sz="2800" b="0" dirty="0">
                    <a:effectLst/>
                  </a:rPr>
                  <a:t>Stay feasible: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eqArr>
                      </m:e>
                    </m:d>
                    <m:r>
                      <a:rPr lang="en-US" altLang="zh-CN" sz="20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en-US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eqArr>
                      </m:e>
                    </m:d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0  </m:t>
                            </m:r>
                          </m:e>
                          <m:e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0  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0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pPr lvl="1"/>
                <a:r>
                  <a:rPr lang="en-US" altLang="zh-CN" sz="3600" b="0" dirty="0">
                    <a:effectLst/>
                    <a:latin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altLang="en-US" sz="28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≤1.5</m:t>
                    </m:r>
                  </m:oMath>
                </a14:m>
                <a:endParaRPr lang="en-US" altLang="zh-CN" sz="2800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, 0, 3, 3</m:t>
                        </m:r>
                      </m:e>
                    </m:d>
                    <m:r>
                      <a:rPr lang="en-US" sz="2800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1.5</m:t>
                    </m:r>
                    <m:d>
                      <m:d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1, −2, −1</m:t>
                        </m:r>
                      </m:e>
                    </m:d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, 1.5, 0, 1.5</m:t>
                        </m:r>
                      </m:e>
                    </m:d>
                  </m:oMath>
                </a14:m>
                <a:endParaRPr lang="en-US" altLang="zh-CN" sz="28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sz="28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1204" b="-7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84" y="2012326"/>
            <a:ext cx="2518229" cy="27487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746544" y="3394831"/>
                <a:ext cx="5189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544" y="3394831"/>
                <a:ext cx="518988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 bwMode="auto">
          <a:xfrm flipV="1">
            <a:off x="7188069" y="2633663"/>
            <a:ext cx="4667" cy="152233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Down Arrow 8"/>
          <p:cNvSpPr/>
          <p:nvPr/>
        </p:nvSpPr>
        <p:spPr bwMode="auto">
          <a:xfrm>
            <a:off x="1371600" y="2983230"/>
            <a:ext cx="91440" cy="205740"/>
          </a:xfrm>
          <a:prstGeom prst="down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0254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Example: Iteration 0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         =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3,</m:t>
                      </m:r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3, </m:t>
                      </m:r>
                    </m:oMath>
                  </m:oMathPara>
                </a14:m>
                <a:endParaRPr lang="en-US" sz="2400" b="0" dirty="0">
                  <a:effectLst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effectLst/>
                  </a:rPr>
                  <a:t>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0" dirty="0">
                    <a:effectLst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ffectLst/>
                  <a:ea typeface="Cambria Math" panose="02040503050406030204" pitchFamily="18" charset="0"/>
                </a:endParaRPr>
              </a:p>
              <a:p>
                <a:r>
                  <a:rPr lang="en-US" altLang="zh-CN" sz="2400" dirty="0">
                    <a:effectLst/>
                    <a:ea typeface="宋体" pitchFamily="2" charset="-122"/>
                  </a:rPr>
                  <a:t>Change in cost along direction</a:t>
                </a:r>
                <a:r>
                  <a:rPr lang="en-US" sz="2400" b="0" dirty="0"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=(0, 1, −2, −1)</m:t>
                    </m:r>
                  </m:oMath>
                </a14:m>
                <a:endParaRPr lang="en-US" altLang="zh-CN" sz="2400" dirty="0">
                  <a:effectLst/>
                  <a:ea typeface="宋体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b="0" dirty="0">
                    <a:effectLst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(−1, −1, 0, 0)</m:t>
                    </m:r>
                  </m:oMath>
                </a14:m>
                <a:r>
                  <a:rPr lang="en-US" altLang="zh-CN" sz="2400" b="0" i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0 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0 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3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3</m:t>
                            </m:r>
                          </m:e>
                        </m:eqArr>
                      </m:e>
                    </m:d>
                    <m:r>
                      <a:rPr lang="en-US" altLang="zh-CN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(−1, −1, 0, 0)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0  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1  </m:t>
                            </m:r>
                          </m:e>
                          <m:e>
                            <m:r>
                              <a:rPr lang="en-US" altLang="en-US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zh-CN" sz="2200" dirty="0">
                  <a:ea typeface="宋体" pitchFamily="2" charset="-122"/>
                </a:endParaRPr>
              </a:p>
              <a:p>
                <a:pPr marL="854075" lvl="1" indent="-457200"/>
                <a:endParaRPr lang="en-US" altLang="zh-CN" sz="2400" dirty="0">
                  <a:ea typeface="宋体" pitchFamily="2" charset="-122"/>
                </a:endParaRPr>
              </a:p>
              <a:p>
                <a:pPr marL="454025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  <a:p>
                <a:pPr marL="454025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170" y="2404211"/>
            <a:ext cx="2518229" cy="2748730"/>
          </a:xfrm>
          <a:prstGeom prst="rect">
            <a:avLst/>
          </a:prstGeom>
        </p:spPr>
      </p:pic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>
            <a:off x="7039426" y="3274759"/>
            <a:ext cx="1995715" cy="17780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7358743" y="3778576"/>
            <a:ext cx="0" cy="77036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039426" y="4124715"/>
                <a:ext cx="3891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426" y="4124715"/>
                <a:ext cx="389145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6167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Reduced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26987" y="1147128"/>
                <a:ext cx="9144000" cy="5472113"/>
              </a:xfrm>
            </p:spPr>
            <p:txBody>
              <a:bodyPr/>
              <a:lstStyle/>
              <a:p>
                <a:pPr marL="457200" indent="-457200"/>
                <a:r>
                  <a:rPr lang="en-US" dirty="0">
                    <a:effectLst/>
                  </a:rPr>
                  <a:t>Now we consider the objective: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>
                  <a:effectLst/>
                </a:endParaRPr>
              </a:p>
              <a:p>
                <a:pPr marL="854075" lvl="1" indent="-457200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b="0" dirty="0">
                    <a:effectLst/>
                    <a:ea typeface="宋体" pitchFamily="2" charset="-122"/>
                  </a:rPr>
                  <a:t>;</a:t>
                </a:r>
              </a:p>
              <a:p>
                <a:pPr marL="854075" lvl="1" indent="-457200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b="0" dirty="0">
                        <a:effectLst/>
                        <a:ea typeface="宋体" pitchFamily="2" charset="-122"/>
                      </a:rPr>
                      <m:t>;</m:t>
                    </m:r>
                  </m:oMath>
                </a14:m>
                <a:endParaRPr lang="en-US" dirty="0">
                  <a:effectLst/>
                </a:endParaRPr>
              </a:p>
              <a:p>
                <a:pPr marL="854075" lvl="1" indent="-457200"/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dirty="0">
                    <a:effectLst/>
                  </a:rPr>
                  <a:t> is the direction of changing the </a:t>
                </a:r>
                <a:r>
                  <a:rPr lang="en-US" dirty="0" err="1">
                    <a:effectLst/>
                  </a:rPr>
                  <a:t>nonbasic</a:t>
                </a:r>
                <a:r>
                  <a:rPr lang="en-US" dirty="0">
                    <a:effectLst/>
                  </a:rPr>
                  <a:t> variable with index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dirty="0">
                    <a:effectLst/>
                  </a:rPr>
                  <a:t>Reduced cost in direction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dirty="0">
                    <a:effectLst/>
                  </a:rPr>
                  <a:t> 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pPr lvl="1"/>
                <a:r>
                  <a:rPr lang="en-US" dirty="0">
                    <a:effectLst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dirty="0">
                  <a:effectLst/>
                </a:endParaRPr>
              </a:p>
              <a:p>
                <a:pPr lvl="1"/>
                <a:r>
                  <a:rPr lang="en-US" dirty="0">
                    <a:effectLst/>
                  </a:rPr>
                  <a:t>else</a:t>
                </a: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26987" y="1147128"/>
                <a:ext cx="9144000" cy="5472113"/>
              </a:xfrm>
              <a:blipFill>
                <a:blip r:embed="rId3"/>
                <a:stretch>
                  <a:fillRect l="-1267" t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914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Example: Iteration 1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941388"/>
                <a:ext cx="9110663" cy="557324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         =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3,</m:t>
                      </m:r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3, </m:t>
                      </m:r>
                    </m:oMath>
                  </m:oMathPara>
                </a14:m>
                <a:endParaRPr lang="en-US" sz="2400" b="0" dirty="0">
                  <a:effectLst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effectLst/>
                  </a:rPr>
                  <a:t>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0" dirty="0">
                    <a:effectLst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ffectLst/>
                  <a:ea typeface="Cambria Math" panose="02040503050406030204" pitchFamily="18" charset="0"/>
                </a:endParaRPr>
              </a:p>
              <a:p>
                <a:r>
                  <a:rPr lang="en-US" altLang="zh-CN" sz="2400" dirty="0">
                    <a:effectLst/>
                    <a:ea typeface="宋体" pitchFamily="2" charset="-122"/>
                  </a:rPr>
                  <a:t>Adjacent BFS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(0, 1.5, 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, 1.5)</m:t>
                    </m:r>
                  </m:oMath>
                </a14:m>
                <a:r>
                  <a:rPr lang="en-US" sz="2400" dirty="0"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?,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?,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, ?</m:t>
                        </m:r>
                      </m:e>
                    </m:d>
                  </m:oMath>
                </a14:m>
                <a:endParaRPr lang="en-US" altLang="zh-CN" sz="2400" dirty="0">
                  <a:effectLst/>
                  <a:ea typeface="宋体" pitchFamily="2" charset="-122"/>
                </a:endParaRPr>
              </a:p>
              <a:p>
                <a:r>
                  <a:rPr lang="en-US" altLang="zh-CN" sz="2400" dirty="0">
                    <a:effectLst/>
                    <a:ea typeface="宋体" pitchFamily="2" charset="-122"/>
                  </a:rPr>
                  <a:t>Moving direction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=(1,</m:t>
                    </m:r>
                    <m:sSub>
                      <m:sSubPr>
                        <m:ctrlP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0" i="1" dirty="0">
                  <a:effectLst/>
                  <a:latin typeface="Cambria Math" panose="02040503050406030204" pitchFamily="18" charset="0"/>
                </a:endParaRPr>
              </a:p>
              <a:p>
                <a:pPr marL="854075" lvl="1" indent="-457200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1  2  1  0  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2  1  0  1  </m:t>
                            </m:r>
                          </m:e>
                        </m:eqAr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b="0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altLang="zh-CN" sz="3600" b="0" dirty="0">
                    <a:effectLst/>
                    <a:latin typeface="Cambria Math" panose="02040503050406030204" pitchFamily="18" charset="0"/>
                  </a:rPr>
                  <a:t>⇒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1  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en-US" sz="24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en-U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1  </m:t>
                            </m:r>
                          </m:e>
                          <m:e>
                            <m:r>
                              <a:rPr lang="en-US" alt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−0.5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−1.5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>
                  <a:effectLst/>
                  <a:ea typeface="宋体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0, 1.5, </m:t>
                        </m:r>
                        <m:r>
                          <a:rPr 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1.5</m:t>
                        </m:r>
                      </m:e>
                    </m:d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−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−1.5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2400" i="1" dirty="0">
                    <a:effectLst/>
                    <a:latin typeface="Cambria Math" panose="02040503050406030204" pitchFamily="18" charset="0"/>
                  </a:rPr>
                  <a:t>, </a:t>
                </a:r>
                <a:r>
                  <a:rPr lang="en-US" altLang="zh-CN" sz="2400" b="0" dirty="0">
                    <a:effectLst/>
                    <a:latin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zh-CN" sz="240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0, 1.5, </m:t>
                        </m:r>
                        <m:r>
                          <a:rPr 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1.5</m:t>
                        </m:r>
                      </m:e>
                    </m:d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−0.5, </m:t>
                        </m:r>
                        <m:r>
                          <a:rPr 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−1.5</m:t>
                        </m:r>
                      </m:e>
                    </m:d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=(1,1,0,0)</m:t>
                    </m:r>
                  </m:oMath>
                </a14:m>
                <a:endParaRPr lang="en-US" altLang="zh-CN" sz="2400" i="1" dirty="0">
                  <a:effectLst/>
                  <a:latin typeface="Cambria Math" panose="02040503050406030204" pitchFamily="18" charset="0"/>
                </a:endParaRPr>
              </a:p>
              <a:p>
                <a:pPr marL="454025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  <a:p>
                <a:pPr marL="454025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  <a:p>
                <a:pPr marL="454025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941388"/>
                <a:ext cx="9110663" cy="5573245"/>
              </a:xfrm>
              <a:blipFill rotWithShape="0">
                <a:blip r:embed="rId3"/>
                <a:stretch>
                  <a:fillRect l="-870" b="-229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999" y="2404211"/>
            <a:ext cx="2518229" cy="274873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 bwMode="auto">
          <a:xfrm>
            <a:off x="7061199" y="3418115"/>
            <a:ext cx="609600" cy="2754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Down Arrow 6"/>
          <p:cNvSpPr/>
          <p:nvPr/>
        </p:nvSpPr>
        <p:spPr bwMode="auto">
          <a:xfrm>
            <a:off x="1017270" y="2610803"/>
            <a:ext cx="80010" cy="114300"/>
          </a:xfrm>
          <a:prstGeom prst="down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372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Example: Iteration 1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         =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3,</m:t>
                      </m:r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3, </m:t>
                      </m:r>
                    </m:oMath>
                  </m:oMathPara>
                </a14:m>
                <a:endParaRPr lang="en-US" sz="2400" b="0" dirty="0">
                  <a:effectLst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effectLst/>
                  </a:rPr>
                  <a:t>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0" dirty="0">
                    <a:effectLst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ffectLst/>
                  <a:ea typeface="Cambria Math" panose="02040503050406030204" pitchFamily="18" charset="0"/>
                </a:endParaRPr>
              </a:p>
              <a:p>
                <a:r>
                  <a:rPr lang="en-US" altLang="zh-CN" sz="2400" dirty="0">
                    <a:effectLst/>
                    <a:ea typeface="宋体" pitchFamily="2" charset="-122"/>
                  </a:rPr>
                  <a:t>Reduced cost in direction: </a:t>
                </a:r>
                <a14:m>
                  <m:oMath xmlns:m="http://schemas.openxmlformats.org/officeDocument/2006/math"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(1, −0.5, 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−1.5)</m:t>
                    </m:r>
                  </m:oMath>
                </a14:m>
                <a:endParaRPr lang="en-US" altLang="zh-CN" sz="2400" dirty="0">
                  <a:effectLst/>
                  <a:ea typeface="宋体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sz="18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8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8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b="0" dirty="0">
                    <a:effectLst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−0.5</m:t>
                            </m:r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400" b="0" i="1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−1.5</m:t>
                            </m:r>
                          </m:e>
                        </m:eqArr>
                      </m:e>
                    </m:d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</a:rPr>
                      <m:t>=−0.5</m:t>
                    </m:r>
                  </m:oMath>
                </a14:m>
                <a:endParaRPr lang="en-US" altLang="zh-CN" sz="24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zh-C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zh-CN" sz="2200" dirty="0">
                  <a:ea typeface="宋体" pitchFamily="2" charset="-122"/>
                </a:endParaRPr>
              </a:p>
              <a:p>
                <a:pPr marL="854075" lvl="1" indent="-457200"/>
                <a:endParaRPr lang="en-US" altLang="zh-CN" sz="2400" dirty="0">
                  <a:ea typeface="宋体" pitchFamily="2" charset="-122"/>
                </a:endParaRPr>
              </a:p>
              <a:p>
                <a:pPr marL="454025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  <a:p>
                <a:pPr marL="454025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170" y="2404211"/>
            <a:ext cx="2518229" cy="2748730"/>
          </a:xfrm>
          <a:prstGeom prst="rect">
            <a:avLst/>
          </a:prstGeom>
        </p:spPr>
      </p:pic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>
            <a:off x="7039426" y="3274759"/>
            <a:ext cx="1995715" cy="17780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>
            <a:off x="7505253" y="3465875"/>
            <a:ext cx="598530" cy="23071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529765" y="3096543"/>
                <a:ext cx="3891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765" y="3096543"/>
                <a:ext cx="389145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2587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Example: Iteration 2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         =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3,</m:t>
                      </m:r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</a:rPr>
                        <m:t>3, </m:t>
                      </m:r>
                    </m:oMath>
                  </m:oMathPara>
                </a14:m>
                <a:endParaRPr lang="en-US" sz="2400" b="0" dirty="0">
                  <a:effectLst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effectLst/>
                  </a:rPr>
                  <a:t>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0" dirty="0">
                    <a:effectLst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ffectLst/>
                  <a:ea typeface="Cambria Math" panose="02040503050406030204" pitchFamily="18" charset="0"/>
                </a:endParaRPr>
              </a:p>
              <a:p>
                <a:r>
                  <a:rPr lang="en-US" altLang="zh-CN" sz="2400" dirty="0">
                    <a:effectLst/>
                    <a:ea typeface="宋体" pitchFamily="2" charset="-122"/>
                  </a:rPr>
                  <a:t>BFS: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2400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en-US" sz="24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1, 1, 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  <m:r>
                      <a:rPr lang="en-US" sz="2400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en-US" sz="24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sz="24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b="0" i="1" dirty="0">
                  <a:effectLst/>
                  <a:latin typeface="Cambria Math" panose="02040503050406030204" pitchFamily="18" charset="0"/>
                </a:endParaRPr>
              </a:p>
              <a:p>
                <a:r>
                  <a:rPr lang="en-US" altLang="zh-CN" sz="2400" dirty="0">
                    <a:effectLst/>
                    <a:ea typeface="宋体" pitchFamily="2" charset="-122"/>
                  </a:rPr>
                  <a:t>Reduced cost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alt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sz="32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3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3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zh-CN" sz="3200" dirty="0">
                  <a:effectLst/>
                  <a:ea typeface="宋体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sz="20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en-US" sz="32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3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3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zh-CN" sz="2000" dirty="0">
                  <a:ea typeface="宋体" pitchFamily="2" charset="-122"/>
                </a:endParaRPr>
              </a:p>
              <a:p>
                <a:pPr marL="854075" lvl="1" indent="-457200"/>
                <a:endParaRPr lang="en-US" altLang="zh-CN" sz="2400" dirty="0">
                  <a:ea typeface="宋体" pitchFamily="2" charset="-122"/>
                </a:endParaRPr>
              </a:p>
              <a:p>
                <a:pPr marL="454025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  <a:p>
                <a:pPr marL="454025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" y="1042520"/>
                <a:ext cx="9110663" cy="5472113"/>
              </a:xfrm>
              <a:blipFill rotWithShape="0">
                <a:blip r:embed="rId3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771" y="1042520"/>
            <a:ext cx="2518229" cy="2748730"/>
          </a:xfrm>
          <a:prstGeom prst="rect">
            <a:avLst/>
          </a:prstGeom>
        </p:spPr>
      </p:pic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>
            <a:off x="6887027" y="1913068"/>
            <a:ext cx="1995715" cy="17780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H="1" flipV="1">
            <a:off x="7315201" y="2041909"/>
            <a:ext cx="682172" cy="25634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8371115" y="2633664"/>
            <a:ext cx="337457" cy="51133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Down Arrow 10"/>
          <p:cNvSpPr/>
          <p:nvPr/>
        </p:nvSpPr>
        <p:spPr bwMode="auto">
          <a:xfrm flipH="1">
            <a:off x="1588770" y="3099275"/>
            <a:ext cx="80010" cy="99536"/>
          </a:xfrm>
          <a:prstGeom prst="down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Down Arrow 11"/>
          <p:cNvSpPr/>
          <p:nvPr/>
        </p:nvSpPr>
        <p:spPr bwMode="auto">
          <a:xfrm>
            <a:off x="1866900" y="3468845"/>
            <a:ext cx="87630" cy="154465"/>
          </a:xfrm>
          <a:prstGeom prst="down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3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Optimality Condition and Simplex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26987" y="1023757"/>
                <a:ext cx="9144000" cy="5472113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effectLst/>
                  </a:rPr>
                  <a:t>Find a BFS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effectLst/>
                  </a:rPr>
                  <a:t>;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effectLst/>
                  </a:rPr>
                  <a:t>Determine whether the current solution is optimal or not: </a:t>
                </a:r>
                <a:r>
                  <a:rPr lang="en-US" dirty="0">
                    <a:solidFill>
                      <a:srgbClr val="FF0000"/>
                    </a:solidFill>
                    <a:effectLst/>
                  </a:rPr>
                  <a:t>is the reduced cost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solidFill>
                      <a:srgbClr val="FF0000"/>
                    </a:solidFill>
                    <a:effectLst/>
                  </a:rPr>
                  <a:t> for all the </a:t>
                </a:r>
                <a:r>
                  <a:rPr lang="en-US" dirty="0" err="1">
                    <a:solidFill>
                      <a:srgbClr val="FF0000"/>
                    </a:solidFill>
                    <a:effectLst/>
                  </a:rPr>
                  <a:t>nonbasic</a:t>
                </a:r>
                <a:r>
                  <a:rPr lang="en-US" dirty="0">
                    <a:solidFill>
                      <a:srgbClr val="FF0000"/>
                    </a:solidFill>
                    <a:effectLst/>
                  </a:rPr>
                  <a:t>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  <a:effectLst/>
                  </a:rPr>
                  <a:t> nonnegative</a:t>
                </a:r>
                <a:r>
                  <a:rPr lang="en-US" dirty="0">
                    <a:effectLst/>
                  </a:rPr>
                  <a:t>?</a:t>
                </a:r>
              </a:p>
              <a:p>
                <a:pPr marL="911225" lvl="1" indent="-514350"/>
                <a:r>
                  <a:rPr lang="en-US" dirty="0">
                    <a:effectLst/>
                  </a:rPr>
                  <a:t>If yes, terminate; else proceed to step 3.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>
                    <a:effectLst/>
                    <a:ea typeface="宋体" pitchFamily="2" charset="-122"/>
                  </a:rPr>
                  <a:t>Pick a </a:t>
                </a:r>
                <a:r>
                  <a:rPr lang="en-US" altLang="zh-CN" dirty="0" err="1">
                    <a:effectLst/>
                    <a:ea typeface="宋体" pitchFamily="2" charset="-122"/>
                  </a:rPr>
                  <a:t>nonbasic</a:t>
                </a:r>
                <a:r>
                  <a:rPr lang="en-US" altLang="zh-CN" dirty="0">
                    <a:effectLst/>
                    <a:ea typeface="宋体" pitchFamily="2" charset="-122"/>
                  </a:rPr>
                  <a:t>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effectLst/>
                    <a:ea typeface="宋体" pitchFamily="2" charset="-122"/>
                  </a:rPr>
                  <a:t> for which the reduced cost is negative and move along this direction, i.e.,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i="1">
                        <a:effectLst/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pPr marL="854075" lvl="1" indent="-457200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=1;</m:t>
                    </m:r>
                  </m:oMath>
                </a14:m>
                <a:endParaRPr lang="en-US" altLang="en-US" b="0" dirty="0">
                  <a:effectLst/>
                </a:endParaRPr>
              </a:p>
              <a:p>
                <a:pPr marL="854075" lvl="1" indent="-457200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b="0" dirty="0">
                    <a:effectLst/>
                    <a:ea typeface="宋体" pitchFamily="2" charset="-122"/>
                  </a:rPr>
                  <a:t>, </a:t>
                </a:r>
                <a:r>
                  <a:rPr lang="en-US" altLang="zh-CN" dirty="0">
                    <a:effectLst/>
                    <a:ea typeface="宋体" pitchFamily="2" charset="-122"/>
                  </a:rPr>
                  <a:t>for</a:t>
                </a:r>
                <a:r>
                  <a:rPr lang="en-US" altLang="zh-CN" b="0" dirty="0">
                    <a:effectLst/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CN" b="0" dirty="0">
                    <a:effectLst/>
                    <a:ea typeface="宋体" pitchFamily="2" charset="-122"/>
                  </a:rPr>
                  <a:t>;</a:t>
                </a:r>
              </a:p>
              <a:p>
                <a:pPr marL="911225" lvl="1" indent="-514350"/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|"/>
                        <m:ctrlP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en-US" b="0" dirty="0">
                        <a:effectLst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en-US" i="1">
                        <a:effectLst/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dirty="0" smtClea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dirty="0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26987" y="1023757"/>
                <a:ext cx="9144000" cy="5472113"/>
              </a:xfrm>
              <a:blipFill>
                <a:blip r:embed="rId3"/>
                <a:stretch>
                  <a:fillRect l="-1267" t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521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Tru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300"/>
  <p:tag name="DEFAULTMAGNIFICATION" val="1.5"/>
  <p:tag name="DEFAULTFONTSIZE" val="10"/>
  <p:tag name="DEFAULTWIDTH" val="394"/>
  <p:tag name="DEFAULTHEIGHT" val="338"/>
  <p:tag name="FIRSTXINCHEN@SUSY3254AVWXY596" val="2652"/>
  <p:tag name="FIRSTXIN20CHEN@ELDXLB0FUVWYY57I" val="36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color}&#10;\newcommand{\mb}[1]{\mbox{\boldmath $#1$}}&#10;\newcommand{\mbs}[1]{{\mbox{\boldmath \scriptsize{$#1$}}}}&#10;\newcommand{\mbt}[1]{\mbox{\boldmath $\tilde{#1}$}}&#10;\newcommand{\mbst}[1]{{\mbox{\boldmath \scriptsize{$\tilde{#1}$}}}}&#10;\newcommand{\mbss}[1]{{\mbox{\boldmath \tiny{$#1$}}}}&#10;\newcommand{\defi}{\stackrel{\Delta}{=}}&#10;\begin{document}&#10;$$&#10;\begin{array}{rlll}&#10;    {\rm max} &amp; \displaystyle x_1+x_2&#10;\vspace{3pt} \\&#10;    \vspace{3pt} {\rm s.t.} &#10;&amp;   x_1 + 2x_2 \leq 3\\&#10;&amp;  2x_1 + x_2 \leq 3\\&#10;&amp;  x_1,x_2 \geq 0 &#10;\end{array}&#10;$$&#10;\end{document}&#10;"/>
  <p:tag name="EXTERNALNAME" val="txp_fig"/>
  <p:tag name="BLEND" val="False"/>
  <p:tag name="TRANSPARENT" val="True"/>
  <p:tag name="KEEPFILES" val="False"/>
  <p:tag name="DEBUGPAUSE" val="False"/>
  <p:tag name="RESOLUTION" val="300"/>
  <p:tag name="TIMEOUT" val="(none)"/>
  <p:tag name="BOXWIDTH" val="440"/>
  <p:tag name="BOXHEIGHT" val="400"/>
  <p:tag name="BOXFONT" val="10"/>
  <p:tag name="BOXWRAP" val="False"/>
  <p:tag name="WORKAROUNDTRANSPARENCYBUG" val="False"/>
  <p:tag name="ALLOWFONTSUBSTITUTION" val="False"/>
  <p:tag name="BITMAPFORMAT" val="png16m"/>
  <p:tag name="ORIGWIDTH" val="182.875"/>
  <p:tag name="PICTUREFILESIZE" val="76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color}&#10;\newcommand{\mb}[1]{\mbox{\boldmath $#1$}}&#10;\newcommand{\mbs}[1]{{\mbox{\boldmath \scriptsize{$#1$}}}}&#10;\newcommand{\mbt}[1]{\mbox{\boldmath $\tilde{#1}$}}&#10;\newcommand{\mbst}[1]{{\mbox{\boldmath \scriptsize{$\tilde{#1}$}}}}&#10;\newcommand{\mbss}[1]{{\mbox{\boldmath \tiny{$#1$}}}}&#10;\newcommand{\defi}{\stackrel{\Delta}{=}}&#10;\begin{document}&#10;$$&#10;\begin{array}{rlll}&#10;    {\rm max} &amp; \displaystyle x_1+x_2&#10;\vspace{3pt} \\&#10;    \vspace{3pt} {\rm s.t.} &#10;&amp;   x_1 + 2x_2 \leq 3\\&#10;&amp;  2x_1 + x_2 \leq 3\\&#10;&amp;  x_1,x_2 \geq 0 &#10;\end{array}&#10;$$&#10;\end{document}&#10;"/>
  <p:tag name="EXTERNALNAME" val="txp_fig"/>
  <p:tag name="BLEND" val="False"/>
  <p:tag name="TRANSPARENT" val="True"/>
  <p:tag name="KEEPFILES" val="False"/>
  <p:tag name="DEBUGPAUSE" val="False"/>
  <p:tag name="RESOLUTION" val="300"/>
  <p:tag name="TIMEOUT" val="(none)"/>
  <p:tag name="BOXWIDTH" val="440"/>
  <p:tag name="BOXHEIGHT" val="400"/>
  <p:tag name="BOXFONT" val="10"/>
  <p:tag name="BOXWRAP" val="False"/>
  <p:tag name="WORKAROUNDTRANSPARENCYBUG" val="False"/>
  <p:tag name="ALLOWFONTSUBSTITUTION" val="False"/>
  <p:tag name="BITMAPFORMAT" val="png16m"/>
  <p:tag name="ORIGWIDTH" val="182.875"/>
  <p:tag name="PICTUREFILESIZE" val="76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color}&#10;\newcommand{\mb}[1]{\mbox{\boldmath $#1$}}&#10;\newcommand{\mbs}[1]{{\mbox{\boldmath \scriptsize{$#1$}}}}&#10;\newcommand{\mbt}[1]{\mbox{\boldmath $\tilde{#1}$}}&#10;\newcommand{\mbst}[1]{{\mbox{\boldmath \scriptsize{$\tilde{#1}$}}}}&#10;\newcommand{\mbss}[1]{{\mbox{\boldmath \tiny{$#1$}}}}&#10;\newcommand{\defi}{\stackrel{\Delta}{=}}&#10;\begin{document}&#10;$$&#10;\begin{array}{rlll}&#10;    {\rm max} &amp; \displaystyle 2x_1+x_2&#10;\vspace{3pt} \\&#10;    \vspace{3pt} {\rm s.t.} &#10;&amp;   x_1 + 2x_2 \leq 3\\&#10;&amp;  2x_1 + x_2 \leq 3\\&#10;&amp;  x_1,x_2 \geq 0 &#10;\end{array}&#10;$$&#10;\end{document}&#10;"/>
  <p:tag name="EXTERNALNAME" val="txp_fig"/>
  <p:tag name="BLEND" val="False"/>
  <p:tag name="TRANSPARENT" val="True"/>
  <p:tag name="KEEPFILES" val="False"/>
  <p:tag name="DEBUGPAUSE" val="False"/>
  <p:tag name="RESOLUTION" val="300"/>
  <p:tag name="TIMEOUT" val="(none)"/>
  <p:tag name="BOXWIDTH" val="440"/>
  <p:tag name="BOXHEIGHT" val="400"/>
  <p:tag name="BOXFONT" val="10"/>
  <p:tag name="BOXWRAP" val="False"/>
  <p:tag name="WORKAROUNDTRANSPARENCYBUG" val="False"/>
  <p:tag name="ALLOWFONTSUBSTITUTION" val="False"/>
  <p:tag name="BITMAPFORMAT" val="png16m"/>
  <p:tag name="ORIGWIDTH" val="182.875"/>
  <p:tag name="PICTUREFILESIZE" val="782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{color}&#10;\newcommand{\mb}[1]{\mbox{\boldmath $#1$}}&#10;\newcommand{\mbs}[1]{{\mbox{\boldmath \scriptsize{$#1$}}}}&#10;\newcommand{\mbt}[1]{\mbox{\boldmath $\tilde{#1}$}}&#10;\newcommand{\mbst}[1]{{\mbox{\boldmath \scriptsize{$\tilde{#1}$}}}}&#10;\newcommand{\mbss}[1]{{\mbox{\boldmath \tiny{$#1$}}}}&#10;\newcommand{\defi}{\stackrel{\Delta}{=}}&#10;\begin{document}&#10;$$&#10;\begin{array}{rlll}&#10;    {\rm max} &amp; \displaystyle x_1+x_2&#10;\vspace{3pt} \\&#10;    \vspace{3pt} {\rm s.t.} &#10;&amp;   x_1 - 2x_2 \leq 2\\&#10;&amp;  - x_1 + 2 x_2 \leq 2\\&#10;&amp;  x_1,x_2 \geq 0 &#10;\end{array}&#10;$$&#10;\end{document}&#10;"/>
  <p:tag name="FILENAME" val="txp_fig"/>
  <p:tag name="FORMAT" val="png16m"/>
  <p:tag name="RES" val="300"/>
  <p:tag name="BLEND" val="0"/>
  <p:tag name="TRANSPARENT" val="1"/>
  <p:tag name="TBUG" val="0"/>
  <p:tag name="ALLOWFS" val="0"/>
  <p:tag name="MAGNIFICATION" val="1055"/>
  <p:tag name="ORIGWIDTH" val="199"/>
  <p:tag name="PICTUREFILESIZE" val="753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color}&#10;\newcommand{\mb}[1]{\mbox{\boldmath $#1$}}&#10;\newcommand{\mbs}[1]{{\mbox{\boldmath \scriptsize{$#1$}}}}&#10;\newcommand{\mbt}[1]{\mbox{\boldmath $\tilde{#1}$}}&#10;\newcommand{\mbst}[1]{{\mbox{\boldmath \scriptsize{$\tilde{#1}$}}}}&#10;\newcommand{\mbss}[1]{{\mbox{\boldmath \tiny{$#1$}}}}&#10;\newcommand{\defi}{\stackrel{\Delta}{=}}&#10;\begin{document}&#10;$$&#10;\begin{array}{rlll}&#10;    {\rm max} &amp; \displaystyle x_1+x_2&#10;\vspace{3pt} \\&#10;    \vspace{3pt} {\rm s.t.} &#10;&amp;   x_1 + 2x_2 \leq 3\\&#10;&amp;  2x_1 + x_2 \leq 3\\&#10;&amp;  x_1,x_2 \geq 0 &#10;\end{array}&#10;$$&#10;\end{document}&#10;"/>
  <p:tag name="EXTERNALNAME" val="txp_fig"/>
  <p:tag name="BLEND" val="False"/>
  <p:tag name="TRANSPARENT" val="True"/>
  <p:tag name="KEEPFILES" val="False"/>
  <p:tag name="DEBUGPAUSE" val="False"/>
  <p:tag name="RESOLUTION" val="300"/>
  <p:tag name="TIMEOUT" val="(none)"/>
  <p:tag name="BOXWIDTH" val="440"/>
  <p:tag name="BOXHEIGHT" val="400"/>
  <p:tag name="BOXFONT" val="10"/>
  <p:tag name="BOXWRAP" val="False"/>
  <p:tag name="WORKAROUNDTRANSPARENCYBUG" val="False"/>
  <p:tag name="ALLOWFONTSUBSTITUTION" val="False"/>
  <p:tag name="BITMAPFORMAT" val="png16m"/>
  <p:tag name="ORIGWIDTH" val="182.875"/>
  <p:tag name="PICTUREFILESIZE" val="7615"/>
</p:tagLst>
</file>

<file path=ppt/theme/theme1.xml><?xml version="1.0" encoding="utf-8"?>
<a:theme xmlns:a="http://schemas.openxmlformats.org/drawingml/2006/main" name="Lecture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ectur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ctures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s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Data\Microsoft\Templates\Lectures.pot</Template>
  <TotalTime>69970</TotalTime>
  <Words>2604</Words>
  <Application>Microsoft Office PowerPoint</Application>
  <PresentationFormat>On-screen Show (4:3)</PresentationFormat>
  <Paragraphs>414</Paragraphs>
  <Slides>49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MS PGothic</vt:lpstr>
      <vt:lpstr>Arial</vt:lpstr>
      <vt:lpstr>宋体</vt:lpstr>
      <vt:lpstr>Cambria Math</vt:lpstr>
      <vt:lpstr>Cambria</vt:lpstr>
      <vt:lpstr>Times New Roman</vt:lpstr>
      <vt:lpstr>MS PGothic</vt:lpstr>
      <vt:lpstr>Lectures</vt:lpstr>
      <vt:lpstr>DBA5103</vt:lpstr>
      <vt:lpstr>PowerPoint Presentation</vt:lpstr>
      <vt:lpstr>Wyndor Glass Co.</vt:lpstr>
      <vt:lpstr>Model in Solver</vt:lpstr>
      <vt:lpstr>Model in Solver</vt:lpstr>
      <vt:lpstr>Model in Gurobi</vt:lpstr>
      <vt:lpstr>Solving the Model and Display Output</vt:lpstr>
      <vt:lpstr>Separating Model and Data: Model</vt:lpstr>
      <vt:lpstr>Separating Model and Data: Data</vt:lpstr>
      <vt:lpstr>PowerPoint Presentation</vt:lpstr>
      <vt:lpstr>Geometry of LP in 2D </vt:lpstr>
      <vt:lpstr>Geometry of LP in 2D </vt:lpstr>
      <vt:lpstr>Geometry of LP in 2D </vt:lpstr>
      <vt:lpstr>Geometry of LP in 2D </vt:lpstr>
      <vt:lpstr>Geometry of LP in 2D </vt:lpstr>
      <vt:lpstr>Summary</vt:lpstr>
      <vt:lpstr>Active/Binding Constraints</vt:lpstr>
      <vt:lpstr>Back to Extreme Point</vt:lpstr>
      <vt:lpstr>Extreme Point: An Algebraic Perspective</vt:lpstr>
      <vt:lpstr>3-D Example</vt:lpstr>
      <vt:lpstr>3-D Example</vt:lpstr>
      <vt:lpstr>Insights: Portfolio Management Problem</vt:lpstr>
      <vt:lpstr>Insights: Portfolio Management Problem</vt:lpstr>
      <vt:lpstr>Extreme Point in Standard Form</vt:lpstr>
      <vt:lpstr>Some Terminology</vt:lpstr>
      <vt:lpstr>An algorithm to find extreme point</vt:lpstr>
      <vt:lpstr>Example</vt:lpstr>
      <vt:lpstr>Example</vt:lpstr>
      <vt:lpstr>Summary</vt:lpstr>
      <vt:lpstr>PowerPoint Presentation</vt:lpstr>
      <vt:lpstr>Naïve Approach</vt:lpstr>
      <vt:lpstr>A General Idea </vt:lpstr>
      <vt:lpstr>Optimality Condition</vt:lpstr>
      <vt:lpstr>A General Optimization Problem</vt:lpstr>
      <vt:lpstr>Local Optimality vs Global Optimality</vt:lpstr>
      <vt:lpstr>Convex Set and Convex Function</vt:lpstr>
      <vt:lpstr>Convex Set and Convex Function</vt:lpstr>
      <vt:lpstr>A General Principle</vt:lpstr>
      <vt:lpstr>BFS nearby: Adjacent BFS</vt:lpstr>
      <vt:lpstr>Example</vt:lpstr>
      <vt:lpstr>Example</vt:lpstr>
      <vt:lpstr>Example: Iteration 0</vt:lpstr>
      <vt:lpstr>Example: Iteration 0</vt:lpstr>
      <vt:lpstr>Example: Iteration 0</vt:lpstr>
      <vt:lpstr>Reduced Cost</vt:lpstr>
      <vt:lpstr>Example: Iteration 1</vt:lpstr>
      <vt:lpstr>Example: Iteration 1</vt:lpstr>
      <vt:lpstr>Example: Iteration 2</vt:lpstr>
      <vt:lpstr>Optimality Condition and Simplex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to LP</dc:title>
  <dc:creator>Xin Chen</dc:creator>
  <cp:lastModifiedBy>Hu Zhenyu</cp:lastModifiedBy>
  <cp:revision>712</cp:revision>
  <dcterms:created xsi:type="dcterms:W3CDTF">2002-09-09T04:16:02Z</dcterms:created>
  <dcterms:modified xsi:type="dcterms:W3CDTF">2026-08-26T06:17:13Z</dcterms:modified>
</cp:coreProperties>
</file>