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9" r:id="rId1"/>
  </p:sldMasterIdLst>
  <p:notesMasterIdLst>
    <p:notesMasterId r:id="rId32"/>
  </p:notesMasterIdLst>
  <p:handoutMasterIdLst>
    <p:handoutMasterId r:id="rId33"/>
  </p:handoutMasterIdLst>
  <p:sldIdLst>
    <p:sldId id="616" r:id="rId2"/>
    <p:sldId id="604" r:id="rId3"/>
    <p:sldId id="605" r:id="rId4"/>
    <p:sldId id="606" r:id="rId5"/>
    <p:sldId id="607" r:id="rId6"/>
    <p:sldId id="608" r:id="rId7"/>
    <p:sldId id="609" r:id="rId8"/>
    <p:sldId id="610" r:id="rId9"/>
    <p:sldId id="611" r:id="rId10"/>
    <p:sldId id="612" r:id="rId11"/>
    <p:sldId id="613" r:id="rId12"/>
    <p:sldId id="587" r:id="rId13"/>
    <p:sldId id="585" r:id="rId14"/>
    <p:sldId id="586" r:id="rId15"/>
    <p:sldId id="588" r:id="rId16"/>
    <p:sldId id="614" r:id="rId17"/>
    <p:sldId id="615" r:id="rId18"/>
    <p:sldId id="591" r:id="rId19"/>
    <p:sldId id="596" r:id="rId20"/>
    <p:sldId id="592" r:id="rId21"/>
    <p:sldId id="593" r:id="rId22"/>
    <p:sldId id="594" r:id="rId23"/>
    <p:sldId id="597" r:id="rId24"/>
    <p:sldId id="595" r:id="rId25"/>
    <p:sldId id="598" r:id="rId26"/>
    <p:sldId id="599" r:id="rId27"/>
    <p:sldId id="600" r:id="rId28"/>
    <p:sldId id="601" r:id="rId29"/>
    <p:sldId id="602" r:id="rId30"/>
    <p:sldId id="603" r:id="rId31"/>
  </p:sldIdLst>
  <p:sldSz cx="9144000" cy="6858000" type="screen4x3"/>
  <p:notesSz cx="6858000" cy="9144000"/>
  <p:embeddedFontLst>
    <p:embeddedFont>
      <p:font typeface="宋体" panose="02010600030101010101" pitchFamily="2" charset="-122"/>
      <p:regular r:id="rId34"/>
    </p:embeddedFont>
    <p:embeddedFont>
      <p:font typeface="Cambria Math" panose="02040503050406030204" pitchFamily="18" charset="0"/>
      <p:regular r:id="rId35"/>
    </p:embeddedFont>
    <p:embeddedFont>
      <p:font typeface="MS PGothic" panose="020B0600070205080204" pitchFamily="34" charset="-128"/>
      <p:regular r:id="rId36"/>
    </p:embeddedFont>
  </p:embeddedFontLst>
  <p:custDataLst>
    <p:tags r:id="rId37"/>
  </p:custDataLst>
  <p:defaultTextStyle>
    <a:defPPr>
      <a:defRPr lang="en-US"/>
    </a:defPPr>
    <a:lvl1pPr algn="ctr" rtl="0" eaLnBrk="0" fontAlgn="base" hangingPunct="0">
      <a:spcBef>
        <a:spcPct val="0"/>
      </a:spcBef>
      <a:spcAft>
        <a:spcPct val="0"/>
      </a:spcAft>
      <a:defRPr kern="1200">
        <a:solidFill>
          <a:schemeClr val="tx1"/>
        </a:solidFill>
        <a:latin typeface="Arial" charset="0"/>
        <a:ea typeface="+mn-ea"/>
        <a:cs typeface="+mn-cs"/>
      </a:defRPr>
    </a:lvl1pPr>
    <a:lvl2pPr marL="457200" algn="ctr" rtl="0" eaLnBrk="0" fontAlgn="base" hangingPunct="0">
      <a:spcBef>
        <a:spcPct val="0"/>
      </a:spcBef>
      <a:spcAft>
        <a:spcPct val="0"/>
      </a:spcAft>
      <a:defRPr kern="1200">
        <a:solidFill>
          <a:schemeClr val="tx1"/>
        </a:solidFill>
        <a:latin typeface="Arial" charset="0"/>
        <a:ea typeface="+mn-ea"/>
        <a:cs typeface="+mn-cs"/>
      </a:defRPr>
    </a:lvl2pPr>
    <a:lvl3pPr marL="914400" algn="ctr" rtl="0" eaLnBrk="0" fontAlgn="base" hangingPunct="0">
      <a:spcBef>
        <a:spcPct val="0"/>
      </a:spcBef>
      <a:spcAft>
        <a:spcPct val="0"/>
      </a:spcAft>
      <a:defRPr kern="1200">
        <a:solidFill>
          <a:schemeClr val="tx1"/>
        </a:solidFill>
        <a:latin typeface="Arial" charset="0"/>
        <a:ea typeface="+mn-ea"/>
        <a:cs typeface="+mn-cs"/>
      </a:defRPr>
    </a:lvl3pPr>
    <a:lvl4pPr marL="1371600" algn="ctr" rtl="0" eaLnBrk="0" fontAlgn="base" hangingPunct="0">
      <a:spcBef>
        <a:spcPct val="0"/>
      </a:spcBef>
      <a:spcAft>
        <a:spcPct val="0"/>
      </a:spcAft>
      <a:defRPr kern="1200">
        <a:solidFill>
          <a:schemeClr val="tx1"/>
        </a:solidFill>
        <a:latin typeface="Arial" charset="0"/>
        <a:ea typeface="+mn-ea"/>
        <a:cs typeface="+mn-cs"/>
      </a:defRPr>
    </a:lvl4pPr>
    <a:lvl5pPr marL="1828800" algn="ctr"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2C129C"/>
    <a:srgbClr val="C6D6FE"/>
    <a:srgbClr val="BACDFE"/>
    <a:srgbClr val="E9EFFF"/>
    <a:srgbClr val="FF33CC"/>
    <a:srgbClr val="FFFF00"/>
    <a:srgbClr val="A8C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125" autoAdjust="0"/>
  </p:normalViewPr>
  <p:slideViewPr>
    <p:cSldViewPr snapToGrid="0">
      <p:cViewPr varScale="1">
        <p:scale>
          <a:sx n="118" d="100"/>
          <a:sy n="118" d="100"/>
        </p:scale>
        <p:origin x="1714" y="82"/>
      </p:cViewPr>
      <p:guideLst>
        <p:guide orient="horz" pos="2160"/>
        <p:guide pos="2880"/>
      </p:guideLst>
    </p:cSldViewPr>
  </p:slideViewPr>
  <p:outlineViewPr>
    <p:cViewPr>
      <p:scale>
        <a:sx n="33" d="100"/>
        <a:sy n="33" d="100"/>
      </p:scale>
      <p:origin x="0" y="-13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pitchFamily="34" charset="0"/>
              </a:defRPr>
            </a:lvl1pPr>
          </a:lstStyle>
          <a:p>
            <a:pPr>
              <a:defRPr/>
            </a:pPr>
            <a:endParaRPr lang="en-US" altLang="zh-CN"/>
          </a:p>
        </p:txBody>
      </p:sp>
      <p:sp>
        <p:nvSpPr>
          <p:cNvPr id="1075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endParaRPr lang="en-US" altLang="zh-CN"/>
          </a:p>
        </p:txBody>
      </p:sp>
      <p:sp>
        <p:nvSpPr>
          <p:cNvPr id="1075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pitchFamily="34" charset="0"/>
              </a:defRPr>
            </a:lvl1pPr>
          </a:lstStyle>
          <a:p>
            <a:pPr>
              <a:defRPr/>
            </a:pPr>
            <a:endParaRPr lang="en-US" altLang="zh-CN"/>
          </a:p>
        </p:txBody>
      </p:sp>
      <p:sp>
        <p:nvSpPr>
          <p:cNvPr id="1075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0B1C7EBB-BE00-44DC-AAA2-1213A867127A}" type="slidenum">
              <a:rPr lang="zh-CN" altLang="en-US"/>
              <a:pPr>
                <a:defRPr/>
              </a:pPr>
              <a:t>‹#›</a:t>
            </a:fld>
            <a:endParaRPr lang="en-US" altLang="zh-CN"/>
          </a:p>
        </p:txBody>
      </p:sp>
    </p:spTree>
    <p:extLst>
      <p:ext uri="{BB962C8B-B14F-4D97-AF65-F5344CB8AC3E}">
        <p14:creationId xmlns:p14="http://schemas.microsoft.com/office/powerpoint/2010/main" val="29434619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2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Times New Roman" pitchFamily="18" charset="0"/>
              </a:defRPr>
            </a:lvl1pPr>
          </a:lstStyle>
          <a:p>
            <a:pPr>
              <a:defRPr/>
            </a:pPr>
            <a:endParaRPr lang="en-US" altLang="zh-CN"/>
          </a:p>
        </p:txBody>
      </p:sp>
      <p:sp>
        <p:nvSpPr>
          <p:cNvPr id="1822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ltLang="zh-CN"/>
          </a:p>
        </p:txBody>
      </p:sp>
      <p:sp>
        <p:nvSpPr>
          <p:cNvPr id="962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822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822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Times New Roman" pitchFamily="18" charset="0"/>
              </a:defRPr>
            </a:lvl1pPr>
          </a:lstStyle>
          <a:p>
            <a:pPr>
              <a:defRPr/>
            </a:pPr>
            <a:endParaRPr lang="en-US" altLang="zh-CN"/>
          </a:p>
        </p:txBody>
      </p:sp>
      <p:sp>
        <p:nvSpPr>
          <p:cNvPr id="1822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15696EE8-B9BB-4DC7-BDD3-AEC2C6520280}" type="slidenum">
              <a:rPr lang="zh-CN" altLang="en-US"/>
              <a:pPr>
                <a:defRPr/>
              </a:pPr>
              <a:t>‹#›</a:t>
            </a:fld>
            <a:endParaRPr lang="en-US" altLang="zh-CN"/>
          </a:p>
        </p:txBody>
      </p:sp>
    </p:spTree>
    <p:extLst>
      <p:ext uri="{BB962C8B-B14F-4D97-AF65-F5344CB8AC3E}">
        <p14:creationId xmlns:p14="http://schemas.microsoft.com/office/powerpoint/2010/main" val="40806585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1</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000339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2</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81710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12</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565108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8F202744-1119-45F2-9C68-A0F8798D1120}" type="slidenum">
              <a:rPr lang="zh-CN" altLang="en-US" smtClean="0">
                <a:latin typeface="Times New Roman" pitchFamily="18" charset="0"/>
              </a:rPr>
              <a:pPr/>
              <a:t>16</a:t>
            </a:fld>
            <a:endParaRPr lang="en-US" altLang="zh-CN">
              <a:latin typeface="Times New Roman" pitchFamily="18"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61750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8F202744-1119-45F2-9C68-A0F8798D1120}" type="slidenum">
              <a:rPr lang="zh-CN" altLang="en-US" smtClean="0">
                <a:latin typeface="Times New Roman" pitchFamily="18" charset="0"/>
              </a:rPr>
              <a:pPr/>
              <a:t>17</a:t>
            </a:fld>
            <a:endParaRPr lang="en-US" altLang="zh-CN">
              <a:latin typeface="Times New Roman" pitchFamily="18"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882109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18</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37434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19</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023467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20</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071617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21</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348327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22</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952884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23</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662952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24</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890145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25</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623546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26</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42714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27</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058703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28</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325657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29</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953723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5F226D24-B8D2-4B87-839F-9D6015CE3AAD}" type="slidenum">
              <a:rPr lang="zh-CN" altLang="en-US" smtClean="0">
                <a:latin typeface="Times New Roman" pitchFamily="18" charset="0"/>
              </a:rPr>
              <a:pPr/>
              <a:t>30</a:t>
            </a:fld>
            <a:endParaRPr lang="en-US" altLang="zh-CN">
              <a:latin typeface="Times New Roman"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95739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586733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563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38801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050" y="1060450"/>
            <a:ext cx="4478338"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9788" y="1060450"/>
            <a:ext cx="4479925"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1217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9033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73305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0088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03387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96028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2540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1650" y="9525"/>
            <a:ext cx="2278063" cy="65230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463" y="9525"/>
            <a:ext cx="6681787" cy="65230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815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463" y="9525"/>
            <a:ext cx="9099550" cy="931863"/>
          </a:xfrm>
        </p:spPr>
        <p:txBody>
          <a:bodyPr/>
          <a:lstStyle/>
          <a:p>
            <a:r>
              <a:rPr lang="en-US"/>
              <a:t>Click to edit Master title style</a:t>
            </a:r>
          </a:p>
        </p:txBody>
      </p:sp>
      <p:sp>
        <p:nvSpPr>
          <p:cNvPr id="3" name="Text Placeholder 2"/>
          <p:cNvSpPr>
            <a:spLocks noGrp="1"/>
          </p:cNvSpPr>
          <p:nvPr>
            <p:ph type="body" sz="half" idx="1"/>
          </p:nvPr>
        </p:nvSpPr>
        <p:spPr>
          <a:xfrm>
            <a:off x="19050" y="1060450"/>
            <a:ext cx="4478338" cy="5472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9788" y="1060450"/>
            <a:ext cx="4479925" cy="5472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187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7938" y="-1588"/>
            <a:ext cx="9129712" cy="976313"/>
          </a:xfrm>
          <a:prstGeom prst="rect">
            <a:avLst/>
          </a:prstGeom>
          <a:solidFill>
            <a:srgbClr val="0033CC"/>
          </a:solidFill>
          <a:ln w="9525">
            <a:noFill/>
            <a:miter lim="800000"/>
            <a:headEnd/>
            <a:tailEnd/>
          </a:ln>
          <a:effectLst/>
        </p:spPr>
        <p:txBody>
          <a:bodyPr wrap="none" anchor="ctr"/>
          <a:lstStyle/>
          <a:p>
            <a:pPr>
              <a:defRPr/>
            </a:pPr>
            <a:endParaRPr lang="en-US">
              <a:latin typeface="Arial" pitchFamily="34" charset="0"/>
            </a:endParaRPr>
          </a:p>
        </p:txBody>
      </p:sp>
      <p:sp>
        <p:nvSpPr>
          <p:cNvPr id="14339" name="Rectangle 3"/>
          <p:cNvSpPr>
            <a:spLocks noGrp="1" noChangeArrowheads="1"/>
          </p:cNvSpPr>
          <p:nvPr>
            <p:ph type="title"/>
          </p:nvPr>
        </p:nvSpPr>
        <p:spPr bwMode="auto">
          <a:xfrm>
            <a:off x="17463" y="9525"/>
            <a:ext cx="9099550" cy="931863"/>
          </a:xfrm>
          <a:prstGeom prst="rect">
            <a:avLst/>
          </a:prstGeom>
          <a:noFill/>
          <a:ln w="9525">
            <a:noFill/>
            <a:miter lim="800000"/>
            <a:headEnd/>
            <a:tailEnd/>
          </a:ln>
          <a:effectLst/>
        </p:spPr>
        <p:txBody>
          <a:bodyPr vert="horz" wrap="square" lIns="92111" tIns="45324" rIns="92111" bIns="45324" numCol="1" anchor="ctr" anchorCtr="0" compatLnSpc="1">
            <a:prstTxWarp prst="textNoShape">
              <a:avLst/>
            </a:prstTxWarp>
          </a:bodyPr>
          <a:lstStyle/>
          <a:p>
            <a:pPr lvl="0"/>
            <a:r>
              <a:rPr lang="en-US" altLang="zh-CN"/>
              <a:t>Title: Cap All Words, Bold, Helvetica 32, White</a:t>
            </a:r>
          </a:p>
        </p:txBody>
      </p:sp>
      <p:sp>
        <p:nvSpPr>
          <p:cNvPr id="14340" name="Rectangle 4"/>
          <p:cNvSpPr>
            <a:spLocks noGrp="1" noChangeArrowheads="1"/>
          </p:cNvSpPr>
          <p:nvPr>
            <p:ph type="body" idx="1"/>
          </p:nvPr>
        </p:nvSpPr>
        <p:spPr bwMode="auto">
          <a:xfrm>
            <a:off x="19050" y="1060450"/>
            <a:ext cx="9110663" cy="5472113"/>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p>
            <a:pPr lvl="0"/>
            <a:r>
              <a:rPr lang="en-US" altLang="zh-CN"/>
              <a:t>Level one: int. cap, bold, helvetica 30, maroon</a:t>
            </a:r>
          </a:p>
          <a:p>
            <a:pPr lvl="1"/>
            <a:r>
              <a:rPr lang="en-US" altLang="zh-CN"/>
              <a:t>Level two: initial cap, bold, helvetica 27, blue</a:t>
            </a:r>
          </a:p>
          <a:p>
            <a:pPr lvl="2"/>
            <a:r>
              <a:rPr lang="en-US" altLang="zh-CN"/>
              <a:t>Level three: initial cap, italics, helvetica 24, blue</a:t>
            </a:r>
          </a:p>
          <a:p>
            <a:pPr lvl="3"/>
            <a:r>
              <a:rPr lang="en-US" altLang="zh-CN"/>
              <a:t>Level four: </a:t>
            </a:r>
          </a:p>
        </p:txBody>
      </p:sp>
      <p:sp>
        <p:nvSpPr>
          <p:cNvPr id="14341" name="Line 5"/>
          <p:cNvSpPr>
            <a:spLocks noChangeShapeType="1"/>
          </p:cNvSpPr>
          <p:nvPr/>
        </p:nvSpPr>
        <p:spPr bwMode="auto">
          <a:xfrm flipV="1">
            <a:off x="0" y="6592888"/>
            <a:ext cx="8874125" cy="6350"/>
          </a:xfrm>
          <a:prstGeom prst="line">
            <a:avLst/>
          </a:prstGeom>
          <a:noFill/>
          <a:ln w="25400">
            <a:solidFill>
              <a:srgbClr val="00279F"/>
            </a:solidFill>
            <a:round/>
            <a:headEnd type="none" w="sm" len="sm"/>
            <a:tailEnd type="none" w="sm" len="sm"/>
          </a:ln>
          <a:effectLst/>
        </p:spPr>
        <p:txBody>
          <a:bodyPr wrap="none" anchor="ctr"/>
          <a:lstStyle/>
          <a:p>
            <a:pPr>
              <a:defRPr/>
            </a:pPr>
            <a:endParaRPr lang="en-US">
              <a:latin typeface="Arial" pitchFamily="34" charset="0"/>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mj-lt"/>
          <a:ea typeface="+mj-ea"/>
          <a:cs typeface="+mj-cs"/>
        </a:defRPr>
      </a:lvl1pPr>
      <a:lvl2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2pPr>
      <a:lvl3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3pPr>
      <a:lvl4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4pPr>
      <a:lvl5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5pPr>
      <a:lvl6pPr marL="457200"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6pPr>
      <a:lvl7pPr marL="914400"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7pPr>
      <a:lvl8pPr marL="1371600"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8pPr>
      <a:lvl9pPr marL="1828800"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9pPr>
    </p:titleStyle>
    <p:body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www.youtube.com/watch?v=-iUVhv_sDhA&amp;list=PLOhe6-yzmaj-g3paSmTbxv_fqTk1z0VU8&amp;index=27" TargetMode="External"/><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3.png"/></Relationships>
</file>

<file path=ppt/slides/_rels/slide26.xml.rels><?xml version="1.0" encoding="UTF-8" standalone="yes"?>
<Relationships xmlns="http://schemas.openxmlformats.org/package/2006/relationships"><Relationship Id="rId8" Type="http://schemas.openxmlformats.org/officeDocument/2006/relationships/image" Target="../media/image38.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13" Type="http://schemas.openxmlformats.org/officeDocument/2006/relationships/image" Target="../media/image41.png"/><Relationship Id="rId8" Type="http://schemas.openxmlformats.org/officeDocument/2006/relationships/image" Target="../media/image23.png"/><Relationship Id="rId12" Type="http://schemas.openxmlformats.org/officeDocument/2006/relationships/image" Target="../media/image40.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9"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DBA5103</a:t>
            </a:r>
          </a:p>
        </p:txBody>
      </p:sp>
      <p:sp>
        <p:nvSpPr>
          <p:cNvPr id="109571" name="Rectangle 3"/>
          <p:cNvSpPr>
            <a:spLocks noGrp="1" noChangeArrowheads="1"/>
          </p:cNvSpPr>
          <p:nvPr>
            <p:ph type="body" idx="1"/>
          </p:nvPr>
        </p:nvSpPr>
        <p:spPr/>
        <p:txBody>
          <a:bodyPr/>
          <a:lstStyle/>
          <a:p>
            <a:pPr marL="0" indent="0">
              <a:buNone/>
              <a:defRPr/>
            </a:pPr>
            <a:endParaRPr lang="en-US" altLang="zh-CN" dirty="0">
              <a:ea typeface="宋体" pitchFamily="2" charset="-122"/>
            </a:endParaRPr>
          </a:p>
          <a:p>
            <a:pPr marL="0" indent="0">
              <a:buNone/>
              <a:defRPr/>
            </a:pPr>
            <a:endParaRPr lang="en-US" altLang="zh-CN" dirty="0">
              <a:ea typeface="宋体" pitchFamily="2" charset="-122"/>
            </a:endParaRPr>
          </a:p>
          <a:p>
            <a:pPr marL="0" indent="0" algn="ctr">
              <a:buNone/>
              <a:defRPr/>
            </a:pPr>
            <a:r>
              <a:rPr lang="en-US" altLang="zh-CN" dirty="0">
                <a:ea typeface="宋体" pitchFamily="2" charset="-122"/>
              </a:rPr>
              <a:t> </a:t>
            </a:r>
            <a:r>
              <a:rPr lang="en-US" altLang="zh-CN" sz="2800" dirty="0">
                <a:ea typeface="宋体" pitchFamily="2" charset="-122"/>
              </a:rPr>
              <a:t>Operations Research and Analytics</a:t>
            </a:r>
            <a:endParaRPr lang="en-US" altLang="zh-CN" sz="3200" dirty="0">
              <a:ea typeface="宋体" pitchFamily="2" charset="-122"/>
            </a:endParaRPr>
          </a:p>
          <a:p>
            <a:pPr marL="0" indent="0">
              <a:buNone/>
              <a:defRPr/>
            </a:pPr>
            <a:endParaRPr lang="en-US" altLang="zh-CN" sz="3200" dirty="0">
              <a:ea typeface="宋体" pitchFamily="2" charset="-122"/>
            </a:endParaRPr>
          </a:p>
          <a:p>
            <a:pPr marL="0" indent="0" algn="ctr">
              <a:buNone/>
              <a:defRPr/>
            </a:pPr>
            <a:r>
              <a:rPr lang="en-US" altLang="zh-CN" sz="2400" dirty="0">
                <a:ea typeface="宋体" pitchFamily="2" charset="-122"/>
              </a:rPr>
              <a:t>Zhenyu Hu</a:t>
            </a:r>
          </a:p>
          <a:p>
            <a:pPr marL="0" indent="0" algn="ctr">
              <a:buNone/>
              <a:defRPr/>
            </a:pPr>
            <a:r>
              <a:rPr lang="en-US" altLang="zh-CN" sz="2400" dirty="0">
                <a:ea typeface="宋体" pitchFamily="2" charset="-122"/>
              </a:rPr>
              <a:t>Semester I, 2026/2027</a:t>
            </a: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spAutoFit/>
          </a:bodyPr>
          <a:lstStyle/>
          <a:p>
            <a:endParaRPr lang="en-US"/>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8481" y="4108868"/>
            <a:ext cx="2971800" cy="1801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Tree>
    <p:extLst>
      <p:ext uri="{BB962C8B-B14F-4D97-AF65-F5344CB8AC3E}">
        <p14:creationId xmlns:p14="http://schemas.microsoft.com/office/powerpoint/2010/main" val="161861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endParaRPr lang="en-US" altLang="zh-CN" dirty="0">
              <a:ea typeface="宋体" pitchFamily="2" charset="-122"/>
            </a:endParaRPr>
          </a:p>
        </p:txBody>
      </p:sp>
      <p:sp>
        <p:nvSpPr>
          <p:cNvPr id="109571" name="Rectangle 3"/>
          <p:cNvSpPr>
            <a:spLocks noGrp="1" noChangeArrowheads="1"/>
          </p:cNvSpPr>
          <p:nvPr>
            <p:ph type="body" idx="1"/>
          </p:nvPr>
        </p:nvSpPr>
        <p:spPr>
          <a:xfrm>
            <a:off x="9525" y="1089025"/>
            <a:ext cx="9110663" cy="5472113"/>
          </a:xfrm>
        </p:spPr>
        <p:txBody>
          <a:bodyPr/>
          <a:lstStyle/>
          <a:p>
            <a:pPr marL="0" indent="0">
              <a:buNone/>
              <a:defRPr/>
            </a:pPr>
            <a:endParaRPr lang="en-US" altLang="zh-CN" dirty="0">
              <a:ea typeface="宋体" pitchFamily="2" charset="-122"/>
            </a:endParaRPr>
          </a:p>
          <a:p>
            <a:pPr marL="0" indent="0">
              <a:buNone/>
              <a:defRPr/>
            </a:pPr>
            <a:r>
              <a:rPr lang="en-US" altLang="zh-CN" dirty="0">
                <a:ea typeface="宋体" pitchFamily="2" charset="-122"/>
              </a:rPr>
              <a:t>    </a:t>
            </a:r>
          </a:p>
          <a:p>
            <a:pPr marL="0" indent="0">
              <a:buNone/>
              <a:defRPr/>
            </a:pPr>
            <a:endParaRPr lang="en-US" altLang="zh-CN" dirty="0">
              <a:ea typeface="宋体" pitchFamily="2" charset="-122"/>
            </a:endParaRPr>
          </a:p>
          <a:p>
            <a:pPr marL="0" indent="0">
              <a:buNone/>
              <a:defRPr/>
            </a:pPr>
            <a:r>
              <a:rPr lang="en-US" altLang="zh-CN" sz="4000" dirty="0">
                <a:ea typeface="宋体" pitchFamily="2" charset="-122"/>
              </a:rPr>
              <a:t>	      	Markdown Management</a:t>
            </a:r>
          </a:p>
          <a:p>
            <a:pPr marL="0" indent="0">
              <a:buNone/>
              <a:defRPr/>
            </a:pPr>
            <a:endParaRPr lang="en-US" altLang="zh-CN" sz="4000"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4293282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Selling Seasonal Products</a:t>
            </a:r>
          </a:p>
        </p:txBody>
      </p:sp>
      <p:sp>
        <p:nvSpPr>
          <p:cNvPr id="3" name="Content Placeholder 2"/>
          <p:cNvSpPr>
            <a:spLocks noGrp="1"/>
          </p:cNvSpPr>
          <p:nvPr>
            <p:ph idx="1"/>
          </p:nvPr>
        </p:nvSpPr>
        <p:spPr>
          <a:xfrm>
            <a:off x="310896" y="1353312"/>
            <a:ext cx="8473440" cy="4791139"/>
          </a:xfrm>
        </p:spPr>
        <p:txBody>
          <a:bodyPr>
            <a:normAutofit fontScale="77500" lnSpcReduction="20000"/>
          </a:bodyPr>
          <a:lstStyle/>
          <a:p>
            <a:r>
              <a:rPr lang="en-US" dirty="0">
                <a:effectLst/>
              </a:rPr>
              <a:t>Challenges in selling fashion products</a:t>
            </a:r>
          </a:p>
          <a:p>
            <a:pPr lvl="1"/>
            <a:r>
              <a:rPr lang="en-US" dirty="0">
                <a:effectLst/>
              </a:rPr>
              <a:t>Short selling season</a:t>
            </a:r>
          </a:p>
          <a:p>
            <a:pPr lvl="2"/>
            <a:r>
              <a:rPr lang="en-US" dirty="0">
                <a:effectLst/>
              </a:rPr>
              <a:t>About several weeks (and it is getting shorter and shorter)</a:t>
            </a:r>
          </a:p>
          <a:p>
            <a:pPr lvl="2"/>
            <a:r>
              <a:rPr lang="en-US" dirty="0">
                <a:effectLst/>
              </a:rPr>
              <a:t>Obsolescence after the season</a:t>
            </a:r>
          </a:p>
          <a:p>
            <a:pPr lvl="1"/>
            <a:r>
              <a:rPr lang="en-US" dirty="0">
                <a:effectLst/>
              </a:rPr>
              <a:t>Volatile market conditions</a:t>
            </a:r>
          </a:p>
          <a:p>
            <a:pPr lvl="2"/>
            <a:r>
              <a:rPr lang="en-US" dirty="0">
                <a:effectLst/>
              </a:rPr>
              <a:t>Difficult to predict the trend in advance</a:t>
            </a:r>
          </a:p>
          <a:p>
            <a:pPr lvl="2"/>
            <a:r>
              <a:rPr lang="en-US" dirty="0">
                <a:effectLst/>
              </a:rPr>
              <a:t>Erratic demand: “hit” items sell out quickly while “dogs” sell slowly</a:t>
            </a:r>
          </a:p>
          <a:p>
            <a:pPr lvl="2"/>
            <a:r>
              <a:rPr lang="en-US" dirty="0">
                <a:effectLst/>
              </a:rPr>
              <a:t>Lack of experience or historical data</a:t>
            </a:r>
          </a:p>
          <a:p>
            <a:pPr lvl="1"/>
            <a:r>
              <a:rPr lang="en-US" dirty="0">
                <a:effectLst/>
              </a:rPr>
              <a:t>Rigid supply chains</a:t>
            </a:r>
          </a:p>
          <a:p>
            <a:pPr lvl="2"/>
            <a:r>
              <a:rPr lang="en-US" dirty="0">
                <a:effectLst/>
              </a:rPr>
              <a:t>Long procurement lead time (several months) due to out-sourcing, etc. </a:t>
            </a:r>
          </a:p>
          <a:p>
            <a:pPr lvl="2"/>
            <a:r>
              <a:rPr lang="en-US" dirty="0">
                <a:effectLst/>
              </a:rPr>
              <a:t>Product line and quantity commitment well in advance of the selling season</a:t>
            </a:r>
          </a:p>
          <a:p>
            <a:endParaRPr lang="en-US" sz="900" dirty="0">
              <a:effectLst/>
            </a:endParaRPr>
          </a:p>
          <a:p>
            <a:r>
              <a:rPr lang="en-US" dirty="0">
                <a:effectLst/>
              </a:rPr>
              <a:t>Examples of seasonal products</a:t>
            </a:r>
          </a:p>
          <a:p>
            <a:pPr lvl="1"/>
            <a:r>
              <a:rPr lang="en-US" dirty="0">
                <a:effectLst/>
              </a:rPr>
              <a:t>Apparel, IT Products</a:t>
            </a:r>
          </a:p>
        </p:txBody>
      </p:sp>
    </p:spTree>
    <p:extLst>
      <p:ext uri="{BB962C8B-B14F-4D97-AF65-F5344CB8AC3E}">
        <p14:creationId xmlns:p14="http://schemas.microsoft.com/office/powerpoint/2010/main" val="1254684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Markdown</a:t>
            </a:r>
          </a:p>
        </p:txBody>
      </p:sp>
      <p:sp>
        <p:nvSpPr>
          <p:cNvPr id="3" name="Content Placeholder 2"/>
          <p:cNvSpPr>
            <a:spLocks noGrp="1"/>
          </p:cNvSpPr>
          <p:nvPr>
            <p:ph idx="1"/>
          </p:nvPr>
        </p:nvSpPr>
        <p:spPr>
          <a:xfrm>
            <a:off x="87979" y="1097280"/>
            <a:ext cx="8812213" cy="4525963"/>
          </a:xfrm>
        </p:spPr>
        <p:txBody>
          <a:bodyPr/>
          <a:lstStyle/>
          <a:p>
            <a:r>
              <a:rPr lang="en-US" sz="2400" dirty="0">
                <a:effectLst/>
              </a:rPr>
              <a:t>Inventory is determined before the selling season begins</a:t>
            </a:r>
          </a:p>
          <a:p>
            <a:r>
              <a:rPr lang="en-US" sz="2400" dirty="0">
                <a:effectLst/>
              </a:rPr>
              <a:t>Once the season begins, the only thing we can control is </a:t>
            </a:r>
            <a:r>
              <a:rPr lang="en-US" sz="2400" b="1" u="sng" dirty="0">
                <a:solidFill>
                  <a:srgbClr val="FF0000"/>
                </a:solidFill>
                <a:effectLst/>
              </a:rPr>
              <a:t>price</a:t>
            </a:r>
          </a:p>
          <a:p>
            <a:endParaRPr lang="en-US" sz="2400" u="sng" dirty="0">
              <a:effectLst/>
            </a:endParaRPr>
          </a:p>
          <a:p>
            <a:r>
              <a:rPr lang="en-US" sz="2400" dirty="0">
                <a:effectLst/>
              </a:rPr>
              <a:t>Markdown: dynamically </a:t>
            </a:r>
            <a:r>
              <a:rPr lang="en-US" sz="2400" i="1" dirty="0">
                <a:effectLst/>
              </a:rPr>
              <a:t>reduce</a:t>
            </a:r>
            <a:r>
              <a:rPr lang="en-US" sz="2400" dirty="0">
                <a:effectLst/>
              </a:rPr>
              <a:t> price to boost demand and increase revenue</a:t>
            </a:r>
          </a:p>
          <a:p>
            <a:endParaRPr lang="en-US" dirty="0">
              <a:effectLst/>
            </a:endParaRPr>
          </a:p>
          <a:p>
            <a:pPr algn="just">
              <a:buNone/>
            </a:pPr>
            <a:r>
              <a:rPr lang="en-US" dirty="0">
                <a:effectLst/>
              </a:rPr>
              <a:t>	</a:t>
            </a:r>
            <a:endParaRPr lang="en-US" sz="1600" dirty="0">
              <a:effectLst/>
            </a:endParaRPr>
          </a:p>
          <a:p>
            <a:pPr algn="just">
              <a:buNone/>
            </a:pPr>
            <a:endParaRPr lang="en-US" sz="1600" dirty="0">
              <a:effectLst/>
            </a:endParaRPr>
          </a:p>
          <a:p>
            <a:pPr algn="just">
              <a:buNone/>
            </a:pPr>
            <a:r>
              <a:rPr lang="en-US" sz="1600" dirty="0">
                <a:effectLst/>
              </a:rPr>
              <a:t>	</a:t>
            </a:r>
          </a:p>
          <a:p>
            <a:pPr algn="just">
              <a:buNone/>
            </a:pPr>
            <a:r>
              <a:rPr lang="en-US" sz="1600" dirty="0">
                <a:effectLst/>
              </a:rPr>
              <a:t>	“Retailers hate markdowns. Discount an item too late, and stores are stuck with truckloads of inventory. Too early, and they loose profits as people snap up items thrown on the bargain table prematurely …”</a:t>
            </a:r>
          </a:p>
          <a:p>
            <a:pPr algn="just">
              <a:buNone/>
            </a:pPr>
            <a:endParaRPr lang="en-US" sz="1600" dirty="0">
              <a:effectLst/>
            </a:endParaRPr>
          </a:p>
          <a:p>
            <a:pPr algn="r">
              <a:buNone/>
            </a:pPr>
            <a:r>
              <a:rPr lang="en-US" sz="1200" dirty="0">
                <a:effectLst/>
              </a:rPr>
              <a:t>Wall Street Journal, Aug. 7, 2001</a:t>
            </a:r>
          </a:p>
        </p:txBody>
      </p:sp>
    </p:spTree>
    <p:extLst>
      <p:ext uri="{BB962C8B-B14F-4D97-AF65-F5344CB8AC3E}">
        <p14:creationId xmlns:p14="http://schemas.microsoft.com/office/powerpoint/2010/main" val="2636563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3" name="Content Placeholder 2"/>
          <p:cNvSpPr>
            <a:spLocks noGrp="1"/>
          </p:cNvSpPr>
          <p:nvPr>
            <p:ph idx="1"/>
          </p:nvPr>
        </p:nvSpPr>
        <p:spPr>
          <a:xfrm>
            <a:off x="11906" y="1142556"/>
            <a:ext cx="9110663" cy="5472113"/>
          </a:xfrm>
        </p:spPr>
        <p:txBody>
          <a:bodyPr>
            <a:noAutofit/>
          </a:bodyPr>
          <a:lstStyle/>
          <a:p>
            <a:r>
              <a:rPr lang="en-US" sz="1800" dirty="0">
                <a:effectLst/>
              </a:rPr>
              <a:t>A stock of </a:t>
            </a:r>
            <a:r>
              <a:rPr lang="en-US" sz="1800" u="sng" dirty="0">
                <a:effectLst/>
              </a:rPr>
              <a:t>2000</a:t>
            </a:r>
            <a:r>
              <a:rPr lang="en-US" sz="1800" dirty="0">
                <a:effectLst/>
              </a:rPr>
              <a:t> units of a single fashion item, no replenishment</a:t>
            </a:r>
          </a:p>
          <a:p>
            <a:endParaRPr lang="en-US" sz="1800" dirty="0">
              <a:effectLst/>
            </a:endParaRPr>
          </a:p>
          <a:p>
            <a:r>
              <a:rPr lang="en-US" sz="1800" dirty="0">
                <a:effectLst/>
              </a:rPr>
              <a:t>Demand is hard to predict, limited historical data available</a:t>
            </a:r>
          </a:p>
          <a:p>
            <a:endParaRPr lang="en-US" sz="1800" dirty="0">
              <a:effectLst/>
            </a:endParaRPr>
          </a:p>
          <a:p>
            <a:r>
              <a:rPr lang="en-US" sz="1800" dirty="0">
                <a:effectLst/>
              </a:rPr>
              <a:t>Pricing</a:t>
            </a:r>
          </a:p>
          <a:p>
            <a:pPr lvl="1"/>
            <a:r>
              <a:rPr lang="en-US" sz="1800" dirty="0">
                <a:effectLst/>
              </a:rPr>
              <a:t>Four allowable prices: </a:t>
            </a:r>
            <a:r>
              <a:rPr lang="en-US" sz="1800" u="sng" dirty="0">
                <a:effectLst/>
              </a:rPr>
              <a:t>$60</a:t>
            </a:r>
            <a:r>
              <a:rPr lang="en-US" sz="1800" dirty="0">
                <a:effectLst/>
              </a:rPr>
              <a:t> (full price), </a:t>
            </a:r>
            <a:r>
              <a:rPr lang="en-US" sz="1800" u="sng" dirty="0">
                <a:effectLst/>
              </a:rPr>
              <a:t>$54</a:t>
            </a:r>
            <a:r>
              <a:rPr lang="en-US" sz="1800" dirty="0">
                <a:effectLst/>
              </a:rPr>
              <a:t> (90%), </a:t>
            </a:r>
            <a:r>
              <a:rPr lang="en-US" sz="1800" u="sng" dirty="0">
                <a:effectLst/>
              </a:rPr>
              <a:t>$48</a:t>
            </a:r>
            <a:r>
              <a:rPr lang="en-US" sz="1800" dirty="0">
                <a:effectLst/>
              </a:rPr>
              <a:t> (80%), </a:t>
            </a:r>
            <a:r>
              <a:rPr lang="en-US" sz="1800" u="sng" dirty="0">
                <a:effectLst/>
              </a:rPr>
              <a:t>$36</a:t>
            </a:r>
            <a:r>
              <a:rPr lang="en-US" sz="1800" dirty="0">
                <a:effectLst/>
              </a:rPr>
              <a:t> (60%)</a:t>
            </a:r>
          </a:p>
          <a:p>
            <a:pPr lvl="1"/>
            <a:r>
              <a:rPr lang="en-US" sz="1800" dirty="0">
                <a:effectLst/>
              </a:rPr>
              <a:t>Start with $60 in Week 1, then mark down over time (no price increase)</a:t>
            </a:r>
          </a:p>
          <a:p>
            <a:endParaRPr lang="en-US" sz="1800" dirty="0">
              <a:effectLst/>
            </a:endParaRPr>
          </a:p>
          <a:p>
            <a:r>
              <a:rPr lang="en-US" sz="1800" u="sng" dirty="0">
                <a:effectLst/>
              </a:rPr>
              <a:t>15-week</a:t>
            </a:r>
            <a:r>
              <a:rPr lang="en-US" sz="1800" dirty="0">
                <a:effectLst/>
              </a:rPr>
              <a:t> selling season</a:t>
            </a:r>
          </a:p>
          <a:p>
            <a:pPr lvl="1"/>
            <a:r>
              <a:rPr lang="en-US" sz="1800" dirty="0">
                <a:effectLst/>
              </a:rPr>
              <a:t>Leftover items are sold to discounters for </a:t>
            </a:r>
            <a:r>
              <a:rPr lang="en-US" sz="1800" u="sng" dirty="0">
                <a:effectLst/>
              </a:rPr>
              <a:t>$25</a:t>
            </a:r>
            <a:r>
              <a:rPr lang="en-US" sz="1800" dirty="0">
                <a:effectLst/>
              </a:rPr>
              <a:t> per unit (salvage value)</a:t>
            </a:r>
          </a:p>
          <a:p>
            <a:endParaRPr lang="en-US" sz="1800" dirty="0">
              <a:effectLst/>
            </a:endParaRPr>
          </a:p>
          <a:p>
            <a:r>
              <a:rPr lang="en-US" sz="1800" dirty="0">
                <a:effectLst/>
              </a:rPr>
              <a:t>Costs are paid (hence they are </a:t>
            </a:r>
            <a:r>
              <a:rPr lang="en-US" sz="1800" i="1" dirty="0">
                <a:effectLst/>
              </a:rPr>
              <a:t>sunk</a:t>
            </a:r>
            <a:r>
              <a:rPr lang="en-US" sz="1800" dirty="0">
                <a:effectLst/>
              </a:rPr>
              <a:t>)</a:t>
            </a:r>
          </a:p>
          <a:p>
            <a:endParaRPr lang="en-US" sz="1800" dirty="0">
              <a:effectLst/>
            </a:endParaRPr>
          </a:p>
          <a:p>
            <a:r>
              <a:rPr lang="en-US" sz="1800" dirty="0">
                <a:effectLst/>
              </a:rPr>
              <a:t>GOAL: maximize revenue by determining the </a:t>
            </a:r>
            <a:r>
              <a:rPr lang="en-US" sz="1800" i="1" dirty="0">
                <a:effectLst/>
              </a:rPr>
              <a:t>timing</a:t>
            </a:r>
            <a:r>
              <a:rPr lang="en-US" sz="1800" dirty="0">
                <a:effectLst/>
              </a:rPr>
              <a:t> and </a:t>
            </a:r>
            <a:r>
              <a:rPr lang="en-US" sz="1800" i="1" dirty="0">
                <a:effectLst/>
              </a:rPr>
              <a:t>magnitude</a:t>
            </a:r>
            <a:r>
              <a:rPr lang="en-US" sz="1800" dirty="0">
                <a:effectLst/>
              </a:rPr>
              <a:t> of markdowns</a:t>
            </a:r>
          </a:p>
        </p:txBody>
      </p:sp>
    </p:spTree>
    <p:extLst>
      <p:ext uri="{BB962C8B-B14F-4D97-AF65-F5344CB8AC3E}">
        <p14:creationId xmlns:p14="http://schemas.microsoft.com/office/powerpoint/2010/main" val="1105751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Steps</a:t>
            </a:r>
          </a:p>
        </p:txBody>
      </p:sp>
      <p:sp>
        <p:nvSpPr>
          <p:cNvPr id="3" name="Content Placeholder 2"/>
          <p:cNvSpPr>
            <a:spLocks noGrp="1"/>
          </p:cNvSpPr>
          <p:nvPr>
            <p:ph idx="1"/>
          </p:nvPr>
        </p:nvSpPr>
        <p:spPr/>
        <p:txBody>
          <a:bodyPr/>
          <a:lstStyle/>
          <a:p>
            <a:r>
              <a:rPr lang="en-US" dirty="0">
                <a:effectLst/>
              </a:rPr>
              <a:t>Two key steps</a:t>
            </a:r>
          </a:p>
          <a:p>
            <a:pPr lvl="1"/>
            <a:endParaRPr lang="en-US" dirty="0">
              <a:effectLst/>
            </a:endParaRPr>
          </a:p>
          <a:p>
            <a:pPr lvl="1"/>
            <a:r>
              <a:rPr lang="en-US" dirty="0">
                <a:effectLst/>
              </a:rPr>
              <a:t>Estimation: build the demand model</a:t>
            </a:r>
          </a:p>
          <a:p>
            <a:pPr lvl="2"/>
            <a:r>
              <a:rPr lang="en-US" dirty="0">
                <a:effectLst/>
              </a:rPr>
              <a:t>Study the historical data</a:t>
            </a:r>
          </a:p>
          <a:p>
            <a:pPr lvl="2"/>
            <a:r>
              <a:rPr lang="en-US" dirty="0">
                <a:effectLst/>
              </a:rPr>
              <a:t>Choose a demand model and estimate parameters</a:t>
            </a:r>
          </a:p>
          <a:p>
            <a:pPr lvl="1"/>
            <a:endParaRPr lang="en-US" dirty="0">
              <a:effectLst/>
            </a:endParaRPr>
          </a:p>
          <a:p>
            <a:pPr lvl="1"/>
            <a:r>
              <a:rPr lang="en-US" dirty="0">
                <a:effectLst/>
              </a:rPr>
              <a:t>Optimize prices</a:t>
            </a:r>
          </a:p>
        </p:txBody>
      </p:sp>
      <p:sp>
        <p:nvSpPr>
          <p:cNvPr id="28" name="Left-Right Arrow 27"/>
          <p:cNvSpPr/>
          <p:nvPr/>
        </p:nvSpPr>
        <p:spPr>
          <a:xfrm>
            <a:off x="4099627" y="4929506"/>
            <a:ext cx="624078" cy="248694"/>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9" name="Rounded Rectangle 28"/>
          <p:cNvSpPr/>
          <p:nvPr/>
        </p:nvSpPr>
        <p:spPr>
          <a:xfrm>
            <a:off x="533400" y="4724400"/>
            <a:ext cx="13716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a:t>
            </a:r>
          </a:p>
        </p:txBody>
      </p:sp>
      <p:sp>
        <p:nvSpPr>
          <p:cNvPr id="30" name="Rounded Rectangle 29"/>
          <p:cNvSpPr/>
          <p:nvPr/>
        </p:nvSpPr>
        <p:spPr>
          <a:xfrm>
            <a:off x="6934200" y="4724400"/>
            <a:ext cx="1505712"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Prescription</a:t>
            </a:r>
          </a:p>
        </p:txBody>
      </p:sp>
      <p:sp>
        <p:nvSpPr>
          <p:cNvPr id="31" name="Rounded Rectangle 30"/>
          <p:cNvSpPr/>
          <p:nvPr/>
        </p:nvSpPr>
        <p:spPr>
          <a:xfrm>
            <a:off x="2590799" y="4724400"/>
            <a:ext cx="1432627"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Information</a:t>
            </a:r>
          </a:p>
        </p:txBody>
      </p:sp>
      <p:sp>
        <p:nvSpPr>
          <p:cNvPr id="32" name="Rounded Rectangle 31"/>
          <p:cNvSpPr/>
          <p:nvPr/>
        </p:nvSpPr>
        <p:spPr>
          <a:xfrm>
            <a:off x="4876800" y="4724400"/>
            <a:ext cx="13716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Model</a:t>
            </a:r>
          </a:p>
        </p:txBody>
      </p:sp>
      <p:sp>
        <p:nvSpPr>
          <p:cNvPr id="33" name="Right Arrow 32"/>
          <p:cNvSpPr/>
          <p:nvPr/>
        </p:nvSpPr>
        <p:spPr>
          <a:xfrm>
            <a:off x="1981200" y="4939553"/>
            <a:ext cx="533400" cy="2286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4" name="Right Arrow 33"/>
          <p:cNvSpPr/>
          <p:nvPr/>
        </p:nvSpPr>
        <p:spPr>
          <a:xfrm>
            <a:off x="6324600" y="4939553"/>
            <a:ext cx="533400" cy="2286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34754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 Step</a:t>
            </a:r>
          </a:p>
        </p:txBody>
      </p:sp>
      <p:sp>
        <p:nvSpPr>
          <p:cNvPr id="3" name="Content Placeholder 2"/>
          <p:cNvSpPr>
            <a:spLocks noGrp="1"/>
          </p:cNvSpPr>
          <p:nvPr>
            <p:ph idx="1"/>
          </p:nvPr>
        </p:nvSpPr>
        <p:spPr>
          <a:xfrm>
            <a:off x="87979" y="1097280"/>
            <a:ext cx="8812213" cy="4525963"/>
          </a:xfrm>
        </p:spPr>
        <p:txBody>
          <a:bodyPr/>
          <a:lstStyle/>
          <a:p>
            <a:r>
              <a:rPr lang="en-US" sz="2400" dirty="0">
                <a:effectLst/>
              </a:rPr>
              <a:t>Suppose we have an estimate of (weekly) demand at the four price points:</a:t>
            </a:r>
          </a:p>
          <a:p>
            <a:endParaRPr lang="en-US" sz="2400" u="sng" dirty="0">
              <a:effectLst/>
            </a:endParaRPr>
          </a:p>
          <a:p>
            <a:endParaRPr lang="en-US" sz="2400" u="sng" dirty="0"/>
          </a:p>
          <a:p>
            <a:endParaRPr lang="en-US" sz="2400" u="sng" dirty="0"/>
          </a:p>
          <a:p>
            <a:endParaRPr lang="en-US" sz="2400" dirty="0"/>
          </a:p>
          <a:p>
            <a:endParaRPr lang="en-US" dirty="0"/>
          </a:p>
          <a:p>
            <a:pPr algn="just">
              <a:buNone/>
            </a:pPr>
            <a:r>
              <a:rPr lang="en-US" dirty="0"/>
              <a:t>	</a:t>
            </a:r>
            <a:endParaRPr lang="en-US" sz="1600" dirty="0"/>
          </a:p>
          <a:p>
            <a:pPr algn="just">
              <a:buNone/>
            </a:pPr>
            <a:endParaRPr lang="en-US" sz="1600" dirty="0"/>
          </a:p>
          <a:p>
            <a:pPr algn="just">
              <a:buNone/>
            </a:pPr>
            <a:r>
              <a:rPr lang="en-US" sz="1600" dirty="0"/>
              <a:t>	</a:t>
            </a:r>
            <a:endParaRPr lang="en-US" sz="1200" dirty="0"/>
          </a:p>
        </p:txBody>
      </p:sp>
      <p:graphicFrame>
        <p:nvGraphicFramePr>
          <p:cNvPr id="4" name="Table 3"/>
          <p:cNvGraphicFramePr>
            <a:graphicFrameLocks noGrp="1"/>
          </p:cNvGraphicFramePr>
          <p:nvPr/>
        </p:nvGraphicFramePr>
        <p:xfrm>
          <a:off x="1413225" y="2176272"/>
          <a:ext cx="6308025" cy="941832"/>
        </p:xfrm>
        <a:graphic>
          <a:graphicData uri="http://schemas.openxmlformats.org/drawingml/2006/table">
            <a:tbl>
              <a:tblPr firstRow="1" bandRow="1">
                <a:tableStyleId>{5C22544A-7EE6-4342-B048-85BDC9FD1C3A}</a:tableStyleId>
              </a:tblPr>
              <a:tblGrid>
                <a:gridCol w="1261605">
                  <a:extLst>
                    <a:ext uri="{9D8B030D-6E8A-4147-A177-3AD203B41FA5}">
                      <a16:colId xmlns:a16="http://schemas.microsoft.com/office/drawing/2014/main" val="20000"/>
                    </a:ext>
                  </a:extLst>
                </a:gridCol>
                <a:gridCol w="1261605">
                  <a:extLst>
                    <a:ext uri="{9D8B030D-6E8A-4147-A177-3AD203B41FA5}">
                      <a16:colId xmlns:a16="http://schemas.microsoft.com/office/drawing/2014/main" val="20001"/>
                    </a:ext>
                  </a:extLst>
                </a:gridCol>
                <a:gridCol w="1261605">
                  <a:extLst>
                    <a:ext uri="{9D8B030D-6E8A-4147-A177-3AD203B41FA5}">
                      <a16:colId xmlns:a16="http://schemas.microsoft.com/office/drawing/2014/main" val="20002"/>
                    </a:ext>
                  </a:extLst>
                </a:gridCol>
                <a:gridCol w="1261605">
                  <a:extLst>
                    <a:ext uri="{9D8B030D-6E8A-4147-A177-3AD203B41FA5}">
                      <a16:colId xmlns:a16="http://schemas.microsoft.com/office/drawing/2014/main" val="20003"/>
                    </a:ext>
                  </a:extLst>
                </a:gridCol>
                <a:gridCol w="1261605">
                  <a:extLst>
                    <a:ext uri="{9D8B030D-6E8A-4147-A177-3AD203B41FA5}">
                      <a16:colId xmlns:a16="http://schemas.microsoft.com/office/drawing/2014/main" val="20004"/>
                    </a:ext>
                  </a:extLst>
                </a:gridCol>
              </a:tblGrid>
              <a:tr h="467668">
                <a:tc>
                  <a:txBody>
                    <a:bodyPr/>
                    <a:lstStyle/>
                    <a:p>
                      <a:pPr algn="ctr"/>
                      <a:r>
                        <a:rPr lang="en-US" dirty="0"/>
                        <a:t>Price</a:t>
                      </a:r>
                      <a:endParaRPr lang="en-SG" dirty="0"/>
                    </a:p>
                  </a:txBody>
                  <a:tcPr/>
                </a:tc>
                <a:tc>
                  <a:txBody>
                    <a:bodyPr/>
                    <a:lstStyle/>
                    <a:p>
                      <a:pPr algn="ctr"/>
                      <a:r>
                        <a:rPr lang="en-US" dirty="0"/>
                        <a:t>$60</a:t>
                      </a:r>
                      <a:endParaRPr lang="en-SG" dirty="0"/>
                    </a:p>
                  </a:txBody>
                  <a:tcPr/>
                </a:tc>
                <a:tc>
                  <a:txBody>
                    <a:bodyPr/>
                    <a:lstStyle/>
                    <a:p>
                      <a:pPr algn="ctr"/>
                      <a:r>
                        <a:rPr lang="en-US" dirty="0"/>
                        <a:t>$54</a:t>
                      </a:r>
                      <a:endParaRPr lang="en-SG" dirty="0"/>
                    </a:p>
                  </a:txBody>
                  <a:tcPr/>
                </a:tc>
                <a:tc>
                  <a:txBody>
                    <a:bodyPr/>
                    <a:lstStyle/>
                    <a:p>
                      <a:pPr algn="ctr"/>
                      <a:r>
                        <a:rPr lang="en-US" dirty="0"/>
                        <a:t>$48</a:t>
                      </a:r>
                      <a:endParaRPr lang="en-SG" dirty="0"/>
                    </a:p>
                  </a:txBody>
                  <a:tcPr/>
                </a:tc>
                <a:tc>
                  <a:txBody>
                    <a:bodyPr/>
                    <a:lstStyle/>
                    <a:p>
                      <a:pPr algn="ctr"/>
                      <a:r>
                        <a:rPr lang="en-US" dirty="0"/>
                        <a:t>$36</a:t>
                      </a:r>
                      <a:endParaRPr lang="en-SG" dirty="0"/>
                    </a:p>
                  </a:txBody>
                  <a:tcPr/>
                </a:tc>
                <a:extLst>
                  <a:ext uri="{0D108BD9-81ED-4DB2-BD59-A6C34878D82A}">
                    <a16:rowId xmlns:a16="http://schemas.microsoft.com/office/drawing/2014/main" val="10000"/>
                  </a:ext>
                </a:extLst>
              </a:tr>
              <a:tr h="474164">
                <a:tc>
                  <a:txBody>
                    <a:bodyPr/>
                    <a:lstStyle/>
                    <a:p>
                      <a:pPr algn="ctr"/>
                      <a:r>
                        <a:rPr lang="en-US" dirty="0"/>
                        <a:t>Demand</a:t>
                      </a:r>
                      <a:endParaRPr lang="en-SG" dirty="0"/>
                    </a:p>
                  </a:txBody>
                  <a:tcPr/>
                </a:tc>
                <a:tc>
                  <a:txBody>
                    <a:bodyPr/>
                    <a:lstStyle/>
                    <a:p>
                      <a:pPr algn="ctr"/>
                      <a:r>
                        <a:rPr lang="en-US" dirty="0"/>
                        <a:t>125</a:t>
                      </a:r>
                      <a:endParaRPr lang="en-SG" dirty="0"/>
                    </a:p>
                  </a:txBody>
                  <a:tcPr/>
                </a:tc>
                <a:tc>
                  <a:txBody>
                    <a:bodyPr/>
                    <a:lstStyle/>
                    <a:p>
                      <a:pPr algn="ctr"/>
                      <a:r>
                        <a:rPr lang="en-US" dirty="0"/>
                        <a:t>162.5</a:t>
                      </a:r>
                      <a:endParaRPr lang="en-SG" dirty="0"/>
                    </a:p>
                  </a:txBody>
                  <a:tcPr/>
                </a:tc>
                <a:tc>
                  <a:txBody>
                    <a:bodyPr/>
                    <a:lstStyle/>
                    <a:p>
                      <a:pPr algn="ctr"/>
                      <a:r>
                        <a:rPr lang="en-US" dirty="0"/>
                        <a:t>217.5</a:t>
                      </a:r>
                      <a:endParaRPr lang="en-SG" dirty="0"/>
                    </a:p>
                  </a:txBody>
                  <a:tcPr/>
                </a:tc>
                <a:tc>
                  <a:txBody>
                    <a:bodyPr/>
                    <a:lstStyle/>
                    <a:p>
                      <a:pPr algn="ctr"/>
                      <a:r>
                        <a:rPr lang="en-US" dirty="0"/>
                        <a:t>348.8</a:t>
                      </a:r>
                      <a:endParaRPr lang="en-SG" dirty="0"/>
                    </a:p>
                  </a:txBody>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744544" y="3593468"/>
            <a:ext cx="5645385" cy="2853175"/>
          </a:xfrm>
          <a:prstGeom prst="rect">
            <a:avLst/>
          </a:prstGeom>
        </p:spPr>
      </p:pic>
    </p:spTree>
    <p:extLst>
      <p:ext uri="{BB962C8B-B14F-4D97-AF65-F5344CB8AC3E}">
        <p14:creationId xmlns:p14="http://schemas.microsoft.com/office/powerpoint/2010/main" val="63301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Formulation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effectLst/>
                  </a:rPr>
                  <a:t>Decision variables:</a:t>
                </a:r>
              </a:p>
              <a:p>
                <a:pPr lvl="1">
                  <a:buNone/>
                </a:pPr>
                <a14:m>
                  <m:oMath xmlns:m="http://schemas.openxmlformats.org/officeDocument/2006/math">
                    <m:sSub>
                      <m:sSubPr>
                        <m:ctrlPr>
                          <a:rPr lang="en-US" altLang="zh-CN" sz="2400" i="1" dirty="0">
                            <a:effectLst/>
                            <a:latin typeface="Cambria Math" panose="02040503050406030204" pitchFamily="18" charset="0"/>
                            <a:ea typeface="宋体" pitchFamily="2" charset="-122"/>
                          </a:rPr>
                        </m:ctrlPr>
                      </m:sSubPr>
                      <m:e>
                        <m:r>
                          <a:rPr lang="en-US" altLang="zh-CN" sz="2400" i="1" dirty="0">
                            <a:effectLst/>
                            <a:latin typeface="Cambria Math" panose="02040503050406030204" pitchFamily="18" charset="0"/>
                            <a:ea typeface="宋体" pitchFamily="2" charset="-122"/>
                          </a:rPr>
                          <m:t>𝑥</m:t>
                        </m:r>
                      </m:e>
                      <m:sub>
                        <m:r>
                          <a:rPr lang="en-US" altLang="zh-CN" sz="2400" b="0" i="1" dirty="0">
                            <a:effectLst/>
                            <a:latin typeface="Cambria Math" panose="02040503050406030204" pitchFamily="18" charset="0"/>
                            <a:ea typeface="宋体" pitchFamily="2" charset="-122"/>
                          </a:rPr>
                          <m:t>1</m:t>
                        </m:r>
                      </m:sub>
                    </m:sSub>
                  </m:oMath>
                </a14:m>
                <a:r>
                  <a:rPr lang="en-US" sz="2400" dirty="0">
                    <a:effectLst/>
                  </a:rPr>
                  <a:t>: # of </a:t>
                </a:r>
                <a:r>
                  <a:rPr lang="en-US" sz="2400" i="1" dirty="0">
                    <a:effectLst/>
                  </a:rPr>
                  <a:t>effective</a:t>
                </a:r>
                <a:r>
                  <a:rPr lang="en-US" sz="2400" dirty="0">
                    <a:effectLst/>
                  </a:rPr>
                  <a:t> weeks the item is sold at price $60</a:t>
                </a:r>
              </a:p>
              <a:p>
                <a:pPr lvl="1">
                  <a:buNone/>
                </a:pPr>
                <a14:m>
                  <m:oMath xmlns:m="http://schemas.openxmlformats.org/officeDocument/2006/math">
                    <m:sSub>
                      <m:sSubPr>
                        <m:ctrlPr>
                          <a:rPr lang="en-US" altLang="zh-CN" sz="2400" i="1" dirty="0">
                            <a:effectLst/>
                            <a:latin typeface="Cambria Math" panose="02040503050406030204" pitchFamily="18" charset="0"/>
                            <a:ea typeface="宋体" pitchFamily="2" charset="-122"/>
                          </a:rPr>
                        </m:ctrlPr>
                      </m:sSubPr>
                      <m:e>
                        <m:r>
                          <a:rPr lang="en-US" altLang="zh-CN" sz="2400" i="1" dirty="0">
                            <a:effectLst/>
                            <a:latin typeface="Cambria Math" panose="02040503050406030204" pitchFamily="18" charset="0"/>
                            <a:ea typeface="宋体" pitchFamily="2" charset="-122"/>
                          </a:rPr>
                          <m:t>𝑥</m:t>
                        </m:r>
                      </m:e>
                      <m:sub>
                        <m:r>
                          <a:rPr lang="en-US" altLang="zh-CN" sz="2400" b="0" i="1" dirty="0" smtClean="0">
                            <a:effectLst/>
                            <a:latin typeface="Cambria Math" panose="02040503050406030204" pitchFamily="18" charset="0"/>
                            <a:ea typeface="宋体" pitchFamily="2" charset="-122"/>
                          </a:rPr>
                          <m:t>2</m:t>
                        </m:r>
                      </m:sub>
                    </m:sSub>
                    <m:r>
                      <a:rPr lang="en-US" altLang="zh-CN" sz="2400" b="1" i="0" dirty="0" smtClean="0">
                        <a:effectLst/>
                        <a:latin typeface="Cambria Math" panose="02040503050406030204" pitchFamily="18" charset="0"/>
                        <a:ea typeface="宋体" pitchFamily="2" charset="-122"/>
                      </a:rPr>
                      <m:t>:</m:t>
                    </m:r>
                  </m:oMath>
                </a14:m>
                <a:r>
                  <a:rPr lang="en-US" sz="2400" dirty="0">
                    <a:effectLst/>
                  </a:rPr>
                  <a:t> # of </a:t>
                </a:r>
                <a:r>
                  <a:rPr lang="en-US" sz="2400" i="1" dirty="0">
                    <a:effectLst/>
                  </a:rPr>
                  <a:t>effective</a:t>
                </a:r>
                <a:r>
                  <a:rPr lang="en-US" sz="2400" dirty="0">
                    <a:effectLst/>
                  </a:rPr>
                  <a:t> weeks the item is sold at price $54</a:t>
                </a:r>
              </a:p>
              <a:p>
                <a:pPr lvl="1">
                  <a:buNone/>
                </a:pPr>
                <a14:m>
                  <m:oMath xmlns:m="http://schemas.openxmlformats.org/officeDocument/2006/math">
                    <m:sSub>
                      <m:sSubPr>
                        <m:ctrlPr>
                          <a:rPr lang="en-US" altLang="zh-CN" sz="2400" i="1" dirty="0">
                            <a:effectLst/>
                            <a:latin typeface="Cambria Math" panose="02040503050406030204" pitchFamily="18" charset="0"/>
                            <a:ea typeface="宋体" pitchFamily="2" charset="-122"/>
                          </a:rPr>
                        </m:ctrlPr>
                      </m:sSubPr>
                      <m:e>
                        <m:r>
                          <a:rPr lang="en-US" altLang="zh-CN" sz="2400" i="1" dirty="0">
                            <a:effectLst/>
                            <a:latin typeface="Cambria Math" panose="02040503050406030204" pitchFamily="18" charset="0"/>
                            <a:ea typeface="宋体" pitchFamily="2" charset="-122"/>
                          </a:rPr>
                          <m:t>𝑥</m:t>
                        </m:r>
                      </m:e>
                      <m:sub>
                        <m:r>
                          <a:rPr lang="en-US" altLang="zh-CN" sz="2400" b="0" i="1" dirty="0" smtClean="0">
                            <a:effectLst/>
                            <a:latin typeface="Cambria Math" panose="02040503050406030204" pitchFamily="18" charset="0"/>
                            <a:ea typeface="宋体" pitchFamily="2" charset="-122"/>
                          </a:rPr>
                          <m:t>3</m:t>
                        </m:r>
                      </m:sub>
                    </m:sSub>
                  </m:oMath>
                </a14:m>
                <a:r>
                  <a:rPr lang="en-US" sz="2400" dirty="0">
                    <a:effectLst/>
                  </a:rPr>
                  <a:t>: # of </a:t>
                </a:r>
                <a:r>
                  <a:rPr lang="en-US" sz="2400" i="1" dirty="0">
                    <a:effectLst/>
                  </a:rPr>
                  <a:t>effective</a:t>
                </a:r>
                <a:r>
                  <a:rPr lang="en-US" sz="2400" dirty="0">
                    <a:effectLst/>
                  </a:rPr>
                  <a:t> weeks the item is sold at price $48</a:t>
                </a:r>
              </a:p>
              <a:p>
                <a:pPr lvl="1">
                  <a:buNone/>
                </a:pPr>
                <a14:m>
                  <m:oMath xmlns:m="http://schemas.openxmlformats.org/officeDocument/2006/math">
                    <m:sSub>
                      <m:sSubPr>
                        <m:ctrlPr>
                          <a:rPr lang="en-US" altLang="zh-CN" sz="2400" i="1" dirty="0">
                            <a:effectLst/>
                            <a:latin typeface="Cambria Math" panose="02040503050406030204" pitchFamily="18" charset="0"/>
                            <a:ea typeface="宋体" pitchFamily="2" charset="-122"/>
                          </a:rPr>
                        </m:ctrlPr>
                      </m:sSubPr>
                      <m:e>
                        <m:r>
                          <a:rPr lang="en-US" altLang="zh-CN" sz="2400" i="1" dirty="0">
                            <a:effectLst/>
                            <a:latin typeface="Cambria Math" panose="02040503050406030204" pitchFamily="18" charset="0"/>
                            <a:ea typeface="宋体" pitchFamily="2" charset="-122"/>
                          </a:rPr>
                          <m:t>𝑥</m:t>
                        </m:r>
                      </m:e>
                      <m:sub>
                        <m:r>
                          <a:rPr lang="en-US" altLang="zh-CN" sz="2400" b="0" i="1" dirty="0" smtClean="0">
                            <a:effectLst/>
                            <a:latin typeface="Cambria Math" panose="02040503050406030204" pitchFamily="18" charset="0"/>
                            <a:ea typeface="宋体" pitchFamily="2" charset="-122"/>
                          </a:rPr>
                          <m:t>4</m:t>
                        </m:r>
                      </m:sub>
                    </m:sSub>
                  </m:oMath>
                </a14:m>
                <a:r>
                  <a:rPr lang="en-US" sz="2400" dirty="0">
                    <a:effectLst/>
                  </a:rPr>
                  <a:t>: # of </a:t>
                </a:r>
                <a:r>
                  <a:rPr lang="en-US" sz="2400" i="1" dirty="0">
                    <a:effectLst/>
                  </a:rPr>
                  <a:t>effective</a:t>
                </a:r>
                <a:r>
                  <a:rPr lang="en-US" sz="2400" dirty="0">
                    <a:effectLst/>
                  </a:rPr>
                  <a:t> weeks the item is sold at price $36</a:t>
                </a:r>
              </a:p>
              <a:p>
                <a:pPr lvl="1">
                  <a:buNone/>
                </a:pPr>
                <a:endParaRPr lang="en-US" dirty="0">
                  <a:effectLst/>
                </a:endParaRPr>
              </a:p>
              <a:p>
                <a:r>
                  <a:rPr lang="en-US" dirty="0">
                    <a:effectLst/>
                  </a:rPr>
                  <a:t>Objective function:</a:t>
                </a:r>
              </a:p>
              <a:p>
                <a:pPr lvl="1">
                  <a:buNone/>
                </a:pPr>
                <a:r>
                  <a:rPr lang="en-US" dirty="0">
                    <a:effectLst/>
                  </a:rPr>
                  <a:t>Revenue = Sales Revenue + Salvage Revenue</a:t>
                </a:r>
              </a:p>
              <a:p>
                <a:pPr lvl="1">
                  <a:buNone/>
                </a:pPr>
                <a:endParaRPr lang="en-US" sz="2200" dirty="0">
                  <a:effectLst/>
                </a:endParaRPr>
              </a:p>
              <a:p>
                <a:pPr>
                  <a:buNone/>
                </a:pPr>
                <a:endParaRPr lang="en-US" dirty="0">
                  <a:effectLs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4"/>
                <a:stretch>
                  <a:fillRect l="-1271" t="-111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a:spLocks noChangeArrowheads="1"/>
              </p:cNvSpPr>
              <p:nvPr/>
            </p:nvSpPr>
            <p:spPr bwMode="auto">
              <a:xfrm>
                <a:off x="370832" y="5056696"/>
                <a:ext cx="8216582" cy="707886"/>
              </a:xfrm>
              <a:prstGeom prst="rect">
                <a:avLst/>
              </a:prstGeom>
              <a:noFill/>
              <a:ln w="9525">
                <a:noFill/>
                <a:miter lim="800000"/>
                <a:headEnd/>
                <a:tailEnd/>
              </a:ln>
              <a:extLst>
                <a:ext uri="{909E8E84-426E-40dd-AFC4-6F175D3DCCD1}">
                  <a14:hiddenFill xmlns="">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14:m>
                  <m:oMathPara xmlns:m="http://schemas.openxmlformats.org/officeDocument/2006/math">
                    <m:oMathParaPr>
                      <m:jc m:val="centerGroup"/>
                    </m:oMathParaPr>
                    <m:oMath xmlns:m="http://schemas.openxmlformats.org/officeDocument/2006/math">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12</m:t>
                          </m:r>
                          <m:r>
                            <a:rPr lang="en-US" altLang="zh-CN" sz="2000" b="0" i="1" dirty="0" smtClean="0">
                              <a:latin typeface="Cambria Math" panose="02040503050406030204" pitchFamily="18" charset="0"/>
                              <a:ea typeface="宋体" pitchFamily="2" charset="-122"/>
                            </a:rPr>
                            <m:t>5</m:t>
                          </m:r>
                          <m:r>
                            <a:rPr lang="en-US" altLang="zh-CN" sz="2000" i="1" dirty="0">
                              <a:latin typeface="Cambria Math" panose="02040503050406030204" pitchFamily="18" charset="0"/>
                              <a:ea typeface="宋体" pitchFamily="2" charset="-122"/>
                            </a:rPr>
                            <m:t>∗60∗</m:t>
                          </m:r>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1</m:t>
                          </m:r>
                        </m:sub>
                      </m:sSub>
                      <m:r>
                        <a:rPr lang="en-US" altLang="zh-CN" sz="2000" i="1" dirty="0">
                          <a:latin typeface="Cambria Math" panose="02040503050406030204" pitchFamily="18" charset="0"/>
                          <a:ea typeface="宋体" pitchFamily="2" charset="-122"/>
                        </a:rPr>
                        <m:t>+162.5∗54∗</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2</m:t>
                          </m:r>
                        </m:sub>
                      </m:sSub>
                      <m:r>
                        <a:rPr lang="en-US" altLang="zh-CN" sz="2000" i="1" dirty="0">
                          <a:latin typeface="Cambria Math" panose="02040503050406030204" pitchFamily="18" charset="0"/>
                          <a:ea typeface="宋体" pitchFamily="2" charset="-122"/>
                        </a:rPr>
                        <m:t>+217.5∗48∗</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3</m:t>
                          </m:r>
                        </m:sub>
                      </m:sSub>
                      <m:r>
                        <a:rPr lang="en-US" altLang="zh-CN" sz="2000" i="1" dirty="0">
                          <a:latin typeface="Cambria Math" panose="02040503050406030204" pitchFamily="18" charset="0"/>
                          <a:ea typeface="宋体" pitchFamily="2" charset="-122"/>
                        </a:rPr>
                        <m:t>+348.8∗36∗</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4</m:t>
                          </m:r>
                        </m:sub>
                      </m:sSub>
                    </m:oMath>
                  </m:oMathPara>
                </a14:m>
                <a:endParaRPr lang="en-GB" altLang="en-US" sz="2000" dirty="0">
                  <a:solidFill>
                    <a:srgbClr val="FF0000"/>
                  </a:solidFill>
                  <a:effectLst>
                    <a:outerShdw blurRad="38100" dist="38100" dir="2700000" algn="tl">
                      <a:srgbClr val="000000">
                        <a:alpha val="43137"/>
                      </a:srgbClr>
                    </a:outerShdw>
                  </a:effectLst>
                </a:endParaRPr>
              </a:p>
              <a:p>
                <a:pPr eaLnBrk="1" hangingPunct="1"/>
                <a:r>
                  <a:rPr lang="en-GB" altLang="en-US" sz="2000" dirty="0">
                    <a:latin typeface="Cambria Math" panose="02040503050406030204" pitchFamily="18" charset="0"/>
                    <a:ea typeface="宋体" pitchFamily="2" charset="-122"/>
                  </a:rPr>
                  <a:t>+ 25*(2000 - </a:t>
                </a:r>
                <a14:m>
                  <m:oMath xmlns:m="http://schemas.openxmlformats.org/officeDocument/2006/math">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12</m:t>
                        </m:r>
                        <m:r>
                          <a:rPr lang="en-US" altLang="zh-CN" sz="2000" b="0" i="1" dirty="0" smtClean="0">
                            <a:latin typeface="Cambria Math" panose="02040503050406030204" pitchFamily="18" charset="0"/>
                            <a:ea typeface="宋体" pitchFamily="2" charset="-122"/>
                          </a:rPr>
                          <m:t>5</m:t>
                        </m:r>
                        <m:r>
                          <a:rPr lang="en-US" altLang="zh-CN" sz="2000" i="1" dirty="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1</m:t>
                        </m:r>
                      </m:sub>
                    </m:sSub>
                    <m:r>
                      <a:rPr lang="en-US" altLang="zh-CN" sz="2000" b="0" i="1" dirty="0" smtClean="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162.5∗</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2</m:t>
                        </m:r>
                      </m:sub>
                    </m:sSub>
                    <m:r>
                      <a:rPr lang="en-US" altLang="zh-CN" sz="2000" b="0" i="1" dirty="0" smtClean="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217.5∗</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3</m:t>
                        </m:r>
                      </m:sub>
                    </m:sSub>
                    <m:r>
                      <a:rPr lang="en-US" altLang="zh-CN" sz="2000" b="0" i="1" dirty="0" smtClean="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348.8∗</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4</m:t>
                        </m:r>
                      </m:sub>
                    </m:sSub>
                    <m:r>
                      <a:rPr lang="en-US" altLang="zh-CN" sz="2000" b="0" i="1" dirty="0" smtClean="0">
                        <a:latin typeface="Cambria Math" panose="02040503050406030204" pitchFamily="18" charset="0"/>
                        <a:ea typeface="宋体" pitchFamily="2" charset="-122"/>
                      </a:rPr>
                      <m:t>)</m:t>
                    </m:r>
                  </m:oMath>
                </a14:m>
                <a:endParaRPr lang="en-GB" altLang="en-US" sz="2000" dirty="0">
                  <a:solidFill>
                    <a:srgbClr val="FF0000"/>
                  </a:solidFill>
                  <a:effectLst>
                    <a:outerShdw blurRad="38100" dist="38100" dir="2700000" algn="tl">
                      <a:srgbClr val="000000">
                        <a:alpha val="43137"/>
                      </a:srgbClr>
                    </a:outerShdw>
                  </a:effectLst>
                </a:endParaRPr>
              </a:p>
            </p:txBody>
          </p:sp>
        </mc:Choice>
        <mc:Fallback xmlns="">
          <p:sp>
            <p:nvSpPr>
              <p:cNvPr id="6" name="TextBox 5"/>
              <p:cNvSpPr txBox="1">
                <a:spLocks noRot="1" noChangeAspect="1" noMove="1" noResize="1" noEditPoints="1" noAdjustHandles="1" noChangeArrowheads="1" noChangeShapeType="1" noTextEdit="1"/>
              </p:cNvSpPr>
              <p:nvPr/>
            </p:nvSpPr>
            <p:spPr bwMode="auto">
              <a:xfrm>
                <a:off x="370832" y="5056696"/>
                <a:ext cx="8216582" cy="707886"/>
              </a:xfrm>
              <a:prstGeom prst="rect">
                <a:avLst/>
              </a:prstGeom>
              <a:blipFill rotWithShape="0">
                <a:blip r:embed="rId3"/>
                <a:stretch>
                  <a:fillRect b="-14655"/>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265702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Formulation</a:t>
            </a:r>
          </a:p>
        </p:txBody>
      </p:sp>
      <p:sp>
        <p:nvSpPr>
          <p:cNvPr id="3" name="Content Placeholder 2"/>
          <p:cNvSpPr>
            <a:spLocks noGrp="1"/>
          </p:cNvSpPr>
          <p:nvPr>
            <p:ph idx="1"/>
          </p:nvPr>
        </p:nvSpPr>
        <p:spPr>
          <a:xfrm>
            <a:off x="155448" y="1170432"/>
            <a:ext cx="8220456" cy="5043706"/>
          </a:xfrm>
        </p:spPr>
        <p:txBody>
          <a:bodyPr>
            <a:normAutofit fontScale="92500" lnSpcReduction="10000"/>
          </a:bodyPr>
          <a:lstStyle/>
          <a:p>
            <a:r>
              <a:rPr lang="en-US" dirty="0">
                <a:effectLst/>
              </a:rPr>
              <a:t>Constraints:</a:t>
            </a:r>
          </a:p>
          <a:p>
            <a:pPr lvl="1"/>
            <a:r>
              <a:rPr lang="en-US" dirty="0">
                <a:effectLst/>
              </a:rPr>
              <a:t>Capacity constraint: sales ≤ inventory</a:t>
            </a:r>
          </a:p>
          <a:p>
            <a:pPr lvl="1">
              <a:buNone/>
            </a:pPr>
            <a:endParaRPr lang="en-US" dirty="0">
              <a:effectLst/>
            </a:endParaRPr>
          </a:p>
          <a:p>
            <a:pPr lvl="1">
              <a:buNone/>
            </a:pPr>
            <a:endParaRPr lang="en-US" dirty="0">
              <a:effectLst/>
            </a:endParaRPr>
          </a:p>
          <a:p>
            <a:pPr marL="800100" lvl="1" indent="-342900"/>
            <a:r>
              <a:rPr lang="en-US" dirty="0">
                <a:effectLst/>
              </a:rPr>
              <a:t>Time constraint: total effective weeks at all prices ≤ the selling season	</a:t>
            </a:r>
          </a:p>
          <a:p>
            <a:pPr marL="800100" lvl="1" indent="-342900">
              <a:buNone/>
            </a:pPr>
            <a:r>
              <a:rPr lang="en-US" dirty="0">
                <a:effectLst/>
              </a:rPr>
              <a:t>	</a:t>
            </a:r>
          </a:p>
          <a:p>
            <a:pPr marL="800100" lvl="1" indent="-342900">
              <a:buNone/>
            </a:pPr>
            <a:endParaRPr lang="en-US" dirty="0">
              <a:effectLst/>
            </a:endParaRPr>
          </a:p>
          <a:p>
            <a:pPr marL="800100" lvl="1" indent="-342900"/>
            <a:r>
              <a:rPr lang="en-US" dirty="0">
                <a:effectLst/>
              </a:rPr>
              <a:t>Full price in week 1:	</a:t>
            </a:r>
          </a:p>
          <a:p>
            <a:pPr marL="800100" lvl="1" indent="-342900">
              <a:buNone/>
            </a:pPr>
            <a:endParaRPr lang="en-US" dirty="0">
              <a:solidFill>
                <a:srgbClr val="C00000"/>
              </a:solidFill>
              <a:effectLst/>
            </a:endParaRPr>
          </a:p>
          <a:p>
            <a:pPr marL="800100" lvl="1" indent="-342900">
              <a:buNone/>
            </a:pPr>
            <a:endParaRPr lang="en-US" dirty="0">
              <a:effectLst/>
            </a:endParaRPr>
          </a:p>
          <a:p>
            <a:pPr marL="800100" lvl="1" indent="-342900"/>
            <a:r>
              <a:rPr lang="en-US" dirty="0">
                <a:effectLst/>
              </a:rPr>
              <a:t>Non-negativity: 	</a:t>
            </a:r>
            <a:endParaRPr lang="en-US" dirty="0">
              <a:solidFill>
                <a:srgbClr val="C00000"/>
              </a:solidFill>
              <a:effectLst/>
            </a:endParaRPr>
          </a:p>
        </p:txBody>
      </p:sp>
      <mc:AlternateContent xmlns:mc="http://schemas.openxmlformats.org/markup-compatibility/2006" xmlns:a14="http://schemas.microsoft.com/office/drawing/2010/main">
        <mc:Choice Requires="a14">
          <p:sp>
            <p:nvSpPr>
              <p:cNvPr id="6" name="TextBox 5"/>
              <p:cNvSpPr txBox="1">
                <a:spLocks noChangeArrowheads="1"/>
              </p:cNvSpPr>
              <p:nvPr/>
            </p:nvSpPr>
            <p:spPr bwMode="auto">
              <a:xfrm>
                <a:off x="470218" y="2130653"/>
                <a:ext cx="8216582" cy="400110"/>
              </a:xfrm>
              <a:prstGeom prst="rect">
                <a:avLst/>
              </a:prstGeom>
              <a:noFill/>
              <a:ln w="9525">
                <a:noFill/>
                <a:miter lim="800000"/>
                <a:headEnd/>
                <a:tailEnd/>
              </a:ln>
              <a:extLst>
                <a:ext uri="{909E8E84-426E-40dd-AFC4-6F175D3DCCD1}">
                  <a14:hiddenFill xmlns="">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14:m>
                  <m:oMathPara xmlns:m="http://schemas.openxmlformats.org/officeDocument/2006/math">
                    <m:oMathParaPr>
                      <m:jc m:val="centerGroup"/>
                    </m:oMathParaPr>
                    <m:oMath xmlns:m="http://schemas.openxmlformats.org/officeDocument/2006/math">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12</m:t>
                          </m:r>
                          <m:r>
                            <a:rPr lang="en-US" altLang="zh-CN" sz="2000" b="0" i="1" dirty="0" smtClean="0">
                              <a:latin typeface="Cambria Math" panose="02040503050406030204" pitchFamily="18" charset="0"/>
                              <a:ea typeface="宋体" pitchFamily="2" charset="-122"/>
                            </a:rPr>
                            <m:t>5</m:t>
                          </m:r>
                          <m:r>
                            <a:rPr lang="en-US" altLang="zh-CN" sz="2000" i="1" dirty="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1</m:t>
                          </m:r>
                        </m:sub>
                      </m:sSub>
                      <m:r>
                        <a:rPr lang="en-US" altLang="zh-CN" sz="2000" i="1" dirty="0">
                          <a:latin typeface="Cambria Math" panose="02040503050406030204" pitchFamily="18" charset="0"/>
                          <a:ea typeface="宋体" pitchFamily="2" charset="-122"/>
                        </a:rPr>
                        <m:t>+162.5∗</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2</m:t>
                          </m:r>
                        </m:sub>
                      </m:sSub>
                      <m:r>
                        <a:rPr lang="en-US" altLang="zh-CN" sz="2000" i="1" dirty="0">
                          <a:latin typeface="Cambria Math" panose="02040503050406030204" pitchFamily="18" charset="0"/>
                          <a:ea typeface="宋体" pitchFamily="2" charset="-122"/>
                        </a:rPr>
                        <m:t>+217.5∗</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3</m:t>
                          </m:r>
                        </m:sub>
                      </m:sSub>
                      <m:r>
                        <a:rPr lang="en-US" altLang="zh-CN" sz="2000" i="1" dirty="0">
                          <a:latin typeface="Cambria Math" panose="02040503050406030204" pitchFamily="18" charset="0"/>
                          <a:ea typeface="宋体" pitchFamily="2" charset="-122"/>
                        </a:rPr>
                        <m:t>+348.8∗</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4</m:t>
                          </m:r>
                        </m:sub>
                      </m:sSub>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2000</m:t>
                      </m:r>
                    </m:oMath>
                  </m:oMathPara>
                </a14:m>
                <a:endParaRPr lang="en-GB" altLang="en-US" sz="2000" dirty="0">
                  <a:solidFill>
                    <a:srgbClr val="FF0000"/>
                  </a:solidFill>
                  <a:effectLst>
                    <a:outerShdw blurRad="38100" dist="38100" dir="2700000" algn="tl">
                      <a:srgbClr val="000000">
                        <a:alpha val="43137"/>
                      </a:srgbClr>
                    </a:outerShdw>
                  </a:effectLst>
                </a:endParaRPr>
              </a:p>
            </p:txBody>
          </p:sp>
        </mc:Choice>
        <mc:Fallback xmlns="">
          <p:sp>
            <p:nvSpPr>
              <p:cNvPr id="6" name="TextBox 5"/>
              <p:cNvSpPr txBox="1">
                <a:spLocks noRot="1" noChangeAspect="1" noMove="1" noResize="1" noEditPoints="1" noAdjustHandles="1" noChangeArrowheads="1" noChangeShapeType="1" noTextEdit="1"/>
              </p:cNvSpPr>
              <p:nvPr/>
            </p:nvSpPr>
            <p:spPr bwMode="auto">
              <a:xfrm>
                <a:off x="470218" y="2130653"/>
                <a:ext cx="8216582" cy="400110"/>
              </a:xfrm>
              <a:prstGeom prst="rect">
                <a:avLst/>
              </a:prstGeom>
              <a:blipFill rotWithShape="0">
                <a:blip r:embed="rId2"/>
                <a:stretch>
                  <a:fillRect b="-4615"/>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p:cNvSpPr txBox="1">
                <a:spLocks noChangeArrowheads="1"/>
              </p:cNvSpPr>
              <p:nvPr/>
            </p:nvSpPr>
            <p:spPr bwMode="auto">
              <a:xfrm>
                <a:off x="666211" y="3720028"/>
                <a:ext cx="8216582" cy="400110"/>
              </a:xfrm>
              <a:prstGeom prst="rect">
                <a:avLst/>
              </a:prstGeom>
              <a:noFill/>
              <a:ln w="9525">
                <a:noFill/>
                <a:miter lim="800000"/>
                <a:headEnd/>
                <a:tailEnd/>
              </a:ln>
              <a:extLst>
                <a:ext uri="{909E8E84-426E-40dd-AFC4-6F175D3DCCD1}">
                  <a14:hiddenFill xmlns="">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14:m>
                  <m:oMathPara xmlns:m="http://schemas.openxmlformats.org/officeDocument/2006/math">
                    <m:oMathParaPr>
                      <m:jc m:val="centerGroup"/>
                    </m:oMathParaPr>
                    <m:oMath xmlns:m="http://schemas.openxmlformats.org/officeDocument/2006/math">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1</m:t>
                          </m:r>
                        </m:sub>
                      </m:sSub>
                      <m:r>
                        <a:rPr lang="en-US" altLang="zh-CN" sz="2000" i="1" dirty="0">
                          <a:latin typeface="Cambria Math" panose="02040503050406030204" pitchFamily="18" charset="0"/>
                          <a:ea typeface="宋体" pitchFamily="2" charset="-122"/>
                        </a:rPr>
                        <m:t>+</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2</m:t>
                          </m:r>
                        </m:sub>
                      </m:sSub>
                      <m:r>
                        <a:rPr lang="en-US" altLang="zh-CN" sz="2000" i="1" dirty="0">
                          <a:latin typeface="Cambria Math" panose="02040503050406030204" pitchFamily="18" charset="0"/>
                          <a:ea typeface="宋体" pitchFamily="2" charset="-122"/>
                        </a:rPr>
                        <m:t>+</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3</m:t>
                          </m:r>
                        </m:sub>
                      </m:sSub>
                      <m:r>
                        <a:rPr lang="en-US" altLang="zh-CN" sz="2000" i="1" dirty="0">
                          <a:latin typeface="Cambria Math" panose="02040503050406030204" pitchFamily="18" charset="0"/>
                          <a:ea typeface="宋体" pitchFamily="2" charset="-122"/>
                        </a:rPr>
                        <m:t>+</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4</m:t>
                          </m:r>
                        </m:sub>
                      </m:sSub>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15</m:t>
                      </m:r>
                    </m:oMath>
                  </m:oMathPara>
                </a14:m>
                <a:endParaRPr lang="en-GB" altLang="en-US" sz="2000" dirty="0">
                  <a:solidFill>
                    <a:srgbClr val="FF0000"/>
                  </a:solidFill>
                  <a:effectLst>
                    <a:outerShdw blurRad="38100" dist="38100" dir="2700000" algn="tl">
                      <a:srgbClr val="000000">
                        <a:alpha val="43137"/>
                      </a:srgbClr>
                    </a:outerShdw>
                  </a:effectLst>
                </a:endParaRPr>
              </a:p>
            </p:txBody>
          </p:sp>
        </mc:Choice>
        <mc:Fallback xmlns="">
          <p:sp>
            <p:nvSpPr>
              <p:cNvPr id="8" name="TextBox 7"/>
              <p:cNvSpPr txBox="1">
                <a:spLocks noRot="1" noChangeAspect="1" noMove="1" noResize="1" noEditPoints="1" noAdjustHandles="1" noChangeArrowheads="1" noChangeShapeType="1" noTextEdit="1"/>
              </p:cNvSpPr>
              <p:nvPr/>
            </p:nvSpPr>
            <p:spPr bwMode="auto">
              <a:xfrm>
                <a:off x="666211" y="3720028"/>
                <a:ext cx="8216582" cy="400110"/>
              </a:xfrm>
              <a:prstGeom prst="rect">
                <a:avLst/>
              </a:prstGeom>
              <a:blipFill rotWithShape="0">
                <a:blip r:embed="rId3"/>
                <a:stretch>
                  <a:fillRect b="-3030"/>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p:cNvSpPr txBox="1">
                <a:spLocks noChangeArrowheads="1"/>
              </p:cNvSpPr>
              <p:nvPr/>
            </p:nvSpPr>
            <p:spPr bwMode="auto">
              <a:xfrm>
                <a:off x="593059" y="5037163"/>
                <a:ext cx="8216582" cy="400110"/>
              </a:xfrm>
              <a:prstGeom prst="rect">
                <a:avLst/>
              </a:prstGeom>
              <a:noFill/>
              <a:ln w="9525">
                <a:noFill/>
                <a:miter lim="800000"/>
                <a:headEnd/>
                <a:tailEnd/>
              </a:ln>
              <a:extLst>
                <a:ext uri="{909E8E84-426E-40dd-AFC4-6F175D3DCCD1}">
                  <a14:hiddenFill xmlns="">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14:m>
                  <m:oMathPara xmlns:m="http://schemas.openxmlformats.org/officeDocument/2006/math">
                    <m:oMathParaPr>
                      <m:jc m:val="centerGroup"/>
                    </m:oMathParaPr>
                    <m:oMath xmlns:m="http://schemas.openxmlformats.org/officeDocument/2006/math">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1</m:t>
                          </m:r>
                        </m:sub>
                      </m:sSub>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1</m:t>
                      </m:r>
                    </m:oMath>
                  </m:oMathPara>
                </a14:m>
                <a:endParaRPr lang="en-GB" altLang="en-US" sz="2000" dirty="0">
                  <a:solidFill>
                    <a:srgbClr val="FF0000"/>
                  </a:solidFill>
                  <a:effectLst>
                    <a:outerShdw blurRad="38100" dist="38100" dir="2700000" algn="tl">
                      <a:srgbClr val="000000">
                        <a:alpha val="43137"/>
                      </a:srgbClr>
                    </a:outerShdw>
                  </a:effectLst>
                </a:endParaRP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593059" y="5037163"/>
                <a:ext cx="8216582" cy="400110"/>
              </a:xfrm>
              <a:prstGeom prst="rect">
                <a:avLst/>
              </a:prstGeom>
              <a:blipFill rotWithShape="0">
                <a:blip r:embed="rId4"/>
                <a:stretch>
                  <a:fillRect b="-3030"/>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p:cNvSpPr txBox="1">
                <a:spLocks noChangeArrowheads="1"/>
              </p:cNvSpPr>
              <p:nvPr/>
            </p:nvSpPr>
            <p:spPr bwMode="auto">
              <a:xfrm>
                <a:off x="1092931" y="5696756"/>
                <a:ext cx="8216582" cy="400110"/>
              </a:xfrm>
              <a:prstGeom prst="rect">
                <a:avLst/>
              </a:prstGeom>
              <a:noFill/>
              <a:ln w="9525">
                <a:noFill/>
                <a:miter lim="800000"/>
                <a:headEnd/>
                <a:tailEnd/>
              </a:ln>
              <a:extLst>
                <a:ext uri="{909E8E84-426E-40dd-AFC4-6F175D3DCCD1}">
                  <a14:hiddenFill xmlns="">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14:m>
                  <m:oMathPara xmlns:m="http://schemas.openxmlformats.org/officeDocument/2006/math">
                    <m:oMathParaPr>
                      <m:jc m:val="centerGroup"/>
                    </m:oMathParaPr>
                    <m:oMath xmlns:m="http://schemas.openxmlformats.org/officeDocument/2006/math">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1</m:t>
                          </m:r>
                        </m:sub>
                      </m:sSub>
                      <m:r>
                        <a:rPr lang="en-US" altLang="zh-CN" sz="2000" b="0" i="1" dirty="0" smtClean="0">
                          <a:latin typeface="Cambria Math" panose="02040503050406030204" pitchFamily="18" charset="0"/>
                          <a:ea typeface="宋体" pitchFamily="2" charset="-122"/>
                        </a:rPr>
                        <m:t>,</m:t>
                      </m:r>
                      <m:sSub>
                        <m:sSubPr>
                          <m:ctrlPr>
                            <a:rPr lang="en-US" altLang="zh-CN" sz="2000" b="0" i="1" dirty="0" smtClean="0">
                              <a:latin typeface="Cambria Math" panose="02040503050406030204" pitchFamily="18" charset="0"/>
                              <a:ea typeface="宋体" pitchFamily="2" charset="-122"/>
                            </a:rPr>
                          </m:ctrlPr>
                        </m:sSubPr>
                        <m:e>
                          <m:r>
                            <a:rPr lang="en-US" altLang="zh-CN" sz="2000" b="0" i="1" dirty="0" smtClean="0">
                              <a:latin typeface="Cambria Math" panose="02040503050406030204" pitchFamily="18" charset="0"/>
                              <a:ea typeface="宋体" pitchFamily="2" charset="-122"/>
                            </a:rPr>
                            <m:t> </m:t>
                          </m:r>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2</m:t>
                          </m:r>
                        </m:sub>
                      </m:sSub>
                      <m:r>
                        <a:rPr lang="en-US" altLang="zh-CN" sz="2000" b="0" i="1" dirty="0" smtClean="0">
                          <a:latin typeface="Cambria Math" panose="02040503050406030204" pitchFamily="18" charset="0"/>
                          <a:ea typeface="宋体" pitchFamily="2" charset="-122"/>
                        </a:rPr>
                        <m:t>, </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3</m:t>
                          </m:r>
                        </m:sub>
                      </m:sSub>
                      <m:r>
                        <a:rPr lang="en-US" altLang="zh-CN" sz="2000" b="0" i="1" dirty="0" smtClean="0">
                          <a:latin typeface="Cambria Math" panose="02040503050406030204" pitchFamily="18" charset="0"/>
                          <a:ea typeface="宋体" pitchFamily="2" charset="-122"/>
                        </a:rPr>
                        <m:t>, </m:t>
                      </m:r>
                      <m:sSub>
                        <m:sSubPr>
                          <m:ctrlPr>
                            <a:rPr lang="en-US"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𝑥</m:t>
                          </m:r>
                        </m:e>
                        <m:sub>
                          <m:r>
                            <a:rPr lang="en-US" altLang="zh-CN" sz="2000" b="0" i="1" dirty="0" smtClean="0">
                              <a:latin typeface="Cambria Math" panose="02040503050406030204" pitchFamily="18" charset="0"/>
                              <a:ea typeface="宋体" pitchFamily="2" charset="-122"/>
                            </a:rPr>
                            <m:t>4</m:t>
                          </m:r>
                        </m:sub>
                      </m:sSub>
                      <m:r>
                        <a:rPr lang="en-US" altLang="zh-CN" sz="2000" i="1" dirty="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0</m:t>
                      </m:r>
                    </m:oMath>
                  </m:oMathPara>
                </a14:m>
                <a:endParaRPr lang="en-GB" altLang="en-US" sz="2000" dirty="0">
                  <a:solidFill>
                    <a:srgbClr val="FF0000"/>
                  </a:solidFill>
                  <a:effectLst>
                    <a:outerShdw blurRad="38100" dist="38100" dir="2700000" algn="tl">
                      <a:srgbClr val="000000">
                        <a:alpha val="43137"/>
                      </a:srgbClr>
                    </a:outerShdw>
                  </a:effectLst>
                </a:endParaRPr>
              </a:p>
            </p:txBody>
          </p:sp>
        </mc:Choice>
        <mc:Fallback xmlns="">
          <p:sp>
            <p:nvSpPr>
              <p:cNvPr id="11" name="TextBox 10"/>
              <p:cNvSpPr txBox="1">
                <a:spLocks noRot="1" noChangeAspect="1" noMove="1" noResize="1" noEditPoints="1" noAdjustHandles="1" noChangeArrowheads="1" noChangeShapeType="1" noTextEdit="1"/>
              </p:cNvSpPr>
              <p:nvPr/>
            </p:nvSpPr>
            <p:spPr bwMode="auto">
              <a:xfrm>
                <a:off x="1092931" y="5696756"/>
                <a:ext cx="8216582" cy="400110"/>
              </a:xfrm>
              <a:prstGeom prst="rect">
                <a:avLst/>
              </a:prstGeom>
              <a:blipFill rotWithShape="0">
                <a:blip r:embed="rId5"/>
                <a:stretch>
                  <a:fillRect b="-4615"/>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1664867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dirty="0"/>
              <a:t>Sensitivity Analysis</a:t>
            </a:r>
            <a:endParaRPr lang="en-GB" altLang="en-US" dirty="0"/>
          </a:p>
        </p:txBody>
      </p:sp>
      <p:sp>
        <p:nvSpPr>
          <p:cNvPr id="3" name="Content Placeholder 2"/>
          <p:cNvSpPr>
            <a:spLocks noGrp="1"/>
          </p:cNvSpPr>
          <p:nvPr>
            <p:ph sz="quarter" idx="1"/>
          </p:nvPr>
        </p:nvSpPr>
        <p:spPr>
          <a:xfrm>
            <a:off x="457200" y="1219200"/>
            <a:ext cx="8229600" cy="4937125"/>
          </a:xfrm>
        </p:spPr>
        <p:txBody>
          <a:bodyPr/>
          <a:lstStyle/>
          <a:p>
            <a:r>
              <a:rPr lang="en-US" altLang="en-US" dirty="0">
                <a:effectLst/>
              </a:rPr>
              <a:t>Effects of initial inventory</a:t>
            </a:r>
          </a:p>
          <a:p>
            <a:endParaRPr lang="en-US" altLang="en-US" dirty="0">
              <a:effectLst/>
            </a:endParaRPr>
          </a:p>
          <a:p>
            <a:r>
              <a:rPr lang="en-US" altLang="en-US" dirty="0">
                <a:effectLst/>
              </a:rPr>
              <a:t>Effects of selling horizon</a:t>
            </a:r>
          </a:p>
          <a:p>
            <a:endParaRPr lang="en-US" altLang="en-US" dirty="0">
              <a:effectLst/>
            </a:endParaRPr>
          </a:p>
          <a:p>
            <a:r>
              <a:rPr lang="en-US" altLang="en-US" dirty="0">
                <a:effectLst/>
              </a:rPr>
              <a:t>Effects of good market / bad market</a:t>
            </a:r>
            <a:endParaRPr lang="en-GB" altLang="en-US" dirty="0">
              <a:effectLst/>
            </a:endParaRPr>
          </a:p>
        </p:txBody>
      </p:sp>
    </p:spTree>
    <p:extLst>
      <p:ext uri="{BB962C8B-B14F-4D97-AF65-F5344CB8AC3E}">
        <p14:creationId xmlns:p14="http://schemas.microsoft.com/office/powerpoint/2010/main" val="1807000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dirty="0"/>
              <a:t>Improving the Markdown Strategy</a:t>
            </a:r>
            <a:endParaRPr lang="en-GB" altLang="en-US" dirty="0"/>
          </a:p>
        </p:txBody>
      </p:sp>
      <p:sp>
        <p:nvSpPr>
          <p:cNvPr id="3" name="Content Placeholder 2"/>
          <p:cNvSpPr>
            <a:spLocks noGrp="1"/>
          </p:cNvSpPr>
          <p:nvPr>
            <p:ph sz="quarter" idx="1"/>
          </p:nvPr>
        </p:nvSpPr>
        <p:spPr>
          <a:xfrm>
            <a:off x="457200" y="1219200"/>
            <a:ext cx="8229600" cy="4937125"/>
          </a:xfrm>
        </p:spPr>
        <p:txBody>
          <a:bodyPr/>
          <a:lstStyle/>
          <a:p>
            <a:r>
              <a:rPr lang="en-US" altLang="en-US" dirty="0">
                <a:effectLst/>
              </a:rPr>
              <a:t>Dynamic adjustment</a:t>
            </a:r>
          </a:p>
          <a:p>
            <a:endParaRPr lang="en-US" altLang="en-US" dirty="0">
              <a:effectLst/>
            </a:endParaRPr>
          </a:p>
          <a:p>
            <a:r>
              <a:rPr lang="en-US" altLang="en-US" dirty="0">
                <a:effectLst/>
              </a:rPr>
              <a:t>More discount levels</a:t>
            </a:r>
          </a:p>
          <a:p>
            <a:endParaRPr lang="en-US" altLang="en-US" dirty="0">
              <a:effectLst/>
            </a:endParaRPr>
          </a:p>
          <a:p>
            <a:r>
              <a:rPr lang="en-US" altLang="en-US" dirty="0">
                <a:effectLst/>
              </a:rPr>
              <a:t>Consider future uncertainties </a:t>
            </a:r>
            <a:endParaRPr lang="en-GB" altLang="en-US" dirty="0">
              <a:effectLst/>
            </a:endParaRPr>
          </a:p>
        </p:txBody>
      </p:sp>
      <p:sp>
        <p:nvSpPr>
          <p:cNvPr id="4" name="Left-Right Arrow 27">
            <a:extLst>
              <a:ext uri="{FF2B5EF4-FFF2-40B4-BE49-F238E27FC236}">
                <a16:creationId xmlns:a16="http://schemas.microsoft.com/office/drawing/2014/main" id="{C05979FE-8680-4604-B594-BFEA9791E3AB}"/>
              </a:ext>
            </a:extLst>
          </p:cNvPr>
          <p:cNvSpPr/>
          <p:nvPr/>
        </p:nvSpPr>
        <p:spPr>
          <a:xfrm>
            <a:off x="4023427" y="4507975"/>
            <a:ext cx="624078" cy="248694"/>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ounded Rectangle 28">
            <a:extLst>
              <a:ext uri="{FF2B5EF4-FFF2-40B4-BE49-F238E27FC236}">
                <a16:creationId xmlns:a16="http://schemas.microsoft.com/office/drawing/2014/main" id="{08E8E348-FDE7-48CE-9CB0-99DB0EE909DE}"/>
              </a:ext>
            </a:extLst>
          </p:cNvPr>
          <p:cNvSpPr/>
          <p:nvPr/>
        </p:nvSpPr>
        <p:spPr>
          <a:xfrm>
            <a:off x="457200" y="4302869"/>
            <a:ext cx="13716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a:t>
            </a:r>
          </a:p>
        </p:txBody>
      </p:sp>
      <p:sp>
        <p:nvSpPr>
          <p:cNvPr id="6" name="Rounded Rectangle 29">
            <a:extLst>
              <a:ext uri="{FF2B5EF4-FFF2-40B4-BE49-F238E27FC236}">
                <a16:creationId xmlns:a16="http://schemas.microsoft.com/office/drawing/2014/main" id="{8154CB47-8D4C-4D6B-B8D5-618BCAB2E06E}"/>
              </a:ext>
            </a:extLst>
          </p:cNvPr>
          <p:cNvSpPr/>
          <p:nvPr/>
        </p:nvSpPr>
        <p:spPr>
          <a:xfrm>
            <a:off x="6858000" y="4302869"/>
            <a:ext cx="1505712"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Prescription</a:t>
            </a:r>
          </a:p>
        </p:txBody>
      </p:sp>
      <p:sp>
        <p:nvSpPr>
          <p:cNvPr id="7" name="Rounded Rectangle 30">
            <a:extLst>
              <a:ext uri="{FF2B5EF4-FFF2-40B4-BE49-F238E27FC236}">
                <a16:creationId xmlns:a16="http://schemas.microsoft.com/office/drawing/2014/main" id="{BB2184BE-F744-48F7-923B-10FC4C71423D}"/>
              </a:ext>
            </a:extLst>
          </p:cNvPr>
          <p:cNvSpPr/>
          <p:nvPr/>
        </p:nvSpPr>
        <p:spPr>
          <a:xfrm>
            <a:off x="2514599" y="4302869"/>
            <a:ext cx="1432627"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Information</a:t>
            </a:r>
          </a:p>
        </p:txBody>
      </p:sp>
      <p:sp>
        <p:nvSpPr>
          <p:cNvPr id="8" name="Rounded Rectangle 31">
            <a:extLst>
              <a:ext uri="{FF2B5EF4-FFF2-40B4-BE49-F238E27FC236}">
                <a16:creationId xmlns:a16="http://schemas.microsoft.com/office/drawing/2014/main" id="{1485EEC1-9525-47D3-A7CC-0C0634B0452A}"/>
              </a:ext>
            </a:extLst>
          </p:cNvPr>
          <p:cNvSpPr/>
          <p:nvPr/>
        </p:nvSpPr>
        <p:spPr>
          <a:xfrm>
            <a:off x="4800600" y="4302869"/>
            <a:ext cx="13716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Model</a:t>
            </a:r>
          </a:p>
        </p:txBody>
      </p:sp>
      <p:sp>
        <p:nvSpPr>
          <p:cNvPr id="9" name="Right Arrow 32">
            <a:extLst>
              <a:ext uri="{FF2B5EF4-FFF2-40B4-BE49-F238E27FC236}">
                <a16:creationId xmlns:a16="http://schemas.microsoft.com/office/drawing/2014/main" id="{81DA42F5-8173-4494-A779-7E7C87E93D96}"/>
              </a:ext>
            </a:extLst>
          </p:cNvPr>
          <p:cNvSpPr/>
          <p:nvPr/>
        </p:nvSpPr>
        <p:spPr>
          <a:xfrm>
            <a:off x="1905000" y="4518022"/>
            <a:ext cx="533400" cy="2286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ight Arrow 33">
            <a:extLst>
              <a:ext uri="{FF2B5EF4-FFF2-40B4-BE49-F238E27FC236}">
                <a16:creationId xmlns:a16="http://schemas.microsoft.com/office/drawing/2014/main" id="{0EC475AE-E7B2-4788-9D8D-2653DD244B9F}"/>
              </a:ext>
            </a:extLst>
          </p:cNvPr>
          <p:cNvSpPr/>
          <p:nvPr/>
        </p:nvSpPr>
        <p:spPr>
          <a:xfrm>
            <a:off x="6248400" y="4518022"/>
            <a:ext cx="533400" cy="2286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ight Arrow 32">
            <a:extLst>
              <a:ext uri="{FF2B5EF4-FFF2-40B4-BE49-F238E27FC236}">
                <a16:creationId xmlns:a16="http://schemas.microsoft.com/office/drawing/2014/main" id="{19083D71-76DC-4CF7-AA6F-FC34679C0784}"/>
              </a:ext>
            </a:extLst>
          </p:cNvPr>
          <p:cNvSpPr/>
          <p:nvPr/>
        </p:nvSpPr>
        <p:spPr>
          <a:xfrm rot="1075245">
            <a:off x="3097069" y="5162217"/>
            <a:ext cx="987532" cy="208528"/>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ounded Rectangle 30">
            <a:extLst>
              <a:ext uri="{FF2B5EF4-FFF2-40B4-BE49-F238E27FC236}">
                <a16:creationId xmlns:a16="http://schemas.microsoft.com/office/drawing/2014/main" id="{0AFDDCAC-3396-445C-98C2-914891282055}"/>
              </a:ext>
            </a:extLst>
          </p:cNvPr>
          <p:cNvSpPr/>
          <p:nvPr/>
        </p:nvSpPr>
        <p:spPr>
          <a:xfrm>
            <a:off x="4121480" y="5443240"/>
            <a:ext cx="1432627"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Simulator</a:t>
            </a:r>
            <a:endParaRPr lang="en-US" dirty="0"/>
          </a:p>
        </p:txBody>
      </p:sp>
      <p:sp>
        <p:nvSpPr>
          <p:cNvPr id="13" name="Right Arrow 33">
            <a:extLst>
              <a:ext uri="{FF2B5EF4-FFF2-40B4-BE49-F238E27FC236}">
                <a16:creationId xmlns:a16="http://schemas.microsoft.com/office/drawing/2014/main" id="{AF3D0B1A-1587-4E76-A9DA-624A949684A1}"/>
              </a:ext>
            </a:extLst>
          </p:cNvPr>
          <p:cNvSpPr/>
          <p:nvPr/>
        </p:nvSpPr>
        <p:spPr>
          <a:xfrm rot="9510575">
            <a:off x="5693696" y="5152180"/>
            <a:ext cx="1225685" cy="2286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80804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endParaRPr lang="en-US" altLang="zh-CN" dirty="0">
              <a:ea typeface="宋体" pitchFamily="2" charset="-122"/>
            </a:endParaRPr>
          </a:p>
        </p:txBody>
      </p:sp>
      <p:sp>
        <p:nvSpPr>
          <p:cNvPr id="109571" name="Rectangle 3"/>
          <p:cNvSpPr>
            <a:spLocks noGrp="1" noChangeArrowheads="1"/>
          </p:cNvSpPr>
          <p:nvPr>
            <p:ph type="body" idx="1"/>
          </p:nvPr>
        </p:nvSpPr>
        <p:spPr/>
        <p:txBody>
          <a:bodyPr/>
          <a:lstStyle/>
          <a:p>
            <a:pPr marL="0" indent="0">
              <a:buNone/>
              <a:defRPr/>
            </a:pPr>
            <a:endParaRPr lang="en-US" altLang="zh-CN" dirty="0">
              <a:ea typeface="宋体" pitchFamily="2" charset="-122"/>
            </a:endParaRPr>
          </a:p>
          <a:p>
            <a:pPr marL="0" indent="0">
              <a:buNone/>
              <a:defRPr/>
            </a:pPr>
            <a:r>
              <a:rPr lang="en-US" altLang="zh-CN" dirty="0">
                <a:ea typeface="宋体" pitchFamily="2" charset="-122"/>
              </a:rPr>
              <a:t>    </a:t>
            </a:r>
          </a:p>
          <a:p>
            <a:pPr marL="0" indent="0">
              <a:buNone/>
              <a:defRPr/>
            </a:pPr>
            <a:endParaRPr lang="en-US" altLang="zh-CN" dirty="0">
              <a:ea typeface="宋体" pitchFamily="2" charset="-122"/>
            </a:endParaRPr>
          </a:p>
          <a:p>
            <a:pPr marL="0" indent="0">
              <a:buNone/>
              <a:defRPr/>
            </a:pPr>
            <a:r>
              <a:rPr lang="en-US" altLang="zh-CN" sz="4000" dirty="0">
                <a:ea typeface="宋体" pitchFamily="2" charset="-122"/>
              </a:rPr>
              <a:t>          Uncertain Linear Program</a:t>
            </a:r>
          </a:p>
          <a:p>
            <a:pPr marL="0" indent="0">
              <a:buNone/>
              <a:defRPr/>
            </a:pPr>
            <a:endParaRPr lang="en-US" altLang="zh-CN" sz="4000" dirty="0">
              <a:ea typeface="宋体" pitchFamily="2" charset="-122"/>
            </a:endParaRPr>
          </a:p>
          <a:p>
            <a:pPr marL="0" indent="0">
              <a:buNone/>
              <a:defRPr/>
            </a:pPr>
            <a:endParaRPr lang="en-US" altLang="zh-CN" sz="4000"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105890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Incomplete Knowledge of Data</a:t>
            </a:r>
          </a:p>
        </p:txBody>
      </p:sp>
      <p:sp>
        <p:nvSpPr>
          <p:cNvPr id="3" name="Content Placeholder 2"/>
          <p:cNvSpPr>
            <a:spLocks noGrp="1"/>
          </p:cNvSpPr>
          <p:nvPr>
            <p:ph idx="1"/>
          </p:nvPr>
        </p:nvSpPr>
        <p:spPr>
          <a:xfrm>
            <a:off x="320992" y="1600963"/>
            <a:ext cx="8346757" cy="3237738"/>
          </a:xfrm>
        </p:spPr>
        <p:txBody>
          <a:bodyPr>
            <a:normAutofit/>
          </a:bodyPr>
          <a:lstStyle/>
          <a:p>
            <a:r>
              <a:rPr lang="en-US" dirty="0">
                <a:effectLst/>
              </a:rPr>
              <a:t>Available resources, prices</a:t>
            </a:r>
          </a:p>
          <a:p>
            <a:endParaRPr lang="en-US" dirty="0">
              <a:effectLst/>
            </a:endParaRPr>
          </a:p>
          <a:p>
            <a:r>
              <a:rPr lang="en-US" dirty="0">
                <a:effectLst/>
              </a:rPr>
              <a:t>Coefficient matrix (technology matrix / bill of material)</a:t>
            </a:r>
          </a:p>
          <a:p>
            <a:endParaRPr lang="en-US" dirty="0"/>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321767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Different?</a:t>
            </a:r>
          </a:p>
        </p:txBody>
      </p:sp>
      <p:sp>
        <p:nvSpPr>
          <p:cNvPr id="3" name="Content Placeholder 2"/>
          <p:cNvSpPr>
            <a:spLocks noGrp="1"/>
          </p:cNvSpPr>
          <p:nvPr>
            <p:ph idx="1"/>
          </p:nvPr>
        </p:nvSpPr>
        <p:spPr>
          <a:xfrm>
            <a:off x="17463" y="1019454"/>
            <a:ext cx="8727758" cy="3910584"/>
          </a:xfrm>
        </p:spPr>
        <p:txBody>
          <a:bodyPr>
            <a:normAutofit/>
          </a:bodyPr>
          <a:lstStyle/>
          <a:p>
            <a:r>
              <a:rPr lang="en-US" dirty="0">
                <a:effectLst/>
              </a:rPr>
              <a:t>In sensitivity analysis:</a:t>
            </a:r>
          </a:p>
          <a:p>
            <a:endParaRPr lang="en-US" dirty="0">
              <a:effectLst/>
            </a:endParaRPr>
          </a:p>
          <a:p>
            <a:endParaRPr lang="en-US" dirty="0">
              <a:effectLst/>
            </a:endParaRPr>
          </a:p>
          <a:p>
            <a:pPr marL="0" indent="0">
              <a:buNone/>
            </a:pPr>
            <a:endParaRPr lang="en-US" dirty="0">
              <a:effectLst/>
            </a:endParaRPr>
          </a:p>
          <a:p>
            <a:endParaRPr lang="en-US" dirty="0">
              <a:effectLst/>
            </a:endParaRPr>
          </a:p>
          <a:p>
            <a:r>
              <a:rPr lang="en-US" dirty="0">
                <a:effectLst/>
              </a:rPr>
              <a:t>Decision making under uncertainty:</a:t>
            </a:r>
            <a:endParaRPr lang="en-US" dirty="0"/>
          </a:p>
          <a:p>
            <a:endParaRPr lang="en-US" dirty="0"/>
          </a:p>
          <a:p>
            <a:endParaRPr lang="en-US" dirty="0"/>
          </a:p>
          <a:p>
            <a:endParaRPr lang="en-US" dirty="0"/>
          </a:p>
          <a:p>
            <a:pPr marL="0" indent="0">
              <a:buNone/>
            </a:pPr>
            <a:endParaRPr lang="en-US" dirty="0"/>
          </a:p>
        </p:txBody>
      </p:sp>
      <p:sp>
        <p:nvSpPr>
          <p:cNvPr id="4" name="Rectangle 3"/>
          <p:cNvSpPr/>
          <p:nvPr/>
        </p:nvSpPr>
        <p:spPr bwMode="auto">
          <a:xfrm>
            <a:off x="3556571" y="1723865"/>
            <a:ext cx="1291593" cy="369332"/>
          </a:xfrm>
          <a:prstGeom prst="rect">
            <a:avLst/>
          </a:prstGeom>
          <a:solidFill>
            <a:schemeClr val="accent1"/>
          </a:solidFill>
          <a:ln>
            <a:solidFill>
              <a:schemeClr val="accent1"/>
            </a:solidFill>
            <a:headEnd type="none" w="med" len="med"/>
            <a:tailEnd type="triangl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r>
              <a:rPr kumimoji="0" lang="en-US" sz="1800" b="0" i="0" u="none" strike="noStrike" cap="none" normalizeH="0" baseline="0" dirty="0">
                <a:ln>
                  <a:solidFill>
                    <a:srgbClr val="0033CC"/>
                  </a:solidFill>
                </a:ln>
                <a:solidFill>
                  <a:schemeClr val="tx1"/>
                </a:solidFill>
                <a:effectLst/>
                <a:latin typeface="Arial" pitchFamily="34" charset="0"/>
              </a:rPr>
              <a:t>Decision 1</a:t>
            </a:r>
            <a:endParaRPr kumimoji="0" lang="en-SG" sz="1800" b="0" i="0" u="none" strike="noStrike" cap="none" normalizeH="0" baseline="0" dirty="0">
              <a:ln>
                <a:solidFill>
                  <a:srgbClr val="0033CC"/>
                </a:solidFill>
              </a:ln>
              <a:solidFill>
                <a:schemeClr val="tx1"/>
              </a:solidFill>
              <a:effectLst/>
              <a:latin typeface="Arial" pitchFamily="34" charset="0"/>
            </a:endParaRPr>
          </a:p>
        </p:txBody>
      </p:sp>
      <p:sp>
        <p:nvSpPr>
          <p:cNvPr id="7" name="Right Arrow 6"/>
          <p:cNvSpPr/>
          <p:nvPr/>
        </p:nvSpPr>
        <p:spPr bwMode="auto">
          <a:xfrm>
            <a:off x="2009560" y="1812727"/>
            <a:ext cx="850392" cy="204216"/>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8" name="Can 7"/>
          <p:cNvSpPr/>
          <p:nvPr/>
        </p:nvSpPr>
        <p:spPr bwMode="auto">
          <a:xfrm>
            <a:off x="554813" y="1615114"/>
            <a:ext cx="864339" cy="587216"/>
          </a:xfrm>
          <a:prstGeom prst="can">
            <a:avLst/>
          </a:prstGeom>
          <a:solidFill>
            <a:schemeClr val="accent2"/>
          </a:solidFill>
          <a:ln w="28575" cap="flat" cmpd="sng" algn="ctr">
            <a:solidFill>
              <a:schemeClr val="accent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Data 1</a:t>
            </a:r>
            <a:endParaRPr kumimoji="0" lang="en-SG" sz="1800" b="0" i="0" u="none" strike="noStrike" cap="none" normalizeH="0" baseline="0" dirty="0">
              <a:ln>
                <a:noFill/>
              </a:ln>
              <a:solidFill>
                <a:schemeClr val="tx1"/>
              </a:solidFill>
              <a:effectLst/>
              <a:latin typeface="Arial" pitchFamily="34" charset="0"/>
            </a:endParaRPr>
          </a:p>
        </p:txBody>
      </p:sp>
      <p:sp>
        <p:nvSpPr>
          <p:cNvPr id="9" name="Right Arrow 8"/>
          <p:cNvSpPr/>
          <p:nvPr/>
        </p:nvSpPr>
        <p:spPr bwMode="auto">
          <a:xfrm>
            <a:off x="5480346" y="1839108"/>
            <a:ext cx="850392" cy="204216"/>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0" name="Rectangle 9"/>
          <p:cNvSpPr/>
          <p:nvPr/>
        </p:nvSpPr>
        <p:spPr bwMode="auto">
          <a:xfrm>
            <a:off x="6836378" y="1723865"/>
            <a:ext cx="1683606" cy="369332"/>
          </a:xfrm>
          <a:prstGeom prst="rect">
            <a:avLst/>
          </a:prstGeom>
          <a:solidFill>
            <a:schemeClr val="accent1"/>
          </a:solidFill>
          <a:ln>
            <a:solidFill>
              <a:schemeClr val="accent1"/>
            </a:solidFill>
            <a:headEnd type="none" w="med" len="med"/>
            <a:tailEnd type="triangl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r>
              <a:rPr kumimoji="0" lang="en-US" sz="1800" b="0" i="0" u="none" strike="noStrike" cap="none" normalizeH="0" baseline="0" dirty="0">
                <a:ln>
                  <a:solidFill>
                    <a:srgbClr val="0033CC"/>
                  </a:solidFill>
                </a:ln>
                <a:solidFill>
                  <a:schemeClr val="tx1"/>
                </a:solidFill>
                <a:effectLst/>
                <a:latin typeface="Arial" pitchFamily="34" charset="0"/>
              </a:rPr>
              <a:t>Performance 1</a:t>
            </a:r>
            <a:endParaRPr kumimoji="0" lang="en-SG" sz="1800" b="0" i="0" u="none" strike="noStrike" cap="none" normalizeH="0" baseline="0" dirty="0">
              <a:ln>
                <a:solidFill>
                  <a:srgbClr val="0033CC"/>
                </a:solidFill>
              </a:ln>
              <a:solidFill>
                <a:schemeClr val="tx1"/>
              </a:solidFill>
              <a:effectLst/>
              <a:latin typeface="Arial" pitchFamily="34" charset="0"/>
            </a:endParaRPr>
          </a:p>
        </p:txBody>
      </p:sp>
      <p:sp>
        <p:nvSpPr>
          <p:cNvPr id="14" name="Rectangle 13"/>
          <p:cNvSpPr/>
          <p:nvPr/>
        </p:nvSpPr>
        <p:spPr bwMode="auto">
          <a:xfrm>
            <a:off x="2767269" y="5163898"/>
            <a:ext cx="1112420" cy="368950"/>
          </a:xfrm>
          <a:prstGeom prst="rect">
            <a:avLst/>
          </a:prstGeom>
          <a:solidFill>
            <a:schemeClr val="accent1"/>
          </a:solidFill>
          <a:ln>
            <a:solidFill>
              <a:schemeClr val="accent1"/>
            </a:solidFill>
            <a:headEnd type="none" w="med" len="med"/>
            <a:tailEnd type="triangl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r>
              <a:rPr kumimoji="0" lang="en-US" sz="1800" b="0" i="0" u="none" strike="noStrike" cap="none" normalizeH="0" baseline="0" dirty="0">
                <a:ln>
                  <a:solidFill>
                    <a:srgbClr val="0033CC"/>
                  </a:solidFill>
                </a:ln>
                <a:solidFill>
                  <a:schemeClr val="tx1"/>
                </a:solidFill>
                <a:effectLst/>
                <a:latin typeface="Arial" pitchFamily="34" charset="0"/>
              </a:rPr>
              <a:t>Decision</a:t>
            </a:r>
            <a:endParaRPr kumimoji="0" lang="en-SG" sz="1800" b="0" i="0" u="none" strike="noStrike" cap="none" normalizeH="0" baseline="0" dirty="0">
              <a:ln>
                <a:solidFill>
                  <a:srgbClr val="0033CC"/>
                </a:solidFill>
              </a:ln>
              <a:solidFill>
                <a:schemeClr val="tx1"/>
              </a:solidFill>
              <a:effectLst/>
              <a:latin typeface="Arial" pitchFamily="34" charset="0"/>
            </a:endParaRPr>
          </a:p>
        </p:txBody>
      </p:sp>
      <p:sp>
        <p:nvSpPr>
          <p:cNvPr id="17" name="Right Arrow 16"/>
          <p:cNvSpPr/>
          <p:nvPr/>
        </p:nvSpPr>
        <p:spPr bwMode="auto">
          <a:xfrm rot="20748704">
            <a:off x="3887236" y="4847855"/>
            <a:ext cx="1284115" cy="174635"/>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5" name="Rectangle 14"/>
          <p:cNvSpPr/>
          <p:nvPr/>
        </p:nvSpPr>
        <p:spPr bwMode="auto">
          <a:xfrm>
            <a:off x="3556571" y="2542364"/>
            <a:ext cx="1291593" cy="369332"/>
          </a:xfrm>
          <a:prstGeom prst="rect">
            <a:avLst/>
          </a:prstGeom>
          <a:solidFill>
            <a:schemeClr val="accent1"/>
          </a:solidFill>
          <a:ln>
            <a:solidFill>
              <a:schemeClr val="accent1"/>
            </a:solidFill>
            <a:headEnd type="none" w="med" len="med"/>
            <a:tailEnd type="triangl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r>
              <a:rPr kumimoji="0" lang="en-US" sz="1800" b="0" i="0" u="none" strike="noStrike" cap="none" normalizeH="0" baseline="0" dirty="0">
                <a:ln>
                  <a:solidFill>
                    <a:srgbClr val="0033CC"/>
                  </a:solidFill>
                </a:ln>
                <a:solidFill>
                  <a:schemeClr val="tx1"/>
                </a:solidFill>
                <a:effectLst/>
                <a:latin typeface="Arial" pitchFamily="34" charset="0"/>
              </a:rPr>
              <a:t>Decision 2</a:t>
            </a:r>
            <a:endParaRPr kumimoji="0" lang="en-SG" sz="1800" b="0" i="0" u="none" strike="noStrike" cap="none" normalizeH="0" baseline="0" dirty="0">
              <a:ln>
                <a:solidFill>
                  <a:srgbClr val="0033CC"/>
                </a:solidFill>
              </a:ln>
              <a:solidFill>
                <a:schemeClr val="tx1"/>
              </a:solidFill>
              <a:effectLst/>
              <a:latin typeface="Arial" pitchFamily="34" charset="0"/>
            </a:endParaRPr>
          </a:p>
        </p:txBody>
      </p:sp>
      <p:sp>
        <p:nvSpPr>
          <p:cNvPr id="16" name="Right Arrow 15"/>
          <p:cNvSpPr/>
          <p:nvPr/>
        </p:nvSpPr>
        <p:spPr bwMode="auto">
          <a:xfrm>
            <a:off x="1814588" y="5277077"/>
            <a:ext cx="850392" cy="204216"/>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20" name="Can 19"/>
          <p:cNvSpPr/>
          <p:nvPr/>
        </p:nvSpPr>
        <p:spPr bwMode="auto">
          <a:xfrm>
            <a:off x="554813" y="2433613"/>
            <a:ext cx="864339" cy="587216"/>
          </a:xfrm>
          <a:prstGeom prst="can">
            <a:avLst/>
          </a:prstGeom>
          <a:solidFill>
            <a:schemeClr val="accent2"/>
          </a:solidFill>
          <a:ln w="28575" cap="flat" cmpd="sng" algn="ctr">
            <a:solidFill>
              <a:schemeClr val="accent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Data 2</a:t>
            </a:r>
            <a:endParaRPr kumimoji="0" lang="en-SG" sz="1800" b="0" i="0" u="none" strike="noStrike" cap="none" normalizeH="0" baseline="0" dirty="0">
              <a:ln>
                <a:noFill/>
              </a:ln>
              <a:solidFill>
                <a:schemeClr val="tx1"/>
              </a:solidFill>
              <a:effectLst/>
              <a:latin typeface="Arial" pitchFamily="34" charset="0"/>
            </a:endParaRPr>
          </a:p>
        </p:txBody>
      </p:sp>
      <p:sp>
        <p:nvSpPr>
          <p:cNvPr id="22" name="Right Arrow 21"/>
          <p:cNvSpPr/>
          <p:nvPr/>
        </p:nvSpPr>
        <p:spPr bwMode="auto">
          <a:xfrm>
            <a:off x="5480346" y="2657607"/>
            <a:ext cx="850392" cy="204216"/>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23" name="Rectangle 22"/>
          <p:cNvSpPr/>
          <p:nvPr/>
        </p:nvSpPr>
        <p:spPr bwMode="auto">
          <a:xfrm>
            <a:off x="6836378" y="2542364"/>
            <a:ext cx="1683606" cy="369332"/>
          </a:xfrm>
          <a:prstGeom prst="rect">
            <a:avLst/>
          </a:prstGeom>
          <a:solidFill>
            <a:schemeClr val="accent1"/>
          </a:solidFill>
          <a:ln>
            <a:solidFill>
              <a:schemeClr val="accent1"/>
            </a:solidFill>
            <a:headEnd type="none" w="med" len="med"/>
            <a:tailEnd type="triangl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r>
              <a:rPr kumimoji="0" lang="en-US" sz="1800" b="0" i="0" u="none" strike="noStrike" cap="none" normalizeH="0" baseline="0" dirty="0">
                <a:ln>
                  <a:solidFill>
                    <a:srgbClr val="0033CC"/>
                  </a:solidFill>
                </a:ln>
                <a:solidFill>
                  <a:schemeClr val="tx1"/>
                </a:solidFill>
                <a:effectLst/>
                <a:latin typeface="Arial" pitchFamily="34" charset="0"/>
              </a:rPr>
              <a:t>Performance 2</a:t>
            </a:r>
            <a:endParaRPr kumimoji="0" lang="en-SG" sz="1800" b="0" i="0" u="none" strike="noStrike" cap="none" normalizeH="0" baseline="0" dirty="0">
              <a:ln>
                <a:solidFill>
                  <a:srgbClr val="0033CC"/>
                </a:solidFill>
              </a:ln>
              <a:solidFill>
                <a:schemeClr val="tx1"/>
              </a:solidFill>
              <a:effectLst/>
              <a:latin typeface="Arial" pitchFamily="34" charset="0"/>
            </a:endParaRPr>
          </a:p>
        </p:txBody>
      </p:sp>
      <p:sp>
        <p:nvSpPr>
          <p:cNvPr id="24" name="Can 23"/>
          <p:cNvSpPr/>
          <p:nvPr/>
        </p:nvSpPr>
        <p:spPr bwMode="auto">
          <a:xfrm>
            <a:off x="542631" y="4559071"/>
            <a:ext cx="864339" cy="587216"/>
          </a:xfrm>
          <a:prstGeom prst="can">
            <a:avLst/>
          </a:prstGeom>
          <a:solidFill>
            <a:schemeClr val="accent2"/>
          </a:solidFill>
          <a:ln w="28575" cap="flat" cmpd="sng" algn="ctr">
            <a:solidFill>
              <a:schemeClr val="accent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Data 1</a:t>
            </a:r>
            <a:endParaRPr kumimoji="0" lang="en-SG" sz="1800" b="0" i="0" u="none" strike="noStrike" cap="none" normalizeH="0" baseline="0" dirty="0">
              <a:ln>
                <a:noFill/>
              </a:ln>
              <a:solidFill>
                <a:schemeClr val="tx1"/>
              </a:solidFill>
              <a:effectLst/>
              <a:latin typeface="Arial" pitchFamily="34" charset="0"/>
            </a:endParaRPr>
          </a:p>
        </p:txBody>
      </p:sp>
      <p:sp>
        <p:nvSpPr>
          <p:cNvPr id="25" name="Can 24"/>
          <p:cNvSpPr/>
          <p:nvPr/>
        </p:nvSpPr>
        <p:spPr bwMode="auto">
          <a:xfrm>
            <a:off x="548246" y="5555707"/>
            <a:ext cx="864339" cy="587216"/>
          </a:xfrm>
          <a:prstGeom prst="can">
            <a:avLst/>
          </a:prstGeom>
          <a:solidFill>
            <a:schemeClr val="accent2"/>
          </a:solidFill>
          <a:ln w="28575" cap="flat" cmpd="sng" algn="ctr">
            <a:solidFill>
              <a:schemeClr val="accent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Data 2</a:t>
            </a:r>
            <a:endParaRPr kumimoji="0" lang="en-SG" sz="1800" b="0" i="0" u="none" strike="noStrike" cap="none" normalizeH="0" baseline="0" dirty="0">
              <a:ln>
                <a:noFill/>
              </a:ln>
              <a:solidFill>
                <a:schemeClr val="tx1"/>
              </a:solidFill>
              <a:effectLst/>
              <a:latin typeface="Arial" pitchFamily="34" charset="0"/>
            </a:endParaRPr>
          </a:p>
        </p:txBody>
      </p:sp>
      <p:sp>
        <p:nvSpPr>
          <p:cNvPr id="6" name="Oval 5"/>
          <p:cNvSpPr/>
          <p:nvPr/>
        </p:nvSpPr>
        <p:spPr bwMode="auto">
          <a:xfrm>
            <a:off x="277840" y="4233468"/>
            <a:ext cx="1390135" cy="2273643"/>
          </a:xfrm>
          <a:prstGeom prst="ellipse">
            <a:avLst/>
          </a:prstGeom>
          <a:solidFill>
            <a:schemeClr val="accent2">
              <a:alpha val="51000"/>
            </a:schemeClr>
          </a:solidFill>
          <a:ln w="28575" cap="flat" cmpd="sng" algn="ctr">
            <a:no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26" name="Right Arrow 25"/>
          <p:cNvSpPr/>
          <p:nvPr/>
        </p:nvSpPr>
        <p:spPr bwMode="auto">
          <a:xfrm>
            <a:off x="2009560" y="2657467"/>
            <a:ext cx="850392" cy="204216"/>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27" name="Right Arrow 26"/>
          <p:cNvSpPr/>
          <p:nvPr/>
        </p:nvSpPr>
        <p:spPr bwMode="auto">
          <a:xfrm rot="933239">
            <a:off x="3885320" y="5718438"/>
            <a:ext cx="1284115" cy="174635"/>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29" name="Can 28"/>
          <p:cNvSpPr/>
          <p:nvPr/>
        </p:nvSpPr>
        <p:spPr bwMode="auto">
          <a:xfrm>
            <a:off x="5268111" y="4473526"/>
            <a:ext cx="864339" cy="587216"/>
          </a:xfrm>
          <a:prstGeom prst="can">
            <a:avLst/>
          </a:prstGeom>
          <a:solidFill>
            <a:schemeClr val="accent2"/>
          </a:solidFill>
          <a:ln w="28575" cap="flat" cmpd="sng" algn="ctr">
            <a:solidFill>
              <a:schemeClr val="accent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Data 1</a:t>
            </a:r>
            <a:endParaRPr kumimoji="0" lang="en-SG" sz="1800" b="0" i="0" u="none" strike="noStrike" cap="none" normalizeH="0" baseline="0" dirty="0">
              <a:ln>
                <a:noFill/>
              </a:ln>
              <a:solidFill>
                <a:schemeClr val="tx1"/>
              </a:solidFill>
              <a:effectLst/>
              <a:latin typeface="Arial" pitchFamily="34" charset="0"/>
            </a:endParaRPr>
          </a:p>
        </p:txBody>
      </p:sp>
      <p:sp>
        <p:nvSpPr>
          <p:cNvPr id="30" name="Can 29"/>
          <p:cNvSpPr/>
          <p:nvPr/>
        </p:nvSpPr>
        <p:spPr bwMode="auto">
          <a:xfrm>
            <a:off x="5268111" y="5693116"/>
            <a:ext cx="864339" cy="587216"/>
          </a:xfrm>
          <a:prstGeom prst="can">
            <a:avLst/>
          </a:prstGeom>
          <a:solidFill>
            <a:schemeClr val="accent2"/>
          </a:solidFill>
          <a:ln w="28575" cap="flat" cmpd="sng" algn="ctr">
            <a:solidFill>
              <a:schemeClr val="accent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Data 2</a:t>
            </a:r>
            <a:endParaRPr kumimoji="0" lang="en-SG" sz="1800" b="0" i="0" u="none" strike="noStrike" cap="none" normalizeH="0" baseline="0" dirty="0">
              <a:ln>
                <a:noFill/>
              </a:ln>
              <a:solidFill>
                <a:schemeClr val="tx1"/>
              </a:solidFill>
              <a:effectLst/>
              <a:latin typeface="Arial" pitchFamily="34" charset="0"/>
            </a:endParaRPr>
          </a:p>
        </p:txBody>
      </p:sp>
      <p:sp>
        <p:nvSpPr>
          <p:cNvPr id="31" name="Right Arrow 30"/>
          <p:cNvSpPr/>
          <p:nvPr/>
        </p:nvSpPr>
        <p:spPr bwMode="auto">
          <a:xfrm>
            <a:off x="6227393" y="4639879"/>
            <a:ext cx="850392" cy="204216"/>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32" name="Rectangle 31"/>
          <p:cNvSpPr/>
          <p:nvPr/>
        </p:nvSpPr>
        <p:spPr bwMode="auto">
          <a:xfrm>
            <a:off x="7156558" y="4549560"/>
            <a:ext cx="1683606" cy="369332"/>
          </a:xfrm>
          <a:prstGeom prst="rect">
            <a:avLst/>
          </a:prstGeom>
          <a:solidFill>
            <a:schemeClr val="accent1"/>
          </a:solidFill>
          <a:ln>
            <a:solidFill>
              <a:schemeClr val="accent1"/>
            </a:solidFill>
            <a:headEnd type="none" w="med" len="med"/>
            <a:tailEnd type="triangl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r>
              <a:rPr kumimoji="0" lang="en-US" sz="1800" b="0" i="0" u="none" strike="noStrike" cap="none" normalizeH="0" baseline="0" dirty="0">
                <a:ln>
                  <a:solidFill>
                    <a:srgbClr val="0033CC"/>
                  </a:solidFill>
                </a:ln>
                <a:solidFill>
                  <a:schemeClr val="tx1"/>
                </a:solidFill>
                <a:effectLst/>
                <a:latin typeface="Arial" pitchFamily="34" charset="0"/>
              </a:rPr>
              <a:t>Performance 1</a:t>
            </a:r>
            <a:endParaRPr kumimoji="0" lang="en-SG" sz="1800" b="0" i="0" u="none" strike="noStrike" cap="none" normalizeH="0" baseline="0" dirty="0">
              <a:ln>
                <a:solidFill>
                  <a:srgbClr val="0033CC"/>
                </a:solidFill>
              </a:ln>
              <a:solidFill>
                <a:schemeClr val="tx1"/>
              </a:solidFill>
              <a:effectLst/>
              <a:latin typeface="Arial" pitchFamily="34" charset="0"/>
            </a:endParaRPr>
          </a:p>
        </p:txBody>
      </p:sp>
      <p:sp>
        <p:nvSpPr>
          <p:cNvPr id="33" name="Right Arrow 32"/>
          <p:cNvSpPr/>
          <p:nvPr/>
        </p:nvSpPr>
        <p:spPr bwMode="auto">
          <a:xfrm>
            <a:off x="6227393" y="5862037"/>
            <a:ext cx="850392" cy="204216"/>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34" name="Rectangle 33"/>
          <p:cNvSpPr/>
          <p:nvPr/>
        </p:nvSpPr>
        <p:spPr bwMode="auto">
          <a:xfrm>
            <a:off x="7172728" y="5754543"/>
            <a:ext cx="1683606" cy="369332"/>
          </a:xfrm>
          <a:prstGeom prst="rect">
            <a:avLst/>
          </a:prstGeom>
          <a:solidFill>
            <a:schemeClr val="accent1"/>
          </a:solidFill>
          <a:ln>
            <a:solidFill>
              <a:schemeClr val="accent1"/>
            </a:solidFill>
            <a:headEnd type="none" w="med" len="med"/>
            <a:tailEnd type="triangl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r>
              <a:rPr kumimoji="0" lang="en-US" sz="1800" b="0" i="0" u="none" strike="noStrike" cap="none" normalizeH="0" baseline="0" dirty="0">
                <a:ln>
                  <a:solidFill>
                    <a:srgbClr val="0033CC"/>
                  </a:solidFill>
                </a:ln>
                <a:solidFill>
                  <a:schemeClr val="tx1"/>
                </a:solidFill>
                <a:effectLst/>
                <a:latin typeface="Arial" pitchFamily="34" charset="0"/>
              </a:rPr>
              <a:t>Performance 2</a:t>
            </a:r>
            <a:endParaRPr kumimoji="0" lang="en-SG" sz="1800" b="0" i="0" u="none" strike="noStrike" cap="none" normalizeH="0" baseline="0" dirty="0">
              <a:ln>
                <a:solidFill>
                  <a:srgbClr val="0033CC"/>
                </a:solidFill>
              </a:ln>
              <a:solidFill>
                <a:schemeClr val="tx1"/>
              </a:solidFill>
              <a:effectLst/>
              <a:latin typeface="Arial" pitchFamily="34" charset="0"/>
            </a:endParaRPr>
          </a:p>
        </p:txBody>
      </p:sp>
      <p:sp>
        <p:nvSpPr>
          <p:cNvPr id="28" name="Oval 27">
            <a:extLst>
              <a:ext uri="{FF2B5EF4-FFF2-40B4-BE49-F238E27FC236}">
                <a16:creationId xmlns:a16="http://schemas.microsoft.com/office/drawing/2014/main" id="{824836CD-1B46-422C-8D91-04B33F593FBB}"/>
              </a:ext>
            </a:extLst>
          </p:cNvPr>
          <p:cNvSpPr/>
          <p:nvPr/>
        </p:nvSpPr>
        <p:spPr bwMode="auto">
          <a:xfrm>
            <a:off x="277839" y="1296791"/>
            <a:ext cx="1390135" cy="2273643"/>
          </a:xfrm>
          <a:prstGeom prst="ellipse">
            <a:avLst/>
          </a:prstGeom>
          <a:solidFill>
            <a:schemeClr val="accent2">
              <a:alpha val="51000"/>
            </a:schemeClr>
          </a:solidFill>
          <a:ln w="28575" cap="flat" cmpd="sng" algn="ctr">
            <a:no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Tree>
    <p:extLst>
      <p:ext uri="{BB962C8B-B14F-4D97-AF65-F5344CB8AC3E}">
        <p14:creationId xmlns:p14="http://schemas.microsoft.com/office/powerpoint/2010/main" val="91248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Example Revisited Again</a:t>
            </a:r>
          </a:p>
        </p:txBody>
      </p:sp>
      <p:sp>
        <p:nvSpPr>
          <p:cNvPr id="3" name="Content Placeholder 2"/>
          <p:cNvSpPr>
            <a:spLocks noGrp="1"/>
          </p:cNvSpPr>
          <p:nvPr>
            <p:ph idx="1"/>
          </p:nvPr>
        </p:nvSpPr>
        <p:spPr>
          <a:xfrm>
            <a:off x="330518" y="1077087"/>
            <a:ext cx="8473440" cy="4791139"/>
          </a:xfrm>
        </p:spPr>
        <p:txBody>
          <a:bodyPr>
            <a:normAutofit/>
          </a:bodyPr>
          <a:lstStyle/>
          <a:p>
            <a:r>
              <a:rPr lang="en-US" dirty="0">
                <a:effectLst/>
              </a:rPr>
              <a:t>What type of industry faces lots of uncertainty in production?</a:t>
            </a:r>
          </a:p>
          <a:p>
            <a:pPr lvl="1"/>
            <a:r>
              <a:rPr lang="en-US" dirty="0">
                <a:effectLst/>
              </a:rPr>
              <a:t>Bio-chemical</a:t>
            </a:r>
          </a:p>
          <a:p>
            <a:pPr lvl="1"/>
            <a:r>
              <a:rPr lang="en-US" dirty="0">
                <a:effectLst/>
              </a:rPr>
              <a:t>Pharmaceutical </a:t>
            </a:r>
          </a:p>
          <a:p>
            <a:pPr lvl="1"/>
            <a:r>
              <a:rPr lang="en-US" dirty="0">
                <a:effectLst/>
              </a:rPr>
              <a:t>Agricultural</a:t>
            </a:r>
          </a:p>
          <a:p>
            <a:endParaRPr lang="en-US" sz="900" dirty="0">
              <a:effectLst/>
            </a:endParaRPr>
          </a:p>
          <a:p>
            <a:r>
              <a:rPr lang="en-US" dirty="0">
                <a:effectLst/>
              </a:rPr>
              <a:t>Source of uncertainty</a:t>
            </a:r>
          </a:p>
          <a:p>
            <a:pPr lvl="1"/>
            <a:r>
              <a:rPr lang="en-US" dirty="0">
                <a:effectLst/>
              </a:rPr>
              <a:t>Supply </a:t>
            </a:r>
          </a:p>
          <a:p>
            <a:pPr lvl="1"/>
            <a:r>
              <a:rPr lang="en-US" dirty="0">
                <a:effectLst/>
              </a:rPr>
              <a:t>Production process</a:t>
            </a:r>
          </a:p>
        </p:txBody>
      </p:sp>
    </p:spTree>
    <p:extLst>
      <p:ext uri="{BB962C8B-B14F-4D97-AF65-F5344CB8AC3E}">
        <p14:creationId xmlns:p14="http://schemas.microsoft.com/office/powerpoint/2010/main" val="280484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xfrm>
            <a:off x="24606" y="0"/>
            <a:ext cx="9099550" cy="931863"/>
          </a:xfrm>
        </p:spPr>
        <p:txBody>
          <a:bodyPr/>
          <a:lstStyle/>
          <a:p>
            <a:pPr>
              <a:defRPr/>
            </a:pPr>
            <a:r>
              <a:rPr lang="en-US" altLang="zh-CN" dirty="0">
                <a:ea typeface="宋体" pitchFamily="2" charset="-122"/>
              </a:rPr>
              <a:t>Example </a:t>
            </a:r>
          </a:p>
        </p:txBody>
      </p:sp>
      <p:sp>
        <p:nvSpPr>
          <p:cNvPr id="257027" name="Rectangle 3"/>
          <p:cNvSpPr>
            <a:spLocks noGrp="1" noChangeArrowheads="1"/>
          </p:cNvSpPr>
          <p:nvPr>
            <p:ph type="body" idx="1"/>
          </p:nvPr>
        </p:nvSpPr>
        <p:spPr>
          <a:xfrm>
            <a:off x="-5045604" y="5033316"/>
            <a:ext cx="3202393" cy="1666055"/>
          </a:xfrm>
        </p:spPr>
        <p:txBody>
          <a:bodyPr/>
          <a:lstStyle/>
          <a:p>
            <a:pPr marL="0" indent="0">
              <a:buNone/>
              <a:defRPr/>
            </a:pPr>
            <a:endParaRPr lang="en-US" altLang="zh-CN" dirty="0">
              <a:ea typeface="宋体" pitchFamily="2" charset="-122"/>
            </a:endParaRPr>
          </a:p>
          <a:p>
            <a:pPr>
              <a:defRPr/>
            </a:pPr>
            <a:endParaRPr lang="en-US" altLang="zh-CN" dirty="0">
              <a:ea typeface="宋体" pitchFamily="2" charset="-122"/>
            </a:endParaRPr>
          </a:p>
          <a:p>
            <a:pPr>
              <a:defRPr/>
            </a:pPr>
            <a:endParaRPr lang="en-US" altLang="zh-CN" dirty="0">
              <a:ea typeface="宋体" pitchFamily="2" charset="-122"/>
            </a:endParaRPr>
          </a:p>
          <a:p>
            <a:pPr marL="0" indent="0">
              <a:buNone/>
              <a:defRPr/>
            </a:pPr>
            <a:endParaRPr lang="en-US" altLang="zh-CN" dirty="0">
              <a:ea typeface="宋体" pitchFamily="2" charset="-122"/>
            </a:endParaRPr>
          </a:p>
          <a:p>
            <a:pPr marL="0" indent="0">
              <a:buNone/>
              <a:defRPr/>
            </a:pPr>
            <a:endParaRPr lang="en-US" altLang="zh-CN" dirty="0">
              <a:ea typeface="宋体" pitchFamily="2" charset="-122"/>
            </a:endParaRPr>
          </a:p>
          <a:p>
            <a:pPr marL="0" indent="0">
              <a:buNone/>
              <a:defRPr/>
            </a:pPr>
            <a:endParaRPr lang="en-US" altLang="zh-CN" dirty="0">
              <a:ea typeface="宋体" pitchFamily="2" charset="-122"/>
            </a:endParaRPr>
          </a:p>
          <a:p>
            <a:pPr>
              <a:defRPr/>
            </a:pPr>
            <a:endParaRPr lang="en-US" altLang="zh-CN" dirty="0">
              <a:ea typeface="宋体" pitchFamily="2" charset="-122"/>
            </a:endParaRPr>
          </a:p>
          <a:p>
            <a:pPr>
              <a:defRPr/>
            </a:pPr>
            <a:endParaRPr lang="en-US" altLang="zh-CN" dirty="0">
              <a:ea typeface="宋体" pitchFamily="2" charset="-122"/>
            </a:endParaRPr>
          </a:p>
          <a:p>
            <a:pPr>
              <a:defRPr/>
            </a:pPr>
            <a:endParaRPr lang="en-US" altLang="zh-CN" dirty="0">
              <a:ea typeface="宋体" pitchFamily="2" charset="-122"/>
            </a:endParaRPr>
          </a:p>
          <a:p>
            <a:pPr>
              <a:defRPr/>
            </a:pPr>
            <a:endParaRPr lang="en-US" altLang="zh-CN" dirty="0">
              <a:ea typeface="宋体" pitchFamily="2" charset="-122"/>
            </a:endParaRPr>
          </a:p>
          <a:p>
            <a:pPr>
              <a:defRPr/>
            </a:pPr>
            <a:endParaRPr lang="zh-CN" altLang="en-US" dirty="0">
              <a:ea typeface="宋体" pitchFamily="2" charset="-122"/>
            </a:endParaRPr>
          </a:p>
        </p:txBody>
      </p:sp>
      <p:pic>
        <p:nvPicPr>
          <p:cNvPr id="1026" name="Picture 2" descr="http://img3.wikia.nocookie.net/__cb20120617212256/breakingbad/images/4/43/Season_2_promo_pic_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085" y="1246546"/>
            <a:ext cx="8526285" cy="479603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9650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xfrm>
            <a:off x="24606" y="0"/>
            <a:ext cx="9099550" cy="931863"/>
          </a:xfrm>
        </p:spPr>
        <p:txBody>
          <a:bodyPr/>
          <a:lstStyle/>
          <a:p>
            <a:pPr>
              <a:defRPr/>
            </a:pPr>
            <a:r>
              <a:rPr lang="en-US" altLang="zh-CN" dirty="0">
                <a:ea typeface="宋体" pitchFamily="2" charset="-122"/>
              </a:rPr>
              <a:t>Supply Chain in Breaking Bad</a:t>
            </a:r>
          </a:p>
        </p:txBody>
      </p:sp>
      <p:sp>
        <p:nvSpPr>
          <p:cNvPr id="257027" name="Rectangle 3"/>
          <p:cNvSpPr>
            <a:spLocks noGrp="1" noChangeArrowheads="1"/>
          </p:cNvSpPr>
          <p:nvPr>
            <p:ph type="body" idx="1"/>
          </p:nvPr>
        </p:nvSpPr>
        <p:spPr>
          <a:xfrm>
            <a:off x="-5045604" y="5033316"/>
            <a:ext cx="3202393" cy="1666055"/>
          </a:xfrm>
        </p:spPr>
        <p:txBody>
          <a:bodyPr/>
          <a:lstStyle/>
          <a:p>
            <a:pPr marL="0" indent="0">
              <a:buNone/>
              <a:defRPr/>
            </a:pPr>
            <a:endParaRPr lang="en-US" altLang="zh-CN" dirty="0">
              <a:ea typeface="宋体" pitchFamily="2" charset="-122"/>
            </a:endParaRPr>
          </a:p>
          <a:p>
            <a:pPr>
              <a:defRPr/>
            </a:pPr>
            <a:endParaRPr lang="en-US" altLang="zh-CN" dirty="0">
              <a:ea typeface="宋体" pitchFamily="2" charset="-122"/>
            </a:endParaRPr>
          </a:p>
          <a:p>
            <a:pPr>
              <a:defRPr/>
            </a:pPr>
            <a:endParaRPr lang="en-US" altLang="zh-CN" dirty="0">
              <a:ea typeface="宋体" pitchFamily="2" charset="-122"/>
            </a:endParaRPr>
          </a:p>
          <a:p>
            <a:pPr marL="0" indent="0">
              <a:buNone/>
              <a:defRPr/>
            </a:pPr>
            <a:endParaRPr lang="en-US" altLang="zh-CN" dirty="0">
              <a:ea typeface="宋体" pitchFamily="2" charset="-122"/>
            </a:endParaRPr>
          </a:p>
          <a:p>
            <a:pPr marL="0" indent="0">
              <a:buNone/>
              <a:defRPr/>
            </a:pPr>
            <a:endParaRPr lang="en-US" altLang="zh-CN" dirty="0">
              <a:ea typeface="宋体" pitchFamily="2" charset="-122"/>
            </a:endParaRPr>
          </a:p>
          <a:p>
            <a:pPr marL="0" indent="0">
              <a:buNone/>
              <a:defRPr/>
            </a:pPr>
            <a:endParaRPr lang="en-US" altLang="zh-CN" dirty="0">
              <a:ea typeface="宋体" pitchFamily="2" charset="-122"/>
            </a:endParaRPr>
          </a:p>
          <a:p>
            <a:pPr>
              <a:defRPr/>
            </a:pPr>
            <a:endParaRPr lang="en-US" altLang="zh-CN" dirty="0">
              <a:ea typeface="宋体" pitchFamily="2" charset="-122"/>
            </a:endParaRPr>
          </a:p>
          <a:p>
            <a:pPr>
              <a:defRPr/>
            </a:pPr>
            <a:endParaRPr lang="en-US" altLang="zh-CN" dirty="0">
              <a:ea typeface="宋体" pitchFamily="2" charset="-122"/>
            </a:endParaRPr>
          </a:p>
          <a:p>
            <a:pPr>
              <a:defRPr/>
            </a:pPr>
            <a:endParaRPr lang="en-US" altLang="zh-CN" dirty="0">
              <a:ea typeface="宋体" pitchFamily="2" charset="-122"/>
            </a:endParaRPr>
          </a:p>
          <a:p>
            <a:pPr>
              <a:defRPr/>
            </a:pPr>
            <a:endParaRPr lang="en-US" altLang="zh-CN" dirty="0">
              <a:ea typeface="宋体" pitchFamily="2" charset="-122"/>
            </a:endParaRPr>
          </a:p>
          <a:p>
            <a:pPr>
              <a:defRPr/>
            </a:pPr>
            <a:endParaRPr lang="zh-CN" altLang="en-US" dirty="0">
              <a:ea typeface="宋体" pitchFamily="2" charset="-122"/>
            </a:endParaRPr>
          </a:p>
        </p:txBody>
      </p:sp>
      <p:pic>
        <p:nvPicPr>
          <p:cNvPr id="2" name="Picture 1"/>
          <p:cNvPicPr>
            <a:picLocks noChangeAspect="1"/>
          </p:cNvPicPr>
          <p:nvPr/>
        </p:nvPicPr>
        <p:blipFill>
          <a:blip r:embed="rId3"/>
          <a:stretch>
            <a:fillRect/>
          </a:stretch>
        </p:blipFill>
        <p:spPr>
          <a:xfrm>
            <a:off x="4362228" y="2828041"/>
            <a:ext cx="901807" cy="963645"/>
          </a:xfrm>
          <a:prstGeom prst="rect">
            <a:avLst/>
          </a:prstGeom>
        </p:spPr>
      </p:pic>
      <p:pic>
        <p:nvPicPr>
          <p:cNvPr id="3" name="Picture 2"/>
          <p:cNvPicPr>
            <a:picLocks noChangeAspect="1"/>
          </p:cNvPicPr>
          <p:nvPr/>
        </p:nvPicPr>
        <p:blipFill>
          <a:blip r:embed="rId4"/>
          <a:stretch>
            <a:fillRect/>
          </a:stretch>
        </p:blipFill>
        <p:spPr>
          <a:xfrm>
            <a:off x="3320617" y="2828041"/>
            <a:ext cx="966197" cy="911299"/>
          </a:xfrm>
          <a:prstGeom prst="rect">
            <a:avLst/>
          </a:prstGeom>
        </p:spPr>
      </p:pic>
      <p:pic>
        <p:nvPicPr>
          <p:cNvPr id="2050" name="Picture 2" descr="http://mediad.publicbroadcasting.net/p/shared/npr/styles/x_large/nprshared/201312/226497245.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9447" y="980980"/>
            <a:ext cx="2396843" cy="1797943"/>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ight Arrow 3"/>
          <p:cNvSpPr/>
          <p:nvPr/>
        </p:nvSpPr>
        <p:spPr bwMode="auto">
          <a:xfrm rot="2376768">
            <a:off x="2471423" y="2818615"/>
            <a:ext cx="716437" cy="414779"/>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pic>
        <p:nvPicPr>
          <p:cNvPr id="2052" name="Picture 4" descr="http://i1.wp.com/laughstash.tv/here/wp-content/uploads/2013/11/BucketsDone2.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9447" y="4484898"/>
            <a:ext cx="2492356" cy="1869267"/>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ight Arrow 9"/>
          <p:cNvSpPr/>
          <p:nvPr/>
        </p:nvSpPr>
        <p:spPr bwMode="auto">
          <a:xfrm rot="18453181">
            <a:off x="2538257" y="3942346"/>
            <a:ext cx="716437" cy="414779"/>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5" name="Rounded Rectangle 4"/>
          <p:cNvSpPr/>
          <p:nvPr/>
        </p:nvSpPr>
        <p:spPr bwMode="auto">
          <a:xfrm>
            <a:off x="16947" y="3403887"/>
            <a:ext cx="2581841" cy="408623"/>
          </a:xfrm>
          <a:prstGeom prst="roundRect">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Dual Sourcing Strategy</a:t>
            </a:r>
            <a:endParaRPr kumimoji="0" lang="en-SG" sz="1800" b="0" i="0" u="none" strike="noStrike" cap="none" normalizeH="0" baseline="0" dirty="0">
              <a:ln>
                <a:noFill/>
              </a:ln>
              <a:solidFill>
                <a:schemeClr val="tx1"/>
              </a:solidFill>
              <a:effectLst/>
              <a:latin typeface="Arial" pitchFamily="34" charset="0"/>
            </a:endParaRPr>
          </a:p>
        </p:txBody>
      </p:sp>
      <p:sp>
        <p:nvSpPr>
          <p:cNvPr id="6" name="Cloud 5"/>
          <p:cNvSpPr/>
          <p:nvPr/>
        </p:nvSpPr>
        <p:spPr bwMode="auto">
          <a:xfrm>
            <a:off x="3320617" y="1795050"/>
            <a:ext cx="2057544" cy="983873"/>
          </a:xfrm>
          <a:prstGeom prst="cloud">
            <a:avLst/>
          </a:prstGeom>
          <a:solidFill>
            <a:schemeClr val="accent1"/>
          </a:solidFill>
          <a:ln w="28575" cap="flat" cmpd="sng" algn="ctr">
            <a:solidFill>
              <a:srgbClr val="0033CC"/>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Production </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Uncertainty</a:t>
            </a:r>
            <a:endParaRPr kumimoji="0" lang="en-SG" sz="1800" b="0" i="0" u="none" strike="noStrike" cap="none" normalizeH="0" baseline="0" dirty="0">
              <a:ln>
                <a:noFill/>
              </a:ln>
              <a:solidFill>
                <a:schemeClr val="tx1"/>
              </a:solidFill>
              <a:effectLst/>
              <a:latin typeface="Arial" pitchFamily="34" charset="0"/>
            </a:endParaRPr>
          </a:p>
        </p:txBody>
      </p:sp>
      <p:pic>
        <p:nvPicPr>
          <p:cNvPr id="7" name="Picture 6"/>
          <p:cNvPicPr>
            <a:picLocks noChangeAspect="1"/>
          </p:cNvPicPr>
          <p:nvPr/>
        </p:nvPicPr>
        <p:blipFill>
          <a:blip r:embed="rId7"/>
          <a:stretch>
            <a:fillRect/>
          </a:stretch>
        </p:blipFill>
        <p:spPr>
          <a:xfrm>
            <a:off x="6792228" y="2776662"/>
            <a:ext cx="930086" cy="1035848"/>
          </a:xfrm>
          <a:prstGeom prst="rect">
            <a:avLst/>
          </a:prstGeom>
        </p:spPr>
      </p:pic>
      <p:sp>
        <p:nvSpPr>
          <p:cNvPr id="8" name="Right Arrow 7"/>
          <p:cNvSpPr/>
          <p:nvPr/>
        </p:nvSpPr>
        <p:spPr bwMode="auto">
          <a:xfrm>
            <a:off x="5592681" y="3090440"/>
            <a:ext cx="911328" cy="386499"/>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9" name="Right Arrow 8"/>
          <p:cNvSpPr/>
          <p:nvPr/>
        </p:nvSpPr>
        <p:spPr bwMode="auto">
          <a:xfrm rot="19366967">
            <a:off x="7662939" y="2417044"/>
            <a:ext cx="886120" cy="102028"/>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6" name="Right Arrow 15"/>
          <p:cNvSpPr/>
          <p:nvPr/>
        </p:nvSpPr>
        <p:spPr bwMode="auto">
          <a:xfrm>
            <a:off x="7799817" y="3243572"/>
            <a:ext cx="886120" cy="102028"/>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7" name="Right Arrow 16"/>
          <p:cNvSpPr/>
          <p:nvPr/>
        </p:nvSpPr>
        <p:spPr bwMode="auto">
          <a:xfrm rot="1916642">
            <a:off x="7662939" y="4007286"/>
            <a:ext cx="886120" cy="102028"/>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8" name="Rounded Rectangle 17"/>
          <p:cNvSpPr/>
          <p:nvPr/>
        </p:nvSpPr>
        <p:spPr bwMode="auto">
          <a:xfrm>
            <a:off x="6568435" y="1958556"/>
            <a:ext cx="1377672" cy="408623"/>
          </a:xfrm>
          <a:prstGeom prst="roundRect">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Price Fixed</a:t>
            </a:r>
            <a:endParaRPr kumimoji="0" lang="en-SG" sz="1800" b="0" i="0" u="none" strike="noStrike" cap="none" normalizeH="0" baseline="0" dirty="0">
              <a:ln>
                <a:noFill/>
              </a:ln>
              <a:solidFill>
                <a:schemeClr val="tx1"/>
              </a:solidFill>
              <a:effectLst/>
              <a:latin typeface="Arial" pitchFamily="34" charset="0"/>
            </a:endParaRPr>
          </a:p>
        </p:txBody>
      </p:sp>
      <p:sp>
        <p:nvSpPr>
          <p:cNvPr id="19" name="Rounded Rectangle 18"/>
          <p:cNvSpPr/>
          <p:nvPr/>
        </p:nvSpPr>
        <p:spPr bwMode="auto">
          <a:xfrm>
            <a:off x="4919275" y="3899283"/>
            <a:ext cx="2258140" cy="408623"/>
          </a:xfrm>
          <a:prstGeom prst="roundRect">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Committed Contract</a:t>
            </a:r>
            <a:endParaRPr kumimoji="0" lang="en-SG" sz="1800" b="0" i="0" u="none" strike="noStrike" cap="none" normalizeH="0" baseline="0" dirty="0">
              <a:ln>
                <a:noFill/>
              </a:ln>
              <a:solidFill>
                <a:schemeClr val="tx1"/>
              </a:solidFill>
              <a:effectLst/>
              <a:latin typeface="Arial" pitchFamily="34" charset="0"/>
            </a:endParaRPr>
          </a:p>
        </p:txBody>
      </p:sp>
      <p:sp>
        <p:nvSpPr>
          <p:cNvPr id="11" name="Rectangle 10"/>
          <p:cNvSpPr/>
          <p:nvPr/>
        </p:nvSpPr>
        <p:spPr>
          <a:xfrm>
            <a:off x="614629" y="6334848"/>
            <a:ext cx="8213839" cy="276999"/>
          </a:xfrm>
          <a:prstGeom prst="rect">
            <a:avLst/>
          </a:prstGeom>
        </p:spPr>
        <p:txBody>
          <a:bodyPr wrap="square">
            <a:spAutoFit/>
          </a:bodyPr>
          <a:lstStyle/>
          <a:p>
            <a:r>
              <a:rPr lang="en-US" sz="1200" b="1" dirty="0">
                <a:latin typeface="Arial" panose="020B0604020202020204" pitchFamily="34" charset="0"/>
                <a:ea typeface="ＭＳ Ｐゴシック" panose="020B0600070205080204" pitchFamily="34" charset="-128"/>
                <a:hlinkClick r:id="rId8"/>
              </a:rPr>
              <a:t>https://www.youtube.com/watch?v=-iUVhv_sDhA&amp;list=PLOhe6-yzmaj-g3paSmTbxv_fqTk1z0VU8&amp;index=27</a:t>
            </a:r>
            <a:r>
              <a:rPr lang="en-US" sz="1200" b="1" dirty="0">
                <a:latin typeface="Arial" panose="020B0604020202020204" pitchFamily="34" charset="0"/>
                <a:ea typeface="ＭＳ Ｐゴシック" panose="020B0600070205080204" pitchFamily="34" charset="-128"/>
              </a:rPr>
              <a:t> </a:t>
            </a:r>
          </a:p>
        </p:txBody>
      </p:sp>
    </p:spTree>
    <p:extLst>
      <p:ext uri="{BB962C8B-B14F-4D97-AF65-F5344CB8AC3E}">
        <p14:creationId xmlns:p14="http://schemas.microsoft.com/office/powerpoint/2010/main" val="4007675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fade">
                                      <p:cBhvr>
                                        <p:cTn id="10" dur="500"/>
                                        <p:tgtEl>
                                          <p:spTgt spid="205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52"/>
                                        </p:tgtEl>
                                        <p:attrNameLst>
                                          <p:attrName>style.visibility</p:attrName>
                                        </p:attrNameLst>
                                      </p:cBhvr>
                                      <p:to>
                                        <p:strVal val="visible"/>
                                      </p:to>
                                    </p:set>
                                    <p:animEffect transition="in" filter="fade">
                                      <p:cBhvr>
                                        <p:cTn id="15" dur="500"/>
                                        <p:tgtEl>
                                          <p:spTgt spid="205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fill="hold"/>
                                        <p:tgtEl>
                                          <p:spTgt spid="18"/>
                                        </p:tgtEl>
                                        <p:attrNameLst>
                                          <p:attrName>ppt_x</p:attrName>
                                        </p:attrNameLst>
                                      </p:cBhvr>
                                      <p:tavLst>
                                        <p:tav tm="0">
                                          <p:val>
                                            <p:strVal val="#ppt_x"/>
                                          </p:val>
                                        </p:tav>
                                        <p:tav tm="100000">
                                          <p:val>
                                            <p:strVal val="#ppt_x"/>
                                          </p:val>
                                        </p:tav>
                                      </p:tavLst>
                                    </p:anim>
                                    <p:anim calcmode="lin" valueType="num">
                                      <p:cBhvr additive="base">
                                        <p:cTn id="5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additive="base">
                                        <p:cTn id="60" dur="500" fill="hold"/>
                                        <p:tgtEl>
                                          <p:spTgt spid="19"/>
                                        </p:tgtEl>
                                        <p:attrNameLst>
                                          <p:attrName>ppt_x</p:attrName>
                                        </p:attrNameLst>
                                      </p:cBhvr>
                                      <p:tavLst>
                                        <p:tav tm="0">
                                          <p:val>
                                            <p:strVal val="#ppt_x"/>
                                          </p:val>
                                        </p:tav>
                                        <p:tav tm="100000">
                                          <p:val>
                                            <p:strVal val="#ppt_x"/>
                                          </p:val>
                                        </p:tav>
                                      </p:tavLst>
                                    </p:anim>
                                    <p:anim calcmode="lin" valueType="num">
                                      <p:cBhvr additive="base">
                                        <p:cTn id="6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5" grpId="0" animBg="1"/>
      <p:bldP spid="6" grpId="0" animBg="1"/>
      <p:bldP spid="8" grpId="0" animBg="1"/>
      <p:bldP spid="9" grpId="0" animBg="1"/>
      <p:bldP spid="16" grpId="0" animBg="1"/>
      <p:bldP spid="17"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Production Problem</a:t>
            </a:r>
          </a:p>
        </p:txBody>
      </p:sp>
      <p:sp>
        <p:nvSpPr>
          <p:cNvPr id="315395" name="Rectangle 3"/>
          <p:cNvSpPr>
            <a:spLocks noGrp="1" noChangeArrowheads="1"/>
          </p:cNvSpPr>
          <p:nvPr>
            <p:ph type="body" sz="half" idx="1"/>
          </p:nvPr>
        </p:nvSpPr>
        <p:spPr>
          <a:xfrm>
            <a:off x="144966" y="1176454"/>
            <a:ext cx="8001000" cy="4572000"/>
          </a:xfrm>
        </p:spPr>
        <p:txBody>
          <a:bodyPr/>
          <a:lstStyle/>
          <a:p>
            <a:pPr>
              <a:defRPr/>
            </a:pPr>
            <a:r>
              <a:rPr lang="en-US" altLang="zh-CN" sz="2600" dirty="0">
                <a:effectLst/>
                <a:ea typeface="宋体" pitchFamily="2" charset="-122"/>
              </a:rPr>
              <a:t>Product characteristic</a:t>
            </a: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r>
              <a:rPr lang="en-US" altLang="zh-CN" sz="2600" dirty="0">
                <a:effectLst/>
                <a:ea typeface="宋体" pitchFamily="2" charset="-122"/>
              </a:rPr>
              <a:t>Supply characteristic</a:t>
            </a: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r>
              <a:rPr lang="en-US" altLang="zh-CN" sz="2600" dirty="0">
                <a:effectLst/>
                <a:ea typeface="宋体" pitchFamily="2" charset="-122"/>
              </a:rPr>
              <a:t>Resource characteristic</a:t>
            </a:r>
          </a:p>
        </p:txBody>
      </p:sp>
      <p:graphicFrame>
        <p:nvGraphicFramePr>
          <p:cNvPr id="3" name="Table 2"/>
          <p:cNvGraphicFramePr>
            <a:graphicFrameLocks noGrp="1"/>
          </p:cNvGraphicFramePr>
          <p:nvPr/>
        </p:nvGraphicFramePr>
        <p:xfrm>
          <a:off x="446049" y="1806496"/>
          <a:ext cx="8001000" cy="1009186"/>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218038">
                  <a:extLst>
                    <a:ext uri="{9D8B030D-6E8A-4147-A177-3AD203B41FA5}">
                      <a16:colId xmlns:a16="http://schemas.microsoft.com/office/drawing/2014/main" val="20001"/>
                    </a:ext>
                  </a:extLst>
                </a:gridCol>
                <a:gridCol w="2032181">
                  <a:extLst>
                    <a:ext uri="{9D8B030D-6E8A-4147-A177-3AD203B41FA5}">
                      <a16:colId xmlns:a16="http://schemas.microsoft.com/office/drawing/2014/main" val="20002"/>
                    </a:ext>
                  </a:extLst>
                </a:gridCol>
                <a:gridCol w="1482544">
                  <a:extLst>
                    <a:ext uri="{9D8B030D-6E8A-4147-A177-3AD203B41FA5}">
                      <a16:colId xmlns:a16="http://schemas.microsoft.com/office/drawing/2014/main" val="20003"/>
                    </a:ext>
                  </a:extLst>
                </a:gridCol>
                <a:gridCol w="1025913">
                  <a:extLst>
                    <a:ext uri="{9D8B030D-6E8A-4147-A177-3AD203B41FA5}">
                      <a16:colId xmlns:a16="http://schemas.microsoft.com/office/drawing/2014/main" val="20004"/>
                    </a:ext>
                  </a:extLst>
                </a:gridCol>
                <a:gridCol w="908824">
                  <a:extLst>
                    <a:ext uri="{9D8B030D-6E8A-4147-A177-3AD203B41FA5}">
                      <a16:colId xmlns:a16="http://schemas.microsoft.com/office/drawing/2014/main" val="20005"/>
                    </a:ext>
                  </a:extLst>
                </a:gridCol>
              </a:tblGrid>
              <a:tr h="504593">
                <a:tc>
                  <a:txBody>
                    <a:bodyPr/>
                    <a:lstStyle/>
                    <a:p>
                      <a:pPr algn="ctr"/>
                      <a:endParaRPr lang="en-SG" dirty="0"/>
                    </a:p>
                  </a:txBody>
                  <a:tcPr/>
                </a:tc>
                <a:tc>
                  <a:txBody>
                    <a:bodyPr/>
                    <a:lstStyle/>
                    <a:p>
                      <a:pPr algn="ctr"/>
                      <a:r>
                        <a:rPr lang="en-US" dirty="0"/>
                        <a:t>Price</a:t>
                      </a:r>
                      <a:endParaRPr lang="en-SG" dirty="0"/>
                    </a:p>
                  </a:txBody>
                  <a:tcPr/>
                </a:tc>
                <a:tc>
                  <a:txBody>
                    <a:bodyPr/>
                    <a:lstStyle/>
                    <a:p>
                      <a:pPr algn="ctr"/>
                      <a:r>
                        <a:rPr lang="en-US" dirty="0"/>
                        <a:t>Content of M</a:t>
                      </a:r>
                      <a:endParaRPr lang="en-SG" dirty="0"/>
                    </a:p>
                  </a:txBody>
                  <a:tcPr/>
                </a:tc>
                <a:tc>
                  <a:txBody>
                    <a:bodyPr/>
                    <a:lstStyle/>
                    <a:p>
                      <a:pPr algn="ctr"/>
                      <a:r>
                        <a:rPr lang="en-US" dirty="0"/>
                        <a:t>Manpower</a:t>
                      </a:r>
                      <a:endParaRPr lang="en-SG" dirty="0"/>
                    </a:p>
                  </a:txBody>
                  <a:tcPr/>
                </a:tc>
                <a:tc>
                  <a:txBody>
                    <a:bodyPr/>
                    <a:lstStyle/>
                    <a:p>
                      <a:pPr algn="ctr"/>
                      <a:r>
                        <a:rPr lang="en-US" dirty="0"/>
                        <a:t>Equip</a:t>
                      </a:r>
                      <a:endParaRPr lang="en-SG" dirty="0"/>
                    </a:p>
                  </a:txBody>
                  <a:tcPr/>
                </a:tc>
                <a:tc>
                  <a:txBody>
                    <a:bodyPr/>
                    <a:lstStyle/>
                    <a:p>
                      <a:pPr algn="ctr"/>
                      <a:r>
                        <a:rPr lang="en-US" dirty="0"/>
                        <a:t>Cost</a:t>
                      </a:r>
                      <a:endParaRPr lang="en-SG" dirty="0"/>
                    </a:p>
                  </a:txBody>
                  <a:tcPr/>
                </a:tc>
                <a:extLst>
                  <a:ext uri="{0D108BD9-81ED-4DB2-BD59-A6C34878D82A}">
                    <a16:rowId xmlns:a16="http://schemas.microsoft.com/office/drawing/2014/main" val="10000"/>
                  </a:ext>
                </a:extLst>
              </a:tr>
              <a:tr h="504593">
                <a:tc>
                  <a:txBody>
                    <a:bodyPr/>
                    <a:lstStyle/>
                    <a:p>
                      <a:pPr algn="ctr"/>
                      <a:r>
                        <a:rPr lang="en-US" dirty="0"/>
                        <a:t>Drug M</a:t>
                      </a:r>
                      <a:endParaRPr lang="en-SG" dirty="0"/>
                    </a:p>
                  </a:txBody>
                  <a:tcPr/>
                </a:tc>
                <a:tc>
                  <a:txBody>
                    <a:bodyPr/>
                    <a:lstStyle/>
                    <a:p>
                      <a:pPr algn="ctr"/>
                      <a:r>
                        <a:rPr lang="en-US" dirty="0"/>
                        <a:t>$6200</a:t>
                      </a:r>
                      <a:endParaRPr lang="en-SG" dirty="0"/>
                    </a:p>
                  </a:txBody>
                  <a:tcPr/>
                </a:tc>
                <a:tc>
                  <a:txBody>
                    <a:bodyPr/>
                    <a:lstStyle/>
                    <a:p>
                      <a:pPr algn="ctr"/>
                      <a:r>
                        <a:rPr lang="en-US" dirty="0"/>
                        <a:t>50%</a:t>
                      </a:r>
                      <a:endParaRPr lang="en-SG" dirty="0"/>
                    </a:p>
                  </a:txBody>
                  <a:tcPr/>
                </a:tc>
                <a:tc>
                  <a:txBody>
                    <a:bodyPr/>
                    <a:lstStyle/>
                    <a:p>
                      <a:pPr algn="ctr"/>
                      <a:r>
                        <a:rPr lang="en-US" dirty="0"/>
                        <a:t>90h</a:t>
                      </a:r>
                      <a:endParaRPr lang="en-SG" dirty="0"/>
                    </a:p>
                  </a:txBody>
                  <a:tcPr/>
                </a:tc>
                <a:tc>
                  <a:txBody>
                    <a:bodyPr/>
                    <a:lstStyle/>
                    <a:p>
                      <a:pPr algn="ctr"/>
                      <a:r>
                        <a:rPr lang="en-US" dirty="0"/>
                        <a:t>40h</a:t>
                      </a:r>
                      <a:endParaRPr lang="en-SG" dirty="0"/>
                    </a:p>
                  </a:txBody>
                  <a:tcPr/>
                </a:tc>
                <a:tc>
                  <a:txBody>
                    <a:bodyPr/>
                    <a:lstStyle/>
                    <a:p>
                      <a:pPr algn="ctr"/>
                      <a:r>
                        <a:rPr lang="en-US" dirty="0"/>
                        <a:t>$700</a:t>
                      </a:r>
                      <a:endParaRPr lang="en-SG" dirty="0"/>
                    </a:p>
                  </a:txBody>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nvGraphicFramePr>
        <p:xfrm>
          <a:off x="1398549" y="3646446"/>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dirty="0"/>
                        <a:t>Raw Material</a:t>
                      </a:r>
                      <a:endParaRPr lang="en-SG" dirty="0"/>
                    </a:p>
                  </a:txBody>
                  <a:tcPr/>
                </a:tc>
                <a:tc>
                  <a:txBody>
                    <a:bodyPr/>
                    <a:lstStyle/>
                    <a:p>
                      <a:pPr algn="ctr"/>
                      <a:r>
                        <a:rPr lang="en-US" dirty="0"/>
                        <a:t>Cost</a:t>
                      </a:r>
                      <a:endParaRPr lang="en-SG" dirty="0"/>
                    </a:p>
                  </a:txBody>
                  <a:tcPr/>
                </a:tc>
                <a:tc>
                  <a:txBody>
                    <a:bodyPr/>
                    <a:lstStyle/>
                    <a:p>
                      <a:pPr algn="ctr"/>
                      <a:r>
                        <a:rPr lang="en-US" dirty="0"/>
                        <a:t>Content of M</a:t>
                      </a:r>
                      <a:endParaRPr lang="en-SG" dirty="0"/>
                    </a:p>
                  </a:txBody>
                  <a:tcPr/>
                </a:tc>
                <a:extLst>
                  <a:ext uri="{0D108BD9-81ED-4DB2-BD59-A6C34878D82A}">
                    <a16:rowId xmlns:a16="http://schemas.microsoft.com/office/drawing/2014/main" val="10000"/>
                  </a:ext>
                </a:extLst>
              </a:tr>
              <a:tr h="370840">
                <a:tc>
                  <a:txBody>
                    <a:bodyPr/>
                    <a:lstStyle/>
                    <a:p>
                      <a:pPr algn="ctr"/>
                      <a:r>
                        <a:rPr lang="en-US" dirty="0"/>
                        <a:t>Raw 1</a:t>
                      </a:r>
                      <a:endParaRPr lang="en-SG" dirty="0"/>
                    </a:p>
                  </a:txBody>
                  <a:tcPr/>
                </a:tc>
                <a:tc>
                  <a:txBody>
                    <a:bodyPr/>
                    <a:lstStyle/>
                    <a:p>
                      <a:pPr algn="ctr"/>
                      <a:r>
                        <a:rPr lang="en-US" dirty="0"/>
                        <a:t>$100.00</a:t>
                      </a:r>
                      <a:endParaRPr lang="en-SG" dirty="0"/>
                    </a:p>
                  </a:txBody>
                  <a:tcPr/>
                </a:tc>
                <a:tc>
                  <a:txBody>
                    <a:bodyPr/>
                    <a:lstStyle/>
                    <a:p>
                      <a:pPr algn="ctr"/>
                      <a:r>
                        <a:rPr lang="en-US" dirty="0"/>
                        <a:t>1%</a:t>
                      </a:r>
                      <a:endParaRPr lang="en-SG" dirty="0"/>
                    </a:p>
                  </a:txBody>
                  <a:tcPr/>
                </a:tc>
                <a:extLst>
                  <a:ext uri="{0D108BD9-81ED-4DB2-BD59-A6C34878D82A}">
                    <a16:rowId xmlns:a16="http://schemas.microsoft.com/office/drawing/2014/main" val="10001"/>
                  </a:ext>
                </a:extLst>
              </a:tr>
              <a:tr h="370840">
                <a:tc>
                  <a:txBody>
                    <a:bodyPr/>
                    <a:lstStyle/>
                    <a:p>
                      <a:pPr algn="ctr"/>
                      <a:r>
                        <a:rPr lang="en-US" dirty="0"/>
                        <a:t>Raw 2</a:t>
                      </a:r>
                      <a:endParaRPr lang="en-SG" dirty="0"/>
                    </a:p>
                  </a:txBody>
                  <a:tcPr/>
                </a:tc>
                <a:tc>
                  <a:txBody>
                    <a:bodyPr/>
                    <a:lstStyle/>
                    <a:p>
                      <a:pPr algn="ctr"/>
                      <a:r>
                        <a:rPr lang="en-US" dirty="0"/>
                        <a:t>$199.90</a:t>
                      </a:r>
                      <a:endParaRPr lang="en-SG" dirty="0"/>
                    </a:p>
                  </a:txBody>
                  <a:tcPr/>
                </a:tc>
                <a:tc>
                  <a:txBody>
                    <a:bodyPr/>
                    <a:lstStyle/>
                    <a:p>
                      <a:pPr algn="ctr"/>
                      <a:r>
                        <a:rPr lang="en-US" dirty="0"/>
                        <a:t>2%</a:t>
                      </a:r>
                      <a:endParaRPr lang="en-SG" dirty="0"/>
                    </a:p>
                  </a:txBody>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nvGraphicFramePr>
        <p:xfrm>
          <a:off x="1068544" y="5589730"/>
          <a:ext cx="7227964" cy="899570"/>
        </p:xfrm>
        <a:graphic>
          <a:graphicData uri="http://schemas.openxmlformats.org/drawingml/2006/table">
            <a:tbl>
              <a:tblPr firstRow="1" bandRow="1">
                <a:tableStyleId>{5C22544A-7EE6-4342-B048-85BDC9FD1C3A}</a:tableStyleId>
              </a:tblPr>
              <a:tblGrid>
                <a:gridCol w="1588868">
                  <a:extLst>
                    <a:ext uri="{9D8B030D-6E8A-4147-A177-3AD203B41FA5}">
                      <a16:colId xmlns:a16="http://schemas.microsoft.com/office/drawing/2014/main" val="20000"/>
                    </a:ext>
                  </a:extLst>
                </a:gridCol>
                <a:gridCol w="1814879">
                  <a:extLst>
                    <a:ext uri="{9D8B030D-6E8A-4147-A177-3AD203B41FA5}">
                      <a16:colId xmlns:a16="http://schemas.microsoft.com/office/drawing/2014/main" val="20001"/>
                    </a:ext>
                  </a:extLst>
                </a:gridCol>
                <a:gridCol w="1605125">
                  <a:extLst>
                    <a:ext uri="{9D8B030D-6E8A-4147-A177-3AD203B41FA5}">
                      <a16:colId xmlns:a16="http://schemas.microsoft.com/office/drawing/2014/main" val="20002"/>
                    </a:ext>
                  </a:extLst>
                </a:gridCol>
                <a:gridCol w="2219092">
                  <a:extLst>
                    <a:ext uri="{9D8B030D-6E8A-4147-A177-3AD203B41FA5}">
                      <a16:colId xmlns:a16="http://schemas.microsoft.com/office/drawing/2014/main" val="20003"/>
                    </a:ext>
                  </a:extLst>
                </a:gridCol>
              </a:tblGrid>
              <a:tr h="449785">
                <a:tc>
                  <a:txBody>
                    <a:bodyPr/>
                    <a:lstStyle/>
                    <a:p>
                      <a:pPr algn="ctr"/>
                      <a:r>
                        <a:rPr lang="en-US" dirty="0"/>
                        <a:t>Budget</a:t>
                      </a:r>
                      <a:endParaRPr lang="en-SG" dirty="0"/>
                    </a:p>
                  </a:txBody>
                  <a:tcPr/>
                </a:tc>
                <a:tc>
                  <a:txBody>
                    <a:bodyPr/>
                    <a:lstStyle/>
                    <a:p>
                      <a:pPr algn="ctr"/>
                      <a:r>
                        <a:rPr lang="en-US" dirty="0"/>
                        <a:t>Manpower</a:t>
                      </a:r>
                      <a:endParaRPr lang="en-SG" dirty="0"/>
                    </a:p>
                  </a:txBody>
                  <a:tcPr/>
                </a:tc>
                <a:tc>
                  <a:txBody>
                    <a:bodyPr/>
                    <a:lstStyle/>
                    <a:p>
                      <a:pPr algn="ctr"/>
                      <a:r>
                        <a:rPr lang="en-US" dirty="0"/>
                        <a:t>Equip</a:t>
                      </a:r>
                      <a:endParaRPr lang="en-SG" dirty="0"/>
                    </a:p>
                  </a:txBody>
                  <a:tcPr/>
                </a:tc>
                <a:tc>
                  <a:txBody>
                    <a:bodyPr/>
                    <a:lstStyle/>
                    <a:p>
                      <a:pPr algn="ctr"/>
                      <a:r>
                        <a:rPr lang="en-US" dirty="0"/>
                        <a:t>Storage Capacity</a:t>
                      </a:r>
                      <a:endParaRPr lang="en-SG" dirty="0"/>
                    </a:p>
                  </a:txBody>
                  <a:tcPr/>
                </a:tc>
                <a:extLst>
                  <a:ext uri="{0D108BD9-81ED-4DB2-BD59-A6C34878D82A}">
                    <a16:rowId xmlns:a16="http://schemas.microsoft.com/office/drawing/2014/main" val="10000"/>
                  </a:ext>
                </a:extLst>
              </a:tr>
              <a:tr h="449785">
                <a:tc>
                  <a:txBody>
                    <a:bodyPr/>
                    <a:lstStyle/>
                    <a:p>
                      <a:pPr algn="ctr"/>
                      <a:r>
                        <a:rPr lang="en-US" dirty="0"/>
                        <a:t>$100,000</a:t>
                      </a:r>
                      <a:endParaRPr lang="en-SG" dirty="0"/>
                    </a:p>
                  </a:txBody>
                  <a:tcPr/>
                </a:tc>
                <a:tc>
                  <a:txBody>
                    <a:bodyPr/>
                    <a:lstStyle/>
                    <a:p>
                      <a:pPr algn="ctr"/>
                      <a:r>
                        <a:rPr lang="en-US" dirty="0"/>
                        <a:t>2000h</a:t>
                      </a:r>
                      <a:endParaRPr lang="en-SG" dirty="0"/>
                    </a:p>
                  </a:txBody>
                  <a:tcPr/>
                </a:tc>
                <a:tc>
                  <a:txBody>
                    <a:bodyPr/>
                    <a:lstStyle/>
                    <a:p>
                      <a:pPr algn="ctr"/>
                      <a:r>
                        <a:rPr lang="en-US" dirty="0"/>
                        <a:t>800h</a:t>
                      </a:r>
                      <a:endParaRPr lang="en-SG" dirty="0"/>
                    </a:p>
                  </a:txBody>
                  <a:tcPr/>
                </a:tc>
                <a:tc>
                  <a:txBody>
                    <a:bodyPr/>
                    <a:lstStyle/>
                    <a:p>
                      <a:pPr algn="ctr"/>
                      <a:r>
                        <a:rPr lang="en-US" dirty="0"/>
                        <a:t>1,000kg</a:t>
                      </a:r>
                      <a:endParaRPr lang="en-SG"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02318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en-US" dirty="0"/>
              <a:t>Model</a:t>
            </a:r>
            <a:endParaRPr lang="en-US" altLang="zh-CN"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p>
            <a:endParaRPr lang="en-US"/>
          </a:p>
        </p:txBody>
      </p:sp>
      <mc:AlternateContent xmlns:mc="http://schemas.openxmlformats.org/markup-compatibility/2006" xmlns:a14="http://schemas.microsoft.com/office/drawing/2010/main">
        <mc:Choice Requires="a14">
          <p:sp>
            <p:nvSpPr>
              <p:cNvPr id="5" name="Rectangle 3"/>
              <p:cNvSpPr txBox="1">
                <a:spLocks noChangeArrowheads="1"/>
              </p:cNvSpPr>
              <p:nvPr/>
            </p:nvSpPr>
            <p:spPr bwMode="auto">
              <a:xfrm>
                <a:off x="-1505154" y="2045017"/>
                <a:ext cx="10622167" cy="4358640"/>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defRPr/>
                </a:pPr>
                <a:endParaRPr lang="en-US" altLang="zh-CN" kern="0" dirty="0">
                  <a:ea typeface="宋体" pitchFamily="2" charset="-122"/>
                </a:endParaRPr>
              </a:p>
              <a:p>
                <a:pPr marL="0" indent="0">
                  <a:buFontTx/>
                  <a:buNone/>
                </a:pPr>
                <a:r>
                  <a:rPr lang="en-US" kern="0" dirty="0"/>
                  <a:t>                     </a:t>
                </a:r>
                <a14:m>
                  <m:oMath xmlns:m="http://schemas.openxmlformats.org/officeDocument/2006/math">
                    <m:r>
                      <a:rPr lang="en-US" i="1" kern="0" smtClean="0">
                        <a:effectLst/>
                        <a:latin typeface="Cambria Math" panose="02040503050406030204" pitchFamily="18" charset="0"/>
                      </a:rPr>
                      <m:t>𝒎𝒂𝒙</m:t>
                    </m:r>
                    <m:r>
                      <a:rPr lang="en-US" i="1" kern="0" smtClean="0">
                        <a:effectLst/>
                        <a:latin typeface="Cambria Math" panose="02040503050406030204" pitchFamily="18" charset="0"/>
                      </a:rPr>
                      <m:t>       </m:t>
                    </m:r>
                    <m:d>
                      <m:dPr>
                        <m:ctrlPr>
                          <a:rPr lang="en-US" i="1" kern="0">
                            <a:effectLst/>
                            <a:latin typeface="Cambria Math" panose="02040503050406030204" pitchFamily="18" charset="0"/>
                          </a:rPr>
                        </m:ctrlPr>
                      </m:dPr>
                      <m:e>
                        <m:r>
                          <a:rPr lang="en-US" i="1" kern="0">
                            <a:effectLst/>
                            <a:latin typeface="Cambria Math" panose="02040503050406030204" pitchFamily="18" charset="0"/>
                          </a:rPr>
                          <m:t>𝟔𝟐𝟎𝟎</m:t>
                        </m:r>
                        <m:r>
                          <a:rPr lang="en-US" i="1" kern="0">
                            <a:effectLst/>
                            <a:latin typeface="Cambria Math" panose="02040503050406030204" pitchFamily="18" charset="0"/>
                          </a:rPr>
                          <m:t>−</m:t>
                        </m:r>
                        <m:r>
                          <a:rPr lang="en-US" i="1" kern="0">
                            <a:effectLst/>
                            <a:latin typeface="Cambria Math" panose="02040503050406030204" pitchFamily="18" charset="0"/>
                          </a:rPr>
                          <m:t>𝟕𝟎𝟎</m:t>
                        </m:r>
                      </m:e>
                    </m:d>
                    <m:r>
                      <a:rPr lang="en-US" i="1" kern="0">
                        <a:effectLst/>
                        <a:latin typeface="Cambria Math" panose="02040503050406030204" pitchFamily="18" charset="0"/>
                      </a:rPr>
                      <m:t>𝒙</m:t>
                    </m:r>
                    <m:r>
                      <a:rPr lang="en-US" i="1" kern="0">
                        <a:effectLst/>
                        <a:latin typeface="Cambria Math" panose="02040503050406030204" pitchFamily="18" charset="0"/>
                      </a:rPr>
                      <m:t> −</m:t>
                    </m:r>
                    <m:r>
                      <a:rPr lang="en-US" i="1" kern="0">
                        <a:effectLst/>
                        <a:latin typeface="Cambria Math" panose="02040503050406030204" pitchFamily="18" charset="0"/>
                      </a:rPr>
                      <m:t>𝟏𝟎𝟎</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i="1" kern="0">
                        <a:effectLst/>
                        <a:latin typeface="Cambria Math" panose="02040503050406030204" pitchFamily="18" charset="0"/>
                      </a:rPr>
                      <m:t>−</m:t>
                    </m:r>
                    <m:r>
                      <a:rPr lang="en-US" i="1" kern="0">
                        <a:effectLst/>
                        <a:latin typeface="Cambria Math" panose="02040503050406030204" pitchFamily="18" charset="0"/>
                      </a:rPr>
                      <m:t>𝟏𝟗𝟗</m:t>
                    </m:r>
                    <m:r>
                      <a:rPr lang="en-US" i="1" kern="0">
                        <a:effectLst/>
                        <a:latin typeface="Cambria Math" panose="02040503050406030204" pitchFamily="18" charset="0"/>
                      </a:rPr>
                      <m:t>.</m:t>
                    </m:r>
                    <m:r>
                      <a:rPr lang="en-US" i="1" kern="0">
                        <a:effectLst/>
                        <a:latin typeface="Cambria Math" panose="02040503050406030204" pitchFamily="18" charset="0"/>
                      </a:rPr>
                      <m:t>𝟗</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oMath>
                </a14:m>
                <a:endParaRPr lang="en-US" i="1" kern="0" dirty="0">
                  <a:effectLst/>
                  <a:latin typeface="Cambria Math" panose="02040503050406030204" pitchFamily="18" charset="0"/>
                </a:endParaRPr>
              </a:p>
              <a:p>
                <a:pPr marL="0" indent="0">
                  <a:buFontTx/>
                  <a:buNone/>
                </a:pPr>
                <a:r>
                  <a:rPr lang="en-US" kern="0" dirty="0">
                    <a:effectLst/>
                  </a:rPr>
                  <a:t>                    </a:t>
                </a:r>
                <a14:m>
                  <m:oMath xmlns:m="http://schemas.openxmlformats.org/officeDocument/2006/math">
                    <m:r>
                      <a:rPr lang="en-US" i="1" kern="0">
                        <a:effectLst/>
                        <a:latin typeface="Cambria Math" panose="02040503050406030204" pitchFamily="18" charset="0"/>
                      </a:rPr>
                      <m:t>𝒔</m:t>
                    </m:r>
                    <m:r>
                      <a:rPr lang="en-US" i="1" kern="0">
                        <a:effectLst/>
                        <a:latin typeface="Cambria Math" panose="02040503050406030204" pitchFamily="18" charset="0"/>
                      </a:rPr>
                      <m:t>.</m:t>
                    </m:r>
                    <m:r>
                      <a:rPr lang="en-US" i="1" kern="0">
                        <a:effectLst/>
                        <a:latin typeface="Cambria Math" panose="02040503050406030204" pitchFamily="18" charset="0"/>
                      </a:rPr>
                      <m:t>𝒕</m:t>
                    </m:r>
                    <m:r>
                      <a:rPr lang="en-US" i="1" kern="0">
                        <a:effectLst/>
                        <a:latin typeface="Cambria Math" panose="02040503050406030204" pitchFamily="18" charset="0"/>
                      </a:rPr>
                      <m:t>.           </m:t>
                    </m:r>
                    <m:r>
                      <a:rPr lang="en-US" b="1" i="1" kern="0" smtClean="0">
                        <a:effectLst/>
                        <a:latin typeface="Cambria Math" panose="02040503050406030204" pitchFamily="18" charset="0"/>
                      </a:rPr>
                      <m:t>𝟗𝟎</m:t>
                    </m:r>
                    <m:r>
                      <a:rPr lang="en-US" b="1" i="1" kern="0" smtClean="0">
                        <a:effectLst/>
                        <a:latin typeface="Cambria Math" panose="02040503050406030204" pitchFamily="18" charset="0"/>
                      </a:rPr>
                      <m:t>𝒙</m:t>
                    </m:r>
                    <m:r>
                      <a:rPr lang="en-US" i="1" ker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𝟐𝟎𝟎𝟎</m:t>
                    </m:r>
                    <m:r>
                      <a:rPr lang="en-US" i="1" kern="0" smtClean="0">
                        <a:effectLst/>
                        <a:latin typeface="Cambria Math" panose="02040503050406030204" pitchFamily="18" charset="0"/>
                      </a:rPr>
                      <m:t>, </m:t>
                    </m:r>
                  </m:oMath>
                </a14:m>
                <a:r>
                  <a:rPr lang="en-US" kern="0" dirty="0">
                    <a:effectLst/>
                  </a:rPr>
                  <a:t> </a:t>
                </a:r>
                <a:r>
                  <a:rPr lang="en-US" sz="2400" kern="0" dirty="0">
                    <a:effectLst/>
                  </a:rPr>
                  <a:t>(manpower)</a:t>
                </a:r>
              </a:p>
              <a:p>
                <a:pPr marL="0" indent="0">
                  <a:buFontTx/>
                  <a:buNone/>
                </a:pPr>
                <a:r>
                  <a:rPr lang="en-US" kern="0" dirty="0">
                    <a:effectLst/>
                  </a:rPr>
                  <a:t>			       4</a:t>
                </a:r>
                <a14:m>
                  <m:oMath xmlns:m="http://schemas.openxmlformats.org/officeDocument/2006/math">
                    <m:r>
                      <a:rPr lang="en-US" i="1" kern="0">
                        <a:effectLst/>
                        <a:latin typeface="Cambria Math" panose="02040503050406030204" pitchFamily="18" charset="0"/>
                      </a:rPr>
                      <m:t>𝟎</m:t>
                    </m:r>
                    <m:r>
                      <a:rPr lang="en-US" i="1" kern="0">
                        <a:effectLst/>
                        <a:latin typeface="Cambria Math" panose="02040503050406030204" pitchFamily="18" charset="0"/>
                      </a:rPr>
                      <m:t>𝒙</m:t>
                    </m:r>
                    <m:r>
                      <a:rPr lang="en-US" i="1" ker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𝟖</m:t>
                    </m:r>
                    <m:r>
                      <a:rPr lang="en-US" i="1" kern="0">
                        <a:effectLst/>
                        <a:latin typeface="Cambria Math" panose="02040503050406030204" pitchFamily="18" charset="0"/>
                        <a:ea typeface="Cambria Math" panose="02040503050406030204" pitchFamily="18" charset="0"/>
                      </a:rPr>
                      <m:t>𝟎𝟎</m:t>
                    </m:r>
                  </m:oMath>
                </a14:m>
                <a:r>
                  <a:rPr lang="en-US" kern="0" dirty="0">
                    <a:effectLst/>
                  </a:rPr>
                  <a:t>,    </a:t>
                </a:r>
                <a:r>
                  <a:rPr lang="en-US" sz="2400" kern="0" dirty="0">
                    <a:effectLst/>
                  </a:rPr>
                  <a:t>(equip)</a:t>
                </a:r>
              </a:p>
              <a:p>
                <a:pPr marL="0" indent="0">
                  <a:buFontTx/>
                  <a:buNone/>
                </a:pPr>
                <a:r>
                  <a:rPr lang="en-US" kern="0" dirty="0">
                    <a:effectLst/>
                  </a:rPr>
                  <a:t>			       </a:t>
                </a:r>
                <a14:m>
                  <m:oMath xmlns:m="http://schemas.openxmlformats.org/officeDocument/2006/math">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b="1" i="1" kern="0" smtClean="0">
                            <a:effectLst/>
                            <a:latin typeface="Cambria Math" panose="02040503050406030204" pitchFamily="18" charset="0"/>
                          </a:rPr>
                          <m:t>𝟐</m:t>
                        </m:r>
                      </m:sub>
                    </m:sSub>
                    <m:r>
                      <a:rPr lang="en-US" i="1" kern="0" smtClea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𝟏𝟎𝟎𝟎</m:t>
                    </m:r>
                  </m:oMath>
                </a14:m>
                <a:r>
                  <a:rPr lang="en-US" kern="0" dirty="0">
                    <a:effectLst/>
                  </a:rPr>
                  <a:t>,  </a:t>
                </a:r>
                <a:r>
                  <a:rPr lang="en-US" sz="2400" kern="0" dirty="0">
                    <a:effectLst/>
                  </a:rPr>
                  <a:t>(storage)</a:t>
                </a:r>
              </a:p>
              <a:p>
                <a:pPr marL="0" indent="0">
                  <a:buFontTx/>
                  <a:buNone/>
                </a:pPr>
                <a:r>
                  <a:rPr lang="en-US" b="1" kern="0" dirty="0">
                    <a:effectLst/>
                  </a:rPr>
                  <a:t>                           </a:t>
                </a:r>
                <a14:m>
                  <m:oMath xmlns:m="http://schemas.openxmlformats.org/officeDocument/2006/math">
                    <m:r>
                      <a:rPr lang="en-US" b="1" i="1" kern="0" smtClean="0">
                        <a:effectLst/>
                        <a:latin typeface="Cambria Math" panose="02040503050406030204" pitchFamily="18" charset="0"/>
                      </a:rPr>
                      <m:t>𝟕𝟎𝟎</m:t>
                    </m:r>
                    <m:r>
                      <a:rPr lang="en-US" b="1" i="1" kern="0" smtClean="0">
                        <a:effectLst/>
                        <a:latin typeface="Cambria Math" panose="02040503050406030204" pitchFamily="18" charset="0"/>
                      </a:rPr>
                      <m:t>𝒙</m:t>
                    </m:r>
                    <m:r>
                      <a:rPr lang="en-US" b="1" i="1" kern="0" smtClean="0">
                        <a:effectLst/>
                        <a:latin typeface="Cambria Math" panose="02040503050406030204" pitchFamily="18" charset="0"/>
                      </a:rPr>
                      <m:t>+</m:t>
                    </m:r>
                    <m:r>
                      <a:rPr lang="en-US" i="1" kern="0">
                        <a:effectLst/>
                        <a:latin typeface="Cambria Math" panose="02040503050406030204" pitchFamily="18" charset="0"/>
                      </a:rPr>
                      <m:t>𝟏𝟎𝟎</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r>
                      <a:rPr lang="en-US" i="1" kern="0">
                        <a:effectLst/>
                        <a:latin typeface="Cambria Math" panose="02040503050406030204" pitchFamily="18" charset="0"/>
                      </a:rPr>
                      <m:t>𝟏𝟗𝟗</m:t>
                    </m:r>
                    <m:r>
                      <a:rPr lang="en-US" i="1" kern="0">
                        <a:effectLst/>
                        <a:latin typeface="Cambria Math" panose="02040503050406030204" pitchFamily="18" charset="0"/>
                      </a:rPr>
                      <m:t>.</m:t>
                    </m:r>
                    <m:r>
                      <a:rPr lang="en-US" i="1" kern="0">
                        <a:effectLst/>
                        <a:latin typeface="Cambria Math" panose="02040503050406030204" pitchFamily="18" charset="0"/>
                      </a:rPr>
                      <m:t>𝟗</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r>
                      <a:rPr lang="en-US" i="1" kern="0" smtClea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𝟏𝟎𝟎𝟎𝟎𝟎</m:t>
                    </m:r>
                  </m:oMath>
                </a14:m>
                <a:r>
                  <a:rPr lang="en-US" kern="0" dirty="0">
                    <a:effectLst/>
                  </a:rPr>
                  <a:t>, </a:t>
                </a:r>
                <a:r>
                  <a:rPr lang="en-US" sz="2400" kern="0" dirty="0">
                    <a:effectLst/>
                  </a:rPr>
                  <a:t>(budget)</a:t>
                </a:r>
              </a:p>
              <a:p>
                <a:pPr marL="0" indent="0">
                  <a:buNone/>
                </a:pPr>
                <a:r>
                  <a:rPr lang="en-US" kern="0" dirty="0">
                    <a:effectLst/>
                  </a:rPr>
                  <a:t>                                  </a:t>
                </a:r>
                <a14:m>
                  <m:oMath xmlns:m="http://schemas.openxmlformats.org/officeDocument/2006/math">
                    <m:sSub>
                      <m:sSubPr>
                        <m:ctrlPr>
                          <a:rPr lang="en-US" b="1" i="1" kern="0" smtClean="0">
                            <a:effectLst/>
                            <a:latin typeface="Cambria Math" panose="02040503050406030204" pitchFamily="18" charset="0"/>
                          </a:rPr>
                        </m:ctrlPr>
                      </m:sSubPr>
                      <m:e>
                        <m:r>
                          <a:rPr lang="en-US" b="1" i="1" kern="0" smtClean="0">
                            <a:effectLst/>
                            <a:latin typeface="Cambria Math" panose="02040503050406030204" pitchFamily="18" charset="0"/>
                          </a:rPr>
                          <m:t>𝟎</m:t>
                        </m:r>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𝟎𝟏</m:t>
                        </m:r>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i="1" kern="0">
                        <a:effectLst/>
                        <a:latin typeface="Cambria Math" panose="02040503050406030204" pitchFamily="18" charset="0"/>
                      </a:rPr>
                      <m:t>+</m:t>
                    </m:r>
                    <m:sSub>
                      <m:sSubPr>
                        <m:ctrlPr>
                          <a:rPr lang="en-US" b="1" i="1" kern="0" smtClean="0">
                            <a:effectLst/>
                            <a:latin typeface="Cambria Math" panose="02040503050406030204" pitchFamily="18" charset="0"/>
                          </a:rPr>
                        </m:ctrlPr>
                      </m:sSubPr>
                      <m:e>
                        <m:r>
                          <a:rPr lang="en-US" b="1" i="1" kern="0" smtClean="0">
                            <a:effectLst/>
                            <a:latin typeface="Cambria Math" panose="02040503050406030204" pitchFamily="18" charset="0"/>
                          </a:rPr>
                          <m:t>𝟎</m:t>
                        </m:r>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𝟎𝟐</m:t>
                        </m:r>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𝟎</m:t>
                    </m:r>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𝟓</m:t>
                    </m:r>
                    <m:r>
                      <a:rPr lang="en-US" b="1" i="1" kern="0" smtClean="0">
                        <a:effectLst/>
                        <a:latin typeface="Cambria Math" panose="02040503050406030204" pitchFamily="18" charset="0"/>
                      </a:rPr>
                      <m:t>𝒙</m:t>
                    </m:r>
                    <m:r>
                      <a:rPr lang="en-US" i="1" kern="0" smtClean="0">
                        <a:effectLst/>
                        <a:latin typeface="Cambria Math" panose="02040503050406030204" pitchFamily="18" charset="0"/>
                        <a:ea typeface="Cambria Math" panose="02040503050406030204" pitchFamily="18" charset="0"/>
                      </a:rPr>
                      <m:t>≥</m:t>
                    </m:r>
                    <m:r>
                      <a:rPr lang="en-US" i="1" kern="0">
                        <a:effectLst/>
                        <a:latin typeface="Cambria Math" panose="02040503050406030204" pitchFamily="18" charset="0"/>
                        <a:ea typeface="Cambria Math" panose="02040503050406030204" pitchFamily="18" charset="0"/>
                      </a:rPr>
                      <m:t>𝟎</m:t>
                    </m:r>
                  </m:oMath>
                </a14:m>
                <a:r>
                  <a:rPr lang="en-US" kern="0" dirty="0">
                    <a:effectLst/>
                  </a:rPr>
                  <a:t>, </a:t>
                </a:r>
                <a:r>
                  <a:rPr lang="en-US" sz="2400" kern="0" dirty="0">
                    <a:effectLst/>
                  </a:rPr>
                  <a:t>(ingredient)</a:t>
                </a:r>
                <a:endParaRPr lang="en-US" kern="0" dirty="0">
                  <a:effectLst/>
                </a:endParaRPr>
              </a:p>
              <a:p>
                <a:pPr marL="0" indent="0">
                  <a:buNone/>
                </a:pPr>
                <a14:m>
                  <m:oMathPara xmlns:m="http://schemas.openxmlformats.org/officeDocument/2006/math">
                    <m:oMathParaPr>
                      <m:jc m:val="centerGroup"/>
                    </m:oMathParaPr>
                    <m:oMath xmlns:m="http://schemas.openxmlformats.org/officeDocument/2006/math">
                      <m:r>
                        <a:rPr lang="en-US" i="1" kern="0">
                          <a:effectLst/>
                          <a:latin typeface="Cambria Math" panose="02040503050406030204" pitchFamily="18" charset="0"/>
                        </a:rPr>
                        <m:t>𝒙</m:t>
                      </m:r>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b="1" i="1" kern="0" smtClean="0">
                              <a:effectLst/>
                              <a:latin typeface="Cambria Math" panose="02040503050406030204" pitchFamily="18" charset="0"/>
                            </a:rPr>
                            <m:t>𝟐</m:t>
                          </m:r>
                        </m:sub>
                      </m:sSub>
                      <m:r>
                        <a:rPr lang="en-US" i="1" kern="0">
                          <a:effectLst/>
                          <a:latin typeface="Cambria Math" panose="02040503050406030204" pitchFamily="18" charset="0"/>
                        </a:rPr>
                        <m:t>≥</m:t>
                      </m:r>
                      <m:r>
                        <a:rPr lang="en-US" i="1" kern="0">
                          <a:effectLst/>
                          <a:latin typeface="Cambria Math" panose="02040503050406030204" pitchFamily="18" charset="0"/>
                        </a:rPr>
                        <m:t>𝟎</m:t>
                      </m:r>
                    </m:oMath>
                  </m:oMathPara>
                </a14:m>
                <a:endParaRPr lang="en-US" altLang="zh-CN" kern="0" dirty="0">
                  <a:effectLst/>
                  <a:ea typeface="宋体" pitchFamily="2" charset="-122"/>
                </a:endParaRPr>
              </a:p>
            </p:txBody>
          </p:sp>
        </mc:Choice>
        <mc:Fallback xmlns="">
          <p:sp>
            <p:nvSpPr>
              <p:cNvPr id="5" name="Rectangle 3"/>
              <p:cNvSpPr txBox="1">
                <a:spLocks noRot="1" noChangeAspect="1" noMove="1" noResize="1" noEditPoints="1" noAdjustHandles="1" noChangeArrowheads="1" noChangeShapeType="1" noTextEdit="1"/>
              </p:cNvSpPr>
              <p:nvPr/>
            </p:nvSpPr>
            <p:spPr bwMode="auto">
              <a:xfrm>
                <a:off x="-1505154" y="2045017"/>
                <a:ext cx="10622167" cy="4358640"/>
              </a:xfrm>
              <a:prstGeom prst="rect">
                <a:avLst/>
              </a:prstGeom>
              <a:blipFill>
                <a:blip r:embed="rId3"/>
                <a:stretch>
                  <a:fillRect/>
                </a:stretch>
              </a:blipFill>
              <a:ln w="9525">
                <a:no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242845" y="1071344"/>
                <a:ext cx="9247144" cy="507268"/>
              </a:xfrm>
            </p:spPr>
            <p:txBody>
              <a:bodyPr/>
              <a:lstStyle/>
              <a:p>
                <a14:m>
                  <m:oMath xmlns:m="http://schemas.openxmlformats.org/officeDocument/2006/math">
                    <m:r>
                      <a:rPr lang="en-US" sz="2600" b="1" i="1" smtClean="0">
                        <a:effectLst/>
                        <a:latin typeface="Cambria Math" panose="02040503050406030204" pitchFamily="18" charset="0"/>
                      </a:rPr>
                      <m:t>𝒙</m:t>
                    </m:r>
                  </m:oMath>
                </a14:m>
                <a:r>
                  <a:rPr lang="en-SG" sz="2600" dirty="0">
                    <a:effectLst/>
                  </a:rPr>
                  <a:t>: amount of Drug M produced (report to retailer)</a:t>
                </a:r>
              </a:p>
              <a:p>
                <a14:m>
                  <m:oMath xmlns:m="http://schemas.openxmlformats.org/officeDocument/2006/math">
                    <m:sSub>
                      <m:sSubPr>
                        <m:ctrlPr>
                          <a:rPr lang="en-US" sz="2600" b="1" i="1">
                            <a:effectLst/>
                            <a:latin typeface="Cambria Math" panose="02040503050406030204" pitchFamily="18" charset="0"/>
                          </a:rPr>
                        </m:ctrlPr>
                      </m:sSubPr>
                      <m:e>
                        <m:r>
                          <a:rPr lang="en-US" sz="2600" b="1" i="1">
                            <a:effectLst/>
                            <a:latin typeface="Cambria Math" panose="02040503050406030204" pitchFamily="18" charset="0"/>
                          </a:rPr>
                          <m:t>𝒚</m:t>
                        </m:r>
                      </m:e>
                      <m:sub>
                        <m:r>
                          <a:rPr lang="en-US" sz="2600" b="1" i="1">
                            <a:effectLst/>
                            <a:latin typeface="Cambria Math" panose="02040503050406030204" pitchFamily="18" charset="0"/>
                          </a:rPr>
                          <m:t>𝟏</m:t>
                        </m:r>
                      </m:sub>
                    </m:sSub>
                  </m:oMath>
                </a14:m>
                <a:r>
                  <a:rPr lang="en-SG" sz="2600" dirty="0">
                    <a:effectLst/>
                  </a:rPr>
                  <a:t>: amount of raw material 1 to be procured</a:t>
                </a:r>
              </a:p>
              <a:p>
                <a14:m>
                  <m:oMath xmlns:m="http://schemas.openxmlformats.org/officeDocument/2006/math">
                    <m:sSub>
                      <m:sSubPr>
                        <m:ctrlPr>
                          <a:rPr lang="en-US" sz="2600" b="1" i="1">
                            <a:effectLst/>
                            <a:latin typeface="Cambria Math" panose="02040503050406030204" pitchFamily="18" charset="0"/>
                          </a:rPr>
                        </m:ctrlPr>
                      </m:sSubPr>
                      <m:e>
                        <m:r>
                          <a:rPr lang="en-US" sz="2600" b="1" i="1">
                            <a:effectLst/>
                            <a:latin typeface="Cambria Math" panose="02040503050406030204" pitchFamily="18" charset="0"/>
                          </a:rPr>
                          <m:t>𝒚</m:t>
                        </m:r>
                      </m:e>
                      <m:sub>
                        <m:r>
                          <a:rPr lang="en-US" sz="2600" b="1" i="0" smtClean="0">
                            <a:effectLst/>
                            <a:latin typeface="Cambria Math" panose="02040503050406030204" pitchFamily="18" charset="0"/>
                          </a:rPr>
                          <m:t>𝟐</m:t>
                        </m:r>
                      </m:sub>
                    </m:sSub>
                  </m:oMath>
                </a14:m>
                <a:r>
                  <a:rPr lang="en-SG" sz="2600" dirty="0">
                    <a:effectLst/>
                  </a:rPr>
                  <a:t>: amount of raw material 2 to be procured</a:t>
                </a:r>
              </a:p>
              <a:p>
                <a:endParaRPr lang="en-SG" sz="2600" dirty="0">
                  <a:effectLst/>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242845" y="1071344"/>
                <a:ext cx="9247144" cy="507268"/>
              </a:xfrm>
              <a:blipFill rotWithShape="0">
                <a:blip r:embed="rId4"/>
                <a:stretch>
                  <a:fillRect t="-12048" b="-214458"/>
                </a:stretch>
              </a:blipFill>
            </p:spPr>
            <p:txBody>
              <a:bodyPr/>
              <a:lstStyle/>
              <a:p>
                <a:r>
                  <a:rPr lang="en-SG">
                    <a:noFill/>
                  </a:rPr>
                  <a:t> </a:t>
                </a:r>
              </a:p>
            </p:txBody>
          </p:sp>
        </mc:Fallback>
      </mc:AlternateContent>
    </p:spTree>
    <p:extLst>
      <p:ext uri="{BB962C8B-B14F-4D97-AF65-F5344CB8AC3E}">
        <p14:creationId xmlns:p14="http://schemas.microsoft.com/office/powerpoint/2010/main" val="133486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Solution: $8819.66 (8.8% return)</a:t>
            </a:r>
          </a:p>
        </p:txBody>
      </p:sp>
      <p:sp>
        <p:nvSpPr>
          <p:cNvPr id="315395" name="Rectangle 3"/>
          <p:cNvSpPr>
            <a:spLocks noGrp="1" noChangeArrowheads="1"/>
          </p:cNvSpPr>
          <p:nvPr>
            <p:ph type="body" sz="half" idx="1"/>
          </p:nvPr>
        </p:nvSpPr>
        <p:spPr>
          <a:xfrm>
            <a:off x="144966" y="1176454"/>
            <a:ext cx="8001000" cy="4572000"/>
          </a:xfrm>
        </p:spPr>
        <p:txBody>
          <a:bodyPr/>
          <a:lstStyle/>
          <a:p>
            <a:pPr>
              <a:defRPr/>
            </a:pPr>
            <a:r>
              <a:rPr lang="en-US" altLang="zh-CN" sz="2600" dirty="0">
                <a:effectLst/>
                <a:ea typeface="宋体" pitchFamily="2" charset="-122"/>
              </a:rPr>
              <a:t>Primal Solution</a:t>
            </a: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r>
              <a:rPr lang="en-US" altLang="zh-CN" sz="2600" dirty="0">
                <a:effectLst/>
                <a:ea typeface="宋体" pitchFamily="2" charset="-122"/>
              </a:rPr>
              <a:t>Dual Solution</a:t>
            </a:r>
          </a:p>
          <a:p>
            <a:pPr>
              <a:defRPr/>
            </a:pPr>
            <a:endParaRPr lang="en-US" altLang="zh-CN" sz="2600" dirty="0">
              <a:ea typeface="宋体" pitchFamily="2" charset="-122"/>
            </a:endParaRPr>
          </a:p>
          <a:p>
            <a:pPr>
              <a:defRPr/>
            </a:pPr>
            <a:endParaRPr lang="en-US" altLang="zh-CN" sz="2600" dirty="0">
              <a:ea typeface="宋体" pitchFamily="2" charset="-122"/>
            </a:endParaRPr>
          </a:p>
          <a:p>
            <a:pPr>
              <a:defRPr/>
            </a:pPr>
            <a:endParaRPr lang="en-US" altLang="zh-CN" sz="2600" dirty="0">
              <a:ea typeface="宋体" pitchFamily="2" charset="-122"/>
            </a:endParaRPr>
          </a:p>
        </p:txBody>
      </p:sp>
      <p:graphicFrame>
        <p:nvGraphicFramePr>
          <p:cNvPr id="3" name="Table 2"/>
          <p:cNvGraphicFramePr>
            <a:graphicFrameLocks noGrp="1"/>
          </p:cNvGraphicFramePr>
          <p:nvPr/>
        </p:nvGraphicFramePr>
        <p:xfrm>
          <a:off x="2316144" y="1869313"/>
          <a:ext cx="4732763" cy="1009186"/>
        </p:xfrm>
        <a:graphic>
          <a:graphicData uri="http://schemas.openxmlformats.org/drawingml/2006/table">
            <a:tbl>
              <a:tblPr firstRow="1" bandRow="1">
                <a:tableStyleId>{5C22544A-7EE6-4342-B048-85BDC9FD1C3A}</a:tableStyleId>
              </a:tblPr>
              <a:tblGrid>
                <a:gridCol w="1508724">
                  <a:extLst>
                    <a:ext uri="{9D8B030D-6E8A-4147-A177-3AD203B41FA5}">
                      <a16:colId xmlns:a16="http://schemas.microsoft.com/office/drawing/2014/main" val="20000"/>
                    </a:ext>
                  </a:extLst>
                </a:gridCol>
                <a:gridCol w="1616927">
                  <a:extLst>
                    <a:ext uri="{9D8B030D-6E8A-4147-A177-3AD203B41FA5}">
                      <a16:colId xmlns:a16="http://schemas.microsoft.com/office/drawing/2014/main" val="20001"/>
                    </a:ext>
                  </a:extLst>
                </a:gridCol>
                <a:gridCol w="1607112">
                  <a:extLst>
                    <a:ext uri="{9D8B030D-6E8A-4147-A177-3AD203B41FA5}">
                      <a16:colId xmlns:a16="http://schemas.microsoft.com/office/drawing/2014/main" val="20002"/>
                    </a:ext>
                  </a:extLst>
                </a:gridCol>
              </a:tblGrid>
              <a:tr h="504593">
                <a:tc>
                  <a:txBody>
                    <a:bodyPr/>
                    <a:lstStyle/>
                    <a:p>
                      <a:pPr algn="ctr"/>
                      <a:r>
                        <a:rPr lang="en-US" dirty="0"/>
                        <a:t>Drug</a:t>
                      </a:r>
                      <a:r>
                        <a:rPr lang="en-US" baseline="0" dirty="0"/>
                        <a:t> M</a:t>
                      </a:r>
                      <a:endParaRPr lang="en-SG" dirty="0"/>
                    </a:p>
                  </a:txBody>
                  <a:tcPr/>
                </a:tc>
                <a:tc>
                  <a:txBody>
                    <a:bodyPr/>
                    <a:lstStyle/>
                    <a:p>
                      <a:pPr algn="ctr"/>
                      <a:r>
                        <a:rPr lang="en-US" dirty="0"/>
                        <a:t>Raw</a:t>
                      </a:r>
                      <a:r>
                        <a:rPr lang="en-US" baseline="0" dirty="0"/>
                        <a:t> 1</a:t>
                      </a:r>
                      <a:endParaRPr lang="en-SG" dirty="0"/>
                    </a:p>
                  </a:txBody>
                  <a:tcPr/>
                </a:tc>
                <a:tc>
                  <a:txBody>
                    <a:bodyPr/>
                    <a:lstStyle/>
                    <a:p>
                      <a:pPr algn="ctr"/>
                      <a:r>
                        <a:rPr lang="en-US" dirty="0"/>
                        <a:t>Raw 2</a:t>
                      </a:r>
                      <a:endParaRPr lang="en-SG" dirty="0"/>
                    </a:p>
                  </a:txBody>
                  <a:tcPr/>
                </a:tc>
                <a:extLst>
                  <a:ext uri="{0D108BD9-81ED-4DB2-BD59-A6C34878D82A}">
                    <a16:rowId xmlns:a16="http://schemas.microsoft.com/office/drawing/2014/main" val="10000"/>
                  </a:ext>
                </a:extLst>
              </a:tr>
              <a:tr h="504593">
                <a:tc>
                  <a:txBody>
                    <a:bodyPr/>
                    <a:lstStyle/>
                    <a:p>
                      <a:pPr algn="ctr"/>
                      <a:r>
                        <a:rPr lang="en-US" dirty="0"/>
                        <a:t>17.55</a:t>
                      </a:r>
                      <a:endParaRPr lang="en-SG" dirty="0"/>
                    </a:p>
                  </a:txBody>
                  <a:tcPr/>
                </a:tc>
                <a:tc>
                  <a:txBody>
                    <a:bodyPr/>
                    <a:lstStyle/>
                    <a:p>
                      <a:pPr algn="ctr"/>
                      <a:r>
                        <a:rPr lang="en-US" dirty="0"/>
                        <a:t>0</a:t>
                      </a:r>
                      <a:endParaRPr lang="en-SG" dirty="0"/>
                    </a:p>
                  </a:txBody>
                  <a:tcPr/>
                </a:tc>
                <a:tc>
                  <a:txBody>
                    <a:bodyPr/>
                    <a:lstStyle/>
                    <a:p>
                      <a:pPr algn="ctr"/>
                      <a:r>
                        <a:rPr lang="en-US" dirty="0"/>
                        <a:t>438.79</a:t>
                      </a:r>
                      <a:endParaRPr lang="en-SG" dirty="0"/>
                    </a:p>
                  </a:txBody>
                  <a:tcPr/>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nvGraphicFramePr>
        <p:xfrm>
          <a:off x="953256" y="3863691"/>
          <a:ext cx="7555124" cy="899570"/>
        </p:xfrm>
        <a:graphic>
          <a:graphicData uri="http://schemas.openxmlformats.org/drawingml/2006/table">
            <a:tbl>
              <a:tblPr firstRow="1" bandRow="1">
                <a:tableStyleId>{5C22544A-7EE6-4342-B048-85BDC9FD1C3A}</a:tableStyleId>
              </a:tblPr>
              <a:tblGrid>
                <a:gridCol w="1270671">
                  <a:extLst>
                    <a:ext uri="{9D8B030D-6E8A-4147-A177-3AD203B41FA5}">
                      <a16:colId xmlns:a16="http://schemas.microsoft.com/office/drawing/2014/main" val="20000"/>
                    </a:ext>
                  </a:extLst>
                </a:gridCol>
                <a:gridCol w="1451419">
                  <a:extLst>
                    <a:ext uri="{9D8B030D-6E8A-4147-A177-3AD203B41FA5}">
                      <a16:colId xmlns:a16="http://schemas.microsoft.com/office/drawing/2014/main" val="20001"/>
                    </a:ext>
                  </a:extLst>
                </a:gridCol>
                <a:gridCol w="1075074">
                  <a:extLst>
                    <a:ext uri="{9D8B030D-6E8A-4147-A177-3AD203B41FA5}">
                      <a16:colId xmlns:a16="http://schemas.microsoft.com/office/drawing/2014/main" val="20002"/>
                    </a:ext>
                  </a:extLst>
                </a:gridCol>
                <a:gridCol w="2051824">
                  <a:extLst>
                    <a:ext uri="{9D8B030D-6E8A-4147-A177-3AD203B41FA5}">
                      <a16:colId xmlns:a16="http://schemas.microsoft.com/office/drawing/2014/main" val="20003"/>
                    </a:ext>
                  </a:extLst>
                </a:gridCol>
                <a:gridCol w="1706136">
                  <a:extLst>
                    <a:ext uri="{9D8B030D-6E8A-4147-A177-3AD203B41FA5}">
                      <a16:colId xmlns:a16="http://schemas.microsoft.com/office/drawing/2014/main" val="20004"/>
                    </a:ext>
                  </a:extLst>
                </a:gridCol>
              </a:tblGrid>
              <a:tr h="449785">
                <a:tc>
                  <a:txBody>
                    <a:bodyPr/>
                    <a:lstStyle/>
                    <a:p>
                      <a:pPr algn="ctr"/>
                      <a:r>
                        <a:rPr lang="en-US" dirty="0"/>
                        <a:t>Budget</a:t>
                      </a:r>
                      <a:endParaRPr lang="en-SG" dirty="0"/>
                    </a:p>
                  </a:txBody>
                  <a:tcPr/>
                </a:tc>
                <a:tc>
                  <a:txBody>
                    <a:bodyPr/>
                    <a:lstStyle/>
                    <a:p>
                      <a:pPr algn="ctr"/>
                      <a:r>
                        <a:rPr lang="en-US" dirty="0"/>
                        <a:t>Manpower</a:t>
                      </a:r>
                      <a:endParaRPr lang="en-SG" dirty="0"/>
                    </a:p>
                  </a:txBody>
                  <a:tcPr/>
                </a:tc>
                <a:tc>
                  <a:txBody>
                    <a:bodyPr/>
                    <a:lstStyle/>
                    <a:p>
                      <a:pPr algn="ctr"/>
                      <a:r>
                        <a:rPr lang="en-US" dirty="0"/>
                        <a:t>Equip</a:t>
                      </a:r>
                      <a:endParaRPr lang="en-SG" dirty="0"/>
                    </a:p>
                  </a:txBody>
                  <a:tcPr/>
                </a:tc>
                <a:tc>
                  <a:txBody>
                    <a:bodyPr/>
                    <a:lstStyle/>
                    <a:p>
                      <a:pPr algn="ctr"/>
                      <a:r>
                        <a:rPr lang="en-US" dirty="0"/>
                        <a:t>Storage Capacity</a:t>
                      </a:r>
                      <a:endParaRPr lang="en-SG" dirty="0"/>
                    </a:p>
                  </a:txBody>
                  <a:tcPr/>
                </a:tc>
                <a:tc>
                  <a:txBody>
                    <a:bodyPr/>
                    <a:lstStyle/>
                    <a:p>
                      <a:pPr algn="ctr"/>
                      <a:r>
                        <a:rPr lang="en-US" dirty="0"/>
                        <a:t>Ingredient M</a:t>
                      </a:r>
                      <a:endParaRPr lang="en-SG" dirty="0"/>
                    </a:p>
                  </a:txBody>
                  <a:tcPr/>
                </a:tc>
                <a:extLst>
                  <a:ext uri="{0D108BD9-81ED-4DB2-BD59-A6C34878D82A}">
                    <a16:rowId xmlns:a16="http://schemas.microsoft.com/office/drawing/2014/main" val="10000"/>
                  </a:ext>
                </a:extLst>
              </a:tr>
              <a:tr h="449785">
                <a:tc>
                  <a:txBody>
                    <a:bodyPr/>
                    <a:lstStyle/>
                    <a:p>
                      <a:pPr algn="ctr"/>
                      <a:r>
                        <a:rPr lang="en-US" dirty="0"/>
                        <a:t>0.088</a:t>
                      </a:r>
                      <a:endParaRPr lang="en-SG" dirty="0"/>
                    </a:p>
                  </a:txBody>
                  <a:tcPr/>
                </a:tc>
                <a:tc>
                  <a:txBody>
                    <a:bodyPr/>
                    <a:lstStyle/>
                    <a:p>
                      <a:pPr algn="ctr"/>
                      <a:r>
                        <a:rPr lang="en-US" dirty="0"/>
                        <a:t>0</a:t>
                      </a:r>
                      <a:endParaRPr lang="en-SG" dirty="0"/>
                    </a:p>
                  </a:txBody>
                  <a:tcPr/>
                </a:tc>
                <a:tc>
                  <a:txBody>
                    <a:bodyPr/>
                    <a:lstStyle/>
                    <a:p>
                      <a:pPr algn="ctr"/>
                      <a:r>
                        <a:rPr lang="en-US" dirty="0"/>
                        <a:t>0</a:t>
                      </a:r>
                      <a:endParaRPr lang="en-SG" dirty="0"/>
                    </a:p>
                  </a:txBody>
                  <a:tcPr/>
                </a:tc>
                <a:tc>
                  <a:txBody>
                    <a:bodyPr/>
                    <a:lstStyle/>
                    <a:p>
                      <a:pPr algn="ctr"/>
                      <a:r>
                        <a:rPr lang="en-US" dirty="0"/>
                        <a:t>0</a:t>
                      </a:r>
                      <a:endParaRPr lang="en-SG" dirty="0"/>
                    </a:p>
                  </a:txBody>
                  <a:tcPr/>
                </a:tc>
                <a:tc>
                  <a:txBody>
                    <a:bodyPr/>
                    <a:lstStyle/>
                    <a:p>
                      <a:pPr algn="ctr"/>
                      <a:r>
                        <a:rPr lang="en-US" b="1" dirty="0">
                          <a:solidFill>
                            <a:srgbClr val="FF0000"/>
                          </a:solidFill>
                        </a:rPr>
                        <a:t>-10876.5</a:t>
                      </a:r>
                      <a:endParaRPr lang="en-SG" b="1" dirty="0">
                        <a:solidFill>
                          <a:srgbClr val="FF0000"/>
                        </a:solidFill>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53253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Data Uncertainty</a:t>
            </a:r>
          </a:p>
        </p:txBody>
      </p:sp>
      <p:sp>
        <p:nvSpPr>
          <p:cNvPr id="315395" name="Rectangle 3"/>
          <p:cNvSpPr>
            <a:spLocks noGrp="1" noChangeArrowheads="1"/>
          </p:cNvSpPr>
          <p:nvPr>
            <p:ph type="body" sz="half" idx="1"/>
          </p:nvPr>
        </p:nvSpPr>
        <p:spPr>
          <a:xfrm>
            <a:off x="17463" y="636913"/>
            <a:ext cx="9249200" cy="4572000"/>
          </a:xfrm>
        </p:spPr>
        <p:txBody>
          <a:bodyPr/>
          <a:lstStyle/>
          <a:p>
            <a:pPr marL="0" indent="0">
              <a:buNone/>
              <a:defRPr/>
            </a:pPr>
            <a:endParaRPr lang="en-US" altLang="zh-CN" sz="2600" dirty="0">
              <a:ea typeface="宋体" pitchFamily="2" charset="-122"/>
            </a:endParaRPr>
          </a:p>
          <a:p>
            <a:pPr>
              <a:defRPr/>
            </a:pPr>
            <a:r>
              <a:rPr lang="en-US" altLang="zh-CN" sz="2600" dirty="0">
                <a:effectLst/>
                <a:ea typeface="宋体" pitchFamily="2" charset="-122"/>
              </a:rPr>
              <a:t>Supply characteristic</a:t>
            </a: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lvl="1">
              <a:defRPr/>
            </a:pPr>
            <a:r>
              <a:rPr lang="en-US" altLang="zh-CN" sz="2400" dirty="0">
                <a:effectLst/>
                <a:ea typeface="宋体" pitchFamily="2" charset="-122"/>
              </a:rPr>
              <a:t>The exact value of the percentage of M is unknown until production is finished.</a:t>
            </a:r>
          </a:p>
          <a:p>
            <a:pPr>
              <a:defRPr/>
            </a:pPr>
            <a:r>
              <a:rPr lang="en-US" altLang="zh-CN" sz="2600" dirty="0">
                <a:effectLst/>
                <a:ea typeface="宋体" pitchFamily="2" charset="-122"/>
              </a:rPr>
              <a:t>Original Solution:</a:t>
            </a: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endParaRPr lang="en-US" altLang="zh-CN" sz="2600" dirty="0">
              <a:effectLst/>
              <a:ea typeface="宋体" pitchFamily="2" charset="-122"/>
            </a:endParaRPr>
          </a:p>
          <a:p>
            <a:pPr>
              <a:defRPr/>
            </a:pPr>
            <a:r>
              <a:rPr lang="en-US" altLang="zh-CN" sz="2600" dirty="0">
                <a:effectLst/>
                <a:ea typeface="宋体" pitchFamily="2" charset="-122"/>
              </a:rPr>
              <a:t>If raw 1 realizes to be 0.995% and raw 2 realizes to be 1.96%, then 438.79*1.96%=8.6 &lt; 17.55*50%=8.775!</a:t>
            </a:r>
          </a:p>
        </p:txBody>
      </p:sp>
      <p:graphicFrame>
        <p:nvGraphicFramePr>
          <p:cNvPr id="4" name="Table 3"/>
          <p:cNvGraphicFramePr>
            <a:graphicFrameLocks noGrp="1"/>
          </p:cNvGraphicFramePr>
          <p:nvPr>
            <p:extLst>
              <p:ext uri="{D42A27DB-BD31-4B8C-83A1-F6EECF244321}">
                <p14:modId xmlns:p14="http://schemas.microsoft.com/office/powerpoint/2010/main" val="2761368051"/>
              </p:ext>
            </p:extLst>
          </p:nvPr>
        </p:nvGraphicFramePr>
        <p:xfrm>
          <a:off x="1801828" y="1772084"/>
          <a:ext cx="6269424" cy="1126644"/>
        </p:xfrm>
        <a:graphic>
          <a:graphicData uri="http://schemas.openxmlformats.org/drawingml/2006/table">
            <a:tbl>
              <a:tblPr firstRow="1" bandRow="1">
                <a:tableStyleId>{5C22544A-7EE6-4342-B048-85BDC9FD1C3A}</a:tableStyleId>
              </a:tblPr>
              <a:tblGrid>
                <a:gridCol w="2089808">
                  <a:extLst>
                    <a:ext uri="{9D8B030D-6E8A-4147-A177-3AD203B41FA5}">
                      <a16:colId xmlns:a16="http://schemas.microsoft.com/office/drawing/2014/main" val="20000"/>
                    </a:ext>
                  </a:extLst>
                </a:gridCol>
                <a:gridCol w="2089808">
                  <a:extLst>
                    <a:ext uri="{9D8B030D-6E8A-4147-A177-3AD203B41FA5}">
                      <a16:colId xmlns:a16="http://schemas.microsoft.com/office/drawing/2014/main" val="20001"/>
                    </a:ext>
                  </a:extLst>
                </a:gridCol>
                <a:gridCol w="2089808">
                  <a:extLst>
                    <a:ext uri="{9D8B030D-6E8A-4147-A177-3AD203B41FA5}">
                      <a16:colId xmlns:a16="http://schemas.microsoft.com/office/drawing/2014/main" val="20002"/>
                    </a:ext>
                  </a:extLst>
                </a:gridCol>
              </a:tblGrid>
              <a:tr h="395124">
                <a:tc>
                  <a:txBody>
                    <a:bodyPr/>
                    <a:lstStyle/>
                    <a:p>
                      <a:pPr algn="ctr"/>
                      <a:r>
                        <a:rPr lang="en-US" dirty="0"/>
                        <a:t>Raw Material</a:t>
                      </a:r>
                      <a:endParaRPr lang="en-SG" dirty="0"/>
                    </a:p>
                  </a:txBody>
                  <a:tcPr/>
                </a:tc>
                <a:tc>
                  <a:txBody>
                    <a:bodyPr/>
                    <a:lstStyle/>
                    <a:p>
                      <a:pPr algn="ctr"/>
                      <a:r>
                        <a:rPr lang="en-US" dirty="0"/>
                        <a:t>Content of M</a:t>
                      </a:r>
                      <a:endParaRPr lang="en-SG" dirty="0"/>
                    </a:p>
                  </a:txBody>
                  <a:tcPr/>
                </a:tc>
                <a:tc>
                  <a:txBody>
                    <a:bodyPr/>
                    <a:lstStyle/>
                    <a:p>
                      <a:pPr algn="ctr"/>
                      <a:r>
                        <a:rPr lang="en-US" dirty="0"/>
                        <a:t>Variability</a:t>
                      </a:r>
                      <a:r>
                        <a:rPr lang="en-US" baseline="0" dirty="0"/>
                        <a:t> Range</a:t>
                      </a:r>
                      <a:endParaRPr lang="en-SG" dirty="0"/>
                    </a:p>
                  </a:txBody>
                  <a:tcPr/>
                </a:tc>
                <a:extLst>
                  <a:ext uri="{0D108BD9-81ED-4DB2-BD59-A6C34878D82A}">
                    <a16:rowId xmlns:a16="http://schemas.microsoft.com/office/drawing/2014/main" val="10000"/>
                  </a:ext>
                </a:extLst>
              </a:tr>
              <a:tr h="329034">
                <a:tc>
                  <a:txBody>
                    <a:bodyPr/>
                    <a:lstStyle/>
                    <a:p>
                      <a:pPr algn="ctr"/>
                      <a:r>
                        <a:rPr lang="en-US" dirty="0"/>
                        <a:t>Raw 1</a:t>
                      </a:r>
                      <a:endParaRPr lang="en-SG" dirty="0"/>
                    </a:p>
                  </a:txBody>
                  <a:tcPr/>
                </a:tc>
                <a:tc>
                  <a:txBody>
                    <a:bodyPr/>
                    <a:lstStyle/>
                    <a:p>
                      <a:pPr algn="ctr"/>
                      <a:r>
                        <a:rPr lang="en-US" dirty="0"/>
                        <a:t>1%</a:t>
                      </a:r>
                      <a:endParaRPr lang="en-SG" dirty="0"/>
                    </a:p>
                  </a:txBody>
                  <a:tcPr/>
                </a:tc>
                <a:tc>
                  <a:txBody>
                    <a:bodyPr/>
                    <a:lstStyle/>
                    <a:p>
                      <a:pPr algn="ctr"/>
                      <a:r>
                        <a:rPr lang="en-US" dirty="0"/>
                        <a:t>[0.995%, 1.005%]</a:t>
                      </a:r>
                      <a:endParaRPr lang="en-SG" dirty="0"/>
                    </a:p>
                  </a:txBody>
                  <a:tcPr/>
                </a:tc>
                <a:extLst>
                  <a:ext uri="{0D108BD9-81ED-4DB2-BD59-A6C34878D82A}">
                    <a16:rowId xmlns:a16="http://schemas.microsoft.com/office/drawing/2014/main" val="10001"/>
                  </a:ext>
                </a:extLst>
              </a:tr>
              <a:tr h="329034">
                <a:tc>
                  <a:txBody>
                    <a:bodyPr/>
                    <a:lstStyle/>
                    <a:p>
                      <a:pPr algn="ctr"/>
                      <a:r>
                        <a:rPr lang="en-US" dirty="0"/>
                        <a:t>Raw 2</a:t>
                      </a:r>
                      <a:endParaRPr lang="en-SG" dirty="0"/>
                    </a:p>
                  </a:txBody>
                  <a:tcPr/>
                </a:tc>
                <a:tc>
                  <a:txBody>
                    <a:bodyPr/>
                    <a:lstStyle/>
                    <a:p>
                      <a:pPr algn="ctr"/>
                      <a:r>
                        <a:rPr lang="en-US" dirty="0"/>
                        <a:t>2%</a:t>
                      </a:r>
                      <a:endParaRPr lang="en-SG" dirty="0"/>
                    </a:p>
                  </a:txBody>
                  <a:tcPr/>
                </a:tc>
                <a:tc>
                  <a:txBody>
                    <a:bodyPr/>
                    <a:lstStyle/>
                    <a:p>
                      <a:pPr algn="ctr"/>
                      <a:r>
                        <a:rPr lang="en-US" dirty="0"/>
                        <a:t>[1.96%,</a:t>
                      </a:r>
                      <a:r>
                        <a:rPr lang="en-US" baseline="0" dirty="0"/>
                        <a:t> 2.04%</a:t>
                      </a:r>
                      <a:r>
                        <a:rPr lang="en-US" dirty="0"/>
                        <a:t>]</a:t>
                      </a:r>
                      <a:endParaRPr lang="en-SG" dirty="0"/>
                    </a:p>
                  </a:txBody>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621477752"/>
              </p:ext>
            </p:extLst>
          </p:nvPr>
        </p:nvGraphicFramePr>
        <p:xfrm>
          <a:off x="2077264" y="4549955"/>
          <a:ext cx="4732763" cy="1009186"/>
        </p:xfrm>
        <a:graphic>
          <a:graphicData uri="http://schemas.openxmlformats.org/drawingml/2006/table">
            <a:tbl>
              <a:tblPr firstRow="1" bandRow="1">
                <a:tableStyleId>{5C22544A-7EE6-4342-B048-85BDC9FD1C3A}</a:tableStyleId>
              </a:tblPr>
              <a:tblGrid>
                <a:gridCol w="1508724">
                  <a:extLst>
                    <a:ext uri="{9D8B030D-6E8A-4147-A177-3AD203B41FA5}">
                      <a16:colId xmlns:a16="http://schemas.microsoft.com/office/drawing/2014/main" val="20000"/>
                    </a:ext>
                  </a:extLst>
                </a:gridCol>
                <a:gridCol w="1616927">
                  <a:extLst>
                    <a:ext uri="{9D8B030D-6E8A-4147-A177-3AD203B41FA5}">
                      <a16:colId xmlns:a16="http://schemas.microsoft.com/office/drawing/2014/main" val="20001"/>
                    </a:ext>
                  </a:extLst>
                </a:gridCol>
                <a:gridCol w="1607112">
                  <a:extLst>
                    <a:ext uri="{9D8B030D-6E8A-4147-A177-3AD203B41FA5}">
                      <a16:colId xmlns:a16="http://schemas.microsoft.com/office/drawing/2014/main" val="20002"/>
                    </a:ext>
                  </a:extLst>
                </a:gridCol>
              </a:tblGrid>
              <a:tr h="504593">
                <a:tc>
                  <a:txBody>
                    <a:bodyPr/>
                    <a:lstStyle/>
                    <a:p>
                      <a:pPr algn="ctr"/>
                      <a:r>
                        <a:rPr lang="en-US" dirty="0"/>
                        <a:t>Drug</a:t>
                      </a:r>
                      <a:r>
                        <a:rPr lang="en-US" baseline="0" dirty="0"/>
                        <a:t> M</a:t>
                      </a:r>
                      <a:endParaRPr lang="en-SG" dirty="0"/>
                    </a:p>
                  </a:txBody>
                  <a:tcPr/>
                </a:tc>
                <a:tc>
                  <a:txBody>
                    <a:bodyPr/>
                    <a:lstStyle/>
                    <a:p>
                      <a:pPr algn="ctr"/>
                      <a:r>
                        <a:rPr lang="en-US" dirty="0"/>
                        <a:t>Raw</a:t>
                      </a:r>
                      <a:r>
                        <a:rPr lang="en-US" baseline="0" dirty="0"/>
                        <a:t> 1</a:t>
                      </a:r>
                      <a:endParaRPr lang="en-SG" dirty="0"/>
                    </a:p>
                  </a:txBody>
                  <a:tcPr/>
                </a:tc>
                <a:tc>
                  <a:txBody>
                    <a:bodyPr/>
                    <a:lstStyle/>
                    <a:p>
                      <a:pPr algn="ctr"/>
                      <a:r>
                        <a:rPr lang="en-US" dirty="0"/>
                        <a:t>Raw 2</a:t>
                      </a:r>
                      <a:endParaRPr lang="en-SG" dirty="0"/>
                    </a:p>
                  </a:txBody>
                  <a:tcPr/>
                </a:tc>
                <a:extLst>
                  <a:ext uri="{0D108BD9-81ED-4DB2-BD59-A6C34878D82A}">
                    <a16:rowId xmlns:a16="http://schemas.microsoft.com/office/drawing/2014/main" val="10000"/>
                  </a:ext>
                </a:extLst>
              </a:tr>
              <a:tr h="504593">
                <a:tc>
                  <a:txBody>
                    <a:bodyPr/>
                    <a:lstStyle/>
                    <a:p>
                      <a:pPr algn="ctr"/>
                      <a:r>
                        <a:rPr lang="en-US" dirty="0"/>
                        <a:t>17.55</a:t>
                      </a:r>
                      <a:endParaRPr lang="en-SG" dirty="0"/>
                    </a:p>
                  </a:txBody>
                  <a:tcPr/>
                </a:tc>
                <a:tc>
                  <a:txBody>
                    <a:bodyPr/>
                    <a:lstStyle/>
                    <a:p>
                      <a:pPr algn="ctr"/>
                      <a:r>
                        <a:rPr lang="en-US" dirty="0"/>
                        <a:t>0</a:t>
                      </a:r>
                      <a:endParaRPr lang="en-SG" dirty="0"/>
                    </a:p>
                  </a:txBody>
                  <a:tcPr/>
                </a:tc>
                <a:tc>
                  <a:txBody>
                    <a:bodyPr/>
                    <a:lstStyle/>
                    <a:p>
                      <a:pPr algn="ctr"/>
                      <a:r>
                        <a:rPr lang="en-US" dirty="0"/>
                        <a:t>438.79</a:t>
                      </a:r>
                      <a:endParaRPr lang="en-SG"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0737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395">
                                            <p:txEl>
                                              <p:pRg st="10" end="10"/>
                                            </p:txEl>
                                          </p:spTgt>
                                        </p:tgtEl>
                                        <p:attrNameLst>
                                          <p:attrName>style.visibility</p:attrName>
                                        </p:attrNameLst>
                                      </p:cBhvr>
                                      <p:to>
                                        <p:strVal val="visible"/>
                                      </p:to>
                                    </p:set>
                                    <p:animEffect transition="in" filter="fade">
                                      <p:cBhvr>
                                        <p:cTn id="7" dur="500"/>
                                        <p:tgtEl>
                                          <p:spTgt spid="3153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Remedy</a:t>
            </a:r>
          </a:p>
        </p:txBody>
      </p:sp>
      <p:sp>
        <p:nvSpPr>
          <p:cNvPr id="315395" name="Rectangle 3"/>
          <p:cNvSpPr>
            <a:spLocks noGrp="1" noChangeArrowheads="1"/>
          </p:cNvSpPr>
          <p:nvPr>
            <p:ph type="body" sz="half" idx="1"/>
          </p:nvPr>
        </p:nvSpPr>
        <p:spPr>
          <a:xfrm>
            <a:off x="17463" y="782664"/>
            <a:ext cx="9249200" cy="4572000"/>
          </a:xfrm>
        </p:spPr>
        <p:txBody>
          <a:bodyPr/>
          <a:lstStyle/>
          <a:p>
            <a:pPr marL="0" indent="0">
              <a:buNone/>
              <a:defRPr/>
            </a:pPr>
            <a:endParaRPr lang="en-US" altLang="zh-CN" sz="2600" dirty="0">
              <a:ea typeface="宋体" pitchFamily="2" charset="-122"/>
            </a:endParaRPr>
          </a:p>
          <a:p>
            <a:pPr>
              <a:defRPr/>
            </a:pPr>
            <a:r>
              <a:rPr lang="en-US" altLang="zh-CN" sz="2600" dirty="0">
                <a:effectLst/>
                <a:ea typeface="宋体" pitchFamily="2" charset="-122"/>
              </a:rPr>
              <a:t>Ad-hoc remedy: since we only have 438.79*1.96% amount of ingredient M, we adjust production quantities to 17.2 &lt; 17.55.</a:t>
            </a:r>
          </a:p>
          <a:p>
            <a:pPr marL="0" indent="0">
              <a:buNone/>
              <a:defRPr/>
            </a:pPr>
            <a:endParaRPr lang="en-US" altLang="zh-CN" sz="2600" dirty="0">
              <a:effectLst/>
              <a:ea typeface="宋体" pitchFamily="2" charset="-122"/>
            </a:endParaRPr>
          </a:p>
          <a:p>
            <a:pPr>
              <a:defRPr/>
            </a:pPr>
            <a:r>
              <a:rPr lang="en-US" altLang="zh-CN" sz="2600" dirty="0">
                <a:effectLst/>
                <a:ea typeface="宋体" pitchFamily="2" charset="-122"/>
              </a:rPr>
              <a:t>Drawbacks:</a:t>
            </a:r>
          </a:p>
          <a:p>
            <a:pPr lvl="1">
              <a:defRPr/>
            </a:pPr>
            <a:r>
              <a:rPr lang="en-US" altLang="zh-CN" sz="2400" dirty="0">
                <a:effectLst/>
                <a:ea typeface="宋体" pitchFamily="2" charset="-122"/>
              </a:rPr>
              <a:t>Commitment to demands </a:t>
            </a:r>
          </a:p>
          <a:p>
            <a:pPr lvl="1">
              <a:defRPr/>
            </a:pPr>
            <a:r>
              <a:rPr lang="en-US" altLang="zh-CN" sz="2400" dirty="0">
                <a:effectLst/>
                <a:ea typeface="宋体" pitchFamily="2" charset="-122"/>
              </a:rPr>
              <a:t>Profit loss: $6889, 22% less than $8820.</a:t>
            </a:r>
          </a:p>
          <a:p>
            <a:pPr>
              <a:defRPr/>
            </a:pPr>
            <a:endParaRPr lang="en-US" altLang="zh-CN" sz="2600" dirty="0">
              <a:ea typeface="宋体" pitchFamily="2" charset="-122"/>
            </a:endParaRPr>
          </a:p>
          <a:p>
            <a:pPr marL="0" indent="0">
              <a:buNone/>
              <a:defRPr/>
            </a:pPr>
            <a:endParaRPr lang="en-US" altLang="zh-CN" sz="2600" dirty="0">
              <a:ea typeface="宋体" pitchFamily="2" charset="-122"/>
            </a:endParaRPr>
          </a:p>
        </p:txBody>
      </p:sp>
    </p:spTree>
    <p:extLst>
      <p:ext uri="{BB962C8B-B14F-4D97-AF65-F5344CB8AC3E}">
        <p14:creationId xmlns:p14="http://schemas.microsoft.com/office/powerpoint/2010/main" val="8356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395">
                                            <p:txEl>
                                              <p:pRg st="1" end="1"/>
                                            </p:txEl>
                                          </p:spTgt>
                                        </p:tgtEl>
                                        <p:attrNameLst>
                                          <p:attrName>style.visibility</p:attrName>
                                        </p:attrNameLst>
                                      </p:cBhvr>
                                      <p:to>
                                        <p:strVal val="visible"/>
                                      </p:to>
                                    </p:set>
                                    <p:animEffect transition="in" filter="fade">
                                      <p:cBhvr>
                                        <p:cTn id="7" dur="500"/>
                                        <p:tgtEl>
                                          <p:spTgt spid="3153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395">
                                            <p:txEl>
                                              <p:pRg st="3" end="3"/>
                                            </p:txEl>
                                          </p:spTgt>
                                        </p:tgtEl>
                                        <p:attrNameLst>
                                          <p:attrName>style.visibility</p:attrName>
                                        </p:attrNameLst>
                                      </p:cBhvr>
                                      <p:to>
                                        <p:strVal val="visible"/>
                                      </p:to>
                                    </p:set>
                                    <p:animEffect transition="in" filter="fade">
                                      <p:cBhvr>
                                        <p:cTn id="12" dur="500"/>
                                        <p:tgtEl>
                                          <p:spTgt spid="31539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5395">
                                            <p:txEl>
                                              <p:pRg st="4" end="4"/>
                                            </p:txEl>
                                          </p:spTgt>
                                        </p:tgtEl>
                                        <p:attrNameLst>
                                          <p:attrName>style.visibility</p:attrName>
                                        </p:attrNameLst>
                                      </p:cBhvr>
                                      <p:to>
                                        <p:strVal val="visible"/>
                                      </p:to>
                                    </p:set>
                                    <p:animEffect transition="in" filter="fade">
                                      <p:cBhvr>
                                        <p:cTn id="17" dur="500"/>
                                        <p:tgtEl>
                                          <p:spTgt spid="31539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5395">
                                            <p:txEl>
                                              <p:pRg st="5" end="5"/>
                                            </p:txEl>
                                          </p:spTgt>
                                        </p:tgtEl>
                                        <p:attrNameLst>
                                          <p:attrName>style.visibility</p:attrName>
                                        </p:attrNameLst>
                                      </p:cBhvr>
                                      <p:to>
                                        <p:strVal val="visible"/>
                                      </p:to>
                                    </p:set>
                                    <p:animEffect transition="in" filter="fade">
                                      <p:cBhvr>
                                        <p:cTn id="22" dur="500"/>
                                        <p:tgtEl>
                                          <p:spTgt spid="3153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A Robust Optimization Perspective</a:t>
            </a:r>
          </a:p>
        </p:txBody>
      </p:sp>
      <p:sp>
        <p:nvSpPr>
          <p:cNvPr id="315395" name="Rectangle 3"/>
          <p:cNvSpPr>
            <a:spLocks noGrp="1" noChangeArrowheads="1"/>
          </p:cNvSpPr>
          <p:nvPr>
            <p:ph type="body" sz="half" idx="1"/>
          </p:nvPr>
        </p:nvSpPr>
        <p:spPr>
          <a:xfrm>
            <a:off x="17463" y="640424"/>
            <a:ext cx="9249200" cy="4572000"/>
          </a:xfrm>
        </p:spPr>
        <p:txBody>
          <a:bodyPr/>
          <a:lstStyle/>
          <a:p>
            <a:pPr marL="0" indent="0">
              <a:buNone/>
              <a:defRPr/>
            </a:pPr>
            <a:endParaRPr lang="en-US" altLang="zh-CN" sz="2600" dirty="0">
              <a:ea typeface="宋体" pitchFamily="2" charset="-122"/>
            </a:endParaRPr>
          </a:p>
          <a:p>
            <a:pPr>
              <a:defRPr/>
            </a:pPr>
            <a:r>
              <a:rPr lang="en-US" altLang="zh-CN" sz="2600" dirty="0">
                <a:effectLst/>
                <a:ea typeface="宋体" pitchFamily="2" charset="-122"/>
              </a:rPr>
              <a:t>Prepare for the worst.</a:t>
            </a:r>
          </a:p>
          <a:p>
            <a:pPr marL="739775" lvl="1" indent="-342900">
              <a:defRPr/>
            </a:pPr>
            <a:r>
              <a:rPr lang="en-US" altLang="zh-CN" sz="2400" dirty="0">
                <a:effectLst/>
                <a:ea typeface="宋体" pitchFamily="2" charset="-122"/>
              </a:rPr>
              <a:t>When formulating the problem, use the realization raw 1: 0.995% and raw 2: 1.96%</a:t>
            </a:r>
            <a:r>
              <a:rPr lang="en-US" altLang="zh-CN" sz="2200" dirty="0">
                <a:effectLst/>
                <a:ea typeface="宋体" pitchFamily="2" charset="-122"/>
              </a:rPr>
              <a:t>. </a:t>
            </a:r>
          </a:p>
        </p:txBody>
      </p:sp>
      <mc:AlternateContent xmlns:mc="http://schemas.openxmlformats.org/markup-compatibility/2006" xmlns:a14="http://schemas.microsoft.com/office/drawing/2010/main">
        <mc:Choice Requires="a14">
          <p:sp>
            <p:nvSpPr>
              <p:cNvPr id="6" name="Rectangle 3"/>
              <p:cNvSpPr txBox="1">
                <a:spLocks noChangeArrowheads="1"/>
              </p:cNvSpPr>
              <p:nvPr/>
            </p:nvSpPr>
            <p:spPr bwMode="auto">
              <a:xfrm>
                <a:off x="-1500183" y="2086754"/>
                <a:ext cx="11742157" cy="4358640"/>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defRPr/>
                </a:pPr>
                <a:endParaRPr lang="en-US" altLang="zh-CN" kern="0" dirty="0">
                  <a:ea typeface="宋体" pitchFamily="2" charset="-122"/>
                </a:endParaRPr>
              </a:p>
              <a:p>
                <a:pPr marL="0" indent="0">
                  <a:buFontTx/>
                  <a:buNone/>
                </a:pPr>
                <a:r>
                  <a:rPr lang="en-US" kern="0" dirty="0"/>
                  <a:t>                     </a:t>
                </a:r>
                <a14:m>
                  <m:oMath xmlns:m="http://schemas.openxmlformats.org/officeDocument/2006/math">
                    <m:r>
                      <a:rPr lang="en-US" i="1" kern="0" smtClean="0">
                        <a:effectLst/>
                        <a:latin typeface="Cambria Math" panose="02040503050406030204" pitchFamily="18" charset="0"/>
                      </a:rPr>
                      <m:t>𝒎𝒂𝒙</m:t>
                    </m:r>
                    <m:r>
                      <a:rPr lang="en-US" i="1" kern="0" smtClean="0">
                        <a:effectLst/>
                        <a:latin typeface="Cambria Math" panose="02040503050406030204" pitchFamily="18" charset="0"/>
                      </a:rPr>
                      <m:t>       </m:t>
                    </m:r>
                    <m:d>
                      <m:dPr>
                        <m:ctrlPr>
                          <a:rPr lang="en-US" i="1" kern="0">
                            <a:effectLst/>
                            <a:latin typeface="Cambria Math" panose="02040503050406030204" pitchFamily="18" charset="0"/>
                          </a:rPr>
                        </m:ctrlPr>
                      </m:dPr>
                      <m:e>
                        <m:r>
                          <a:rPr lang="en-US" i="1" kern="0">
                            <a:effectLst/>
                            <a:latin typeface="Cambria Math" panose="02040503050406030204" pitchFamily="18" charset="0"/>
                          </a:rPr>
                          <m:t>𝟔𝟐𝟎𝟎</m:t>
                        </m:r>
                        <m:r>
                          <a:rPr lang="en-US" i="1" kern="0">
                            <a:effectLst/>
                            <a:latin typeface="Cambria Math" panose="02040503050406030204" pitchFamily="18" charset="0"/>
                          </a:rPr>
                          <m:t>−</m:t>
                        </m:r>
                        <m:r>
                          <a:rPr lang="en-US" i="1" kern="0">
                            <a:effectLst/>
                            <a:latin typeface="Cambria Math" panose="02040503050406030204" pitchFamily="18" charset="0"/>
                          </a:rPr>
                          <m:t>𝟕𝟎𝟎</m:t>
                        </m:r>
                      </m:e>
                    </m:d>
                    <m:r>
                      <a:rPr lang="en-US" i="1" kern="0">
                        <a:effectLst/>
                        <a:latin typeface="Cambria Math" panose="02040503050406030204" pitchFamily="18" charset="0"/>
                      </a:rPr>
                      <m:t>𝒙</m:t>
                    </m:r>
                    <m:r>
                      <a:rPr lang="en-US" i="1" kern="0">
                        <a:effectLst/>
                        <a:latin typeface="Cambria Math" panose="02040503050406030204" pitchFamily="18" charset="0"/>
                      </a:rPr>
                      <m:t> −</m:t>
                    </m:r>
                    <m:r>
                      <a:rPr lang="en-US" i="1" kern="0">
                        <a:effectLst/>
                        <a:latin typeface="Cambria Math" panose="02040503050406030204" pitchFamily="18" charset="0"/>
                      </a:rPr>
                      <m:t>𝟏𝟎𝟎</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i="1" kern="0">
                        <a:effectLst/>
                        <a:latin typeface="Cambria Math" panose="02040503050406030204" pitchFamily="18" charset="0"/>
                      </a:rPr>
                      <m:t>−</m:t>
                    </m:r>
                    <m:r>
                      <a:rPr lang="en-US" i="1" kern="0">
                        <a:effectLst/>
                        <a:latin typeface="Cambria Math" panose="02040503050406030204" pitchFamily="18" charset="0"/>
                      </a:rPr>
                      <m:t>𝟏𝟗𝟗</m:t>
                    </m:r>
                    <m:r>
                      <a:rPr lang="en-US" i="1" kern="0">
                        <a:effectLst/>
                        <a:latin typeface="Cambria Math" panose="02040503050406030204" pitchFamily="18" charset="0"/>
                      </a:rPr>
                      <m:t>.</m:t>
                    </m:r>
                    <m:r>
                      <a:rPr lang="en-US" i="1" kern="0">
                        <a:effectLst/>
                        <a:latin typeface="Cambria Math" panose="02040503050406030204" pitchFamily="18" charset="0"/>
                      </a:rPr>
                      <m:t>𝟗</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oMath>
                </a14:m>
                <a:endParaRPr lang="en-US" i="1" kern="0" dirty="0">
                  <a:effectLst/>
                  <a:latin typeface="Cambria Math" panose="02040503050406030204" pitchFamily="18" charset="0"/>
                </a:endParaRPr>
              </a:p>
              <a:p>
                <a:pPr marL="0" indent="0">
                  <a:buFontTx/>
                  <a:buNone/>
                </a:pPr>
                <a:r>
                  <a:rPr lang="en-US" kern="0" dirty="0">
                    <a:effectLst/>
                  </a:rPr>
                  <a:t>                    </a:t>
                </a:r>
                <a14:m>
                  <m:oMath xmlns:m="http://schemas.openxmlformats.org/officeDocument/2006/math">
                    <m:r>
                      <a:rPr lang="en-US" i="1" kern="0">
                        <a:effectLst/>
                        <a:latin typeface="Cambria Math" panose="02040503050406030204" pitchFamily="18" charset="0"/>
                      </a:rPr>
                      <m:t>𝒔</m:t>
                    </m:r>
                    <m:r>
                      <a:rPr lang="en-US" i="1" kern="0">
                        <a:effectLst/>
                        <a:latin typeface="Cambria Math" panose="02040503050406030204" pitchFamily="18" charset="0"/>
                      </a:rPr>
                      <m:t>.</m:t>
                    </m:r>
                    <m:r>
                      <a:rPr lang="en-US" i="1" kern="0">
                        <a:effectLst/>
                        <a:latin typeface="Cambria Math" panose="02040503050406030204" pitchFamily="18" charset="0"/>
                      </a:rPr>
                      <m:t>𝒕</m:t>
                    </m:r>
                    <m:r>
                      <a:rPr lang="en-US" i="1" kern="0">
                        <a:effectLst/>
                        <a:latin typeface="Cambria Math" panose="02040503050406030204" pitchFamily="18" charset="0"/>
                      </a:rPr>
                      <m:t>.           </m:t>
                    </m:r>
                    <m:r>
                      <a:rPr lang="en-US" b="1" i="1" kern="0" smtClean="0">
                        <a:effectLst/>
                        <a:latin typeface="Cambria Math" panose="02040503050406030204" pitchFamily="18" charset="0"/>
                      </a:rPr>
                      <m:t>𝟗𝟎</m:t>
                    </m:r>
                    <m:r>
                      <a:rPr lang="en-US" b="1" i="1" kern="0" smtClean="0">
                        <a:effectLst/>
                        <a:latin typeface="Cambria Math" panose="02040503050406030204" pitchFamily="18" charset="0"/>
                      </a:rPr>
                      <m:t>𝒙</m:t>
                    </m:r>
                    <m:r>
                      <a:rPr lang="en-US" i="1" ker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𝟐𝟎𝟎𝟎</m:t>
                    </m:r>
                    <m:r>
                      <a:rPr lang="en-US" i="1" kern="0" smtClean="0">
                        <a:effectLst/>
                        <a:latin typeface="Cambria Math" panose="02040503050406030204" pitchFamily="18" charset="0"/>
                      </a:rPr>
                      <m:t>, </m:t>
                    </m:r>
                  </m:oMath>
                </a14:m>
                <a:r>
                  <a:rPr lang="en-US" kern="0" dirty="0">
                    <a:effectLst/>
                  </a:rPr>
                  <a:t> </a:t>
                </a:r>
                <a:r>
                  <a:rPr lang="en-US" sz="2400" kern="0" dirty="0">
                    <a:effectLst/>
                  </a:rPr>
                  <a:t>(manpower)</a:t>
                </a:r>
              </a:p>
              <a:p>
                <a:pPr marL="0" indent="0">
                  <a:buFontTx/>
                  <a:buNone/>
                </a:pPr>
                <a:r>
                  <a:rPr lang="en-US" kern="0" dirty="0">
                    <a:effectLst/>
                  </a:rPr>
                  <a:t>			       4</a:t>
                </a:r>
                <a14:m>
                  <m:oMath xmlns:m="http://schemas.openxmlformats.org/officeDocument/2006/math">
                    <m:r>
                      <a:rPr lang="en-US" i="1" kern="0">
                        <a:effectLst/>
                        <a:latin typeface="Cambria Math" panose="02040503050406030204" pitchFamily="18" charset="0"/>
                      </a:rPr>
                      <m:t>𝟎</m:t>
                    </m:r>
                    <m:r>
                      <a:rPr lang="en-US" i="1" kern="0">
                        <a:effectLst/>
                        <a:latin typeface="Cambria Math" panose="02040503050406030204" pitchFamily="18" charset="0"/>
                      </a:rPr>
                      <m:t>𝒙</m:t>
                    </m:r>
                    <m:r>
                      <a:rPr lang="en-US" i="1" ker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𝟖</m:t>
                    </m:r>
                    <m:r>
                      <a:rPr lang="en-US" i="1" kern="0">
                        <a:effectLst/>
                        <a:latin typeface="Cambria Math" panose="02040503050406030204" pitchFamily="18" charset="0"/>
                        <a:ea typeface="Cambria Math" panose="02040503050406030204" pitchFamily="18" charset="0"/>
                      </a:rPr>
                      <m:t>𝟎𝟎</m:t>
                    </m:r>
                  </m:oMath>
                </a14:m>
                <a:r>
                  <a:rPr lang="en-US" kern="0" dirty="0">
                    <a:effectLst/>
                  </a:rPr>
                  <a:t>,    </a:t>
                </a:r>
                <a:r>
                  <a:rPr lang="en-US" sz="2400" kern="0" dirty="0">
                    <a:effectLst/>
                  </a:rPr>
                  <a:t>(equip)</a:t>
                </a:r>
              </a:p>
              <a:p>
                <a:pPr marL="0" indent="0">
                  <a:buFontTx/>
                  <a:buNone/>
                </a:pPr>
                <a:r>
                  <a:rPr lang="en-US" kern="0" dirty="0">
                    <a:effectLst/>
                  </a:rPr>
                  <a:t>			       </a:t>
                </a:r>
                <a14:m>
                  <m:oMath xmlns:m="http://schemas.openxmlformats.org/officeDocument/2006/math">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b="1" i="1" kern="0" smtClean="0">
                            <a:effectLst/>
                            <a:latin typeface="Cambria Math" panose="02040503050406030204" pitchFamily="18" charset="0"/>
                          </a:rPr>
                          <m:t>𝟐</m:t>
                        </m:r>
                      </m:sub>
                    </m:sSub>
                    <m:r>
                      <a:rPr lang="en-US" i="1" kern="0" smtClea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𝟏𝟎𝟎𝟎</m:t>
                    </m:r>
                  </m:oMath>
                </a14:m>
                <a:r>
                  <a:rPr lang="en-US" kern="0" dirty="0">
                    <a:effectLst/>
                  </a:rPr>
                  <a:t>,  </a:t>
                </a:r>
                <a:r>
                  <a:rPr lang="en-US" sz="2400" kern="0" dirty="0">
                    <a:effectLst/>
                  </a:rPr>
                  <a:t>(storage)</a:t>
                </a:r>
              </a:p>
              <a:p>
                <a:pPr marL="0" indent="0">
                  <a:buFontTx/>
                  <a:buNone/>
                </a:pPr>
                <a:r>
                  <a:rPr lang="en-US" b="1" kern="0" dirty="0">
                    <a:effectLst/>
                  </a:rPr>
                  <a:t>                           </a:t>
                </a:r>
                <a14:m>
                  <m:oMath xmlns:m="http://schemas.openxmlformats.org/officeDocument/2006/math">
                    <m:r>
                      <a:rPr lang="en-US" b="1" i="1" kern="0" smtClean="0">
                        <a:effectLst/>
                        <a:latin typeface="Cambria Math" panose="02040503050406030204" pitchFamily="18" charset="0"/>
                      </a:rPr>
                      <m:t>𝟕𝟎𝟎</m:t>
                    </m:r>
                    <m:r>
                      <a:rPr lang="en-US" b="1" i="1" kern="0" smtClean="0">
                        <a:effectLst/>
                        <a:latin typeface="Cambria Math" panose="02040503050406030204" pitchFamily="18" charset="0"/>
                      </a:rPr>
                      <m:t>𝒙</m:t>
                    </m:r>
                    <m:r>
                      <a:rPr lang="en-US" b="1" i="1" kern="0" smtClean="0">
                        <a:effectLst/>
                        <a:latin typeface="Cambria Math" panose="02040503050406030204" pitchFamily="18" charset="0"/>
                      </a:rPr>
                      <m:t>+</m:t>
                    </m:r>
                    <m:r>
                      <a:rPr lang="en-US" i="1" kern="0">
                        <a:effectLst/>
                        <a:latin typeface="Cambria Math" panose="02040503050406030204" pitchFamily="18" charset="0"/>
                      </a:rPr>
                      <m:t>𝟏𝟎𝟎</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r>
                      <a:rPr lang="en-US" i="1" kern="0">
                        <a:effectLst/>
                        <a:latin typeface="Cambria Math" panose="02040503050406030204" pitchFamily="18" charset="0"/>
                      </a:rPr>
                      <m:t>𝟏𝟗𝟗</m:t>
                    </m:r>
                    <m:r>
                      <a:rPr lang="en-US" i="1" kern="0">
                        <a:effectLst/>
                        <a:latin typeface="Cambria Math" panose="02040503050406030204" pitchFamily="18" charset="0"/>
                      </a:rPr>
                      <m:t>.</m:t>
                    </m:r>
                    <m:r>
                      <a:rPr lang="en-US" i="1" kern="0">
                        <a:effectLst/>
                        <a:latin typeface="Cambria Math" panose="02040503050406030204" pitchFamily="18" charset="0"/>
                      </a:rPr>
                      <m:t>𝟗</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r>
                      <a:rPr lang="en-US" i="1" kern="0" smtClea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𝟏𝟎𝟎𝟎𝟎𝟎</m:t>
                    </m:r>
                  </m:oMath>
                </a14:m>
                <a:r>
                  <a:rPr lang="en-US" kern="0" dirty="0">
                    <a:effectLst/>
                  </a:rPr>
                  <a:t>, </a:t>
                </a:r>
                <a:r>
                  <a:rPr lang="en-US" sz="2400" kern="0" dirty="0">
                    <a:effectLst/>
                  </a:rPr>
                  <a:t>(budget)</a:t>
                </a:r>
              </a:p>
              <a:p>
                <a:pPr marL="0" indent="0">
                  <a:buNone/>
                </a:pPr>
                <a:r>
                  <a:rPr lang="en-US" kern="0" dirty="0">
                    <a:effectLst/>
                  </a:rPr>
                  <a:t>                         </a:t>
                </a:r>
                <a14:m>
                  <m:oMath xmlns:m="http://schemas.openxmlformats.org/officeDocument/2006/math">
                    <m:sSub>
                      <m:sSubPr>
                        <m:ctrlPr>
                          <a:rPr lang="en-US" b="1" i="1" kern="0" smtClean="0">
                            <a:effectLst/>
                            <a:latin typeface="Cambria Math" panose="02040503050406030204" pitchFamily="18" charset="0"/>
                          </a:rPr>
                        </m:ctrlPr>
                      </m:sSubPr>
                      <m:e>
                        <m:r>
                          <a:rPr lang="en-US" b="1" i="1" kern="0" smtClean="0">
                            <a:effectLst/>
                            <a:latin typeface="Cambria Math" panose="02040503050406030204" pitchFamily="18" charset="0"/>
                          </a:rPr>
                          <m:t>𝟎</m:t>
                        </m:r>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𝟎𝟎𝟗𝟗𝟓</m:t>
                        </m:r>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i="1" kern="0">
                        <a:effectLst/>
                        <a:latin typeface="Cambria Math" panose="02040503050406030204" pitchFamily="18" charset="0"/>
                      </a:rPr>
                      <m:t>+</m:t>
                    </m:r>
                    <m:sSub>
                      <m:sSubPr>
                        <m:ctrlPr>
                          <a:rPr lang="en-US" b="1" i="1" kern="0" smtClean="0">
                            <a:effectLst/>
                            <a:latin typeface="Cambria Math" panose="02040503050406030204" pitchFamily="18" charset="0"/>
                          </a:rPr>
                        </m:ctrlPr>
                      </m:sSubPr>
                      <m:e>
                        <m:r>
                          <a:rPr lang="en-US" b="1" i="1" kern="0" smtClean="0">
                            <a:effectLst/>
                            <a:latin typeface="Cambria Math" panose="02040503050406030204" pitchFamily="18" charset="0"/>
                          </a:rPr>
                          <m:t>𝟎</m:t>
                        </m:r>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𝟎𝟏𝟗𝟔</m:t>
                        </m:r>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𝟎</m:t>
                    </m:r>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𝟓</m:t>
                    </m:r>
                    <m:r>
                      <a:rPr lang="en-US" b="1" i="1" kern="0" smtClean="0">
                        <a:effectLst/>
                        <a:latin typeface="Cambria Math" panose="02040503050406030204" pitchFamily="18" charset="0"/>
                      </a:rPr>
                      <m:t>𝒙</m:t>
                    </m:r>
                    <m:r>
                      <a:rPr lang="en-US" i="1" kern="0" smtClean="0">
                        <a:effectLst/>
                        <a:latin typeface="Cambria Math" panose="02040503050406030204" pitchFamily="18" charset="0"/>
                        <a:ea typeface="Cambria Math" panose="02040503050406030204" pitchFamily="18" charset="0"/>
                      </a:rPr>
                      <m:t>≥</m:t>
                    </m:r>
                    <m:r>
                      <a:rPr lang="en-US" i="1" kern="0">
                        <a:effectLst/>
                        <a:latin typeface="Cambria Math" panose="02040503050406030204" pitchFamily="18" charset="0"/>
                        <a:ea typeface="Cambria Math" panose="02040503050406030204" pitchFamily="18" charset="0"/>
                      </a:rPr>
                      <m:t>𝟎</m:t>
                    </m:r>
                  </m:oMath>
                </a14:m>
                <a:r>
                  <a:rPr lang="en-US" kern="0" dirty="0">
                    <a:effectLst/>
                  </a:rPr>
                  <a:t>, </a:t>
                </a:r>
                <a:r>
                  <a:rPr lang="en-US" sz="2400" kern="0" dirty="0">
                    <a:effectLst/>
                  </a:rPr>
                  <a:t>(ingredient)</a:t>
                </a:r>
                <a:endParaRPr lang="en-US" kern="0" dirty="0">
                  <a:effectLst/>
                </a:endParaRPr>
              </a:p>
              <a:p>
                <a:pPr marL="0" indent="0">
                  <a:buNone/>
                </a:pPr>
                <a14:m>
                  <m:oMathPara xmlns:m="http://schemas.openxmlformats.org/officeDocument/2006/math">
                    <m:oMathParaPr>
                      <m:jc m:val="centerGroup"/>
                    </m:oMathParaPr>
                    <m:oMath xmlns:m="http://schemas.openxmlformats.org/officeDocument/2006/math">
                      <m:r>
                        <a:rPr lang="en-US" i="1" kern="0">
                          <a:effectLst/>
                          <a:latin typeface="Cambria Math" panose="02040503050406030204" pitchFamily="18" charset="0"/>
                        </a:rPr>
                        <m:t>𝒙</m:t>
                      </m:r>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b="1" i="1" kern="0" smtClean="0">
                              <a:effectLst/>
                              <a:latin typeface="Cambria Math" panose="02040503050406030204" pitchFamily="18" charset="0"/>
                            </a:rPr>
                            <m:t>𝟐</m:t>
                          </m:r>
                        </m:sub>
                      </m:sSub>
                      <m:r>
                        <a:rPr lang="en-US" i="1" kern="0">
                          <a:effectLst/>
                          <a:latin typeface="Cambria Math" panose="02040503050406030204" pitchFamily="18" charset="0"/>
                        </a:rPr>
                        <m:t>≥</m:t>
                      </m:r>
                      <m:r>
                        <a:rPr lang="en-US" i="1" kern="0">
                          <a:effectLst/>
                          <a:latin typeface="Cambria Math" panose="02040503050406030204" pitchFamily="18" charset="0"/>
                        </a:rPr>
                        <m:t>𝟎</m:t>
                      </m:r>
                    </m:oMath>
                  </m:oMathPara>
                </a14:m>
                <a:endParaRPr lang="en-US" altLang="zh-CN" kern="0" dirty="0">
                  <a:effectLst/>
                  <a:ea typeface="宋体" pitchFamily="2" charset="-122"/>
                </a:endParaRPr>
              </a:p>
            </p:txBody>
          </p:sp>
        </mc:Choice>
        <mc:Fallback xmlns="">
          <p:sp>
            <p:nvSpPr>
              <p:cNvPr id="6" name="Rectangle 3"/>
              <p:cNvSpPr txBox="1">
                <a:spLocks noRot="1" noChangeAspect="1" noMove="1" noResize="1" noEditPoints="1" noAdjustHandles="1" noChangeArrowheads="1" noChangeShapeType="1" noTextEdit="1"/>
              </p:cNvSpPr>
              <p:nvPr/>
            </p:nvSpPr>
            <p:spPr bwMode="auto">
              <a:xfrm>
                <a:off x="-1500183" y="2086754"/>
                <a:ext cx="11742157" cy="4358640"/>
              </a:xfrm>
              <a:prstGeom prst="rect">
                <a:avLst/>
              </a:prstGeom>
              <a:blipFill rotWithShape="0">
                <a:blip r:embed="rId3"/>
                <a:stretch>
                  <a:fillRect/>
                </a:stretch>
              </a:blipFill>
              <a:ln w="9525">
                <a:noFill/>
                <a:miter lim="800000"/>
                <a:headEnd/>
                <a:tailEnd/>
              </a:ln>
              <a:effectLst/>
            </p:spPr>
            <p:txBody>
              <a:bodyPr/>
              <a:lstStyle/>
              <a:p>
                <a:r>
                  <a:rPr lang="en-SG">
                    <a:noFill/>
                  </a:rPr>
                  <a:t> </a:t>
                </a:r>
              </a:p>
            </p:txBody>
          </p:sp>
        </mc:Fallback>
      </mc:AlternateContent>
    </p:spTree>
    <p:extLst>
      <p:ext uri="{BB962C8B-B14F-4D97-AF65-F5344CB8AC3E}">
        <p14:creationId xmlns:p14="http://schemas.microsoft.com/office/powerpoint/2010/main" val="49097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395">
                                            <p:txEl>
                                              <p:pRg st="1" end="1"/>
                                            </p:txEl>
                                          </p:spTgt>
                                        </p:tgtEl>
                                        <p:attrNameLst>
                                          <p:attrName>style.visibility</p:attrName>
                                        </p:attrNameLst>
                                      </p:cBhvr>
                                      <p:to>
                                        <p:strVal val="visible"/>
                                      </p:to>
                                    </p:set>
                                    <p:animEffect transition="in" filter="fade">
                                      <p:cBhvr>
                                        <p:cTn id="7" dur="500"/>
                                        <p:tgtEl>
                                          <p:spTgt spid="3153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395">
                                            <p:txEl>
                                              <p:pRg st="2" end="2"/>
                                            </p:txEl>
                                          </p:spTgt>
                                        </p:tgtEl>
                                        <p:attrNameLst>
                                          <p:attrName>style.visibility</p:attrName>
                                        </p:attrNameLst>
                                      </p:cBhvr>
                                      <p:to>
                                        <p:strVal val="visible"/>
                                      </p:to>
                                    </p:set>
                                    <p:animEffect transition="in" filter="fade">
                                      <p:cBhvr>
                                        <p:cTn id="12" dur="500"/>
                                        <p:tgtEl>
                                          <p:spTgt spid="3153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A Robust Optimization Perspective</a:t>
            </a:r>
          </a:p>
        </p:txBody>
      </p:sp>
      <p:sp>
        <p:nvSpPr>
          <p:cNvPr id="315395" name="Rectangle 3"/>
          <p:cNvSpPr>
            <a:spLocks noGrp="1" noChangeArrowheads="1"/>
          </p:cNvSpPr>
          <p:nvPr>
            <p:ph type="body" sz="half" idx="1"/>
          </p:nvPr>
        </p:nvSpPr>
        <p:spPr>
          <a:xfrm>
            <a:off x="17463" y="711544"/>
            <a:ext cx="9249200" cy="4572000"/>
          </a:xfrm>
        </p:spPr>
        <p:txBody>
          <a:bodyPr/>
          <a:lstStyle/>
          <a:p>
            <a:pPr marL="0" indent="0">
              <a:buNone/>
              <a:defRPr/>
            </a:pPr>
            <a:endParaRPr lang="en-US" altLang="zh-CN" sz="2600" dirty="0">
              <a:ea typeface="宋体" pitchFamily="2" charset="-122"/>
            </a:endParaRPr>
          </a:p>
          <a:p>
            <a:pPr>
              <a:defRPr/>
            </a:pPr>
            <a:endParaRPr lang="en-US" altLang="zh-CN" sz="2600" dirty="0">
              <a:ea typeface="宋体" pitchFamily="2" charset="-122"/>
            </a:endParaRPr>
          </a:p>
          <a:p>
            <a:pPr marL="0" indent="0">
              <a:buNone/>
              <a:defRPr/>
            </a:pPr>
            <a:endParaRPr lang="en-US" altLang="zh-CN" sz="2600" dirty="0">
              <a:ea typeface="宋体" pitchFamily="2" charset="-122"/>
            </a:endParaRPr>
          </a:p>
          <a:p>
            <a:pPr>
              <a:defRPr/>
            </a:pPr>
            <a:r>
              <a:rPr lang="en-US" altLang="zh-CN" sz="2600" dirty="0">
                <a:effectLst/>
                <a:ea typeface="宋体" pitchFamily="2" charset="-122"/>
              </a:rPr>
              <a:t>For any realization of raw 1 and raw 2, solution is always feasible:</a:t>
            </a:r>
          </a:p>
          <a:p>
            <a:pPr lvl="1">
              <a:defRPr/>
            </a:pPr>
            <a:r>
              <a:rPr lang="en-US" altLang="zh-CN" sz="2400" dirty="0">
                <a:effectLst/>
                <a:ea typeface="宋体" pitchFamily="2" charset="-122"/>
              </a:rPr>
              <a:t>Suppose content of M in raw 1 turns out to be 1% and content of M in raw 2 turns out to be 2%. Then</a:t>
            </a:r>
          </a:p>
          <a:p>
            <a:pPr lvl="1">
              <a:defRPr/>
            </a:pPr>
            <a:endParaRPr lang="en-US" altLang="zh-CN" sz="2400" dirty="0">
              <a:effectLst/>
              <a:ea typeface="宋体" pitchFamily="2" charset="-122"/>
            </a:endParaRPr>
          </a:p>
          <a:p>
            <a:pPr lvl="1">
              <a:defRPr/>
            </a:pPr>
            <a:endParaRPr lang="en-US" altLang="zh-CN" sz="2400" dirty="0">
              <a:effectLst/>
              <a:ea typeface="宋体" pitchFamily="2" charset="-122"/>
            </a:endParaRPr>
          </a:p>
          <a:p>
            <a:pPr>
              <a:defRPr/>
            </a:pPr>
            <a:r>
              <a:rPr lang="en-US" altLang="zh-CN" sz="2600" dirty="0">
                <a:effectLst/>
                <a:ea typeface="宋体" pitchFamily="2" charset="-122"/>
              </a:rPr>
              <a:t>Prevent loss: </a:t>
            </a:r>
          </a:p>
          <a:p>
            <a:pPr lvl="1">
              <a:defRPr/>
            </a:pPr>
            <a:r>
              <a:rPr lang="en-US" altLang="zh-CN" sz="2400" dirty="0">
                <a:effectLst/>
                <a:ea typeface="宋体" pitchFamily="2" charset="-122"/>
              </a:rPr>
              <a:t>In the worst case: $8294.57, only 5.95% less than $8820 </a:t>
            </a:r>
          </a:p>
          <a:p>
            <a:pPr>
              <a:defRPr/>
            </a:pPr>
            <a:endParaRPr lang="en-US" altLang="zh-CN" sz="2600" dirty="0">
              <a:ea typeface="宋体" pitchFamily="2" charset="-122"/>
            </a:endParaRPr>
          </a:p>
          <a:p>
            <a:pPr marL="0" indent="0">
              <a:buNone/>
              <a:defRPr/>
            </a:pPr>
            <a:endParaRPr lang="en-US" altLang="zh-CN" sz="2600" dirty="0">
              <a:ea typeface="宋体" pitchFamily="2" charset="-122"/>
            </a:endParaRPr>
          </a:p>
        </p:txBody>
      </p:sp>
      <p:graphicFrame>
        <p:nvGraphicFramePr>
          <p:cNvPr id="7" name="Table 6"/>
          <p:cNvGraphicFramePr>
            <a:graphicFrameLocks noGrp="1"/>
          </p:cNvGraphicFramePr>
          <p:nvPr>
            <p:extLst>
              <p:ext uri="{D42A27DB-BD31-4B8C-83A1-F6EECF244321}">
                <p14:modId xmlns:p14="http://schemas.microsoft.com/office/powerpoint/2010/main" val="3384726027"/>
              </p:ext>
            </p:extLst>
          </p:nvPr>
        </p:nvGraphicFramePr>
        <p:xfrm>
          <a:off x="2275681" y="1088014"/>
          <a:ext cx="4732763" cy="1009186"/>
        </p:xfrm>
        <a:graphic>
          <a:graphicData uri="http://schemas.openxmlformats.org/drawingml/2006/table">
            <a:tbl>
              <a:tblPr firstRow="1" bandRow="1">
                <a:tableStyleId>{5C22544A-7EE6-4342-B048-85BDC9FD1C3A}</a:tableStyleId>
              </a:tblPr>
              <a:tblGrid>
                <a:gridCol w="1508724">
                  <a:extLst>
                    <a:ext uri="{9D8B030D-6E8A-4147-A177-3AD203B41FA5}">
                      <a16:colId xmlns:a16="http://schemas.microsoft.com/office/drawing/2014/main" val="20000"/>
                    </a:ext>
                  </a:extLst>
                </a:gridCol>
                <a:gridCol w="1616927">
                  <a:extLst>
                    <a:ext uri="{9D8B030D-6E8A-4147-A177-3AD203B41FA5}">
                      <a16:colId xmlns:a16="http://schemas.microsoft.com/office/drawing/2014/main" val="20001"/>
                    </a:ext>
                  </a:extLst>
                </a:gridCol>
                <a:gridCol w="1607112">
                  <a:extLst>
                    <a:ext uri="{9D8B030D-6E8A-4147-A177-3AD203B41FA5}">
                      <a16:colId xmlns:a16="http://schemas.microsoft.com/office/drawing/2014/main" val="20002"/>
                    </a:ext>
                  </a:extLst>
                </a:gridCol>
              </a:tblGrid>
              <a:tr h="504593">
                <a:tc>
                  <a:txBody>
                    <a:bodyPr/>
                    <a:lstStyle/>
                    <a:p>
                      <a:pPr algn="ctr"/>
                      <a:r>
                        <a:rPr lang="en-US" dirty="0"/>
                        <a:t>Drug</a:t>
                      </a:r>
                      <a:r>
                        <a:rPr lang="en-US" baseline="0" dirty="0"/>
                        <a:t> M</a:t>
                      </a:r>
                      <a:endParaRPr lang="en-SG" dirty="0"/>
                    </a:p>
                  </a:txBody>
                  <a:tcPr/>
                </a:tc>
                <a:tc>
                  <a:txBody>
                    <a:bodyPr/>
                    <a:lstStyle/>
                    <a:p>
                      <a:pPr algn="ctr"/>
                      <a:r>
                        <a:rPr lang="en-US" dirty="0"/>
                        <a:t>Raw</a:t>
                      </a:r>
                      <a:r>
                        <a:rPr lang="en-US" baseline="0" dirty="0"/>
                        <a:t> 1</a:t>
                      </a:r>
                      <a:endParaRPr lang="en-SG" dirty="0"/>
                    </a:p>
                  </a:txBody>
                  <a:tcPr/>
                </a:tc>
                <a:tc>
                  <a:txBody>
                    <a:bodyPr/>
                    <a:lstStyle/>
                    <a:p>
                      <a:pPr algn="ctr"/>
                      <a:r>
                        <a:rPr lang="en-US" dirty="0"/>
                        <a:t>Raw 2</a:t>
                      </a:r>
                      <a:endParaRPr lang="en-SG" dirty="0"/>
                    </a:p>
                  </a:txBody>
                  <a:tcPr/>
                </a:tc>
                <a:extLst>
                  <a:ext uri="{0D108BD9-81ED-4DB2-BD59-A6C34878D82A}">
                    <a16:rowId xmlns:a16="http://schemas.microsoft.com/office/drawing/2014/main" val="10000"/>
                  </a:ext>
                </a:extLst>
              </a:tr>
              <a:tr h="504593">
                <a:tc>
                  <a:txBody>
                    <a:bodyPr/>
                    <a:lstStyle/>
                    <a:p>
                      <a:pPr algn="ctr"/>
                      <a:r>
                        <a:rPr lang="en-US" dirty="0"/>
                        <a:t>17.47</a:t>
                      </a:r>
                      <a:endParaRPr lang="en-SG" dirty="0"/>
                    </a:p>
                  </a:txBody>
                  <a:tcPr/>
                </a:tc>
                <a:tc>
                  <a:txBody>
                    <a:bodyPr/>
                    <a:lstStyle/>
                    <a:p>
                      <a:pPr algn="ctr"/>
                      <a:r>
                        <a:rPr lang="en-US" dirty="0"/>
                        <a:t>877.732</a:t>
                      </a:r>
                      <a:endParaRPr lang="en-SG" dirty="0"/>
                    </a:p>
                  </a:txBody>
                  <a:tcPr/>
                </a:tc>
                <a:tc>
                  <a:txBody>
                    <a:bodyPr/>
                    <a:lstStyle/>
                    <a:p>
                      <a:pPr algn="ctr"/>
                      <a:r>
                        <a:rPr lang="en-US" dirty="0"/>
                        <a:t>0</a:t>
                      </a:r>
                      <a:endParaRPr lang="en-SG" dirty="0"/>
                    </a:p>
                  </a:txBody>
                  <a:tcPr/>
                </a:tc>
                <a:extLst>
                  <a:ext uri="{0D108BD9-81ED-4DB2-BD59-A6C34878D82A}">
                    <a16:rowId xmlns:a16="http://schemas.microsoft.com/office/drawing/2014/main" val="10001"/>
                  </a:ext>
                </a:extLst>
              </a:tr>
            </a:tbl>
          </a:graphicData>
        </a:graphic>
      </p:graphicFrame>
      <p:sp>
        <p:nvSpPr>
          <p:cNvPr id="5" name="TextBox 4"/>
          <p:cNvSpPr txBox="1">
            <a:spLocks noChangeArrowheads="1"/>
          </p:cNvSpPr>
          <p:nvPr/>
        </p:nvSpPr>
        <p:spPr bwMode="auto">
          <a:xfrm>
            <a:off x="623539" y="3919563"/>
            <a:ext cx="8216582" cy="461665"/>
          </a:xfrm>
          <a:prstGeom prst="rect">
            <a:avLst/>
          </a:prstGeom>
          <a:noFill/>
          <a:ln w="9525">
            <a:no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sz="2400" dirty="0">
                <a:solidFill>
                  <a:srgbClr val="FF0000"/>
                </a:solidFill>
              </a:rPr>
              <a:t>877.732*1% = 8.777 &gt; 17.47*50% = 8.735</a:t>
            </a:r>
          </a:p>
        </p:txBody>
      </p:sp>
    </p:spTree>
    <p:extLst>
      <p:ext uri="{BB962C8B-B14F-4D97-AF65-F5344CB8AC3E}">
        <p14:creationId xmlns:p14="http://schemas.microsoft.com/office/powerpoint/2010/main" val="3312238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Controlling Conservativeness </a:t>
            </a:r>
          </a:p>
        </p:txBody>
      </p:sp>
      <mc:AlternateContent xmlns:mc="http://schemas.openxmlformats.org/markup-compatibility/2006" xmlns:a14="http://schemas.microsoft.com/office/drawing/2010/main">
        <mc:Choice Requires="a14">
          <p:sp>
            <p:nvSpPr>
              <p:cNvPr id="315395" name="Rectangle 3"/>
              <p:cNvSpPr>
                <a:spLocks noGrp="1" noChangeArrowheads="1"/>
              </p:cNvSpPr>
              <p:nvPr>
                <p:ph type="body" sz="half" idx="1"/>
              </p:nvPr>
            </p:nvSpPr>
            <p:spPr>
              <a:xfrm>
                <a:off x="17463" y="640424"/>
                <a:ext cx="9249200" cy="4572000"/>
              </a:xfrm>
            </p:spPr>
            <p:txBody>
              <a:bodyPr/>
              <a:lstStyle/>
              <a:p>
                <a:pPr marL="0" indent="0">
                  <a:buNone/>
                  <a:defRPr/>
                </a:pPr>
                <a:endParaRPr lang="en-US" altLang="zh-CN" sz="2600" dirty="0">
                  <a:ea typeface="宋体" pitchFamily="2" charset="-122"/>
                </a:endParaRPr>
              </a:p>
              <a:p>
                <a:pPr>
                  <a:defRPr/>
                </a:pPr>
                <a:r>
                  <a:rPr lang="en-US" altLang="zh-CN" sz="2600" dirty="0">
                    <a:effectLst/>
                    <a:ea typeface="宋体" pitchFamily="2" charset="-122"/>
                  </a:rPr>
                  <a:t>Prepare for the worst.</a:t>
                </a:r>
              </a:p>
              <a:p>
                <a:pPr marL="739775" lvl="1" indent="-342900">
                  <a:defRPr/>
                </a:pPr>
                <a:r>
                  <a:rPr lang="en-US" altLang="zh-CN" sz="2400" dirty="0">
                    <a:effectLst/>
                    <a:ea typeface="宋体" pitchFamily="2" charset="-122"/>
                  </a:rPr>
                  <a:t>Is it highly likely that the content in raw 1 and raw 2 are 0.995% and 1.96% simultaneously</a:t>
                </a:r>
                <a:r>
                  <a:rPr lang="en-US" altLang="zh-CN" sz="2200" dirty="0">
                    <a:effectLst/>
                    <a:ea typeface="宋体" pitchFamily="2" charset="-122"/>
                  </a:rPr>
                  <a:t>? </a:t>
                </a:r>
              </a:p>
              <a:p>
                <a:pPr>
                  <a:defRPr/>
                </a:pPr>
                <a:r>
                  <a:rPr lang="en-US" altLang="zh-CN" sz="2400" dirty="0">
                    <a:effectLst/>
                    <a:ea typeface="宋体" pitchFamily="2" charset="-122"/>
                  </a:rPr>
                  <a:t>Alternatively:</a:t>
                </a:r>
              </a:p>
              <a:p>
                <a:pPr>
                  <a:defRPr/>
                </a:pPr>
                <a:endParaRPr lang="en-US" altLang="zh-CN" sz="2400" dirty="0">
                  <a:effectLst/>
                  <a:ea typeface="宋体" pitchFamily="2" charset="-122"/>
                </a:endParaRPr>
              </a:p>
              <a:p>
                <a:pPr marL="0" indent="0">
                  <a:buNone/>
                  <a:defRPr/>
                </a:pPr>
                <a:endParaRPr lang="en-US" altLang="zh-CN" sz="2400" dirty="0">
                  <a:effectLst/>
                  <a:ea typeface="宋体" pitchFamily="2" charset="-122"/>
                </a:endParaRPr>
              </a:p>
              <a:p>
                <a:pPr lvl="1">
                  <a:defRPr/>
                </a:pPr>
                <a:endParaRPr lang="en-US" altLang="zh-CN" sz="2200" dirty="0">
                  <a:effectLst/>
                  <a:ea typeface="宋体" pitchFamily="2" charset="-122"/>
                </a:endParaRPr>
              </a:p>
              <a:p>
                <a:pPr lvl="1">
                  <a:defRPr/>
                </a:pPr>
                <a:r>
                  <a:rPr lang="en-US" altLang="zh-CN" sz="2200" dirty="0">
                    <a:effectLst/>
                    <a:ea typeface="宋体" pitchFamily="2" charset="-122"/>
                  </a:rPr>
                  <a:t>Is it highly likely that </a:t>
                </a:r>
                <a14:m>
                  <m:oMath xmlns:m="http://schemas.openxmlformats.org/officeDocument/2006/math">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m:t>
                        </m:r>
                        <m:r>
                          <a:rPr lang="en-US" sz="2400" b="0" i="1">
                            <a:effectLst/>
                            <a:latin typeface="Cambria Math" panose="02040503050406030204" pitchFamily="18" charset="0"/>
                          </a:rPr>
                          <m:t>𝑧</m:t>
                        </m:r>
                      </m:e>
                      <m:sub>
                        <m:r>
                          <a:rPr lang="en-US" sz="2400" b="0" i="1">
                            <a:effectLst/>
                            <a:latin typeface="Cambria Math" panose="02040503050406030204" pitchFamily="18" charset="0"/>
                          </a:rPr>
                          <m:t>1</m:t>
                        </m:r>
                      </m:sub>
                    </m:sSub>
                    <m:d>
                      <m:dPr>
                        <m:begChr m:val="|"/>
                        <m:endChr m:val="|"/>
                        <m:ctrlPr>
                          <a:rPr lang="en-US" sz="2400" b="0" i="1">
                            <a:effectLst/>
                            <a:latin typeface="Cambria Math" panose="02040503050406030204" pitchFamily="18" charset="0"/>
                          </a:rPr>
                        </m:ctrlPr>
                      </m:dPr>
                      <m:e>
                        <m:r>
                          <a:rPr lang="en-US" sz="2400" b="0" i="1">
                            <a:effectLst/>
                            <a:latin typeface="Cambria Math" panose="02040503050406030204" pitchFamily="18" charset="0"/>
                          </a:rPr>
                          <m:t>+</m:t>
                        </m:r>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m:t>
                            </m:r>
                            <m:r>
                              <a:rPr lang="en-US" sz="2400" b="0" i="1">
                                <a:effectLst/>
                                <a:latin typeface="Cambria Math" panose="02040503050406030204" pitchFamily="18" charset="0"/>
                              </a:rPr>
                              <m:t>𝑧</m:t>
                            </m:r>
                          </m:e>
                          <m:sub>
                            <m:r>
                              <a:rPr lang="en-US" sz="2400" b="0" i="1">
                                <a:effectLst/>
                                <a:latin typeface="Cambria Math" panose="02040503050406030204" pitchFamily="18" charset="0"/>
                              </a:rPr>
                              <m:t>2</m:t>
                            </m:r>
                          </m:sub>
                        </m:sSub>
                      </m:e>
                    </m:d>
                    <m:r>
                      <a:rPr lang="en-US" sz="2400" b="0" i="1" smtClean="0">
                        <a:effectLst/>
                        <a:latin typeface="Cambria Math" panose="02040503050406030204" pitchFamily="18" charset="0"/>
                      </a:rPr>
                      <m:t>=2</m:t>
                    </m:r>
                  </m:oMath>
                </a14:m>
                <a:r>
                  <a:rPr lang="en-US" altLang="zh-CN" sz="2400" dirty="0">
                    <a:effectLst/>
                    <a:ea typeface="宋体" pitchFamily="2" charset="-122"/>
                  </a:rPr>
                  <a:t>?</a:t>
                </a:r>
                <a:endParaRPr lang="en-US" altLang="zh-CN" sz="2400" b="0" i="1" dirty="0">
                  <a:effectLst/>
                  <a:latin typeface="Cambria Math" panose="02040503050406030204" pitchFamily="18" charset="0"/>
                  <a:ea typeface="宋体" pitchFamily="2" charset="-122"/>
                </a:endParaRPr>
              </a:p>
              <a:p>
                <a:pPr>
                  <a:defRPr/>
                </a:pPr>
                <a:r>
                  <a:rPr lang="en-US" altLang="zh-CN" sz="2400" dirty="0">
                    <a:effectLst/>
                    <a:ea typeface="宋体" pitchFamily="2" charset="-122"/>
                  </a:rPr>
                  <a:t>Better Model:</a:t>
                </a:r>
              </a:p>
              <a:p>
                <a:pPr lvl="1">
                  <a:defRPr/>
                </a:pPr>
                <a14:m>
                  <m:oMath xmlns:m="http://schemas.openxmlformats.org/officeDocument/2006/math">
                    <m:sSub>
                      <m:sSubPr>
                        <m:ctrlPr>
                          <a:rPr lang="en-US" sz="2200" b="0" i="1">
                            <a:effectLst/>
                            <a:latin typeface="Cambria Math" panose="02040503050406030204" pitchFamily="18" charset="0"/>
                            <a:ea typeface="宋体" pitchFamily="2" charset="-122"/>
                          </a:rPr>
                        </m:ctrlPr>
                      </m:sSubPr>
                      <m:e>
                        <m:r>
                          <a:rPr lang="en-US" sz="2200" b="0">
                            <a:effectLst/>
                            <a:latin typeface="Cambria Math" panose="02040503050406030204" pitchFamily="18" charset="0"/>
                            <a:ea typeface="宋体" pitchFamily="2" charset="-122"/>
                          </a:rPr>
                          <m:t>|</m:t>
                        </m:r>
                        <m:r>
                          <a:rPr lang="en-US" sz="2200" b="0" i="1">
                            <a:effectLst/>
                            <a:latin typeface="Cambria Math" panose="02040503050406030204" pitchFamily="18" charset="0"/>
                            <a:ea typeface="宋体" pitchFamily="2" charset="-122"/>
                          </a:rPr>
                          <m:t>𝑧</m:t>
                        </m:r>
                      </m:e>
                      <m:sub>
                        <m:r>
                          <a:rPr lang="en-US" sz="2200" b="0" i="1">
                            <a:effectLst/>
                            <a:latin typeface="Cambria Math" panose="02040503050406030204" pitchFamily="18" charset="0"/>
                            <a:ea typeface="宋体" pitchFamily="2" charset="-122"/>
                          </a:rPr>
                          <m:t>1</m:t>
                        </m:r>
                      </m:sub>
                    </m:sSub>
                    <m:d>
                      <m:dPr>
                        <m:begChr m:val="|"/>
                        <m:endChr m:val="|"/>
                        <m:ctrlPr>
                          <a:rPr lang="en-US" sz="2200" b="0" i="1">
                            <a:effectLst/>
                            <a:latin typeface="Cambria Math" panose="02040503050406030204" pitchFamily="18" charset="0"/>
                            <a:ea typeface="宋体" pitchFamily="2" charset="-122"/>
                          </a:rPr>
                        </m:ctrlPr>
                      </m:dPr>
                      <m:e>
                        <m:r>
                          <a:rPr lang="en-US" sz="2200" b="0">
                            <a:effectLst/>
                            <a:latin typeface="Cambria Math" panose="02040503050406030204" pitchFamily="18" charset="0"/>
                            <a:ea typeface="宋体" pitchFamily="2" charset="-122"/>
                          </a:rPr>
                          <m:t>+</m:t>
                        </m:r>
                        <m:sSub>
                          <m:sSubPr>
                            <m:ctrlPr>
                              <a:rPr lang="en-US" sz="2200" b="0" i="1">
                                <a:effectLst/>
                                <a:latin typeface="Cambria Math" panose="02040503050406030204" pitchFamily="18" charset="0"/>
                                <a:ea typeface="宋体" pitchFamily="2" charset="-122"/>
                              </a:rPr>
                            </m:ctrlPr>
                          </m:sSubPr>
                          <m:e>
                            <m:r>
                              <a:rPr lang="en-US" sz="2200" b="0">
                                <a:effectLst/>
                                <a:latin typeface="Cambria Math" panose="02040503050406030204" pitchFamily="18" charset="0"/>
                                <a:ea typeface="宋体" pitchFamily="2" charset="-122"/>
                              </a:rPr>
                              <m:t>|</m:t>
                            </m:r>
                            <m:r>
                              <a:rPr lang="en-US" sz="2200" b="0" i="1">
                                <a:effectLst/>
                                <a:latin typeface="Cambria Math" panose="02040503050406030204" pitchFamily="18" charset="0"/>
                                <a:ea typeface="宋体" pitchFamily="2" charset="-122"/>
                              </a:rPr>
                              <m:t>𝑧</m:t>
                            </m:r>
                          </m:e>
                          <m:sub>
                            <m:r>
                              <a:rPr lang="en-US" sz="2200" b="0" i="1">
                                <a:effectLst/>
                                <a:latin typeface="Cambria Math" panose="02040503050406030204" pitchFamily="18" charset="0"/>
                                <a:ea typeface="宋体" pitchFamily="2" charset="-122"/>
                              </a:rPr>
                              <m:t>2</m:t>
                            </m:r>
                          </m:sub>
                        </m:sSub>
                      </m:e>
                    </m:d>
                    <m:r>
                      <a:rPr lang="en-US" sz="2200" b="0" i="1" smtClean="0">
                        <a:effectLst/>
                        <a:latin typeface="Cambria Math" panose="02040503050406030204" pitchFamily="18" charset="0"/>
                        <a:ea typeface="Cambria Math" panose="02040503050406030204" pitchFamily="18" charset="0"/>
                      </a:rPr>
                      <m:t>≤</m:t>
                    </m:r>
                    <m:r>
                      <a:rPr lang="en-US" sz="2200" b="0" i="1">
                        <a:effectLst/>
                        <a:latin typeface="Cambria Math" panose="02040503050406030204" pitchFamily="18" charset="0"/>
                        <a:ea typeface="宋体" pitchFamily="2" charset="-122"/>
                      </a:rPr>
                      <m:t>2</m:t>
                    </m:r>
                    <m:r>
                      <a:rPr lang="en-US" sz="2200" b="0" i="1" smtClean="0">
                        <a:effectLst/>
                        <a:latin typeface="Cambria Math" panose="02040503050406030204" pitchFamily="18" charset="0"/>
                        <a:ea typeface="Cambria Math" panose="02040503050406030204" pitchFamily="18" charset="0"/>
                      </a:rPr>
                      <m:t>×</m:t>
                    </m:r>
                    <m:r>
                      <a:rPr lang="en-US" sz="2200" b="0" i="1" smtClean="0">
                        <a:effectLst/>
                        <a:latin typeface="Cambria Math" panose="02040503050406030204" pitchFamily="18" charset="0"/>
                        <a:ea typeface="Cambria Math" panose="02040503050406030204" pitchFamily="18" charset="0"/>
                      </a:rPr>
                      <m:t>𝛼</m:t>
                    </m:r>
                  </m:oMath>
                </a14:m>
                <a:r>
                  <a:rPr lang="en-US" altLang="zh-CN" sz="2200" b="0" dirty="0">
                    <a:effectLst/>
                    <a:ea typeface="宋体" pitchFamily="2" charset="-122"/>
                  </a:rPr>
                  <a:t> </a:t>
                </a:r>
                <a:r>
                  <a:rPr lang="en-US" altLang="zh-CN" sz="2200" dirty="0">
                    <a:effectLst/>
                    <a:ea typeface="宋体" pitchFamily="2" charset="-122"/>
                  </a:rPr>
                  <a:t>with</a:t>
                </a:r>
                <a:r>
                  <a:rPr lang="en-US" altLang="zh-CN" sz="2200" b="0" dirty="0">
                    <a:effectLst/>
                    <a:ea typeface="宋体" pitchFamily="2" charset="-122"/>
                  </a:rPr>
                  <a:t> </a:t>
                </a:r>
                <a14:m>
                  <m:oMath xmlns:m="http://schemas.openxmlformats.org/officeDocument/2006/math">
                    <m:r>
                      <a:rPr lang="en-US" sz="2200" b="0" i="0" smtClean="0">
                        <a:effectLst/>
                        <a:latin typeface="Cambria Math" panose="02040503050406030204" pitchFamily="18" charset="0"/>
                        <a:ea typeface="Cambria Math" panose="02040503050406030204" pitchFamily="18" charset="0"/>
                      </a:rPr>
                      <m:t>0</m:t>
                    </m:r>
                    <m:r>
                      <a:rPr lang="en-US" sz="2200" b="0" i="1" smtClean="0">
                        <a:effectLst/>
                        <a:latin typeface="Cambria Math" panose="02040503050406030204" pitchFamily="18" charset="0"/>
                        <a:ea typeface="Cambria Math" panose="02040503050406030204" pitchFamily="18" charset="0"/>
                      </a:rPr>
                      <m:t>≤</m:t>
                    </m:r>
                    <m:r>
                      <a:rPr lang="en-US" sz="2200" b="0" i="1">
                        <a:effectLst/>
                        <a:latin typeface="Cambria Math" panose="02040503050406030204" pitchFamily="18" charset="0"/>
                        <a:ea typeface="Cambria Math" panose="02040503050406030204" pitchFamily="18" charset="0"/>
                      </a:rPr>
                      <m:t>𝛼</m:t>
                    </m:r>
                    <m:r>
                      <a:rPr lang="en-US" sz="2200" b="0" i="1" smtClean="0">
                        <a:effectLst/>
                        <a:latin typeface="Cambria Math" panose="02040503050406030204" pitchFamily="18" charset="0"/>
                        <a:ea typeface="Cambria Math" panose="02040503050406030204" pitchFamily="18" charset="0"/>
                      </a:rPr>
                      <m:t>≤1</m:t>
                    </m:r>
                  </m:oMath>
                </a14:m>
                <a:endParaRPr lang="en-US" altLang="zh-CN" sz="2200" b="0" dirty="0">
                  <a:effectLst/>
                  <a:ea typeface="宋体" pitchFamily="2" charset="-122"/>
                </a:endParaRPr>
              </a:p>
              <a:p>
                <a:pPr lvl="1">
                  <a:defRPr/>
                </a:pPr>
                <a14:m>
                  <m:oMath xmlns:m="http://schemas.openxmlformats.org/officeDocument/2006/math">
                    <m:r>
                      <a:rPr lang="en-US" sz="2200" b="0" i="1">
                        <a:effectLst/>
                        <a:latin typeface="Cambria Math" panose="02040503050406030204" pitchFamily="18" charset="0"/>
                        <a:ea typeface="Cambria Math" panose="02040503050406030204" pitchFamily="18" charset="0"/>
                      </a:rPr>
                      <m:t>𝛼</m:t>
                    </m:r>
                    <m:r>
                      <a:rPr lang="en-US" sz="2200" b="0" i="1" smtClean="0">
                        <a:effectLst/>
                        <a:latin typeface="Cambria Math" panose="02040503050406030204" pitchFamily="18" charset="0"/>
                        <a:ea typeface="Cambria Math" panose="02040503050406030204" pitchFamily="18" charset="0"/>
                      </a:rPr>
                      <m:t>=0</m:t>
                    </m:r>
                  </m:oMath>
                </a14:m>
                <a:r>
                  <a:rPr lang="en-US" altLang="zh-CN" sz="2200" b="0" dirty="0">
                    <a:effectLst/>
                    <a:ea typeface="宋体" pitchFamily="2" charset="-122"/>
                  </a:rPr>
                  <a:t>:</a:t>
                </a:r>
              </a:p>
              <a:p>
                <a:pPr lvl="1">
                  <a:defRPr/>
                </a:pPr>
                <a14:m>
                  <m:oMath xmlns:m="http://schemas.openxmlformats.org/officeDocument/2006/math">
                    <m:r>
                      <a:rPr lang="en-US" sz="2200" b="0" i="1">
                        <a:effectLst/>
                        <a:latin typeface="Cambria Math" panose="02040503050406030204" pitchFamily="18" charset="0"/>
                        <a:ea typeface="Cambria Math" panose="02040503050406030204" pitchFamily="18" charset="0"/>
                      </a:rPr>
                      <m:t>𝛼</m:t>
                    </m:r>
                    <m:r>
                      <a:rPr lang="en-US" sz="2200" b="0" i="1">
                        <a:effectLst/>
                        <a:latin typeface="Cambria Math" panose="02040503050406030204" pitchFamily="18" charset="0"/>
                        <a:ea typeface="Cambria Math" panose="02040503050406030204" pitchFamily="18" charset="0"/>
                      </a:rPr>
                      <m:t>=1</m:t>
                    </m:r>
                  </m:oMath>
                </a14:m>
                <a:r>
                  <a:rPr lang="en-US" altLang="zh-CN" sz="2200" b="0" dirty="0">
                    <a:effectLst/>
                    <a:ea typeface="宋体" pitchFamily="2" charset="-122"/>
                  </a:rPr>
                  <a:t>:</a:t>
                </a:r>
              </a:p>
            </p:txBody>
          </p:sp>
        </mc:Choice>
        <mc:Fallback xmlns="">
          <p:sp>
            <p:nvSpPr>
              <p:cNvPr id="315395" name="Rectangle 3"/>
              <p:cNvSpPr>
                <a:spLocks noGrp="1" noRot="1" noChangeAspect="1" noMove="1" noResize="1" noEditPoints="1" noAdjustHandles="1" noChangeArrowheads="1" noChangeShapeType="1" noTextEdit="1"/>
              </p:cNvSpPr>
              <p:nvPr>
                <p:ph type="body" sz="half" idx="1"/>
              </p:nvPr>
            </p:nvSpPr>
            <p:spPr>
              <a:xfrm>
                <a:off x="17463" y="640424"/>
                <a:ext cx="9249200" cy="4572000"/>
              </a:xfrm>
              <a:blipFill rotWithShape="0">
                <a:blip r:embed="rId5"/>
                <a:stretch>
                  <a:fillRect l="-1055" b="-24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856851687"/>
                  </p:ext>
                </p:extLst>
              </p:nvPr>
            </p:nvGraphicFramePr>
            <p:xfrm>
              <a:off x="405653" y="2901705"/>
              <a:ext cx="8472820" cy="1187604"/>
            </p:xfrm>
            <a:graphic>
              <a:graphicData uri="http://schemas.openxmlformats.org/drawingml/2006/table">
                <a:tbl>
                  <a:tblPr firstRow="1" bandRow="1">
                    <a:tableStyleId>{5C22544A-7EE6-4342-B048-85BDC9FD1C3A}</a:tableStyleId>
                  </a:tblPr>
                  <a:tblGrid>
                    <a:gridCol w="1664920">
                      <a:extLst>
                        <a:ext uri="{9D8B030D-6E8A-4147-A177-3AD203B41FA5}">
                          <a16:colId xmlns:a16="http://schemas.microsoft.com/office/drawing/2014/main" val="20000"/>
                        </a:ext>
                      </a:extLst>
                    </a:gridCol>
                    <a:gridCol w="2571490">
                      <a:extLst>
                        <a:ext uri="{9D8B030D-6E8A-4147-A177-3AD203B41FA5}">
                          <a16:colId xmlns:a16="http://schemas.microsoft.com/office/drawing/2014/main" val="20001"/>
                        </a:ext>
                      </a:extLst>
                    </a:gridCol>
                    <a:gridCol w="2118205">
                      <a:extLst>
                        <a:ext uri="{9D8B030D-6E8A-4147-A177-3AD203B41FA5}">
                          <a16:colId xmlns:a16="http://schemas.microsoft.com/office/drawing/2014/main" val="20002"/>
                        </a:ext>
                      </a:extLst>
                    </a:gridCol>
                    <a:gridCol w="2118205">
                      <a:extLst>
                        <a:ext uri="{9D8B030D-6E8A-4147-A177-3AD203B41FA5}">
                          <a16:colId xmlns:a16="http://schemas.microsoft.com/office/drawing/2014/main" val="20003"/>
                        </a:ext>
                      </a:extLst>
                    </a:gridCol>
                  </a:tblGrid>
                  <a:tr h="395124">
                    <a:tc>
                      <a:txBody>
                        <a:bodyPr/>
                        <a:lstStyle/>
                        <a:p>
                          <a:pPr algn="ctr"/>
                          <a:r>
                            <a:rPr lang="en-US" dirty="0"/>
                            <a:t>Raw Material</a:t>
                          </a:r>
                          <a:endParaRPr lang="en-SG" dirty="0"/>
                        </a:p>
                      </a:txBody>
                      <a:tcPr/>
                    </a:tc>
                    <a:tc>
                      <a:txBody>
                        <a:bodyPr/>
                        <a:lstStyle/>
                        <a:p>
                          <a:pPr algn="ctr"/>
                          <a:r>
                            <a:rPr lang="en-US" dirty="0"/>
                            <a:t>Content of M</a:t>
                          </a:r>
                          <a:endParaRPr lang="en-SG"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Range</a:t>
                          </a:r>
                          <a:r>
                            <a:rPr lang="en-US" baseline="0" dirty="0"/>
                            <a:t> of </a:t>
                          </a:r>
                          <a14:m>
                            <m:oMath xmlns:m="http://schemas.openxmlformats.org/officeDocument/2006/math">
                              <m:sSub>
                                <m:sSubPr>
                                  <m:ctrlPr>
                                    <a:rPr lang="en-US" sz="1800" b="1" i="1" kern="1200">
                                      <a:solidFill>
                                        <a:schemeClr val="lt1"/>
                                      </a:solidFill>
                                      <a:latin typeface="Cambria Math" panose="02040503050406030204" pitchFamily="18" charset="0"/>
                                      <a:ea typeface="+mn-ea"/>
                                      <a:cs typeface="+mn-cs"/>
                                    </a:rPr>
                                  </m:ctrlPr>
                                </m:sSubPr>
                                <m:e>
                                  <m:r>
                                    <a:rPr lang="en-US" sz="1800" b="1" kern="1200">
                                      <a:solidFill>
                                        <a:schemeClr val="lt1"/>
                                      </a:solidFill>
                                      <a:latin typeface="Cambria Math" panose="02040503050406030204" pitchFamily="18" charset="0"/>
                                      <a:ea typeface="+mn-ea"/>
                                      <a:cs typeface="+mn-cs"/>
                                    </a:rPr>
                                    <m:t>𝑧</m:t>
                                  </m:r>
                                </m:e>
                                <m:sub>
                                  <m:r>
                                    <a:rPr lang="en-US" sz="1800" b="1" kern="1200">
                                      <a:solidFill>
                                        <a:schemeClr val="lt1"/>
                                      </a:solidFill>
                                      <a:latin typeface="Cambria Math" panose="02040503050406030204" pitchFamily="18" charset="0"/>
                                      <a:ea typeface="+mn-ea"/>
                                      <a:cs typeface="+mn-cs"/>
                                    </a:rPr>
                                    <m:t>1</m:t>
                                  </m:r>
                                </m:sub>
                              </m:sSub>
                              <m:r>
                                <a:rPr lang="en-US" sz="1800" b="1" i="0" kern="1200" smtClean="0">
                                  <a:solidFill>
                                    <a:schemeClr val="lt1"/>
                                  </a:solidFill>
                                  <a:latin typeface="Cambria Math" panose="02040503050406030204" pitchFamily="18" charset="0"/>
                                  <a:ea typeface="+mn-ea"/>
                                  <a:cs typeface="+mn-cs"/>
                                </a:rPr>
                                <m:t>,</m:t>
                              </m:r>
                              <m:sSub>
                                <m:sSubPr>
                                  <m:ctrlPr>
                                    <a:rPr lang="en-US" sz="1800" b="1" i="1" kern="1200">
                                      <a:solidFill>
                                        <a:schemeClr val="lt1"/>
                                      </a:solidFill>
                                      <a:latin typeface="Cambria Math" panose="02040503050406030204" pitchFamily="18" charset="0"/>
                                      <a:ea typeface="+mn-ea"/>
                                      <a:cs typeface="+mn-cs"/>
                                    </a:rPr>
                                  </m:ctrlPr>
                                </m:sSubPr>
                                <m:e>
                                  <m:r>
                                    <a:rPr lang="en-US" sz="1800" b="1" kern="1200">
                                      <a:solidFill>
                                        <a:schemeClr val="lt1"/>
                                      </a:solidFill>
                                      <a:latin typeface="Cambria Math" panose="02040503050406030204" pitchFamily="18" charset="0"/>
                                      <a:ea typeface="+mn-ea"/>
                                      <a:cs typeface="+mn-cs"/>
                                    </a:rPr>
                                    <m:t>𝑧</m:t>
                                  </m:r>
                                </m:e>
                                <m:sub>
                                  <m:r>
                                    <a:rPr lang="en-US" sz="1800" b="1" i="0" kern="1200" smtClean="0">
                                      <a:solidFill>
                                        <a:schemeClr val="lt1"/>
                                      </a:solidFill>
                                      <a:latin typeface="Cambria Math" panose="02040503050406030204" pitchFamily="18" charset="0"/>
                                      <a:ea typeface="+mn-ea"/>
                                      <a:cs typeface="+mn-cs"/>
                                    </a:rPr>
                                    <m:t>𝟐</m:t>
                                  </m:r>
                                </m:sub>
                              </m:sSub>
                            </m:oMath>
                          </a14:m>
                          <a:endParaRPr lang="en-SG" sz="1800" b="1" kern="1200" dirty="0">
                            <a:solidFill>
                              <a:schemeClr val="lt1"/>
                            </a:solidFill>
                            <a:latin typeface="+mn-lt"/>
                            <a:ea typeface="+mn-ea"/>
                            <a:cs typeface="+mn-cs"/>
                          </a:endParaRPr>
                        </a:p>
                      </a:txBody>
                      <a:tcPr/>
                    </a:tc>
                    <a:tc>
                      <a:txBody>
                        <a:bodyPr/>
                        <a:lstStyle/>
                        <a:p>
                          <a:pPr algn="ctr"/>
                          <a:r>
                            <a:rPr lang="en-US" dirty="0"/>
                            <a:t>Range of Content</a:t>
                          </a:r>
                          <a:endParaRPr lang="en-SG" dirty="0"/>
                        </a:p>
                      </a:txBody>
                      <a:tcPr/>
                    </a:tc>
                    <a:extLst>
                      <a:ext uri="{0D108BD9-81ED-4DB2-BD59-A6C34878D82A}">
                        <a16:rowId xmlns:a16="http://schemas.microsoft.com/office/drawing/2014/main" val="10000"/>
                      </a:ext>
                    </a:extLst>
                  </a:tr>
                  <a:tr h="329034">
                    <a:tc>
                      <a:txBody>
                        <a:bodyPr/>
                        <a:lstStyle/>
                        <a:p>
                          <a:pPr algn="ctr"/>
                          <a:r>
                            <a:rPr lang="en-US" dirty="0"/>
                            <a:t>Raw 1</a:t>
                          </a:r>
                          <a:endParaRPr lang="en-SG" dirty="0"/>
                        </a:p>
                      </a:txBody>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d>
                                  <m:dPr>
                                    <m:ctrlPr>
                                      <a:rPr lang="en-US" sz="2000" i="1" kern="1200" smtClean="0">
                                        <a:solidFill>
                                          <a:schemeClr val="dk1"/>
                                        </a:solidFill>
                                        <a:latin typeface="Cambria Math" panose="02040503050406030204" pitchFamily="18" charset="0"/>
                                        <a:ea typeface="+mn-ea"/>
                                        <a:cs typeface="+mn-cs"/>
                                      </a:rPr>
                                    </m:ctrlPr>
                                  </m:dPr>
                                  <m:e>
                                    <m:sSub>
                                      <m:sSubPr>
                                        <m:ctrlPr>
                                          <a:rPr lang="en-US" sz="2000" i="1" kern="1200" smtClean="0">
                                            <a:solidFill>
                                              <a:schemeClr val="dk1"/>
                                            </a:solidFill>
                                            <a:latin typeface="Cambria Math" panose="02040503050406030204" pitchFamily="18" charset="0"/>
                                            <a:ea typeface="+mn-ea"/>
                                            <a:cs typeface="+mn-cs"/>
                                          </a:rPr>
                                        </m:ctrlPr>
                                      </m:sSubPr>
                                      <m:e>
                                        <m:r>
                                          <a:rPr lang="en-US" sz="2000" kern="1200" smtClean="0">
                                            <a:solidFill>
                                              <a:schemeClr val="dk1"/>
                                            </a:solidFill>
                                            <a:latin typeface="Cambria Math" panose="02040503050406030204" pitchFamily="18" charset="0"/>
                                            <a:ea typeface="+mn-ea"/>
                                            <a:cs typeface="+mn-cs"/>
                                          </a:rPr>
                                          <m:t>1+</m:t>
                                        </m:r>
                                        <m:r>
                                          <a:rPr lang="en-US" sz="2000" kern="1200">
                                            <a:solidFill>
                                              <a:schemeClr val="dk1"/>
                                            </a:solidFill>
                                            <a:latin typeface="Cambria Math" panose="02040503050406030204" pitchFamily="18" charset="0"/>
                                            <a:ea typeface="+mn-ea"/>
                                            <a:cs typeface="+mn-cs"/>
                                          </a:rPr>
                                          <m:t>𝑧</m:t>
                                        </m:r>
                                      </m:e>
                                      <m:sub>
                                        <m:r>
                                          <a:rPr lang="en-US" sz="2000" kern="1200">
                                            <a:solidFill>
                                              <a:schemeClr val="dk1"/>
                                            </a:solidFill>
                                            <a:latin typeface="Cambria Math" panose="02040503050406030204" pitchFamily="18" charset="0"/>
                                            <a:ea typeface="+mn-ea"/>
                                            <a:cs typeface="+mn-cs"/>
                                          </a:rPr>
                                          <m:t>1</m:t>
                                        </m:r>
                                      </m:sub>
                                    </m:sSub>
                                    <m:r>
                                      <a:rPr lang="en-US" sz="2000" kern="1200" smtClean="0">
                                        <a:solidFill>
                                          <a:schemeClr val="dk1"/>
                                        </a:solidFill>
                                        <a:latin typeface="Cambria Math" panose="02040503050406030204" pitchFamily="18" charset="0"/>
                                        <a:ea typeface="+mn-ea"/>
                                        <a:cs typeface="+mn-cs"/>
                                      </a:rPr>
                                      <m:t>∗0.005</m:t>
                                    </m:r>
                                  </m:e>
                                </m:d>
                                <m:r>
                                  <a:rPr lang="en-US" sz="2000" b="0" i="0" kern="1200" smtClean="0">
                                    <a:solidFill>
                                      <a:schemeClr val="dk1"/>
                                    </a:solidFill>
                                    <a:latin typeface="Cambria Math" panose="02040503050406030204" pitchFamily="18" charset="0"/>
                                    <a:ea typeface="+mn-ea"/>
                                    <a:cs typeface="+mn-cs"/>
                                  </a:rPr>
                                  <m:t>%</m:t>
                                </m:r>
                              </m:oMath>
                            </m:oMathPara>
                          </a14:m>
                          <a:endParaRPr lang="en-SG" sz="2000" kern="1200" dirty="0">
                            <a:solidFill>
                              <a:schemeClr val="dk1"/>
                            </a:solidFill>
                            <a:latin typeface="+mn-lt"/>
                            <a:ea typeface="+mn-ea"/>
                            <a:cs typeface="+mn-cs"/>
                          </a:endParaRPr>
                        </a:p>
                      </a:txBody>
                      <a:tcPr/>
                    </a:tc>
                    <a:tc>
                      <a:txBody>
                        <a:bodyPr/>
                        <a:lstStyle/>
                        <a:p>
                          <a:pPr algn="ctr"/>
                          <a:r>
                            <a:rPr lang="en-US" dirty="0"/>
                            <a:t>[-1,</a:t>
                          </a:r>
                          <a:r>
                            <a:rPr lang="en-US" baseline="0" dirty="0"/>
                            <a:t> 1</a:t>
                          </a:r>
                          <a:r>
                            <a:rPr lang="en-US" dirty="0"/>
                            <a:t>]</a:t>
                          </a:r>
                          <a:endParaRPr lang="en-SG"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[0.995%, 1.005%]</a:t>
                          </a:r>
                          <a:endParaRPr lang="en-SG" dirty="0"/>
                        </a:p>
                      </a:txBody>
                      <a:tcPr/>
                    </a:tc>
                    <a:extLst>
                      <a:ext uri="{0D108BD9-81ED-4DB2-BD59-A6C34878D82A}">
                        <a16:rowId xmlns:a16="http://schemas.microsoft.com/office/drawing/2014/main" val="10001"/>
                      </a:ext>
                    </a:extLst>
                  </a:tr>
                  <a:tr h="329034">
                    <a:tc>
                      <a:txBody>
                        <a:bodyPr/>
                        <a:lstStyle/>
                        <a:p>
                          <a:pPr algn="ctr"/>
                          <a:r>
                            <a:rPr lang="en-US" dirty="0"/>
                            <a:t>Raw 2</a:t>
                          </a:r>
                          <a:endParaRPr lang="en-SG"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2000" i="1" kern="1200" smtClean="0">
                                        <a:solidFill>
                                          <a:schemeClr val="dk1"/>
                                        </a:solidFill>
                                        <a:latin typeface="Cambria Math" panose="02040503050406030204" pitchFamily="18" charset="0"/>
                                        <a:ea typeface="+mn-ea"/>
                                        <a:cs typeface="+mn-cs"/>
                                      </a:rPr>
                                    </m:ctrlPr>
                                  </m:dPr>
                                  <m:e>
                                    <m:sSub>
                                      <m:sSubPr>
                                        <m:ctrlPr>
                                          <a:rPr lang="en-US" sz="2000" b="0" i="1" kern="1200" smtClean="0">
                                            <a:solidFill>
                                              <a:schemeClr val="dk1"/>
                                            </a:solidFill>
                                            <a:latin typeface="Cambria Math" panose="02040503050406030204" pitchFamily="18" charset="0"/>
                                            <a:ea typeface="+mn-ea"/>
                                            <a:cs typeface="+mn-cs"/>
                                          </a:rPr>
                                        </m:ctrlPr>
                                      </m:sSubPr>
                                      <m:e>
                                        <m:r>
                                          <a:rPr lang="en-US" sz="2000" b="0" i="0" kern="1200" smtClean="0">
                                            <a:solidFill>
                                              <a:schemeClr val="dk1"/>
                                            </a:solidFill>
                                            <a:latin typeface="Cambria Math" panose="02040503050406030204" pitchFamily="18" charset="0"/>
                                            <a:ea typeface="+mn-ea"/>
                                            <a:cs typeface="+mn-cs"/>
                                          </a:rPr>
                                          <m:t>2</m:t>
                                        </m:r>
                                        <m:r>
                                          <a:rPr lang="en-US" sz="2000" kern="1200" smtClean="0">
                                            <a:solidFill>
                                              <a:schemeClr val="dk1"/>
                                            </a:solidFill>
                                            <a:latin typeface="Cambria Math" panose="02040503050406030204" pitchFamily="18" charset="0"/>
                                            <a:ea typeface="+mn-ea"/>
                                            <a:cs typeface="+mn-cs"/>
                                          </a:rPr>
                                          <m:t>+</m:t>
                                        </m:r>
                                        <m:r>
                                          <a:rPr lang="en-US" sz="2000" kern="1200">
                                            <a:solidFill>
                                              <a:schemeClr val="dk1"/>
                                            </a:solidFill>
                                            <a:latin typeface="Cambria Math" panose="02040503050406030204" pitchFamily="18" charset="0"/>
                                            <a:ea typeface="+mn-ea"/>
                                            <a:cs typeface="+mn-cs"/>
                                          </a:rPr>
                                          <m:t>𝑧</m:t>
                                        </m:r>
                                      </m:e>
                                      <m:sub>
                                        <m:r>
                                          <a:rPr lang="en-US" sz="2000" b="0" i="0" kern="1200" smtClean="0">
                                            <a:solidFill>
                                              <a:schemeClr val="dk1"/>
                                            </a:solidFill>
                                            <a:latin typeface="Cambria Math" panose="02040503050406030204" pitchFamily="18" charset="0"/>
                                            <a:ea typeface="+mn-ea"/>
                                            <a:cs typeface="+mn-cs"/>
                                          </a:rPr>
                                          <m:t>2</m:t>
                                        </m:r>
                                      </m:sub>
                                    </m:sSub>
                                    <m:r>
                                      <a:rPr lang="en-US" sz="2000" kern="1200" smtClean="0">
                                        <a:solidFill>
                                          <a:schemeClr val="dk1"/>
                                        </a:solidFill>
                                        <a:latin typeface="Cambria Math" panose="02040503050406030204" pitchFamily="18" charset="0"/>
                                        <a:ea typeface="+mn-ea"/>
                                        <a:cs typeface="+mn-cs"/>
                                      </a:rPr>
                                      <m:t>∗0.0</m:t>
                                    </m:r>
                                    <m:r>
                                      <a:rPr lang="en-US" sz="2000" b="0" i="0" kern="1200" smtClean="0">
                                        <a:solidFill>
                                          <a:schemeClr val="dk1"/>
                                        </a:solidFill>
                                        <a:latin typeface="Cambria Math" panose="02040503050406030204" pitchFamily="18" charset="0"/>
                                        <a:ea typeface="+mn-ea"/>
                                        <a:cs typeface="+mn-cs"/>
                                      </a:rPr>
                                      <m:t>4</m:t>
                                    </m:r>
                                  </m:e>
                                </m:d>
                                <m:r>
                                  <a:rPr lang="en-US" sz="2000" b="0" i="0" kern="1200" smtClean="0">
                                    <a:solidFill>
                                      <a:schemeClr val="dk1"/>
                                    </a:solidFill>
                                    <a:latin typeface="Cambria Math" panose="02040503050406030204" pitchFamily="18" charset="0"/>
                                    <a:ea typeface="+mn-ea"/>
                                    <a:cs typeface="+mn-cs"/>
                                  </a:rPr>
                                  <m:t>%</m:t>
                                </m:r>
                              </m:oMath>
                            </m:oMathPara>
                          </a14:m>
                          <a:endParaRPr lang="en-SG" sz="1800" kern="1200" dirty="0">
                            <a:solidFill>
                              <a:schemeClr val="dk1"/>
                            </a:solidFill>
                            <a:latin typeface="+mn-lt"/>
                            <a:ea typeface="+mn-ea"/>
                            <a:cs typeface="+mn-cs"/>
                          </a:endParaRPr>
                        </a:p>
                      </a:txBody>
                      <a:tcPr/>
                    </a:tc>
                    <a:tc>
                      <a:txBody>
                        <a:bodyPr/>
                        <a:lstStyle/>
                        <a:p>
                          <a:pPr algn="ctr"/>
                          <a:r>
                            <a:rPr lang="en-US" dirty="0"/>
                            <a:t>[-1,</a:t>
                          </a:r>
                          <a:r>
                            <a:rPr lang="en-US" baseline="0" dirty="0"/>
                            <a:t> 1</a:t>
                          </a:r>
                          <a:r>
                            <a:rPr lang="en-US" dirty="0"/>
                            <a:t>]</a:t>
                          </a:r>
                          <a:endParaRPr lang="en-SG"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[1.96%,</a:t>
                          </a:r>
                          <a:r>
                            <a:rPr lang="en-US" baseline="0" dirty="0"/>
                            <a:t> 2.04%</a:t>
                          </a:r>
                          <a:r>
                            <a:rPr lang="en-US" dirty="0"/>
                            <a:t>]</a:t>
                          </a:r>
                          <a:endParaRPr lang="en-SG" dirty="0"/>
                        </a:p>
                      </a:txBody>
                      <a:tcPr/>
                    </a:tc>
                    <a:extLst>
                      <a:ext uri="{0D108BD9-81ED-4DB2-BD59-A6C34878D82A}">
                        <a16:rowId xmlns:a16="http://schemas.microsoft.com/office/drawing/2014/main" val="10002"/>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856851687"/>
                  </p:ext>
                </p:extLst>
              </p:nvPr>
            </p:nvGraphicFramePr>
            <p:xfrm>
              <a:off x="405653" y="2901705"/>
              <a:ext cx="8472820" cy="1187604"/>
            </p:xfrm>
            <a:graphic>
              <a:graphicData uri="http://schemas.openxmlformats.org/drawingml/2006/table">
                <a:tbl>
                  <a:tblPr firstRow="1" bandRow="1">
                    <a:tableStyleId>{5C22544A-7EE6-4342-B048-85BDC9FD1C3A}</a:tableStyleId>
                  </a:tblPr>
                  <a:tblGrid>
                    <a:gridCol w="1664920"/>
                    <a:gridCol w="2571490"/>
                    <a:gridCol w="2118205"/>
                    <a:gridCol w="2118205"/>
                  </a:tblGrid>
                  <a:tr h="395124">
                    <a:tc>
                      <a:txBody>
                        <a:bodyPr/>
                        <a:lstStyle/>
                        <a:p>
                          <a:pPr algn="ctr"/>
                          <a:r>
                            <a:rPr lang="en-US" dirty="0" smtClean="0"/>
                            <a:t>Raw Material</a:t>
                          </a:r>
                          <a:endParaRPr lang="en-SG" dirty="0"/>
                        </a:p>
                      </a:txBody>
                      <a:tcPr/>
                    </a:tc>
                    <a:tc>
                      <a:txBody>
                        <a:bodyPr/>
                        <a:lstStyle/>
                        <a:p>
                          <a:pPr algn="ctr"/>
                          <a:r>
                            <a:rPr lang="en-US" dirty="0" smtClean="0"/>
                            <a:t>Content of M</a:t>
                          </a:r>
                          <a:endParaRPr lang="en-SG" dirty="0"/>
                        </a:p>
                      </a:txBody>
                      <a:tcPr/>
                    </a:tc>
                    <a:tc>
                      <a:txBody>
                        <a:bodyPr/>
                        <a:lstStyle/>
                        <a:p>
                          <a:endParaRPr lang="en-US"/>
                        </a:p>
                      </a:txBody>
                      <a:tcPr>
                        <a:blipFill rotWithShape="0">
                          <a:blip r:embed="rId6"/>
                          <a:stretch>
                            <a:fillRect l="-200865" t="-7692" r="-101441" b="-216923"/>
                          </a:stretch>
                        </a:blipFill>
                      </a:tcPr>
                    </a:tc>
                    <a:tc>
                      <a:txBody>
                        <a:bodyPr/>
                        <a:lstStyle/>
                        <a:p>
                          <a:pPr algn="ctr"/>
                          <a:r>
                            <a:rPr lang="en-US" dirty="0" smtClean="0"/>
                            <a:t>Range of Content</a:t>
                          </a:r>
                          <a:endParaRPr lang="en-SG" dirty="0"/>
                        </a:p>
                      </a:txBody>
                      <a:tcPr/>
                    </a:tc>
                  </a:tr>
                  <a:tr h="396240">
                    <a:tc>
                      <a:txBody>
                        <a:bodyPr/>
                        <a:lstStyle/>
                        <a:p>
                          <a:pPr algn="ctr"/>
                          <a:r>
                            <a:rPr lang="en-US" dirty="0" smtClean="0"/>
                            <a:t>Raw 1</a:t>
                          </a:r>
                          <a:endParaRPr lang="en-SG" dirty="0"/>
                        </a:p>
                      </a:txBody>
                      <a:tcPr/>
                    </a:tc>
                    <a:tc>
                      <a:txBody>
                        <a:bodyPr/>
                        <a:lstStyle/>
                        <a:p>
                          <a:endParaRPr lang="en-US"/>
                        </a:p>
                      </a:txBody>
                      <a:tcPr>
                        <a:blipFill rotWithShape="0">
                          <a:blip r:embed="rId6"/>
                          <a:stretch>
                            <a:fillRect l="-64775" t="-107692" r="-165248" b="-116923"/>
                          </a:stretch>
                        </a:blipFill>
                      </a:tcPr>
                    </a:tc>
                    <a:tc>
                      <a:txBody>
                        <a:bodyPr/>
                        <a:lstStyle/>
                        <a:p>
                          <a:pPr algn="ctr"/>
                          <a:r>
                            <a:rPr lang="en-US" dirty="0" smtClean="0"/>
                            <a:t>[-1,</a:t>
                          </a:r>
                          <a:r>
                            <a:rPr lang="en-US" baseline="0" dirty="0" smtClean="0"/>
                            <a:t> 1</a:t>
                          </a:r>
                          <a:r>
                            <a:rPr lang="en-US" dirty="0" smtClean="0"/>
                            <a:t>]</a:t>
                          </a:r>
                          <a:endParaRPr lang="en-SG"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smtClean="0"/>
                            <a:t>[0.995%, 1.005%]</a:t>
                          </a:r>
                          <a:endParaRPr lang="en-SG" dirty="0" smtClean="0"/>
                        </a:p>
                      </a:txBody>
                      <a:tcPr/>
                    </a:tc>
                  </a:tr>
                  <a:tr h="396240">
                    <a:tc>
                      <a:txBody>
                        <a:bodyPr/>
                        <a:lstStyle/>
                        <a:p>
                          <a:pPr algn="ctr"/>
                          <a:r>
                            <a:rPr lang="en-US" dirty="0" smtClean="0"/>
                            <a:t>Raw 2</a:t>
                          </a:r>
                          <a:endParaRPr lang="en-SG" dirty="0"/>
                        </a:p>
                      </a:txBody>
                      <a:tcPr/>
                    </a:tc>
                    <a:tc>
                      <a:txBody>
                        <a:bodyPr/>
                        <a:lstStyle/>
                        <a:p>
                          <a:endParaRPr lang="en-US"/>
                        </a:p>
                      </a:txBody>
                      <a:tcPr>
                        <a:blipFill rotWithShape="0">
                          <a:blip r:embed="rId6"/>
                          <a:stretch>
                            <a:fillRect l="-64775" t="-207692" r="-165248" b="-16923"/>
                          </a:stretch>
                        </a:blipFill>
                      </a:tcPr>
                    </a:tc>
                    <a:tc>
                      <a:txBody>
                        <a:bodyPr/>
                        <a:lstStyle/>
                        <a:p>
                          <a:pPr algn="ctr"/>
                          <a:r>
                            <a:rPr lang="en-US" dirty="0" smtClean="0"/>
                            <a:t>[-1,</a:t>
                          </a:r>
                          <a:r>
                            <a:rPr lang="en-US" baseline="0" dirty="0" smtClean="0"/>
                            <a:t> 1</a:t>
                          </a:r>
                          <a:r>
                            <a:rPr lang="en-US" dirty="0" smtClean="0"/>
                            <a:t>]</a:t>
                          </a:r>
                          <a:endParaRPr lang="en-SG"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smtClean="0"/>
                            <a:t>[1.96%,</a:t>
                          </a:r>
                          <a:r>
                            <a:rPr lang="en-US" baseline="0" dirty="0" smtClean="0"/>
                            <a:t> 2.04%</a:t>
                          </a:r>
                          <a:r>
                            <a:rPr lang="en-US" dirty="0" smtClean="0"/>
                            <a:t>]</a:t>
                          </a:r>
                          <a:endParaRPr lang="en-SG" dirty="0" smtClean="0"/>
                        </a:p>
                      </a:txBody>
                      <a:tcPr/>
                    </a:tc>
                  </a:tr>
                </a:tbl>
              </a:graphicData>
            </a:graphic>
          </p:graphicFrame>
        </mc:Fallback>
      </mc:AlternateContent>
    </p:spTree>
    <p:extLst>
      <p:ext uri="{BB962C8B-B14F-4D97-AF65-F5344CB8AC3E}">
        <p14:creationId xmlns:p14="http://schemas.microsoft.com/office/powerpoint/2010/main" val="7400139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Controlling Conservativeness </a:t>
            </a:r>
          </a:p>
        </p:txBody>
      </p:sp>
      <mc:AlternateContent xmlns:mc="http://schemas.openxmlformats.org/markup-compatibility/2006" xmlns:a14="http://schemas.microsoft.com/office/drawing/2010/main">
        <mc:Choice Requires="a14">
          <p:sp>
            <p:nvSpPr>
              <p:cNvPr id="315395" name="Rectangle 3"/>
              <p:cNvSpPr>
                <a:spLocks noGrp="1" noChangeArrowheads="1"/>
              </p:cNvSpPr>
              <p:nvPr>
                <p:ph type="body" sz="half" idx="1"/>
              </p:nvPr>
            </p:nvSpPr>
            <p:spPr>
              <a:xfrm>
                <a:off x="17463" y="640424"/>
                <a:ext cx="9249200" cy="4572000"/>
              </a:xfrm>
            </p:spPr>
            <p:txBody>
              <a:bodyPr/>
              <a:lstStyle/>
              <a:p>
                <a:pPr marL="0" indent="0">
                  <a:buNone/>
                  <a:defRPr/>
                </a:pPr>
                <a:endParaRPr lang="en-US" altLang="zh-CN" sz="2600" dirty="0">
                  <a:ea typeface="宋体" pitchFamily="2" charset="-122"/>
                </a:endParaRPr>
              </a:p>
              <a:p>
                <a:pPr>
                  <a:defRPr/>
                </a:pPr>
                <a:r>
                  <a:rPr lang="en-US" altLang="zh-CN" sz="2600" dirty="0">
                    <a:effectLst/>
                    <a:ea typeface="宋体" pitchFamily="2" charset="-122"/>
                  </a:rPr>
                  <a:t>Ingredient constraint:</a:t>
                </a:r>
              </a:p>
              <a:p>
                <a:pPr marL="739775" lvl="1" indent="-342900">
                  <a:defRPr/>
                </a:pPr>
                <a14:m>
                  <m:oMath xmlns:m="http://schemas.openxmlformats.org/officeDocument/2006/math">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(1+</m:t>
                        </m:r>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𝑧</m:t>
                            </m:r>
                          </m:e>
                          <m:sub>
                            <m:r>
                              <a:rPr lang="en-US" sz="2400" b="0" i="1">
                                <a:effectLst/>
                                <a:latin typeface="Cambria Math" panose="02040503050406030204" pitchFamily="18" charset="0"/>
                              </a:rPr>
                              <m:t>1</m:t>
                            </m:r>
                          </m:sub>
                        </m:sSub>
                        <m:r>
                          <a:rPr lang="en-US" sz="2400" b="0" i="1">
                            <a:effectLst/>
                            <a:latin typeface="Cambria Math" panose="02040503050406030204" pitchFamily="18" charset="0"/>
                          </a:rPr>
                          <m:t>∗0.005)%</m:t>
                        </m:r>
                        <m:r>
                          <a:rPr lang="en-US" sz="2400" b="0" i="1" smtClean="0">
                            <a:effectLst/>
                            <a:latin typeface="Cambria Math" panose="02040503050406030204" pitchFamily="18" charset="0"/>
                            <a:ea typeface="Cambria Math" panose="02040503050406030204" pitchFamily="18" charset="0"/>
                          </a:rPr>
                          <m:t>×</m:t>
                        </m:r>
                        <m:r>
                          <m:rPr>
                            <m:nor/>
                          </m:rPr>
                          <a:rPr lang="en-SG" sz="2400" b="0" i="1" dirty="0">
                            <a:effectLst/>
                            <a:latin typeface="Cambria Math" panose="02040503050406030204" pitchFamily="18" charset="0"/>
                          </a:rPr>
                          <m:t> </m:t>
                        </m:r>
                        <m:r>
                          <a:rPr lang="en-US" sz="2400" b="0" i="1">
                            <a:effectLst/>
                            <a:latin typeface="Cambria Math" panose="02040503050406030204" pitchFamily="18" charset="0"/>
                          </a:rPr>
                          <m:t>𝑦</m:t>
                        </m:r>
                      </m:e>
                      <m:sub>
                        <m:r>
                          <a:rPr lang="en-US" sz="2400" b="0" i="1">
                            <a:effectLst/>
                            <a:latin typeface="Cambria Math" panose="02040503050406030204" pitchFamily="18" charset="0"/>
                          </a:rPr>
                          <m:t>1</m:t>
                        </m:r>
                      </m:sub>
                    </m:sSub>
                    <m:r>
                      <a:rPr lang="en-US" sz="2400" b="0" i="1">
                        <a:effectLst/>
                        <a:latin typeface="Cambria Math" panose="02040503050406030204" pitchFamily="18" charset="0"/>
                      </a:rPr>
                      <m:t>+</m:t>
                    </m:r>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(2+</m:t>
                        </m:r>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𝑧</m:t>
                            </m:r>
                          </m:e>
                          <m:sub>
                            <m:r>
                              <a:rPr lang="en-US" sz="2400" b="0" i="1">
                                <a:effectLst/>
                                <a:latin typeface="Cambria Math" panose="02040503050406030204" pitchFamily="18" charset="0"/>
                              </a:rPr>
                              <m:t>2</m:t>
                            </m:r>
                          </m:sub>
                        </m:sSub>
                        <m:r>
                          <a:rPr lang="en-US" sz="2400" b="0" i="1">
                            <a:effectLst/>
                            <a:latin typeface="Cambria Math" panose="02040503050406030204" pitchFamily="18" charset="0"/>
                          </a:rPr>
                          <m:t>∗0.04)%</m:t>
                        </m:r>
                        <m:r>
                          <a:rPr lang="en-US" sz="2400" b="0" i="1" smtClean="0">
                            <a:effectLst/>
                            <a:latin typeface="Cambria Math" panose="02040503050406030204" pitchFamily="18" charset="0"/>
                            <a:ea typeface="Cambria Math" panose="02040503050406030204" pitchFamily="18" charset="0"/>
                          </a:rPr>
                          <m:t>×</m:t>
                        </m:r>
                        <m:r>
                          <m:rPr>
                            <m:nor/>
                          </m:rPr>
                          <a:rPr lang="en-SG" sz="2400" b="0" i="1" dirty="0">
                            <a:effectLst/>
                            <a:latin typeface="Cambria Math" panose="02040503050406030204" pitchFamily="18" charset="0"/>
                          </a:rPr>
                          <m:t> </m:t>
                        </m:r>
                        <m:r>
                          <a:rPr lang="en-US" sz="2400" b="0" i="1">
                            <a:effectLst/>
                            <a:latin typeface="Cambria Math" panose="02040503050406030204" pitchFamily="18" charset="0"/>
                          </a:rPr>
                          <m:t>𝑦</m:t>
                        </m:r>
                      </m:e>
                      <m:sub>
                        <m:r>
                          <a:rPr lang="en-US" sz="2400" b="0" i="1">
                            <a:effectLst/>
                            <a:latin typeface="Cambria Math" panose="02040503050406030204" pitchFamily="18" charset="0"/>
                          </a:rPr>
                          <m:t>2</m:t>
                        </m:r>
                      </m:sub>
                    </m:sSub>
                    <m:r>
                      <a:rPr lang="en-US" sz="2400" b="0" i="1">
                        <a:effectLst/>
                        <a:latin typeface="Cambria Math" panose="02040503050406030204" pitchFamily="18" charset="0"/>
                      </a:rPr>
                      <m:t>−0.5</m:t>
                    </m:r>
                    <m:r>
                      <a:rPr lang="en-US" sz="2400" b="0" i="1">
                        <a:effectLst/>
                        <a:latin typeface="Cambria Math" panose="02040503050406030204" pitchFamily="18" charset="0"/>
                      </a:rPr>
                      <m:t>𝑥</m:t>
                    </m:r>
                    <m:r>
                      <a:rPr lang="en-US" sz="2400" b="0" i="1">
                        <a:effectLst/>
                        <a:latin typeface="Cambria Math" panose="02040503050406030204" pitchFamily="18" charset="0"/>
                      </a:rPr>
                      <m:t>≥0</m:t>
                    </m:r>
                  </m:oMath>
                </a14:m>
                <a:r>
                  <a:rPr lang="en-US" altLang="zh-CN" sz="2400" b="0" i="1" dirty="0">
                    <a:effectLst/>
                    <a:latin typeface="Cambria Math" panose="02040503050406030204" pitchFamily="18" charset="0"/>
                  </a:rPr>
                  <a:t> </a:t>
                </a:r>
                <a:endParaRPr lang="en-US" altLang="zh-CN" sz="2400" dirty="0">
                  <a:effectLst/>
                  <a:ea typeface="宋体" pitchFamily="2" charset="-122"/>
                </a:endParaRPr>
              </a:p>
              <a:p>
                <a:pPr>
                  <a:defRPr/>
                </a:pPr>
                <a:r>
                  <a:rPr lang="en-US" altLang="zh-CN" sz="2400" dirty="0">
                    <a:effectLst/>
                    <a:ea typeface="宋体" pitchFamily="2" charset="-122"/>
                  </a:rPr>
                  <a:t>Worst case input?</a:t>
                </a:r>
              </a:p>
              <a:p>
                <a:pPr>
                  <a:defRPr/>
                </a:pPr>
                <a:endParaRPr lang="en-US" altLang="zh-CN" sz="2400" dirty="0">
                  <a:effectLst/>
                  <a:ea typeface="宋体" pitchFamily="2" charset="-122"/>
                </a:endParaRPr>
              </a:p>
              <a:p>
                <a:pPr marL="0" indent="0">
                  <a:buNone/>
                  <a:defRPr/>
                </a:pPr>
                <a:endParaRPr lang="en-US" altLang="zh-CN" sz="2400" dirty="0">
                  <a:effectLst/>
                  <a:ea typeface="宋体" pitchFamily="2" charset="-122"/>
                </a:endParaRPr>
              </a:p>
              <a:p>
                <a:pPr lvl="1">
                  <a:defRPr/>
                </a:pPr>
                <a:endParaRPr lang="en-US" altLang="zh-CN" sz="2200" dirty="0">
                  <a:effectLst/>
                  <a:ea typeface="宋体" pitchFamily="2" charset="-122"/>
                </a:endParaRPr>
              </a:p>
            </p:txBody>
          </p:sp>
        </mc:Choice>
        <mc:Fallback xmlns="">
          <p:sp>
            <p:nvSpPr>
              <p:cNvPr id="315395" name="Rectangle 3"/>
              <p:cNvSpPr>
                <a:spLocks noGrp="1" noRot="1" noChangeAspect="1" noMove="1" noResize="1" noEditPoints="1" noAdjustHandles="1" noChangeArrowheads="1" noChangeShapeType="1" noTextEdit="1"/>
              </p:cNvSpPr>
              <p:nvPr>
                <p:ph type="body" sz="half" idx="1"/>
              </p:nvPr>
            </p:nvSpPr>
            <p:spPr>
              <a:xfrm>
                <a:off x="17463" y="640424"/>
                <a:ext cx="9249200" cy="4572000"/>
              </a:xfrm>
              <a:blipFill rotWithShape="0">
                <a:blip r:embed="rId6"/>
                <a:stretch>
                  <a:fillRect l="-105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Rectangle 3"/>
              <p:cNvSpPr txBox="1">
                <a:spLocks noChangeArrowheads="1"/>
              </p:cNvSpPr>
              <p:nvPr/>
            </p:nvSpPr>
            <p:spPr bwMode="auto">
              <a:xfrm>
                <a:off x="77879" y="2089254"/>
                <a:ext cx="9412111" cy="2082113"/>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pPr>
                <a:r>
                  <a:rPr lang="en-US" kern="0" dirty="0"/>
                  <a:t>                     </a:t>
                </a:r>
                <a14:m>
                  <m:oMath xmlns:m="http://schemas.openxmlformats.org/officeDocument/2006/math">
                    <m:func>
                      <m:funcPr>
                        <m:ctrlPr>
                          <a:rPr lang="en-US" sz="2400" b="0" i="1" smtClean="0">
                            <a:solidFill>
                              <a:srgbClr val="00279F"/>
                            </a:solidFill>
                            <a:effectLst/>
                            <a:latin typeface="Cambria Math" panose="02040503050406030204" pitchFamily="18" charset="0"/>
                          </a:rPr>
                        </m:ctrlPr>
                      </m:funcPr>
                      <m:fName>
                        <m:r>
                          <m:rPr>
                            <m:sty m:val="p"/>
                          </m:rPr>
                          <a:rPr lang="en-US" sz="2400" b="0" i="0" smtClean="0">
                            <a:solidFill>
                              <a:srgbClr val="00279F"/>
                            </a:solidFill>
                            <a:effectLst/>
                            <a:latin typeface="Cambria Math" panose="02040503050406030204" pitchFamily="18" charset="0"/>
                          </a:rPr>
                          <m:t>g</m:t>
                        </m:r>
                        <m:d>
                          <m:dPr>
                            <m:ctrlPr>
                              <a:rPr lang="en-US" sz="2400" b="0" i="1">
                                <a:solidFill>
                                  <a:srgbClr val="00279F"/>
                                </a:solidFill>
                                <a:effectLst/>
                                <a:latin typeface="Cambria Math" panose="02040503050406030204" pitchFamily="18" charset="0"/>
                              </a:rPr>
                            </m:ctrlPr>
                          </m:dPr>
                          <m:e>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𝑦</m:t>
                                </m:r>
                              </m:e>
                              <m:sub>
                                <m:r>
                                  <a:rPr lang="en-US" sz="2400" b="0" i="1">
                                    <a:solidFill>
                                      <a:srgbClr val="00279F"/>
                                    </a:solidFill>
                                    <a:effectLst/>
                                    <a:latin typeface="Cambria Math" panose="02040503050406030204" pitchFamily="18" charset="0"/>
                                  </a:rPr>
                                  <m:t>2</m:t>
                                </m:r>
                              </m:sub>
                            </m:sSub>
                          </m:e>
                        </m:d>
                        <m:r>
                          <a:rPr lang="en-US" sz="2400" b="0" i="0" smtClean="0">
                            <a:solidFill>
                              <a:srgbClr val="00279F"/>
                            </a:solidFill>
                            <a:effectLst/>
                            <a:latin typeface="Cambria Math" panose="02040503050406030204" pitchFamily="18" charset="0"/>
                          </a:rPr>
                          <m:t>=</m:t>
                        </m:r>
                        <m:r>
                          <m:rPr>
                            <m:sty m:val="p"/>
                          </m:rPr>
                          <a:rPr lang="en-US" sz="2400" b="0">
                            <a:solidFill>
                              <a:srgbClr val="00279F"/>
                            </a:solidFill>
                            <a:effectLst/>
                            <a:latin typeface="Cambria Math" panose="02040503050406030204" pitchFamily="18" charset="0"/>
                          </a:rPr>
                          <m:t>min</m:t>
                        </m:r>
                        <m:r>
                          <a:rPr lang="en-US" sz="2400" b="0">
                            <a:solidFill>
                              <a:srgbClr val="00279F"/>
                            </a:solidFill>
                            <a:effectLst/>
                            <a:latin typeface="Cambria Math" panose="02040503050406030204" pitchFamily="18" charset="0"/>
                          </a:rPr>
                          <m:t> </m:t>
                        </m:r>
                      </m:fName>
                      <m:e>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(1+</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∗0.005)%×</m:t>
                            </m:r>
                            <m:r>
                              <m:rPr>
                                <m:nor/>
                              </m:rPr>
                              <a:rPr lang="en-SG" sz="2400" b="0" i="0" dirty="0">
                                <a:solidFill>
                                  <a:srgbClr val="00279F"/>
                                </a:solidFill>
                                <a:effectLst/>
                                <a:latin typeface="Cambria Math" panose="02040503050406030204" pitchFamily="18" charset="0"/>
                              </a:rPr>
                              <m:t> </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(2+</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r>
                              <a:rPr lang="en-US" sz="2400" b="0">
                                <a:solidFill>
                                  <a:srgbClr val="00279F"/>
                                </a:solidFill>
                                <a:effectLst/>
                                <a:latin typeface="Cambria Math" panose="02040503050406030204" pitchFamily="18" charset="0"/>
                              </a:rPr>
                              <m:t>∗0.04)%×</m:t>
                            </m:r>
                            <m:r>
                              <m:rPr>
                                <m:nor/>
                              </m:rPr>
                              <a:rPr lang="en-SG" sz="2400" b="0" i="0" dirty="0">
                                <a:solidFill>
                                  <a:srgbClr val="00279F"/>
                                </a:solidFill>
                                <a:effectLst/>
                                <a:latin typeface="Cambria Math" panose="02040503050406030204" pitchFamily="18" charset="0"/>
                              </a:rPr>
                              <m:t> </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2</m:t>
                            </m:r>
                          </m:sub>
                        </m:sSub>
                      </m:e>
                    </m:func>
                  </m:oMath>
                </a14:m>
                <a:endParaRPr lang="en-US" sz="2400" b="0" dirty="0">
                  <a:solidFill>
                    <a:srgbClr val="00279F"/>
                  </a:solidFill>
                  <a:effectLst/>
                  <a:latin typeface="Cambria Math" panose="02040503050406030204" pitchFamily="18" charset="0"/>
                </a:endParaRP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r>
                      <a:rPr lang="en-US" sz="2400" b="0">
                        <a:solidFill>
                          <a:srgbClr val="00279F"/>
                        </a:solidFill>
                        <a:effectLst/>
                        <a:latin typeface="Cambria Math" panose="02040503050406030204" pitchFamily="18" charset="0"/>
                      </a:rPr>
                      <m:t>𝑠</m:t>
                    </m:r>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𝑡</m:t>
                    </m:r>
                    <m:r>
                      <a:rPr lang="en-US" sz="2400" b="0">
                        <a:solidFill>
                          <a:srgbClr val="00279F"/>
                        </a:solidFill>
                        <a:effectLst/>
                        <a:latin typeface="Cambria Math" panose="02040503050406030204" pitchFamily="18" charset="0"/>
                      </a:rPr>
                      <m:t>. </m:t>
                    </m:r>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       </m:t>
                        </m:r>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d>
                      <m:dPr>
                        <m:begChr m:val="|"/>
                        <m:endChr m:val="|"/>
                        <m:ctrlPr>
                          <a:rPr lang="en-US" sz="2400" b="0" i="1">
                            <a:solidFill>
                              <a:srgbClr val="00279F"/>
                            </a:solidFill>
                            <a:effectLst/>
                            <a:latin typeface="Cambria Math" panose="02040503050406030204" pitchFamily="18" charset="0"/>
                          </a:rPr>
                        </m:ctrlPr>
                      </m:dPr>
                      <m:e>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e>
                    </m:d>
                    <m:r>
                      <a:rPr lang="en-US" sz="2400" b="0">
                        <a:solidFill>
                          <a:srgbClr val="00279F"/>
                        </a:solidFill>
                        <a:effectLst/>
                        <a:latin typeface="Cambria Math" panose="02040503050406030204" pitchFamily="18" charset="0"/>
                      </a:rPr>
                      <m:t>≤2×</m:t>
                    </m:r>
                    <m:r>
                      <a:rPr lang="en-US" sz="2400" b="0">
                        <a:solidFill>
                          <a:srgbClr val="00279F"/>
                        </a:solidFill>
                        <a:effectLst/>
                        <a:latin typeface="Cambria Math" panose="02040503050406030204" pitchFamily="18" charset="0"/>
                      </a:rPr>
                      <m:t>𝛼</m:t>
                    </m:r>
                  </m:oMath>
                </a14:m>
                <a:r>
                  <a:rPr lang="en-US" sz="2400" b="0" dirty="0">
                    <a:solidFill>
                      <a:srgbClr val="00279F"/>
                    </a:solidFill>
                    <a:effectLst/>
                    <a:latin typeface="Cambria Math" panose="02040503050406030204" pitchFamily="18" charset="0"/>
                  </a:rPr>
                  <a:t>			       </a:t>
                </a: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 |</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oMath>
                </a14:m>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oMath>
                </a14:m>
                <a:r>
                  <a:rPr lang="en-US" sz="2400" b="0" dirty="0">
                    <a:solidFill>
                      <a:srgbClr val="00279F"/>
                    </a:solidFill>
                    <a:effectLst/>
                    <a:latin typeface="Cambria Math" panose="02040503050406030204" pitchFamily="18" charset="0"/>
                  </a:rPr>
                  <a:t>,</a:t>
                </a:r>
                <a:endParaRPr lang="en-US" sz="2400" b="0" dirty="0">
                  <a:solidFill>
                    <a:srgbClr val="00279F"/>
                  </a:solidFill>
                  <a:latin typeface="Cambria Math" panose="02040503050406030204" pitchFamily="18" charset="0"/>
                </a:endParaRPr>
              </a:p>
              <a:p>
                <a:pPr marL="0" indent="0">
                  <a:buFontTx/>
                  <a:buNone/>
                </a:pPr>
                <a:r>
                  <a:rPr lang="en-US" sz="2400" b="0" dirty="0">
                    <a:solidFill>
                      <a:srgbClr val="00279F"/>
                    </a:solidFill>
                  </a:rPr>
                  <a:t>                                     </a:t>
                </a:r>
                <a:endParaRPr lang="en-US" altLang="zh-CN" sz="2400" b="0" i="1" dirty="0">
                  <a:solidFill>
                    <a:srgbClr val="00279F"/>
                  </a:solidFill>
                  <a:latin typeface="Cambria Math" panose="02040503050406030204" pitchFamily="18" charset="0"/>
                </a:endParaRPr>
              </a:p>
            </p:txBody>
          </p:sp>
        </mc:Choice>
        <mc:Fallback xmlns="">
          <p:sp>
            <p:nvSpPr>
              <p:cNvPr id="5" name="Rectangle 3"/>
              <p:cNvSpPr txBox="1">
                <a:spLocks noRot="1" noChangeAspect="1" noMove="1" noResize="1" noEditPoints="1" noAdjustHandles="1" noChangeArrowheads="1" noChangeShapeType="1" noTextEdit="1"/>
              </p:cNvSpPr>
              <p:nvPr/>
            </p:nvSpPr>
            <p:spPr bwMode="auto">
              <a:xfrm>
                <a:off x="77879" y="2089254"/>
                <a:ext cx="9412111" cy="2082113"/>
              </a:xfrm>
              <a:prstGeom prst="rect">
                <a:avLst/>
              </a:prstGeom>
              <a:blipFill rotWithShape="0">
                <a:blip r:embed="rId7"/>
                <a:stretch>
                  <a:fillRect l="-194"/>
                </a:stretch>
              </a:blipFill>
              <a:ln w="9525">
                <a:noFill/>
                <a:miter lim="800000"/>
                <a:headEnd/>
                <a:tailEnd/>
              </a:ln>
              <a:effectLst/>
            </p:spPr>
            <p:txBody>
              <a:bodyPr/>
              <a:lstStyle/>
              <a:p>
                <a:r>
                  <a:rPr lang="en-SG">
                    <a:noFill/>
                  </a:rPr>
                  <a:t> </a:t>
                </a:r>
              </a:p>
            </p:txBody>
          </p:sp>
        </mc:Fallback>
      </mc:AlternateContent>
      <p:sp>
        <p:nvSpPr>
          <p:cNvPr id="2" name="Up-Down Arrow 1"/>
          <p:cNvSpPr/>
          <p:nvPr/>
        </p:nvSpPr>
        <p:spPr bwMode="auto">
          <a:xfrm>
            <a:off x="1581665" y="3830595"/>
            <a:ext cx="259492" cy="634247"/>
          </a:xfrm>
          <a:prstGeom prst="upDown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mc:AlternateContent xmlns:mc="http://schemas.openxmlformats.org/markup-compatibility/2006" xmlns:a14="http://schemas.microsoft.com/office/drawing/2010/main">
        <mc:Choice Requires="a14">
          <p:sp>
            <p:nvSpPr>
              <p:cNvPr id="7" name="Rectangle 3"/>
              <p:cNvSpPr txBox="1">
                <a:spLocks noChangeArrowheads="1"/>
              </p:cNvSpPr>
              <p:nvPr/>
            </p:nvSpPr>
            <p:spPr bwMode="auto">
              <a:xfrm>
                <a:off x="102642" y="4124070"/>
                <a:ext cx="9412111" cy="2082113"/>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pPr>
                <a:r>
                  <a:rPr lang="en-US" kern="0" dirty="0"/>
                  <a:t>            </a:t>
                </a:r>
                <a14:m>
                  <m:oMath xmlns:m="http://schemas.openxmlformats.org/officeDocument/2006/math">
                    <m:func>
                      <m:funcPr>
                        <m:ctrlPr>
                          <a:rPr lang="en-US" sz="2400" b="0" i="1">
                            <a:solidFill>
                              <a:srgbClr val="00279F"/>
                            </a:solidFill>
                            <a:effectLst/>
                            <a:latin typeface="Cambria Math" panose="02040503050406030204" pitchFamily="18" charset="0"/>
                          </a:rPr>
                        </m:ctrlPr>
                      </m:funcPr>
                      <m:fName>
                        <m:sSub>
                          <m:sSubPr>
                            <m:ctrlPr>
                              <a:rPr lang="en-US" sz="2400" b="0" i="1">
                                <a:solidFill>
                                  <a:srgbClr val="00279F"/>
                                </a:solidFill>
                                <a:effectLst/>
                                <a:latin typeface="Cambria Math" panose="02040503050406030204" pitchFamily="18" charset="0"/>
                              </a:rPr>
                            </m:ctrlPr>
                          </m:sSubPr>
                          <m:e>
                            <m:r>
                              <m:rPr>
                                <m:sty m:val="p"/>
                              </m:rPr>
                              <a:rPr lang="en-US" sz="2400" b="0">
                                <a:solidFill>
                                  <a:srgbClr val="00279F"/>
                                </a:solidFill>
                                <a:effectLst/>
                                <a:latin typeface="Cambria Math" panose="02040503050406030204" pitchFamily="18" charset="0"/>
                              </a:rPr>
                              <m:t>g</m:t>
                            </m:r>
                            <m:d>
                              <m:dPr>
                                <m:ctrlPr>
                                  <a:rPr lang="en-US" sz="2400" b="0" i="1">
                                    <a:solidFill>
                                      <a:srgbClr val="00279F"/>
                                    </a:solidFill>
                                    <a:effectLst/>
                                    <a:latin typeface="Cambria Math" panose="02040503050406030204" pitchFamily="18" charset="0"/>
                                  </a:rPr>
                                </m:ctrlPr>
                              </m:dPr>
                              <m:e>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𝑦</m:t>
                                    </m:r>
                                  </m:e>
                                  <m:sub>
                                    <m:r>
                                      <a:rPr lang="en-US" sz="2400" b="0" i="1">
                                        <a:solidFill>
                                          <a:srgbClr val="00279F"/>
                                        </a:solidFill>
                                        <a:effectLst/>
                                        <a:latin typeface="Cambria Math" panose="02040503050406030204" pitchFamily="18" charset="0"/>
                                      </a:rPr>
                                      <m:t>2</m:t>
                                    </m:r>
                                  </m:sub>
                                </m:sSub>
                              </m:e>
                            </m:d>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smtClean="0">
                            <a:solidFill>
                              <a:srgbClr val="00279F"/>
                            </a:solidFill>
                            <a:effectLst/>
                            <a:latin typeface="Cambria Math" panose="02040503050406030204" pitchFamily="18" charset="0"/>
                          </a:rPr>
                          <m:t>+2%</m:t>
                        </m:r>
                        <m:sSub>
                          <m:sSubPr>
                            <m:ctrlPr>
                              <a:rPr lang="en-US" sz="2400" b="0" i="1" smtClean="0">
                                <a:solidFill>
                                  <a:srgbClr val="00279F"/>
                                </a:solidFill>
                                <a:effectLst/>
                                <a:latin typeface="Cambria Math" panose="02040503050406030204" pitchFamily="18" charset="0"/>
                              </a:rPr>
                            </m:ctrlPr>
                          </m:sSubPr>
                          <m:e>
                            <m:r>
                              <a:rPr lang="en-US" sz="2400" b="0" i="1" smtClean="0">
                                <a:solidFill>
                                  <a:srgbClr val="00279F"/>
                                </a:solidFill>
                                <a:effectLst/>
                                <a:latin typeface="Cambria Math" panose="02040503050406030204" pitchFamily="18" charset="0"/>
                              </a:rPr>
                              <m:t>𝑦</m:t>
                            </m:r>
                          </m:e>
                          <m:sub>
                            <m:r>
                              <a:rPr lang="en-US" sz="2400" b="0" i="1" smtClean="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r>
                          <m:rPr>
                            <m:sty m:val="p"/>
                          </m:rPr>
                          <a:rPr lang="en-US" sz="2400" b="0">
                            <a:solidFill>
                              <a:srgbClr val="00279F"/>
                            </a:solidFill>
                            <a:effectLst/>
                            <a:latin typeface="Cambria Math" panose="02040503050406030204" pitchFamily="18" charset="0"/>
                          </a:rPr>
                          <m:t>min</m:t>
                        </m:r>
                        <m:r>
                          <a:rPr lang="en-US" sz="2400" b="0">
                            <a:solidFill>
                              <a:srgbClr val="00279F"/>
                            </a:solidFill>
                            <a:effectLst/>
                            <a:latin typeface="Cambria Math" panose="02040503050406030204" pitchFamily="18" charset="0"/>
                          </a:rPr>
                          <m:t> </m:t>
                        </m:r>
                      </m:fName>
                      <m:e>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0.005%</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m:t>
                        </m:r>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0.04%</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e>
                    </m:func>
                  </m:oMath>
                </a14:m>
                <a:endParaRPr lang="en-US" sz="2400" b="0" dirty="0">
                  <a:solidFill>
                    <a:srgbClr val="00279F"/>
                  </a:solidFill>
                  <a:effectLst/>
                  <a:latin typeface="Cambria Math" panose="02040503050406030204" pitchFamily="18" charset="0"/>
                </a:endParaRP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r>
                      <a:rPr lang="en-US" sz="2400" b="0">
                        <a:solidFill>
                          <a:srgbClr val="00279F"/>
                        </a:solidFill>
                        <a:effectLst/>
                        <a:latin typeface="Cambria Math" panose="02040503050406030204" pitchFamily="18" charset="0"/>
                      </a:rPr>
                      <m:t>𝑠</m:t>
                    </m:r>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𝑡</m:t>
                    </m:r>
                    <m:r>
                      <a:rPr lang="en-US" sz="2400" b="0">
                        <a:solidFill>
                          <a:srgbClr val="00279F"/>
                        </a:solidFill>
                        <a:effectLst/>
                        <a:latin typeface="Cambria Math" panose="02040503050406030204" pitchFamily="18" charset="0"/>
                      </a:rPr>
                      <m:t>. </m:t>
                    </m:r>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       </m:t>
                        </m:r>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d>
                      <m:dPr>
                        <m:begChr m:val="|"/>
                        <m:endChr m:val="|"/>
                        <m:ctrlPr>
                          <a:rPr lang="en-US" sz="2400" b="0" i="1">
                            <a:solidFill>
                              <a:srgbClr val="00279F"/>
                            </a:solidFill>
                            <a:effectLst/>
                            <a:latin typeface="Cambria Math" panose="02040503050406030204" pitchFamily="18" charset="0"/>
                          </a:rPr>
                        </m:ctrlPr>
                      </m:dPr>
                      <m:e>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e>
                    </m:d>
                    <m:r>
                      <a:rPr lang="en-US" sz="2400" b="0">
                        <a:solidFill>
                          <a:srgbClr val="00279F"/>
                        </a:solidFill>
                        <a:effectLst/>
                        <a:latin typeface="Cambria Math" panose="02040503050406030204" pitchFamily="18" charset="0"/>
                      </a:rPr>
                      <m:t>≤2×</m:t>
                    </m:r>
                    <m:r>
                      <a:rPr lang="en-US" sz="2400" b="0">
                        <a:solidFill>
                          <a:srgbClr val="00279F"/>
                        </a:solidFill>
                        <a:effectLst/>
                        <a:latin typeface="Cambria Math" panose="02040503050406030204" pitchFamily="18" charset="0"/>
                      </a:rPr>
                      <m:t>𝛼</m:t>
                    </m:r>
                  </m:oMath>
                </a14:m>
                <a:r>
                  <a:rPr lang="en-US" sz="2400" b="0" dirty="0">
                    <a:solidFill>
                      <a:srgbClr val="00279F"/>
                    </a:solidFill>
                    <a:effectLst/>
                    <a:latin typeface="Cambria Math" panose="02040503050406030204" pitchFamily="18" charset="0"/>
                  </a:rPr>
                  <a:t>			       </a:t>
                </a: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 |</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oMath>
                </a14:m>
                <a:r>
                  <a:rPr lang="en-US" sz="2400" b="0" dirty="0">
                    <a:solidFill>
                      <a:srgbClr val="00279F"/>
                    </a:solidFill>
                    <a:effectLst/>
                    <a:latin typeface="Cambria Math" panose="02040503050406030204" pitchFamily="18" charset="0"/>
                  </a:rPr>
                  <a:t>, </a:t>
                </a:r>
                <a14:m>
                  <m:oMath xmlns:m="http://schemas.openxmlformats.org/officeDocument/2006/math">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oMath>
                </a14:m>
                <a:r>
                  <a:rPr lang="en-US" sz="2400" b="0" dirty="0">
                    <a:solidFill>
                      <a:srgbClr val="00279F"/>
                    </a:solidFill>
                    <a:effectLst/>
                    <a:latin typeface="Cambria Math" panose="02040503050406030204" pitchFamily="18" charset="0"/>
                  </a:rPr>
                  <a:t>,</a:t>
                </a:r>
              </a:p>
              <a:p>
                <a:pPr marL="0" indent="0">
                  <a:buFontTx/>
                  <a:buNone/>
                </a:pPr>
                <a:r>
                  <a:rPr lang="en-US" sz="2400" b="0" dirty="0">
                    <a:solidFill>
                      <a:srgbClr val="00279F"/>
                    </a:solidFill>
                  </a:rPr>
                  <a:t>                                      </a:t>
                </a:r>
                <a:endParaRPr lang="en-US" altLang="zh-CN" sz="2400" b="0" i="1" dirty="0">
                  <a:solidFill>
                    <a:srgbClr val="00279F"/>
                  </a:solidFill>
                  <a:latin typeface="Cambria Math" panose="02040503050406030204" pitchFamily="18" charset="0"/>
                </a:endParaRPr>
              </a:p>
            </p:txBody>
          </p:sp>
        </mc:Choice>
        <mc:Fallback xmlns="">
          <p:sp>
            <p:nvSpPr>
              <p:cNvPr id="7" name="Rectangle 3"/>
              <p:cNvSpPr txBox="1">
                <a:spLocks noRot="1" noChangeAspect="1" noMove="1" noResize="1" noEditPoints="1" noAdjustHandles="1" noChangeArrowheads="1" noChangeShapeType="1" noTextEdit="1"/>
              </p:cNvSpPr>
              <p:nvPr/>
            </p:nvSpPr>
            <p:spPr bwMode="auto">
              <a:xfrm>
                <a:off x="102642" y="4124070"/>
                <a:ext cx="9412111" cy="2082113"/>
              </a:xfrm>
              <a:prstGeom prst="rect">
                <a:avLst/>
              </a:prstGeom>
              <a:blipFill rotWithShape="0">
                <a:blip r:embed="rId8"/>
                <a:stretch>
                  <a:fillRect l="-194"/>
                </a:stretch>
              </a:blipFill>
              <a:ln w="9525">
                <a:noFill/>
                <a:miter lim="800000"/>
                <a:headEnd/>
                <a:tailEnd/>
              </a:ln>
              <a:effectLst/>
            </p:spPr>
            <p:txBody>
              <a:bodyPr/>
              <a:lstStyle/>
              <a:p>
                <a:r>
                  <a:rPr lang="en-SG">
                    <a:noFill/>
                  </a:rPr>
                  <a:t> </a:t>
                </a:r>
              </a:p>
            </p:txBody>
          </p:sp>
        </mc:Fallback>
      </mc:AlternateContent>
    </p:spTree>
    <p:extLst>
      <p:ext uri="{BB962C8B-B14F-4D97-AF65-F5344CB8AC3E}">
        <p14:creationId xmlns:p14="http://schemas.microsoft.com/office/powerpoint/2010/main" val="392601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Model with Conservativeness Control</a:t>
            </a:r>
          </a:p>
        </p:txBody>
      </p:sp>
      <p:sp>
        <p:nvSpPr>
          <p:cNvPr id="2" name="Oval 1"/>
          <p:cNvSpPr/>
          <p:nvPr/>
        </p:nvSpPr>
        <p:spPr bwMode="auto">
          <a:xfrm>
            <a:off x="1493293" y="4128597"/>
            <a:ext cx="1804087" cy="624016"/>
          </a:xfrm>
          <a:prstGeom prst="ellipse">
            <a:avLst/>
          </a:prstGeom>
          <a:solidFill>
            <a:schemeClr val="accent1">
              <a:alpha val="29000"/>
            </a:schemeClr>
          </a:solidFill>
          <a:ln w="28575" cap="flat" cmpd="sng" algn="ctr">
            <a:solidFill>
              <a:srgbClr val="0033CC">
                <a:alpha val="63000"/>
              </a:srgbClr>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mc:AlternateContent xmlns:mc="http://schemas.openxmlformats.org/markup-compatibility/2006" xmlns:a14="http://schemas.microsoft.com/office/drawing/2010/main">
        <mc:Choice Requires="a14">
          <p:sp>
            <p:nvSpPr>
              <p:cNvPr id="7" name="Rectangle 3"/>
              <p:cNvSpPr txBox="1">
                <a:spLocks noChangeArrowheads="1"/>
              </p:cNvSpPr>
              <p:nvPr/>
            </p:nvSpPr>
            <p:spPr bwMode="auto">
              <a:xfrm>
                <a:off x="-1165828" y="941388"/>
                <a:ext cx="10622167" cy="4358640"/>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defRPr/>
                </a:pPr>
                <a:endParaRPr lang="en-US" altLang="zh-CN" kern="0" dirty="0">
                  <a:ea typeface="宋体" pitchFamily="2" charset="-122"/>
                </a:endParaRPr>
              </a:p>
              <a:p>
                <a:pPr marL="0" indent="0">
                  <a:buFontTx/>
                  <a:buNone/>
                </a:pPr>
                <a:r>
                  <a:rPr lang="en-US" kern="0" dirty="0"/>
                  <a:t>                     </a:t>
                </a:r>
                <a14:m>
                  <m:oMath xmlns:m="http://schemas.openxmlformats.org/officeDocument/2006/math">
                    <m:r>
                      <a:rPr lang="en-US" i="1" kern="0" smtClean="0">
                        <a:effectLst/>
                        <a:latin typeface="Cambria Math" panose="02040503050406030204" pitchFamily="18" charset="0"/>
                      </a:rPr>
                      <m:t>𝒎𝒂𝒙</m:t>
                    </m:r>
                    <m:r>
                      <a:rPr lang="en-US" i="1" kern="0" smtClean="0">
                        <a:effectLst/>
                        <a:latin typeface="Cambria Math" panose="02040503050406030204" pitchFamily="18" charset="0"/>
                      </a:rPr>
                      <m:t>       </m:t>
                    </m:r>
                    <m:d>
                      <m:dPr>
                        <m:ctrlPr>
                          <a:rPr lang="en-US" i="1" kern="0">
                            <a:effectLst/>
                            <a:latin typeface="Cambria Math" panose="02040503050406030204" pitchFamily="18" charset="0"/>
                          </a:rPr>
                        </m:ctrlPr>
                      </m:dPr>
                      <m:e>
                        <m:r>
                          <a:rPr lang="en-US" i="1" kern="0">
                            <a:effectLst/>
                            <a:latin typeface="Cambria Math" panose="02040503050406030204" pitchFamily="18" charset="0"/>
                          </a:rPr>
                          <m:t>𝟔𝟐𝟎𝟎</m:t>
                        </m:r>
                        <m:r>
                          <a:rPr lang="en-US" i="1" kern="0">
                            <a:effectLst/>
                            <a:latin typeface="Cambria Math" panose="02040503050406030204" pitchFamily="18" charset="0"/>
                          </a:rPr>
                          <m:t>−</m:t>
                        </m:r>
                        <m:r>
                          <a:rPr lang="en-US" i="1" kern="0">
                            <a:effectLst/>
                            <a:latin typeface="Cambria Math" panose="02040503050406030204" pitchFamily="18" charset="0"/>
                          </a:rPr>
                          <m:t>𝟕𝟎𝟎</m:t>
                        </m:r>
                      </m:e>
                    </m:d>
                    <m:r>
                      <a:rPr lang="en-US" i="1" kern="0">
                        <a:effectLst/>
                        <a:latin typeface="Cambria Math" panose="02040503050406030204" pitchFamily="18" charset="0"/>
                      </a:rPr>
                      <m:t>𝒙</m:t>
                    </m:r>
                    <m:r>
                      <a:rPr lang="en-US" i="1" kern="0">
                        <a:effectLst/>
                        <a:latin typeface="Cambria Math" panose="02040503050406030204" pitchFamily="18" charset="0"/>
                      </a:rPr>
                      <m:t> −</m:t>
                    </m:r>
                    <m:r>
                      <a:rPr lang="en-US" i="1" kern="0">
                        <a:effectLst/>
                        <a:latin typeface="Cambria Math" panose="02040503050406030204" pitchFamily="18" charset="0"/>
                      </a:rPr>
                      <m:t>𝟏𝟎𝟎</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i="1" kern="0">
                        <a:effectLst/>
                        <a:latin typeface="Cambria Math" panose="02040503050406030204" pitchFamily="18" charset="0"/>
                      </a:rPr>
                      <m:t>−</m:t>
                    </m:r>
                    <m:r>
                      <a:rPr lang="en-US" i="1" kern="0">
                        <a:effectLst/>
                        <a:latin typeface="Cambria Math" panose="02040503050406030204" pitchFamily="18" charset="0"/>
                      </a:rPr>
                      <m:t>𝟏𝟗𝟗</m:t>
                    </m:r>
                    <m:r>
                      <a:rPr lang="en-US" i="1" kern="0">
                        <a:effectLst/>
                        <a:latin typeface="Cambria Math" panose="02040503050406030204" pitchFamily="18" charset="0"/>
                      </a:rPr>
                      <m:t>.</m:t>
                    </m:r>
                    <m:r>
                      <a:rPr lang="en-US" i="1" kern="0">
                        <a:effectLst/>
                        <a:latin typeface="Cambria Math" panose="02040503050406030204" pitchFamily="18" charset="0"/>
                      </a:rPr>
                      <m:t>𝟗</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oMath>
                </a14:m>
                <a:endParaRPr lang="en-US" i="1" kern="0" dirty="0">
                  <a:effectLst/>
                  <a:latin typeface="Cambria Math" panose="02040503050406030204" pitchFamily="18" charset="0"/>
                </a:endParaRPr>
              </a:p>
              <a:p>
                <a:pPr marL="0" indent="0">
                  <a:buFontTx/>
                  <a:buNone/>
                </a:pPr>
                <a:r>
                  <a:rPr lang="en-US" kern="0" dirty="0">
                    <a:effectLst/>
                  </a:rPr>
                  <a:t>                    </a:t>
                </a:r>
                <a14:m>
                  <m:oMath xmlns:m="http://schemas.openxmlformats.org/officeDocument/2006/math">
                    <m:r>
                      <a:rPr lang="en-US" i="1" kern="0">
                        <a:effectLst/>
                        <a:latin typeface="Cambria Math" panose="02040503050406030204" pitchFamily="18" charset="0"/>
                      </a:rPr>
                      <m:t>𝒔</m:t>
                    </m:r>
                    <m:r>
                      <a:rPr lang="en-US" i="1" kern="0">
                        <a:effectLst/>
                        <a:latin typeface="Cambria Math" panose="02040503050406030204" pitchFamily="18" charset="0"/>
                      </a:rPr>
                      <m:t>.</m:t>
                    </m:r>
                    <m:r>
                      <a:rPr lang="en-US" i="1" kern="0">
                        <a:effectLst/>
                        <a:latin typeface="Cambria Math" panose="02040503050406030204" pitchFamily="18" charset="0"/>
                      </a:rPr>
                      <m:t>𝒕</m:t>
                    </m:r>
                    <m:r>
                      <a:rPr lang="en-US" i="1" kern="0">
                        <a:effectLst/>
                        <a:latin typeface="Cambria Math" panose="02040503050406030204" pitchFamily="18" charset="0"/>
                      </a:rPr>
                      <m:t>.           </m:t>
                    </m:r>
                    <m:r>
                      <a:rPr lang="en-US" b="1" i="1" kern="0" smtClean="0">
                        <a:effectLst/>
                        <a:latin typeface="Cambria Math" panose="02040503050406030204" pitchFamily="18" charset="0"/>
                      </a:rPr>
                      <m:t>𝟗𝟎</m:t>
                    </m:r>
                    <m:r>
                      <a:rPr lang="en-US" b="1" i="1" kern="0" smtClean="0">
                        <a:effectLst/>
                        <a:latin typeface="Cambria Math" panose="02040503050406030204" pitchFamily="18" charset="0"/>
                      </a:rPr>
                      <m:t>𝒙</m:t>
                    </m:r>
                    <m:r>
                      <a:rPr lang="en-US" i="1" ker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𝟐𝟎𝟎𝟎</m:t>
                    </m:r>
                    <m:r>
                      <a:rPr lang="en-US" i="1" kern="0" smtClean="0">
                        <a:effectLst/>
                        <a:latin typeface="Cambria Math" panose="02040503050406030204" pitchFamily="18" charset="0"/>
                      </a:rPr>
                      <m:t>, </m:t>
                    </m:r>
                  </m:oMath>
                </a14:m>
                <a:r>
                  <a:rPr lang="en-US" kern="0" dirty="0">
                    <a:effectLst/>
                  </a:rPr>
                  <a:t> </a:t>
                </a:r>
                <a:r>
                  <a:rPr lang="en-US" sz="2400" kern="0" dirty="0">
                    <a:effectLst/>
                  </a:rPr>
                  <a:t>(manpower)</a:t>
                </a:r>
              </a:p>
              <a:p>
                <a:pPr marL="0" indent="0">
                  <a:buFontTx/>
                  <a:buNone/>
                </a:pPr>
                <a:r>
                  <a:rPr lang="en-US" kern="0" dirty="0">
                    <a:effectLst/>
                  </a:rPr>
                  <a:t>			       4</a:t>
                </a:r>
                <a14:m>
                  <m:oMath xmlns:m="http://schemas.openxmlformats.org/officeDocument/2006/math">
                    <m:r>
                      <a:rPr lang="en-US" i="1" kern="0">
                        <a:effectLst/>
                        <a:latin typeface="Cambria Math" panose="02040503050406030204" pitchFamily="18" charset="0"/>
                      </a:rPr>
                      <m:t>𝟎</m:t>
                    </m:r>
                    <m:r>
                      <a:rPr lang="en-US" i="1" kern="0">
                        <a:effectLst/>
                        <a:latin typeface="Cambria Math" panose="02040503050406030204" pitchFamily="18" charset="0"/>
                      </a:rPr>
                      <m:t>𝒙</m:t>
                    </m:r>
                    <m:r>
                      <a:rPr lang="en-US" i="1" ker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𝟖</m:t>
                    </m:r>
                    <m:r>
                      <a:rPr lang="en-US" i="1" kern="0">
                        <a:effectLst/>
                        <a:latin typeface="Cambria Math" panose="02040503050406030204" pitchFamily="18" charset="0"/>
                        <a:ea typeface="Cambria Math" panose="02040503050406030204" pitchFamily="18" charset="0"/>
                      </a:rPr>
                      <m:t>𝟎𝟎</m:t>
                    </m:r>
                  </m:oMath>
                </a14:m>
                <a:r>
                  <a:rPr lang="en-US" kern="0" dirty="0">
                    <a:effectLst/>
                  </a:rPr>
                  <a:t>,    </a:t>
                </a:r>
                <a:r>
                  <a:rPr lang="en-US" sz="2400" kern="0" dirty="0">
                    <a:effectLst/>
                  </a:rPr>
                  <a:t>(equip)</a:t>
                </a:r>
              </a:p>
              <a:p>
                <a:pPr marL="0" indent="0">
                  <a:buFontTx/>
                  <a:buNone/>
                </a:pPr>
                <a:r>
                  <a:rPr lang="en-US" kern="0" dirty="0">
                    <a:effectLst/>
                  </a:rPr>
                  <a:t>			       </a:t>
                </a:r>
                <a14:m>
                  <m:oMath xmlns:m="http://schemas.openxmlformats.org/officeDocument/2006/math">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b="1" i="1" kern="0" smtClean="0">
                            <a:effectLst/>
                            <a:latin typeface="Cambria Math" panose="02040503050406030204" pitchFamily="18" charset="0"/>
                          </a:rPr>
                          <m:t>𝟐</m:t>
                        </m:r>
                      </m:sub>
                    </m:sSub>
                    <m:r>
                      <a:rPr lang="en-US" i="1" kern="0" smtClea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𝟏𝟎𝟎𝟎</m:t>
                    </m:r>
                  </m:oMath>
                </a14:m>
                <a:r>
                  <a:rPr lang="en-US" kern="0" dirty="0">
                    <a:effectLst/>
                  </a:rPr>
                  <a:t>,  </a:t>
                </a:r>
                <a:r>
                  <a:rPr lang="en-US" sz="2400" kern="0" dirty="0">
                    <a:effectLst/>
                  </a:rPr>
                  <a:t>(storage)</a:t>
                </a:r>
              </a:p>
              <a:p>
                <a:pPr marL="0" indent="0">
                  <a:buFontTx/>
                  <a:buNone/>
                </a:pPr>
                <a:r>
                  <a:rPr lang="en-US" b="1" kern="0" dirty="0">
                    <a:effectLst/>
                  </a:rPr>
                  <a:t>                           </a:t>
                </a:r>
                <a14:m>
                  <m:oMath xmlns:m="http://schemas.openxmlformats.org/officeDocument/2006/math">
                    <m:r>
                      <a:rPr lang="en-US" b="1" i="1" kern="0" smtClean="0">
                        <a:effectLst/>
                        <a:latin typeface="Cambria Math" panose="02040503050406030204" pitchFamily="18" charset="0"/>
                      </a:rPr>
                      <m:t>𝟕𝟎𝟎</m:t>
                    </m:r>
                    <m:r>
                      <a:rPr lang="en-US" b="1" i="1" kern="0" smtClean="0">
                        <a:effectLst/>
                        <a:latin typeface="Cambria Math" panose="02040503050406030204" pitchFamily="18" charset="0"/>
                      </a:rPr>
                      <m:t>𝒙</m:t>
                    </m:r>
                    <m:r>
                      <a:rPr lang="en-US" b="1" i="1" kern="0" smtClean="0">
                        <a:effectLst/>
                        <a:latin typeface="Cambria Math" panose="02040503050406030204" pitchFamily="18" charset="0"/>
                      </a:rPr>
                      <m:t>+</m:t>
                    </m:r>
                    <m:r>
                      <a:rPr lang="en-US" i="1" kern="0">
                        <a:effectLst/>
                        <a:latin typeface="Cambria Math" panose="02040503050406030204" pitchFamily="18" charset="0"/>
                      </a:rPr>
                      <m:t>𝟏𝟎𝟎</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r>
                      <a:rPr lang="en-US" i="1" kern="0">
                        <a:effectLst/>
                        <a:latin typeface="Cambria Math" panose="02040503050406030204" pitchFamily="18" charset="0"/>
                      </a:rPr>
                      <m:t>𝟏𝟗𝟗</m:t>
                    </m:r>
                    <m:r>
                      <a:rPr lang="en-US" i="1" kern="0">
                        <a:effectLst/>
                        <a:latin typeface="Cambria Math" panose="02040503050406030204" pitchFamily="18" charset="0"/>
                      </a:rPr>
                      <m:t>.</m:t>
                    </m:r>
                    <m:r>
                      <a:rPr lang="en-US" i="1" kern="0">
                        <a:effectLst/>
                        <a:latin typeface="Cambria Math" panose="02040503050406030204" pitchFamily="18" charset="0"/>
                      </a:rPr>
                      <m:t>𝟗</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r>
                      <a:rPr lang="en-US" i="1" kern="0" smtClean="0">
                        <a:effectLst/>
                        <a:latin typeface="Cambria Math" panose="02040503050406030204" pitchFamily="18" charset="0"/>
                        <a:ea typeface="Cambria Math" panose="02040503050406030204" pitchFamily="18" charset="0"/>
                      </a:rPr>
                      <m:t>≤</m:t>
                    </m:r>
                    <m:r>
                      <a:rPr lang="en-US" b="1" i="1" kern="0" smtClean="0">
                        <a:effectLst/>
                        <a:latin typeface="Cambria Math" panose="02040503050406030204" pitchFamily="18" charset="0"/>
                        <a:ea typeface="Cambria Math" panose="02040503050406030204" pitchFamily="18" charset="0"/>
                      </a:rPr>
                      <m:t>𝟏𝟎𝟎𝟎𝟎𝟎</m:t>
                    </m:r>
                  </m:oMath>
                </a14:m>
                <a:r>
                  <a:rPr lang="en-US" kern="0" dirty="0">
                    <a:effectLst/>
                  </a:rPr>
                  <a:t>, </a:t>
                </a:r>
                <a:r>
                  <a:rPr lang="en-US" sz="2400" kern="0" dirty="0">
                    <a:effectLst/>
                  </a:rPr>
                  <a:t>(budget)</a:t>
                </a:r>
              </a:p>
              <a:p>
                <a:pPr marL="0" indent="0">
                  <a:buNone/>
                </a:pPr>
                <a:r>
                  <a:rPr lang="en-US" kern="0" dirty="0">
                    <a:effectLst/>
                  </a:rPr>
                  <a:t>                           </a:t>
                </a:r>
                <a14:m>
                  <m:oMath xmlns:m="http://schemas.openxmlformats.org/officeDocument/2006/math">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𝒈</m:t>
                        </m:r>
                        <m:r>
                          <a:rPr lang="en-US" i="1" kern="0">
                            <a:effectLst/>
                            <a:latin typeface="Cambria Math" panose="02040503050406030204" pitchFamily="18" charset="0"/>
                          </a:rPr>
                          <m:t>(</m:t>
                        </m:r>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i="1" ker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𝟐</m:t>
                        </m:r>
                      </m:sub>
                    </m:sSub>
                    <m:r>
                      <a:rPr lang="en-US" i="1" kern="0">
                        <a:effectLst/>
                        <a:latin typeface="Cambria Math" panose="02040503050406030204" pitchFamily="18" charset="0"/>
                      </a:rPr>
                      <m:t>)</m:t>
                    </m:r>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𝟎</m:t>
                    </m:r>
                    <m:r>
                      <a:rPr lang="en-US" b="1" i="1" kern="0" smtClean="0">
                        <a:effectLst/>
                        <a:latin typeface="Cambria Math" panose="02040503050406030204" pitchFamily="18" charset="0"/>
                      </a:rPr>
                      <m:t>.</m:t>
                    </m:r>
                    <m:r>
                      <a:rPr lang="en-US" b="1" i="1" kern="0" smtClean="0">
                        <a:effectLst/>
                        <a:latin typeface="Cambria Math" panose="02040503050406030204" pitchFamily="18" charset="0"/>
                      </a:rPr>
                      <m:t>𝟓</m:t>
                    </m:r>
                    <m:r>
                      <a:rPr lang="en-US" b="1" i="1" kern="0" smtClean="0">
                        <a:effectLst/>
                        <a:latin typeface="Cambria Math" panose="02040503050406030204" pitchFamily="18" charset="0"/>
                      </a:rPr>
                      <m:t>𝒙</m:t>
                    </m:r>
                    <m:r>
                      <a:rPr lang="en-US" i="1" kern="0" smtClean="0">
                        <a:effectLst/>
                        <a:latin typeface="Cambria Math" panose="02040503050406030204" pitchFamily="18" charset="0"/>
                        <a:ea typeface="Cambria Math" panose="02040503050406030204" pitchFamily="18" charset="0"/>
                      </a:rPr>
                      <m:t>≥</m:t>
                    </m:r>
                    <m:r>
                      <a:rPr lang="en-US" i="1" kern="0">
                        <a:effectLst/>
                        <a:latin typeface="Cambria Math" panose="02040503050406030204" pitchFamily="18" charset="0"/>
                        <a:ea typeface="Cambria Math" panose="02040503050406030204" pitchFamily="18" charset="0"/>
                      </a:rPr>
                      <m:t>𝟎</m:t>
                    </m:r>
                  </m:oMath>
                </a14:m>
                <a:r>
                  <a:rPr lang="en-US" kern="0" dirty="0">
                    <a:effectLst/>
                  </a:rPr>
                  <a:t>, </a:t>
                </a:r>
                <a:r>
                  <a:rPr lang="en-US" sz="2400" kern="0" dirty="0">
                    <a:effectLst/>
                  </a:rPr>
                  <a:t>(ingredient)</a:t>
                </a:r>
                <a:endParaRPr lang="en-US" kern="0" dirty="0">
                  <a:effectLst/>
                </a:endParaRPr>
              </a:p>
              <a:p>
                <a:pPr marL="0" indent="0">
                  <a:buNone/>
                </a:pPr>
                <a14:m>
                  <m:oMathPara xmlns:m="http://schemas.openxmlformats.org/officeDocument/2006/math">
                    <m:oMathParaPr>
                      <m:jc m:val="centerGroup"/>
                    </m:oMathParaPr>
                    <m:oMath xmlns:m="http://schemas.openxmlformats.org/officeDocument/2006/math">
                      <m:r>
                        <a:rPr lang="en-US" i="1" kern="0">
                          <a:effectLst/>
                          <a:latin typeface="Cambria Math" panose="02040503050406030204" pitchFamily="18" charset="0"/>
                        </a:rPr>
                        <m:t>𝒙</m:t>
                      </m:r>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i="1" kern="0">
                              <a:effectLst/>
                              <a:latin typeface="Cambria Math" panose="02040503050406030204" pitchFamily="18" charset="0"/>
                            </a:rPr>
                            <m:t>𝟏</m:t>
                          </m:r>
                        </m:sub>
                      </m:sSub>
                      <m:r>
                        <a:rPr lang="en-US" b="1" i="1" kern="0" smtClean="0">
                          <a:effectLst/>
                          <a:latin typeface="Cambria Math" panose="02040503050406030204" pitchFamily="18" charset="0"/>
                        </a:rPr>
                        <m:t>,</m:t>
                      </m:r>
                      <m:sSub>
                        <m:sSubPr>
                          <m:ctrlPr>
                            <a:rPr lang="en-US" i="1" kern="0">
                              <a:effectLst/>
                              <a:latin typeface="Cambria Math" panose="02040503050406030204" pitchFamily="18" charset="0"/>
                            </a:rPr>
                          </m:ctrlPr>
                        </m:sSubPr>
                        <m:e>
                          <m:r>
                            <a:rPr lang="en-US" i="1" kern="0">
                              <a:effectLst/>
                              <a:latin typeface="Cambria Math" panose="02040503050406030204" pitchFamily="18" charset="0"/>
                            </a:rPr>
                            <m:t>𝒚</m:t>
                          </m:r>
                        </m:e>
                        <m:sub>
                          <m:r>
                            <a:rPr lang="en-US" b="1" i="1" kern="0" smtClean="0">
                              <a:effectLst/>
                              <a:latin typeface="Cambria Math" panose="02040503050406030204" pitchFamily="18" charset="0"/>
                            </a:rPr>
                            <m:t>𝟐</m:t>
                          </m:r>
                        </m:sub>
                      </m:sSub>
                      <m:r>
                        <a:rPr lang="en-US" i="1" kern="0">
                          <a:effectLst/>
                          <a:latin typeface="Cambria Math" panose="02040503050406030204" pitchFamily="18" charset="0"/>
                        </a:rPr>
                        <m:t>≥</m:t>
                      </m:r>
                      <m:r>
                        <a:rPr lang="en-US" i="1" kern="0">
                          <a:effectLst/>
                          <a:latin typeface="Cambria Math" panose="02040503050406030204" pitchFamily="18" charset="0"/>
                        </a:rPr>
                        <m:t>𝟎</m:t>
                      </m:r>
                    </m:oMath>
                  </m:oMathPara>
                </a14:m>
                <a:endParaRPr lang="en-US" altLang="zh-CN" kern="0" dirty="0">
                  <a:effectLst/>
                  <a:ea typeface="宋体" pitchFamily="2" charset="-122"/>
                </a:endParaRPr>
              </a:p>
            </p:txBody>
          </p:sp>
        </mc:Choice>
        <mc:Fallback xmlns="">
          <p:sp>
            <p:nvSpPr>
              <p:cNvPr id="7" name="Rectangle 3"/>
              <p:cNvSpPr txBox="1">
                <a:spLocks noRot="1" noChangeAspect="1" noMove="1" noResize="1" noEditPoints="1" noAdjustHandles="1" noChangeArrowheads="1" noChangeShapeType="1" noTextEdit="1"/>
              </p:cNvSpPr>
              <p:nvPr/>
            </p:nvSpPr>
            <p:spPr bwMode="auto">
              <a:xfrm>
                <a:off x="-1165828" y="941388"/>
                <a:ext cx="10622167" cy="4358640"/>
              </a:xfrm>
              <a:prstGeom prst="rect">
                <a:avLst/>
              </a:prstGeom>
              <a:blipFill rotWithShape="0">
                <a:blip r:embed="rId4"/>
                <a:stretch>
                  <a:fillRect/>
                </a:stretch>
              </a:blipFill>
              <a:ln w="9525">
                <a:noFill/>
                <a:miter lim="800000"/>
                <a:headEnd/>
                <a:tailEnd/>
              </a:ln>
              <a:effectLst/>
            </p:spPr>
            <p:txBody>
              <a:bodyPr/>
              <a:lstStyle/>
              <a:p>
                <a:r>
                  <a:rPr lang="en-SG">
                    <a:noFill/>
                  </a:rPr>
                  <a:t> </a:t>
                </a:r>
              </a:p>
            </p:txBody>
          </p:sp>
        </mc:Fallback>
      </mc:AlternateContent>
    </p:spTree>
    <p:extLst>
      <p:ext uri="{BB962C8B-B14F-4D97-AF65-F5344CB8AC3E}">
        <p14:creationId xmlns:p14="http://schemas.microsoft.com/office/powerpoint/2010/main" val="338940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LP Formulation</a:t>
            </a:r>
          </a:p>
        </p:txBody>
      </p:sp>
      <p:sp>
        <p:nvSpPr>
          <p:cNvPr id="315395" name="Rectangle 3"/>
          <p:cNvSpPr>
            <a:spLocks noGrp="1" noChangeArrowheads="1"/>
          </p:cNvSpPr>
          <p:nvPr>
            <p:ph type="body" sz="half" idx="1"/>
          </p:nvPr>
        </p:nvSpPr>
        <p:spPr>
          <a:xfrm>
            <a:off x="0" y="475456"/>
            <a:ext cx="9249200" cy="4572000"/>
          </a:xfrm>
        </p:spPr>
        <p:txBody>
          <a:bodyPr/>
          <a:lstStyle/>
          <a:p>
            <a:pPr marL="0" indent="0">
              <a:buNone/>
              <a:defRPr/>
            </a:pPr>
            <a:endParaRPr lang="en-US" altLang="zh-CN" sz="2600" dirty="0">
              <a:ea typeface="宋体" pitchFamily="2" charset="-122"/>
            </a:endParaRPr>
          </a:p>
          <a:p>
            <a:pPr>
              <a:defRPr/>
            </a:pPr>
            <a:r>
              <a:rPr lang="en-US" altLang="zh-CN" sz="2400" dirty="0">
                <a:effectLst/>
                <a:ea typeface="宋体" pitchFamily="2" charset="-122"/>
              </a:rPr>
              <a:t>Worst case input</a:t>
            </a:r>
          </a:p>
          <a:p>
            <a:pPr>
              <a:defRPr/>
            </a:pPr>
            <a:endParaRPr lang="en-US" altLang="zh-CN" sz="2400" dirty="0">
              <a:ea typeface="宋体" pitchFamily="2" charset="-122"/>
            </a:endParaRPr>
          </a:p>
          <a:p>
            <a:pPr marL="0" indent="0">
              <a:buNone/>
              <a:defRPr/>
            </a:pPr>
            <a:endParaRPr lang="en-US" altLang="zh-CN" sz="2400" dirty="0">
              <a:ea typeface="宋体" pitchFamily="2" charset="-122"/>
            </a:endParaRPr>
          </a:p>
          <a:p>
            <a:pPr lvl="1">
              <a:defRPr/>
            </a:pPr>
            <a:endParaRPr lang="en-US" altLang="zh-CN" sz="2200" dirty="0">
              <a:ea typeface="宋体" pitchFamily="2" charset="-122"/>
            </a:endParaRPr>
          </a:p>
        </p:txBody>
      </p:sp>
      <mc:AlternateContent xmlns:mc="http://schemas.openxmlformats.org/markup-compatibility/2006" xmlns:a14="http://schemas.microsoft.com/office/drawing/2010/main">
        <mc:Choice Requires="a14">
          <p:sp>
            <p:nvSpPr>
              <p:cNvPr id="7" name="Rectangle 3"/>
              <p:cNvSpPr txBox="1">
                <a:spLocks noChangeArrowheads="1"/>
              </p:cNvSpPr>
              <p:nvPr/>
            </p:nvSpPr>
            <p:spPr bwMode="auto">
              <a:xfrm>
                <a:off x="215131" y="922440"/>
                <a:ext cx="9412111" cy="2065919"/>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pPr>
                <a:r>
                  <a:rPr lang="en-US" kern="0" dirty="0"/>
                  <a:t>            </a:t>
                </a:r>
                <a14:m>
                  <m:oMath xmlns:m="http://schemas.openxmlformats.org/officeDocument/2006/math">
                    <m:func>
                      <m:funcPr>
                        <m:ctrlPr>
                          <a:rPr lang="en-US" sz="2400" b="0" i="1">
                            <a:solidFill>
                              <a:srgbClr val="00279F"/>
                            </a:solidFill>
                            <a:effectLst/>
                            <a:latin typeface="Cambria Math" panose="02040503050406030204" pitchFamily="18" charset="0"/>
                          </a:rPr>
                        </m:ctrlPr>
                      </m:funcPr>
                      <m:fName>
                        <m:sSub>
                          <m:sSubPr>
                            <m:ctrlPr>
                              <a:rPr lang="en-US" sz="2400" b="0" i="1">
                                <a:solidFill>
                                  <a:srgbClr val="00279F"/>
                                </a:solidFill>
                                <a:effectLst/>
                                <a:latin typeface="Cambria Math" panose="02040503050406030204" pitchFamily="18" charset="0"/>
                              </a:rPr>
                            </m:ctrlPr>
                          </m:sSubPr>
                          <m:e>
                            <m:r>
                              <m:rPr>
                                <m:sty m:val="p"/>
                              </m:rPr>
                              <a:rPr lang="en-US" sz="2400" b="0">
                                <a:solidFill>
                                  <a:srgbClr val="00279F"/>
                                </a:solidFill>
                                <a:effectLst/>
                                <a:latin typeface="Cambria Math" panose="02040503050406030204" pitchFamily="18" charset="0"/>
                              </a:rPr>
                              <m:t>g</m:t>
                            </m:r>
                            <m:d>
                              <m:dPr>
                                <m:ctrlPr>
                                  <a:rPr lang="en-US" sz="2400" b="0" i="1">
                                    <a:solidFill>
                                      <a:srgbClr val="00279F"/>
                                    </a:solidFill>
                                    <a:effectLst/>
                                    <a:latin typeface="Cambria Math" panose="02040503050406030204" pitchFamily="18" charset="0"/>
                                  </a:rPr>
                                </m:ctrlPr>
                              </m:dPr>
                              <m:e>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𝑦</m:t>
                                    </m:r>
                                  </m:e>
                                  <m:sub>
                                    <m:r>
                                      <a:rPr lang="en-US" sz="2400" b="0" i="1">
                                        <a:solidFill>
                                          <a:srgbClr val="00279F"/>
                                        </a:solidFill>
                                        <a:effectLst/>
                                        <a:latin typeface="Cambria Math" panose="02040503050406030204" pitchFamily="18" charset="0"/>
                                      </a:rPr>
                                      <m:t>2</m:t>
                                    </m:r>
                                  </m:sub>
                                </m:sSub>
                              </m:e>
                            </m:d>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smtClean="0">
                            <a:solidFill>
                              <a:srgbClr val="00279F"/>
                            </a:solidFill>
                            <a:effectLst/>
                            <a:latin typeface="Cambria Math" panose="02040503050406030204" pitchFamily="18" charset="0"/>
                          </a:rPr>
                          <m:t>+2%</m:t>
                        </m:r>
                        <m:sSub>
                          <m:sSubPr>
                            <m:ctrlPr>
                              <a:rPr lang="en-US" sz="2400" b="0" i="1" smtClean="0">
                                <a:solidFill>
                                  <a:srgbClr val="00279F"/>
                                </a:solidFill>
                                <a:effectLst/>
                                <a:latin typeface="Cambria Math" panose="02040503050406030204" pitchFamily="18" charset="0"/>
                              </a:rPr>
                            </m:ctrlPr>
                          </m:sSubPr>
                          <m:e>
                            <m:r>
                              <a:rPr lang="en-US" sz="2400" b="0" i="1" smtClean="0">
                                <a:solidFill>
                                  <a:srgbClr val="00279F"/>
                                </a:solidFill>
                                <a:effectLst/>
                                <a:latin typeface="Cambria Math" panose="02040503050406030204" pitchFamily="18" charset="0"/>
                              </a:rPr>
                              <m:t>𝑦</m:t>
                            </m:r>
                          </m:e>
                          <m:sub>
                            <m:r>
                              <a:rPr lang="en-US" sz="2400" b="0" i="1" smtClean="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r>
                          <m:rPr>
                            <m:sty m:val="p"/>
                          </m:rPr>
                          <a:rPr lang="en-US" sz="2400" b="0">
                            <a:solidFill>
                              <a:srgbClr val="00279F"/>
                            </a:solidFill>
                            <a:effectLst/>
                            <a:latin typeface="Cambria Math" panose="02040503050406030204" pitchFamily="18" charset="0"/>
                          </a:rPr>
                          <m:t>min</m:t>
                        </m:r>
                        <m:r>
                          <a:rPr lang="en-US" sz="2400" b="0">
                            <a:solidFill>
                              <a:srgbClr val="00279F"/>
                            </a:solidFill>
                            <a:effectLst/>
                            <a:latin typeface="Cambria Math" panose="02040503050406030204" pitchFamily="18" charset="0"/>
                          </a:rPr>
                          <m:t> </m:t>
                        </m:r>
                      </m:fName>
                      <m:e>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0.005%</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m:t>
                        </m:r>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0.04%</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e>
                    </m:func>
                  </m:oMath>
                </a14:m>
                <a:endParaRPr lang="en-US" sz="2400" b="0" dirty="0">
                  <a:solidFill>
                    <a:srgbClr val="00279F"/>
                  </a:solidFill>
                  <a:effectLst/>
                  <a:latin typeface="Cambria Math" panose="02040503050406030204" pitchFamily="18" charset="0"/>
                </a:endParaRP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r>
                      <a:rPr lang="en-US" sz="2400" b="0">
                        <a:solidFill>
                          <a:srgbClr val="00279F"/>
                        </a:solidFill>
                        <a:effectLst/>
                        <a:latin typeface="Cambria Math" panose="02040503050406030204" pitchFamily="18" charset="0"/>
                      </a:rPr>
                      <m:t>𝑠</m:t>
                    </m:r>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𝑡</m:t>
                    </m:r>
                    <m:r>
                      <a:rPr lang="en-US" sz="2400" b="0">
                        <a:solidFill>
                          <a:srgbClr val="00279F"/>
                        </a:solidFill>
                        <a:effectLst/>
                        <a:latin typeface="Cambria Math" panose="02040503050406030204" pitchFamily="18" charset="0"/>
                      </a:rPr>
                      <m:t>. </m:t>
                    </m:r>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       </m:t>
                        </m:r>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d>
                      <m:dPr>
                        <m:begChr m:val="|"/>
                        <m:endChr m:val="|"/>
                        <m:ctrlPr>
                          <a:rPr lang="en-US" sz="2400" b="0" i="1">
                            <a:solidFill>
                              <a:srgbClr val="00279F"/>
                            </a:solidFill>
                            <a:effectLst/>
                            <a:latin typeface="Cambria Math" panose="02040503050406030204" pitchFamily="18" charset="0"/>
                          </a:rPr>
                        </m:ctrlPr>
                      </m:dPr>
                      <m:e>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e>
                    </m:d>
                    <m:r>
                      <a:rPr lang="en-US" sz="2400" b="0">
                        <a:solidFill>
                          <a:srgbClr val="00279F"/>
                        </a:solidFill>
                        <a:effectLst/>
                        <a:latin typeface="Cambria Math" panose="02040503050406030204" pitchFamily="18" charset="0"/>
                      </a:rPr>
                      <m:t>≤2×</m:t>
                    </m:r>
                    <m:r>
                      <a:rPr lang="en-US" sz="2400" b="0">
                        <a:solidFill>
                          <a:srgbClr val="00279F"/>
                        </a:solidFill>
                        <a:effectLst/>
                        <a:latin typeface="Cambria Math" panose="02040503050406030204" pitchFamily="18" charset="0"/>
                      </a:rPr>
                      <m:t>𝛼</m:t>
                    </m:r>
                  </m:oMath>
                </a14:m>
                <a:r>
                  <a:rPr lang="en-US" sz="2400" b="0" dirty="0">
                    <a:solidFill>
                      <a:srgbClr val="00279F"/>
                    </a:solidFill>
                    <a:effectLst/>
                    <a:latin typeface="Cambria Math" panose="02040503050406030204" pitchFamily="18" charset="0"/>
                  </a:rPr>
                  <a:t>			       </a:t>
                </a: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 |</m:t>
                        </m:r>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oMath>
                </a14:m>
                <a:r>
                  <a:rPr lang="en-US" sz="2400" b="0" dirty="0">
                    <a:solidFill>
                      <a:srgbClr val="00279F"/>
                    </a:solidFill>
                    <a:effectLst/>
                    <a:latin typeface="Cambria Math" panose="02040503050406030204" pitchFamily="18" charset="0"/>
                  </a:rPr>
                  <a:t>, </a:t>
                </a:r>
                <a14:m>
                  <m:oMath xmlns:m="http://schemas.openxmlformats.org/officeDocument/2006/math">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oMath>
                </a14:m>
                <a:r>
                  <a:rPr lang="en-US" sz="2400" b="0" dirty="0">
                    <a:solidFill>
                      <a:srgbClr val="00279F"/>
                    </a:solidFill>
                    <a:effectLst/>
                    <a:latin typeface="Cambria Math" panose="02040503050406030204" pitchFamily="18" charset="0"/>
                  </a:rPr>
                  <a:t>,</a:t>
                </a:r>
              </a:p>
              <a:p>
                <a:pPr marL="0" indent="0">
                  <a:buFontTx/>
                  <a:buNone/>
                </a:pPr>
                <a:r>
                  <a:rPr lang="en-US" sz="2400" b="0" dirty="0">
                    <a:solidFill>
                      <a:srgbClr val="00279F"/>
                    </a:solidFill>
                  </a:rPr>
                  <a:t>                                      </a:t>
                </a:r>
                <a:endParaRPr lang="en-US" altLang="zh-CN" sz="2400" b="0" i="1" dirty="0">
                  <a:solidFill>
                    <a:srgbClr val="00279F"/>
                  </a:solidFill>
                  <a:latin typeface="Cambria Math" panose="02040503050406030204" pitchFamily="18" charset="0"/>
                </a:endParaRPr>
              </a:p>
            </p:txBody>
          </p:sp>
        </mc:Choice>
        <mc:Fallback xmlns="">
          <p:sp>
            <p:nvSpPr>
              <p:cNvPr id="7" name="Rectangle 3"/>
              <p:cNvSpPr txBox="1">
                <a:spLocks noRot="1" noChangeAspect="1" noMove="1" noResize="1" noEditPoints="1" noAdjustHandles="1" noChangeArrowheads="1" noChangeShapeType="1" noTextEdit="1"/>
              </p:cNvSpPr>
              <p:nvPr/>
            </p:nvSpPr>
            <p:spPr bwMode="auto">
              <a:xfrm>
                <a:off x="215131" y="922440"/>
                <a:ext cx="9412111" cy="2065919"/>
              </a:xfrm>
              <a:prstGeom prst="rect">
                <a:avLst/>
              </a:prstGeom>
              <a:blipFill rotWithShape="0">
                <a:blip r:embed="rId12"/>
                <a:stretch>
                  <a:fillRect l="-194"/>
                </a:stretch>
              </a:blipFill>
              <a:ln w="9525">
                <a:noFill/>
                <a:miter lim="800000"/>
                <a:headEnd/>
                <a:tailEnd/>
              </a:ln>
              <a:effectLst/>
            </p:spPr>
            <p:txBody>
              <a:bodyPr/>
              <a:lstStyle/>
              <a:p>
                <a:r>
                  <a:rPr lang="en-SG">
                    <a:noFill/>
                  </a:rPr>
                  <a:t> </a:t>
                </a:r>
              </a:p>
            </p:txBody>
          </p:sp>
        </mc:Fallback>
      </mc:AlternateContent>
      <p:sp>
        <p:nvSpPr>
          <p:cNvPr id="8" name="Up-Down Arrow 7"/>
          <p:cNvSpPr/>
          <p:nvPr/>
        </p:nvSpPr>
        <p:spPr bwMode="auto">
          <a:xfrm>
            <a:off x="1479023" y="1947303"/>
            <a:ext cx="259492" cy="634247"/>
          </a:xfrm>
          <a:prstGeom prst="upDown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mc:AlternateContent xmlns:mc="http://schemas.openxmlformats.org/markup-compatibility/2006" xmlns:a14="http://schemas.microsoft.com/office/drawing/2010/main">
        <mc:Choice Requires="a14">
          <p:sp>
            <p:nvSpPr>
              <p:cNvPr id="9" name="Rectangle 3"/>
              <p:cNvSpPr txBox="1">
                <a:spLocks noChangeArrowheads="1"/>
              </p:cNvSpPr>
              <p:nvPr/>
            </p:nvSpPr>
            <p:spPr bwMode="auto">
              <a:xfrm>
                <a:off x="0" y="2581550"/>
                <a:ext cx="8818179" cy="3783724"/>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pPr>
                <a:r>
                  <a:rPr lang="en-US" kern="0" dirty="0"/>
                  <a:t>  </a:t>
                </a:r>
                <a14:m>
                  <m:oMath xmlns:m="http://schemas.openxmlformats.org/officeDocument/2006/math">
                    <m:func>
                      <m:funcPr>
                        <m:ctrlPr>
                          <a:rPr lang="en-US" sz="2400" b="0" i="1">
                            <a:solidFill>
                              <a:srgbClr val="00279F"/>
                            </a:solidFill>
                            <a:effectLst/>
                            <a:latin typeface="Cambria Math" panose="02040503050406030204" pitchFamily="18" charset="0"/>
                          </a:rPr>
                        </m:ctrlPr>
                      </m:funcPr>
                      <m:fName>
                        <m:sSub>
                          <m:sSubPr>
                            <m:ctrlPr>
                              <a:rPr lang="en-US" sz="2400" b="0" i="1">
                                <a:solidFill>
                                  <a:srgbClr val="00279F"/>
                                </a:solidFill>
                                <a:effectLst/>
                                <a:latin typeface="Cambria Math" panose="02040503050406030204" pitchFamily="18" charset="0"/>
                              </a:rPr>
                            </m:ctrlPr>
                          </m:sSubPr>
                          <m:e>
                            <m:r>
                              <m:rPr>
                                <m:sty m:val="p"/>
                              </m:rPr>
                              <a:rPr lang="en-US" sz="2400" b="0">
                                <a:solidFill>
                                  <a:srgbClr val="00279F"/>
                                </a:solidFill>
                                <a:effectLst/>
                                <a:latin typeface="Cambria Math" panose="02040503050406030204" pitchFamily="18" charset="0"/>
                              </a:rPr>
                              <m:t>g</m:t>
                            </m:r>
                            <m:d>
                              <m:dPr>
                                <m:ctrlPr>
                                  <a:rPr lang="en-US" sz="2400" b="0" i="1">
                                    <a:solidFill>
                                      <a:srgbClr val="00279F"/>
                                    </a:solidFill>
                                    <a:effectLst/>
                                    <a:latin typeface="Cambria Math" panose="02040503050406030204" pitchFamily="18" charset="0"/>
                                  </a:rPr>
                                </m:ctrlPr>
                              </m:dPr>
                              <m:e>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𝑦</m:t>
                                    </m:r>
                                  </m:e>
                                  <m:sub>
                                    <m:r>
                                      <a:rPr lang="en-US" sz="2400" b="0" i="1">
                                        <a:solidFill>
                                          <a:srgbClr val="00279F"/>
                                        </a:solidFill>
                                        <a:effectLst/>
                                        <a:latin typeface="Cambria Math" panose="02040503050406030204" pitchFamily="18" charset="0"/>
                                      </a:rPr>
                                      <m:t>2</m:t>
                                    </m:r>
                                  </m:sub>
                                </m:sSub>
                              </m:e>
                            </m:d>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smtClean="0">
                            <a:solidFill>
                              <a:srgbClr val="00279F"/>
                            </a:solidFill>
                            <a:effectLst/>
                            <a:latin typeface="Cambria Math" panose="02040503050406030204" pitchFamily="18" charset="0"/>
                          </a:rPr>
                          <m:t>+2%</m:t>
                        </m:r>
                        <m:sSub>
                          <m:sSubPr>
                            <m:ctrlPr>
                              <a:rPr lang="en-US" sz="2400" b="0" i="1" smtClean="0">
                                <a:solidFill>
                                  <a:srgbClr val="00279F"/>
                                </a:solidFill>
                                <a:effectLst/>
                                <a:latin typeface="Cambria Math" panose="02040503050406030204" pitchFamily="18" charset="0"/>
                              </a:rPr>
                            </m:ctrlPr>
                          </m:sSubPr>
                          <m:e>
                            <m:r>
                              <a:rPr lang="en-US" sz="2400" b="0" i="1" smtClean="0">
                                <a:solidFill>
                                  <a:srgbClr val="00279F"/>
                                </a:solidFill>
                                <a:effectLst/>
                                <a:latin typeface="Cambria Math" panose="02040503050406030204" pitchFamily="18" charset="0"/>
                              </a:rPr>
                              <m:t>𝑦</m:t>
                            </m:r>
                          </m:e>
                          <m:sub>
                            <m:r>
                              <a:rPr lang="en-US" sz="2400" b="0" i="1" smtClean="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r>
                          <m:rPr>
                            <m:sty m:val="p"/>
                          </m:rPr>
                          <a:rPr lang="en-US" sz="2400" b="0">
                            <a:solidFill>
                              <a:srgbClr val="00279F"/>
                            </a:solidFill>
                            <a:effectLst/>
                            <a:latin typeface="Cambria Math" panose="02040503050406030204" pitchFamily="18" charset="0"/>
                          </a:rPr>
                          <m:t>min</m:t>
                        </m:r>
                        <m:r>
                          <a:rPr lang="en-US" sz="2400" b="0">
                            <a:solidFill>
                              <a:srgbClr val="00279F"/>
                            </a:solidFill>
                            <a:effectLst/>
                            <a:latin typeface="Cambria Math" panose="02040503050406030204" pitchFamily="18" charset="0"/>
                          </a:rPr>
                          <m:t> </m:t>
                        </m:r>
                      </m:fName>
                      <m:e>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0.005%</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m:t>
                        </m:r>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0.04%</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𝑧</m:t>
                            </m:r>
                          </m:e>
                          <m:sub>
                            <m:r>
                              <a:rPr lang="en-US" sz="2400" b="0">
                                <a:solidFill>
                                  <a:srgbClr val="00279F"/>
                                </a:solidFill>
                                <a:effectLst/>
                                <a:latin typeface="Cambria Math" panose="02040503050406030204" pitchFamily="18" charset="0"/>
                              </a:rPr>
                              <m:t>2</m:t>
                            </m:r>
                          </m:sub>
                        </m:sSub>
                      </m:e>
                    </m:func>
                  </m:oMath>
                </a14:m>
                <a:endParaRPr lang="en-US" sz="2400" b="0" dirty="0">
                  <a:solidFill>
                    <a:srgbClr val="00279F"/>
                  </a:solidFill>
                  <a:effectLst/>
                  <a:latin typeface="Cambria Math" panose="02040503050406030204" pitchFamily="18" charset="0"/>
                </a:endParaRP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r>
                      <a:rPr lang="en-US" sz="2400" b="0">
                        <a:solidFill>
                          <a:srgbClr val="00279F"/>
                        </a:solidFill>
                        <a:effectLst/>
                        <a:latin typeface="Cambria Math" panose="02040503050406030204" pitchFamily="18" charset="0"/>
                      </a:rPr>
                      <m:t>𝑠</m:t>
                    </m:r>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𝑡</m:t>
                    </m:r>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0" smtClean="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𝑥</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𝑥</m:t>
                        </m:r>
                      </m:e>
                      <m:sub>
                        <m:r>
                          <a:rPr lang="en-US" sz="2400" b="0" i="0" smtClean="0">
                            <a:solidFill>
                              <a:srgbClr val="00279F"/>
                            </a:solidFill>
                            <a:effectLst/>
                            <a:latin typeface="Cambria Math" panose="02040503050406030204" pitchFamily="18" charset="0"/>
                          </a:rPr>
                          <m:t>2</m:t>
                        </m:r>
                      </m:sub>
                    </m:sSub>
                    <m:r>
                      <a:rPr lang="en-US" sz="2400" b="0">
                        <a:solidFill>
                          <a:srgbClr val="00279F"/>
                        </a:solidFill>
                        <a:effectLst/>
                        <a:latin typeface="Cambria Math" panose="02040503050406030204" pitchFamily="18" charset="0"/>
                      </a:rPr>
                      <m:t>≤2×</m:t>
                    </m:r>
                    <m:r>
                      <a:rPr lang="en-US" sz="2400" b="0">
                        <a:solidFill>
                          <a:srgbClr val="00279F"/>
                        </a:solidFill>
                        <a:effectLst/>
                        <a:latin typeface="Cambria Math" panose="02040503050406030204" pitchFamily="18" charset="0"/>
                      </a:rPr>
                      <m:t>𝛼</m:t>
                    </m:r>
                  </m:oMath>
                </a14:m>
                <a:r>
                  <a:rPr lang="en-US" sz="2400" b="0" dirty="0">
                    <a:solidFill>
                      <a:srgbClr val="00279F"/>
                    </a:solidFill>
                    <a:effectLst/>
                    <a:latin typeface="Cambria Math" panose="02040503050406030204" pitchFamily="18" charset="0"/>
                  </a:rPr>
                  <a:t>	</a:t>
                </a:r>
              </a:p>
              <a:p>
                <a:pPr marL="0" indent="0">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smtClean="0">
                            <a:solidFill>
                              <a:srgbClr val="00279F"/>
                            </a:solidFill>
                            <a:effectLst/>
                            <a:latin typeface="Cambria Math" panose="02040503050406030204" pitchFamily="18" charset="0"/>
                          </a:rPr>
                        </m:ctrlPr>
                      </m:sSubPr>
                      <m:e>
                        <m:r>
                          <m:rPr>
                            <m:sty m:val="p"/>
                          </m:rPr>
                          <a:rPr lang="en-US" sz="2400" b="0" i="0" smtClean="0">
                            <a:solidFill>
                              <a:srgbClr val="00279F"/>
                            </a:solidFill>
                            <a:effectLst/>
                            <a:latin typeface="Cambria Math" panose="02040503050406030204" pitchFamily="18" charset="0"/>
                          </a:rPr>
                          <m:t>z</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𝑥</m:t>
                        </m:r>
                      </m:e>
                      <m:sub>
                        <m:r>
                          <a:rPr lang="en-US" sz="2400" b="0">
                            <a:solidFill>
                              <a:srgbClr val="00279F"/>
                            </a:solidFill>
                            <a:effectLst/>
                            <a:latin typeface="Cambria Math" panose="02040503050406030204" pitchFamily="18" charset="0"/>
                          </a:rPr>
                          <m:t>1</m:t>
                        </m:r>
                      </m:sub>
                    </m:sSub>
                    <m:r>
                      <a:rPr lang="en-US" sz="2400" b="0" i="1">
                        <a:solidFill>
                          <a:srgbClr val="00279F"/>
                        </a:solidFill>
                        <a:effectLst/>
                        <a:latin typeface="Cambria Math" panose="02040503050406030204" pitchFamily="18" charset="0"/>
                        <a:ea typeface="Cambria Math" panose="02040503050406030204" pitchFamily="18" charset="0"/>
                      </a:rPr>
                      <m:t>≤</m:t>
                    </m:r>
                    <m:r>
                      <a:rPr lang="en-US" sz="2400" b="0" i="1" smtClean="0">
                        <a:solidFill>
                          <a:srgbClr val="00279F"/>
                        </a:solidFill>
                        <a:effectLst/>
                        <a:latin typeface="Cambria Math" panose="02040503050406030204" pitchFamily="18" charset="0"/>
                        <a:ea typeface="Cambria Math" panose="02040503050406030204" pitchFamily="18" charset="0"/>
                      </a:rPr>
                      <m:t>0</m:t>
                    </m:r>
                  </m:oMath>
                </a14:m>
                <a:r>
                  <a:rPr lang="en-US" sz="2400" b="0" dirty="0">
                    <a:solidFill>
                      <a:srgbClr val="00279F"/>
                    </a:solidFill>
                    <a:effectLst/>
                    <a:latin typeface="Cambria Math" panose="02040503050406030204" pitchFamily="18" charset="0"/>
                  </a:rPr>
                  <a:t>	</a:t>
                </a:r>
              </a:p>
              <a:p>
                <a:pPr marL="0" indent="0">
                  <a:buNone/>
                </a:pPr>
                <a:r>
                  <a:rPr lang="en-US" sz="2400" b="0" dirty="0">
                    <a:solidFill>
                      <a:srgbClr val="00279F"/>
                    </a:solidFill>
                    <a:effectLst/>
                  </a:rPr>
                  <a:t>                                                    </a:t>
                </a:r>
                <a14:m>
                  <m:oMath xmlns:m="http://schemas.openxmlformats.org/officeDocument/2006/math">
                    <m:sSub>
                      <m:sSubPr>
                        <m:ctrlPr>
                          <a:rPr lang="en-US" sz="2400" b="0" i="1" smtClean="0">
                            <a:solidFill>
                              <a:srgbClr val="00279F"/>
                            </a:solidFill>
                            <a:effectLst/>
                            <a:latin typeface="Cambria Math" panose="02040503050406030204" pitchFamily="18" charset="0"/>
                          </a:rPr>
                        </m:ctrlPr>
                      </m:sSubPr>
                      <m:e>
                        <m:r>
                          <a:rPr lang="en-US" sz="2400" b="0" i="0" smtClean="0">
                            <a:solidFill>
                              <a:srgbClr val="00279F"/>
                            </a:solidFill>
                            <a:effectLst/>
                            <a:latin typeface="Cambria Math" panose="02040503050406030204" pitchFamily="18" charset="0"/>
                          </a:rPr>
                          <m:t>−</m:t>
                        </m:r>
                        <m:r>
                          <m:rPr>
                            <m:sty m:val="p"/>
                          </m:rPr>
                          <a:rPr lang="en-US" sz="2400" b="0" i="0" smtClean="0">
                            <a:solidFill>
                              <a:srgbClr val="00279F"/>
                            </a:solidFill>
                            <a:effectLst/>
                            <a:latin typeface="Cambria Math" panose="02040503050406030204" pitchFamily="18" charset="0"/>
                          </a:rPr>
                          <m:t>z</m:t>
                        </m:r>
                      </m:e>
                      <m:sub>
                        <m:r>
                          <a:rPr lang="en-US" sz="2400" b="0">
                            <a:solidFill>
                              <a:srgbClr val="00279F"/>
                            </a:solidFill>
                            <a:effectLst/>
                            <a:latin typeface="Cambria Math" panose="02040503050406030204" pitchFamily="18" charset="0"/>
                          </a:rPr>
                          <m:t>1</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smtClean="0">
                            <a:solidFill>
                              <a:srgbClr val="00279F"/>
                            </a:solidFill>
                            <a:effectLst/>
                            <a:latin typeface="Cambria Math" panose="02040503050406030204" pitchFamily="18" charset="0"/>
                          </a:rPr>
                          <m:t>𝑥</m:t>
                        </m:r>
                      </m:e>
                      <m:sub>
                        <m:r>
                          <a:rPr lang="en-US" sz="2400" b="0">
                            <a:solidFill>
                              <a:srgbClr val="00279F"/>
                            </a:solidFill>
                            <a:effectLst/>
                            <a:latin typeface="Cambria Math" panose="02040503050406030204" pitchFamily="18" charset="0"/>
                          </a:rPr>
                          <m:t>1</m:t>
                        </m:r>
                      </m:sub>
                    </m:sSub>
                    <m:r>
                      <a:rPr lang="en-US" sz="2400" b="0" i="1" smtClean="0">
                        <a:solidFill>
                          <a:srgbClr val="00279F"/>
                        </a:solidFill>
                        <a:effectLst/>
                        <a:latin typeface="Cambria Math" panose="02040503050406030204" pitchFamily="18" charset="0"/>
                        <a:ea typeface="Cambria Math" panose="02040503050406030204" pitchFamily="18" charset="0"/>
                      </a:rPr>
                      <m:t>≤</m:t>
                    </m:r>
                    <m:r>
                      <a:rPr lang="en-US" sz="2400" b="0" i="1">
                        <a:solidFill>
                          <a:srgbClr val="00279F"/>
                        </a:solidFill>
                        <a:effectLst/>
                        <a:latin typeface="Cambria Math" panose="02040503050406030204" pitchFamily="18" charset="0"/>
                        <a:ea typeface="Cambria Math" panose="02040503050406030204" pitchFamily="18" charset="0"/>
                      </a:rPr>
                      <m:t>0</m:t>
                    </m:r>
                  </m:oMath>
                </a14:m>
                <a:r>
                  <a:rPr lang="en-US" sz="2400" b="0" dirty="0">
                    <a:solidFill>
                      <a:srgbClr val="00279F"/>
                    </a:solidFill>
                    <a:effectLst/>
                    <a:latin typeface="Cambria Math" panose="02040503050406030204" pitchFamily="18" charset="0"/>
                  </a:rPr>
                  <a:t>	</a:t>
                </a:r>
              </a:p>
              <a:p>
                <a:pPr marL="0" indent="0">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m:rPr>
                            <m:sty m:val="p"/>
                          </m:rPr>
                          <a:rPr lang="en-US" sz="2400" b="0">
                            <a:solidFill>
                              <a:srgbClr val="00279F"/>
                            </a:solidFill>
                            <a:effectLst/>
                            <a:latin typeface="Cambria Math" panose="02040503050406030204" pitchFamily="18" charset="0"/>
                          </a:rPr>
                          <m:t>z</m:t>
                        </m:r>
                      </m:e>
                      <m:sub>
                        <m:r>
                          <a:rPr lang="en-US" sz="2400" b="0" i="0" smtClean="0">
                            <a:solidFill>
                              <a:srgbClr val="00279F"/>
                            </a:solidFill>
                            <a:effectLst/>
                            <a:latin typeface="Cambria Math" panose="02040503050406030204" pitchFamily="18" charset="0"/>
                          </a:rPr>
                          <m:t>2</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𝑥</m:t>
                        </m:r>
                      </m:e>
                      <m:sub>
                        <m:r>
                          <a:rPr lang="en-US" sz="2400" b="0" i="0" smtClean="0">
                            <a:solidFill>
                              <a:srgbClr val="00279F"/>
                            </a:solidFill>
                            <a:effectLst/>
                            <a:latin typeface="Cambria Math" panose="02040503050406030204" pitchFamily="18" charset="0"/>
                          </a:rPr>
                          <m:t>2</m:t>
                        </m:r>
                      </m:sub>
                    </m:sSub>
                    <m:r>
                      <a:rPr lang="en-US" sz="2400" b="0" i="1">
                        <a:solidFill>
                          <a:srgbClr val="00279F"/>
                        </a:solidFill>
                        <a:effectLst/>
                        <a:latin typeface="Cambria Math" panose="02040503050406030204" pitchFamily="18" charset="0"/>
                        <a:ea typeface="Cambria Math" panose="02040503050406030204" pitchFamily="18" charset="0"/>
                      </a:rPr>
                      <m:t>≤0</m:t>
                    </m:r>
                  </m:oMath>
                </a14:m>
                <a:r>
                  <a:rPr lang="en-US" sz="2400" b="0" dirty="0">
                    <a:solidFill>
                      <a:srgbClr val="00279F"/>
                    </a:solidFill>
                    <a:effectLst/>
                    <a:latin typeface="Cambria Math" panose="02040503050406030204" pitchFamily="18" charset="0"/>
                  </a:rPr>
                  <a:t>	</a:t>
                </a:r>
              </a:p>
              <a:p>
                <a:pPr marL="0" indent="0">
                  <a:buNone/>
                </a:pPr>
                <a:r>
                  <a:rPr lang="en-US" sz="2400" b="0" dirty="0">
                    <a:solidFill>
                      <a:srgbClr val="00279F"/>
                    </a:solidFill>
                    <a:effectLst/>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m:t>
                        </m:r>
                        <m:r>
                          <m:rPr>
                            <m:sty m:val="p"/>
                          </m:rPr>
                          <a:rPr lang="en-US" sz="2400" b="0">
                            <a:solidFill>
                              <a:srgbClr val="00279F"/>
                            </a:solidFill>
                            <a:effectLst/>
                            <a:latin typeface="Cambria Math" panose="02040503050406030204" pitchFamily="18" charset="0"/>
                          </a:rPr>
                          <m:t>z</m:t>
                        </m:r>
                      </m:e>
                      <m:sub>
                        <m:r>
                          <a:rPr lang="en-US" sz="2400" b="0" i="0" smtClean="0">
                            <a:solidFill>
                              <a:srgbClr val="00279F"/>
                            </a:solidFill>
                            <a:effectLst/>
                            <a:latin typeface="Cambria Math" panose="02040503050406030204" pitchFamily="18" charset="0"/>
                          </a:rPr>
                          <m:t>2</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𝑥</m:t>
                        </m:r>
                      </m:e>
                      <m:sub>
                        <m:r>
                          <a:rPr lang="en-US" sz="2400" b="0" i="0" smtClean="0">
                            <a:solidFill>
                              <a:srgbClr val="00279F"/>
                            </a:solidFill>
                            <a:effectLst/>
                            <a:latin typeface="Cambria Math" panose="02040503050406030204" pitchFamily="18" charset="0"/>
                          </a:rPr>
                          <m:t>2</m:t>
                        </m:r>
                      </m:sub>
                    </m:sSub>
                    <m:r>
                      <a:rPr lang="en-US" sz="2400" b="0" i="1">
                        <a:solidFill>
                          <a:srgbClr val="00279F"/>
                        </a:solidFill>
                        <a:effectLst/>
                        <a:latin typeface="Cambria Math" panose="02040503050406030204" pitchFamily="18" charset="0"/>
                        <a:ea typeface="Cambria Math" panose="02040503050406030204" pitchFamily="18" charset="0"/>
                      </a:rPr>
                      <m:t>≤0</m:t>
                    </m:r>
                  </m:oMath>
                </a14:m>
                <a:r>
                  <a:rPr lang="en-US" sz="2400" b="0" dirty="0">
                    <a:solidFill>
                      <a:srgbClr val="00279F"/>
                    </a:solidFill>
                    <a:effectLst/>
                    <a:latin typeface="Cambria Math" panose="02040503050406030204" pitchFamily="18" charset="0"/>
                  </a:rPr>
                  <a:t>	</a:t>
                </a: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𝑥</m:t>
                        </m:r>
                      </m:e>
                      <m:sub>
                        <m:r>
                          <a:rPr lang="en-US" sz="2400" b="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≤1</m:t>
                    </m:r>
                  </m:oMath>
                </a14:m>
                <a:endParaRPr lang="en-US" sz="2400" b="0" dirty="0">
                  <a:solidFill>
                    <a:srgbClr val="00279F"/>
                  </a:solidFill>
                  <a:effectLst/>
                  <a:latin typeface="Cambria Math" panose="02040503050406030204" pitchFamily="18" charset="0"/>
                </a:endParaRPr>
              </a:p>
              <a:p>
                <a:pPr marL="0" indent="0">
                  <a:buFontTx/>
                  <a:buNone/>
                </a:pPr>
                <a:r>
                  <a:rPr lang="en-US" sz="2400" b="0" dirty="0">
                    <a:solidFill>
                      <a:srgbClr val="00279F"/>
                    </a:solidFill>
                    <a:effectLst/>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𝑥</m:t>
                        </m:r>
                      </m:e>
                      <m:sub>
                        <m:r>
                          <a:rPr lang="en-US" sz="2400" b="0" i="0" smtClean="0">
                            <a:solidFill>
                              <a:srgbClr val="00279F"/>
                            </a:solidFill>
                            <a:effectLst/>
                            <a:latin typeface="Cambria Math" panose="02040503050406030204" pitchFamily="18" charset="0"/>
                          </a:rPr>
                          <m:t>2</m:t>
                        </m:r>
                      </m:sub>
                    </m:sSub>
                    <m:r>
                      <a:rPr lang="en-US" sz="2400" b="0">
                        <a:solidFill>
                          <a:srgbClr val="00279F"/>
                        </a:solidFill>
                        <a:effectLst/>
                        <a:latin typeface="Cambria Math" panose="02040503050406030204" pitchFamily="18" charset="0"/>
                      </a:rPr>
                      <m:t>≤1</m:t>
                    </m:r>
                  </m:oMath>
                </a14:m>
                <a:r>
                  <a:rPr lang="en-US" sz="2400" b="0" dirty="0">
                    <a:solidFill>
                      <a:srgbClr val="00279F"/>
                    </a:solidFill>
                    <a:effectLst/>
                    <a:latin typeface="Cambria Math" panose="02040503050406030204" pitchFamily="18" charset="0"/>
                  </a:rPr>
                  <a:t>,</a:t>
                </a:r>
              </a:p>
              <a:p>
                <a:pPr marL="0" indent="0">
                  <a:buFontTx/>
                  <a:buNone/>
                </a:pPr>
                <a:r>
                  <a:rPr lang="en-US" sz="2400" b="0" dirty="0">
                    <a:solidFill>
                      <a:srgbClr val="00279F"/>
                    </a:solidFill>
                    <a:effectLst/>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𝑥</m:t>
                        </m:r>
                      </m:e>
                      <m:sub>
                        <m:r>
                          <a:rPr lang="en-US" sz="2400" b="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ea typeface="Cambria Math" panose="02040503050406030204" pitchFamily="18" charset="0"/>
                      </a:rPr>
                      <m:t>≥</m:t>
                    </m:r>
                    <m:r>
                      <a:rPr lang="en-US" sz="2400" b="0" i="0" smtClean="0">
                        <a:solidFill>
                          <a:srgbClr val="00279F"/>
                        </a:solidFill>
                        <a:effectLst/>
                        <a:latin typeface="Cambria Math" panose="02040503050406030204" pitchFamily="18" charset="0"/>
                        <a:ea typeface="Cambria Math" panose="02040503050406030204" pitchFamily="18" charset="0"/>
                      </a:rPr>
                      <m:t>0</m:t>
                    </m:r>
                  </m:oMath>
                </a14:m>
                <a:r>
                  <a:rPr lang="en-US" sz="2400" b="0" dirty="0">
                    <a:solidFill>
                      <a:srgbClr val="00279F"/>
                    </a:solidFill>
                    <a:effectLst/>
                    <a:latin typeface="Cambria Math" panose="02040503050406030204" pitchFamily="18" charset="0"/>
                  </a:rPr>
                  <a:t>,</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𝑥</m:t>
                        </m:r>
                      </m:e>
                      <m:sub>
                        <m:r>
                          <a:rPr lang="en-US" sz="2400" b="0">
                            <a:solidFill>
                              <a:srgbClr val="00279F"/>
                            </a:solidFill>
                            <a:effectLst/>
                            <a:latin typeface="Cambria Math" panose="02040503050406030204" pitchFamily="18" charset="0"/>
                          </a:rPr>
                          <m:t>2</m:t>
                        </m:r>
                      </m:sub>
                    </m:sSub>
                    <m:r>
                      <a:rPr lang="en-US" sz="2400" b="0">
                        <a:solidFill>
                          <a:srgbClr val="00279F"/>
                        </a:solidFill>
                        <a:effectLst/>
                        <a:latin typeface="Cambria Math" panose="02040503050406030204" pitchFamily="18" charset="0"/>
                        <a:ea typeface="Cambria Math" panose="02040503050406030204" pitchFamily="18" charset="0"/>
                      </a:rPr>
                      <m:t>≥</m:t>
                    </m:r>
                    <m:r>
                      <a:rPr lang="en-US" sz="2400" b="0" i="0" smtClean="0">
                        <a:solidFill>
                          <a:srgbClr val="00279F"/>
                        </a:solidFill>
                        <a:effectLst/>
                        <a:latin typeface="Cambria Math" panose="02040503050406030204" pitchFamily="18" charset="0"/>
                        <a:ea typeface="Cambria Math" panose="02040503050406030204" pitchFamily="18" charset="0"/>
                      </a:rPr>
                      <m:t>0</m:t>
                    </m:r>
                  </m:oMath>
                </a14:m>
                <a:endParaRPr lang="en-US" sz="2400" b="0" dirty="0">
                  <a:solidFill>
                    <a:srgbClr val="00279F"/>
                  </a:solidFill>
                  <a:effectLst/>
                  <a:latin typeface="Cambria Math" panose="02040503050406030204" pitchFamily="18" charset="0"/>
                </a:endParaRPr>
              </a:p>
              <a:p>
                <a:pPr marL="0" indent="0">
                  <a:buFontTx/>
                  <a:buNone/>
                </a:pPr>
                <a:r>
                  <a:rPr lang="en-US" sz="2400" b="0" dirty="0">
                    <a:solidFill>
                      <a:srgbClr val="00279F"/>
                    </a:solidFill>
                  </a:rPr>
                  <a:t>                                      </a:t>
                </a:r>
                <a:endParaRPr lang="en-US" altLang="zh-CN" sz="2400" b="0" i="1" dirty="0">
                  <a:solidFill>
                    <a:srgbClr val="00279F"/>
                  </a:solidFill>
                  <a:latin typeface="Cambria Math" panose="02040503050406030204" pitchFamily="18" charset="0"/>
                </a:endParaRPr>
              </a:p>
            </p:txBody>
          </p:sp>
        </mc:Choice>
        <mc:Fallback xmlns="">
          <p:sp>
            <p:nvSpPr>
              <p:cNvPr id="9" name="Rectangle 3"/>
              <p:cNvSpPr txBox="1">
                <a:spLocks noRot="1" noChangeAspect="1" noMove="1" noResize="1" noEditPoints="1" noAdjustHandles="1" noChangeArrowheads="1" noChangeShapeType="1" noTextEdit="1"/>
              </p:cNvSpPr>
              <p:nvPr/>
            </p:nvSpPr>
            <p:spPr bwMode="auto">
              <a:xfrm>
                <a:off x="0" y="2581550"/>
                <a:ext cx="8818179" cy="3783724"/>
              </a:xfrm>
              <a:prstGeom prst="rect">
                <a:avLst/>
              </a:prstGeom>
              <a:blipFill rotWithShape="0">
                <a:blip r:embed="rId13"/>
                <a:stretch>
                  <a:fillRect b="-10467"/>
                </a:stretch>
              </a:blipFill>
              <a:ln w="9525">
                <a:noFill/>
                <a:miter lim="800000"/>
                <a:headEnd/>
                <a:tailEnd/>
              </a:ln>
              <a:effec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517568" y="3079012"/>
                <a:ext cx="4496039" cy="461665"/>
              </a:xfrm>
              <a:prstGeom prst="rect">
                <a:avLst/>
              </a:prstGeom>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1</m:t>
                          </m:r>
                        </m:sub>
                      </m:sSub>
                    </m:oMath>
                  </m:oMathPara>
                </a14:m>
                <a:endParaRPr lang="en-US" sz="2400" i="1" dirty="0">
                  <a:latin typeface="Cambria Math" panose="020405030504060302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5517568" y="3079012"/>
                <a:ext cx="4496039" cy="461665"/>
              </a:xfrm>
              <a:prstGeom prst="rect">
                <a:avLst/>
              </a:prstGeom>
              <a:blipFill rotWithShape="0">
                <a:blip r:embed="rId5"/>
                <a:stretch>
                  <a:fillRect b="-131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517567" y="3510916"/>
                <a:ext cx="4496039" cy="461665"/>
              </a:xfrm>
              <a:prstGeom prst="rect">
                <a:avLst/>
              </a:prstGeom>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2</m:t>
                          </m:r>
                        </m:sub>
                      </m:sSub>
                    </m:oMath>
                  </m:oMathPara>
                </a14:m>
                <a:endParaRPr lang="en-US" sz="2400" i="1" dirty="0">
                  <a:latin typeface="Cambria Math" panose="02040503050406030204" pitchFamily="18" charset="0"/>
                </a:endParaRPr>
              </a:p>
            </p:txBody>
          </p:sp>
        </mc:Choice>
        <mc:Fallback xmlns="">
          <p:sp>
            <p:nvSpPr>
              <p:cNvPr id="11" name="Rectangle 10"/>
              <p:cNvSpPr>
                <a:spLocks noRot="1" noChangeAspect="1" noMove="1" noResize="1" noEditPoints="1" noAdjustHandles="1" noChangeArrowheads="1" noChangeShapeType="1" noTextEdit="1"/>
              </p:cNvSpPr>
              <p:nvPr/>
            </p:nvSpPr>
            <p:spPr>
              <a:xfrm>
                <a:off x="5517567" y="3510916"/>
                <a:ext cx="4496039" cy="461665"/>
              </a:xfrm>
              <a:prstGeom prst="rect">
                <a:avLst/>
              </a:prstGeom>
              <a:blipFill rotWithShape="0">
                <a:blip r:embed="rId6"/>
                <a:stretch>
                  <a:fillRect b="-1184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517566" y="3938992"/>
                <a:ext cx="4496039" cy="461665"/>
              </a:xfrm>
              <a:prstGeom prst="rect">
                <a:avLst/>
              </a:prstGeom>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3</m:t>
                          </m:r>
                        </m:sub>
                      </m:sSub>
                    </m:oMath>
                  </m:oMathPara>
                </a14:m>
                <a:endParaRPr lang="en-US" sz="2400" i="1" dirty="0">
                  <a:latin typeface="Cambria Math" panose="02040503050406030204"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5517566" y="3938992"/>
                <a:ext cx="4496039" cy="461665"/>
              </a:xfrm>
              <a:prstGeom prst="rect">
                <a:avLst/>
              </a:prstGeom>
              <a:blipFill rotWithShape="0">
                <a:blip r:embed="rId7"/>
                <a:stretch>
                  <a:fillRect b="-131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517566" y="4374797"/>
                <a:ext cx="4496039" cy="461665"/>
              </a:xfrm>
              <a:prstGeom prst="rect">
                <a:avLst/>
              </a:prstGeom>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4</m:t>
                          </m:r>
                        </m:sub>
                      </m:sSub>
                    </m:oMath>
                  </m:oMathPara>
                </a14:m>
                <a:endParaRPr lang="en-US" sz="2400" i="1" dirty="0">
                  <a:latin typeface="Cambria Math" panose="02040503050406030204" pitchFamily="18"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5517566" y="4374797"/>
                <a:ext cx="4496039" cy="461665"/>
              </a:xfrm>
              <a:prstGeom prst="rect">
                <a:avLst/>
              </a:prstGeom>
              <a:blipFill rotWithShape="0">
                <a:blip r:embed="rId8"/>
                <a:stretch>
                  <a:fillRect b="-1333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5517565" y="4810602"/>
                <a:ext cx="4496039" cy="461665"/>
              </a:xfrm>
              <a:prstGeom prst="rect">
                <a:avLst/>
              </a:prstGeom>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5</m:t>
                          </m:r>
                        </m:sub>
                      </m:sSub>
                    </m:oMath>
                  </m:oMathPara>
                </a14:m>
                <a:endParaRPr lang="en-US" sz="2400" i="1" dirty="0">
                  <a:latin typeface="Cambria Math" panose="02040503050406030204" pitchFamily="18" charset="0"/>
                </a:endParaRPr>
              </a:p>
            </p:txBody>
          </p:sp>
        </mc:Choice>
        <mc:Fallback xmlns="">
          <p:sp>
            <p:nvSpPr>
              <p:cNvPr id="14" name="Rectangle 13"/>
              <p:cNvSpPr>
                <a:spLocks noRot="1" noChangeAspect="1" noMove="1" noResize="1" noEditPoints="1" noAdjustHandles="1" noChangeArrowheads="1" noChangeShapeType="1" noTextEdit="1"/>
              </p:cNvSpPr>
              <p:nvPr/>
            </p:nvSpPr>
            <p:spPr>
              <a:xfrm>
                <a:off x="5517565" y="4810602"/>
                <a:ext cx="4496039" cy="461665"/>
              </a:xfrm>
              <a:prstGeom prst="rect">
                <a:avLst/>
              </a:prstGeom>
              <a:blipFill rotWithShape="0">
                <a:blip r:embed="rId9"/>
                <a:stretch>
                  <a:fillRect b="-131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5517564" y="5266080"/>
                <a:ext cx="4496039" cy="461665"/>
              </a:xfrm>
              <a:prstGeom prst="rect">
                <a:avLst/>
              </a:prstGeom>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6</m:t>
                          </m:r>
                        </m:sub>
                      </m:sSub>
                    </m:oMath>
                  </m:oMathPara>
                </a14:m>
                <a:endParaRPr lang="en-US" sz="2400" i="1" dirty="0">
                  <a:latin typeface="Cambria Math" panose="02040503050406030204" pitchFamily="18"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5517564" y="5266080"/>
                <a:ext cx="4496039" cy="461665"/>
              </a:xfrm>
              <a:prstGeom prst="rect">
                <a:avLst/>
              </a:prstGeom>
              <a:blipFill rotWithShape="0">
                <a:blip r:embed="rId10"/>
                <a:stretch>
                  <a:fillRect b="-1184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5512714" y="5697249"/>
                <a:ext cx="4496039" cy="461665"/>
              </a:xfrm>
              <a:prstGeom prst="rect">
                <a:avLst/>
              </a:prstGeom>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7</m:t>
                          </m:r>
                        </m:sub>
                      </m:sSub>
                    </m:oMath>
                  </m:oMathPara>
                </a14:m>
                <a:endParaRPr lang="en-US" sz="2400" i="1" dirty="0">
                  <a:latin typeface="Cambria Math" panose="02040503050406030204" pitchFamily="18"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5512714" y="5697249"/>
                <a:ext cx="4496039" cy="461665"/>
              </a:xfrm>
              <a:prstGeom prst="rect">
                <a:avLst/>
              </a:prstGeom>
              <a:blipFill rotWithShape="0">
                <a:blip r:embed="rId11"/>
                <a:stretch>
                  <a:fillRect b="-13333"/>
                </a:stretch>
              </a:blipFill>
            </p:spPr>
            <p:txBody>
              <a:bodyPr/>
              <a:lstStyle/>
              <a:p>
                <a:r>
                  <a:rPr lang="en-SG">
                    <a:noFill/>
                  </a:rPr>
                  <a:t> </a:t>
                </a:r>
              </a:p>
            </p:txBody>
          </p:sp>
        </mc:Fallback>
      </mc:AlternateContent>
    </p:spTree>
    <p:extLst>
      <p:ext uri="{BB962C8B-B14F-4D97-AF65-F5344CB8AC3E}">
        <p14:creationId xmlns:p14="http://schemas.microsoft.com/office/powerpoint/2010/main" val="146645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0" grpId="0"/>
      <p:bldP spid="11" grpId="0"/>
      <p:bldP spid="12" grpId="0"/>
      <p:bldP spid="13" grpId="0"/>
      <p:bldP spid="14" grpId="0"/>
      <p:bldP spid="15"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LP Formulation</a:t>
            </a:r>
          </a:p>
        </p:txBody>
      </p:sp>
      <mc:AlternateContent xmlns:mc="http://schemas.openxmlformats.org/markup-compatibility/2006" xmlns:a14="http://schemas.microsoft.com/office/drawing/2010/main">
        <mc:Choice Requires="a14">
          <p:sp>
            <p:nvSpPr>
              <p:cNvPr id="315395" name="Rectangle 3"/>
              <p:cNvSpPr>
                <a:spLocks noGrp="1" noChangeArrowheads="1"/>
              </p:cNvSpPr>
              <p:nvPr>
                <p:ph type="body" sz="half" idx="1"/>
              </p:nvPr>
            </p:nvSpPr>
            <p:spPr>
              <a:xfrm>
                <a:off x="0" y="475456"/>
                <a:ext cx="9249200" cy="1650616"/>
              </a:xfrm>
            </p:spPr>
            <p:txBody>
              <a:bodyPr/>
              <a:lstStyle/>
              <a:p>
                <a:pPr marL="0" indent="0">
                  <a:buNone/>
                  <a:defRPr/>
                </a:pPr>
                <a:endParaRPr lang="en-US" altLang="zh-CN" sz="2600" dirty="0">
                  <a:ea typeface="宋体" pitchFamily="2" charset="-122"/>
                </a:endParaRPr>
              </a:p>
              <a:p>
                <a:pPr>
                  <a:defRPr/>
                </a:pPr>
                <a:r>
                  <a:rPr lang="en-US" altLang="zh-CN" sz="2400" dirty="0">
                    <a:effectLst/>
                    <a:ea typeface="宋体" pitchFamily="2" charset="-122"/>
                  </a:rPr>
                  <a:t>Using duality</a:t>
                </a:r>
              </a:p>
              <a:p>
                <a:pPr>
                  <a:defRPr/>
                </a:pPr>
                <a:endParaRPr lang="en-US" altLang="zh-CN" sz="2400" dirty="0">
                  <a:effectLst/>
                  <a:ea typeface="宋体" pitchFamily="2" charset="-122"/>
                </a:endParaRPr>
              </a:p>
              <a:p>
                <a:pPr>
                  <a:defRPr/>
                </a:pPr>
                <a:endParaRPr lang="en-US" altLang="zh-CN" sz="2400" dirty="0">
                  <a:effectLst/>
                  <a:ea typeface="宋体" pitchFamily="2" charset="-122"/>
                </a:endParaRPr>
              </a:p>
              <a:p>
                <a:pPr>
                  <a:defRPr/>
                </a:pPr>
                <a:endParaRPr lang="en-US" altLang="zh-CN" sz="2400" dirty="0">
                  <a:effectLst/>
                  <a:ea typeface="宋体" pitchFamily="2" charset="-122"/>
                </a:endParaRPr>
              </a:p>
              <a:p>
                <a:pPr>
                  <a:defRPr/>
                </a:pPr>
                <a:endParaRPr lang="en-US" altLang="zh-CN" sz="2400" dirty="0">
                  <a:effectLst/>
                  <a:ea typeface="宋体" pitchFamily="2" charset="-122"/>
                </a:endParaRPr>
              </a:p>
              <a:p>
                <a:pPr>
                  <a:defRPr/>
                </a:pPr>
                <a:endParaRPr lang="en-US" altLang="zh-CN" sz="2400" dirty="0">
                  <a:effectLst/>
                  <a:ea typeface="宋体" pitchFamily="2" charset="-122"/>
                </a:endParaRPr>
              </a:p>
              <a:p>
                <a:pPr>
                  <a:defRPr/>
                </a:pPr>
                <a:endParaRPr lang="en-US" altLang="zh-CN" sz="2400" dirty="0">
                  <a:effectLst/>
                  <a:ea typeface="宋体" pitchFamily="2" charset="-122"/>
                </a:endParaRPr>
              </a:p>
              <a:p>
                <a:pPr>
                  <a:defRPr/>
                </a:pPr>
                <a:endParaRPr lang="en-US" altLang="zh-CN" sz="2400" dirty="0">
                  <a:effectLst/>
                  <a:ea typeface="宋体" pitchFamily="2" charset="-122"/>
                </a:endParaRPr>
              </a:p>
              <a:p>
                <a:pPr>
                  <a:defRPr/>
                </a:pPr>
                <a:r>
                  <a:rPr lang="en-US" altLang="zh-CN" sz="2400" dirty="0">
                    <a:effectLst/>
                    <a:ea typeface="宋体" pitchFamily="2" charset="-122"/>
                  </a:rPr>
                  <a:t>Ingredient constraint:</a:t>
                </a:r>
              </a:p>
              <a:p>
                <a:pPr lvl="1">
                  <a:defRPr/>
                </a:pPr>
                <a14:m>
                  <m:oMath xmlns:m="http://schemas.openxmlformats.org/officeDocument/2006/math">
                    <m:r>
                      <m:rPr>
                        <m:sty m:val="p"/>
                      </m:rPr>
                      <a:rPr lang="en-US" sz="2400" b="0" smtClean="0">
                        <a:effectLst/>
                        <a:latin typeface="Cambria Math" panose="02040503050406030204" pitchFamily="18" charset="0"/>
                      </a:rPr>
                      <m:t>g</m:t>
                    </m:r>
                    <m:d>
                      <m:dPr>
                        <m:ctrlPr>
                          <a:rPr lang="en-US" sz="2400" b="0" i="1">
                            <a:effectLst/>
                            <a:latin typeface="Cambria Math" panose="02040503050406030204" pitchFamily="18" charset="0"/>
                          </a:rPr>
                        </m:ctrlPr>
                      </m:dPr>
                      <m:e>
                        <m:sSub>
                          <m:sSubPr>
                            <m:ctrlPr>
                              <a:rPr lang="en-US" sz="2400" b="0" i="1">
                                <a:effectLst/>
                                <a:latin typeface="Cambria Math" panose="02040503050406030204" pitchFamily="18" charset="0"/>
                              </a:rPr>
                            </m:ctrlPr>
                          </m:sSubPr>
                          <m:e>
                            <m:r>
                              <a:rPr lang="en-US" sz="2400" b="0">
                                <a:effectLst/>
                                <a:latin typeface="Cambria Math" panose="02040503050406030204" pitchFamily="18" charset="0"/>
                              </a:rPr>
                              <m:t>𝑦</m:t>
                            </m:r>
                          </m:e>
                          <m:sub>
                            <m:r>
                              <a:rPr lang="en-US" sz="2400" b="0">
                                <a:effectLst/>
                                <a:latin typeface="Cambria Math" panose="02040503050406030204" pitchFamily="18" charset="0"/>
                              </a:rPr>
                              <m:t>1</m:t>
                            </m:r>
                          </m:sub>
                        </m:sSub>
                        <m:r>
                          <a:rPr lang="en-US" sz="2400" b="0" i="1">
                            <a:effectLst/>
                            <a:latin typeface="Cambria Math" panose="02040503050406030204" pitchFamily="18" charset="0"/>
                          </a:rPr>
                          <m:t>,</m:t>
                        </m:r>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𝑦</m:t>
                            </m:r>
                          </m:e>
                          <m:sub>
                            <m:r>
                              <a:rPr lang="en-US" sz="2400" b="0" i="1">
                                <a:effectLst/>
                                <a:latin typeface="Cambria Math" panose="02040503050406030204" pitchFamily="18" charset="0"/>
                              </a:rPr>
                              <m:t>2</m:t>
                            </m:r>
                          </m:sub>
                        </m:sSub>
                      </m:e>
                    </m:d>
                    <m:r>
                      <a:rPr lang="en-US" sz="2400" b="0" i="1">
                        <a:effectLst/>
                        <a:latin typeface="Cambria Math" panose="02040503050406030204" pitchFamily="18" charset="0"/>
                      </a:rPr>
                      <m:t>−0.5</m:t>
                    </m:r>
                    <m:r>
                      <a:rPr lang="en-US" sz="2400" b="0" i="1">
                        <a:effectLst/>
                        <a:latin typeface="Cambria Math" panose="02040503050406030204" pitchFamily="18" charset="0"/>
                      </a:rPr>
                      <m:t>𝑥</m:t>
                    </m:r>
                    <m:r>
                      <a:rPr lang="en-US" sz="2400" b="0" i="1">
                        <a:effectLst/>
                        <a:latin typeface="Cambria Math" panose="02040503050406030204" pitchFamily="18" charset="0"/>
                      </a:rPr>
                      <m:t>≥0</m:t>
                    </m:r>
                  </m:oMath>
                </a14:m>
                <a:endParaRPr lang="en-US" sz="2400" b="0" i="1" dirty="0">
                  <a:effectLst/>
                  <a:latin typeface="Cambria Math" panose="02040503050406030204" pitchFamily="18" charset="0"/>
                </a:endParaRPr>
              </a:p>
              <a:p>
                <a:pPr lvl="1">
                  <a:defRPr/>
                </a:pPr>
                <a14:m>
                  <m:oMath xmlns:m="http://schemas.openxmlformats.org/officeDocument/2006/math">
                    <m:func>
                      <m:funcPr>
                        <m:ctrlPr>
                          <a:rPr lang="en-US" sz="2400" b="0" i="1">
                            <a:effectLst/>
                            <a:latin typeface="Cambria Math" panose="02040503050406030204" pitchFamily="18" charset="0"/>
                          </a:rPr>
                        </m:ctrlPr>
                      </m:funcPr>
                      <m:fName>
                        <m:sSub>
                          <m:sSubPr>
                            <m:ctrlPr>
                              <a:rPr lang="en-US" sz="2400" b="0" i="1">
                                <a:effectLst/>
                                <a:latin typeface="Cambria Math" panose="02040503050406030204" pitchFamily="18" charset="0"/>
                              </a:rPr>
                            </m:ctrlPr>
                          </m:sSubPr>
                          <m:e>
                            <m:r>
                              <a:rPr lang="en-US" sz="2400" b="0">
                                <a:effectLst/>
                                <a:latin typeface="Cambria Math" panose="02040503050406030204" pitchFamily="18" charset="0"/>
                              </a:rPr>
                              <m:t>1%</m:t>
                            </m:r>
                            <m:r>
                              <a:rPr lang="en-US" sz="2400" b="0">
                                <a:effectLst/>
                                <a:latin typeface="Cambria Math" panose="02040503050406030204" pitchFamily="18" charset="0"/>
                              </a:rPr>
                              <m:t>𝑦</m:t>
                            </m:r>
                          </m:e>
                          <m:sub>
                            <m:r>
                              <a:rPr lang="en-US" sz="2400" b="0">
                                <a:effectLst/>
                                <a:latin typeface="Cambria Math" panose="02040503050406030204" pitchFamily="18" charset="0"/>
                              </a:rPr>
                              <m:t>1</m:t>
                            </m:r>
                          </m:sub>
                        </m:sSub>
                        <m:r>
                          <a:rPr lang="en-US" sz="2400" b="0" i="1">
                            <a:effectLst/>
                            <a:latin typeface="Cambria Math" panose="02040503050406030204" pitchFamily="18" charset="0"/>
                          </a:rPr>
                          <m:t>+2%</m:t>
                        </m:r>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𝑦</m:t>
                            </m:r>
                          </m:e>
                          <m:sub>
                            <m:r>
                              <a:rPr lang="en-US" sz="2400" b="0" i="1">
                                <a:effectLst/>
                                <a:latin typeface="Cambria Math" panose="02040503050406030204" pitchFamily="18" charset="0"/>
                              </a:rPr>
                              <m:t>2</m:t>
                            </m:r>
                          </m:sub>
                        </m:sSub>
                        <m:r>
                          <a:rPr lang="en-US" sz="2400" b="0">
                            <a:effectLst/>
                            <a:latin typeface="Cambria Math" panose="02040503050406030204" pitchFamily="18" charset="0"/>
                          </a:rPr>
                          <m:t>+</m:t>
                        </m:r>
                      </m:fName>
                      <m:e>
                        <m:r>
                          <a:rPr lang="en-US" sz="2400" b="0" i="1">
                            <a:effectLst/>
                            <a:latin typeface="Cambria Math" panose="02040503050406030204" pitchFamily="18" charset="0"/>
                          </a:rPr>
                          <m:t>2</m:t>
                        </m:r>
                        <m:sSub>
                          <m:sSubPr>
                            <m:ctrlPr>
                              <a:rPr lang="en-US" sz="2400" b="0" i="1">
                                <a:effectLst/>
                                <a:latin typeface="Cambria Math" panose="02040503050406030204" pitchFamily="18" charset="0"/>
                                <a:ea typeface="Cambria Math" panose="02040503050406030204" pitchFamily="18" charset="0"/>
                              </a:rPr>
                            </m:ctrlPr>
                          </m:sSubPr>
                          <m:e>
                            <m:r>
                              <a:rPr lang="en-US" sz="2400" b="0" i="1">
                                <a:effectLst/>
                                <a:latin typeface="Cambria Math" panose="02040503050406030204" pitchFamily="18" charset="0"/>
                                <a:ea typeface="Cambria Math" panose="02040503050406030204" pitchFamily="18" charset="0"/>
                              </a:rPr>
                              <m:t>𝛼</m:t>
                            </m:r>
                            <m:r>
                              <a:rPr lang="en-US" sz="2400" b="0" i="1">
                                <a:effectLst/>
                                <a:latin typeface="Cambria Math" panose="02040503050406030204" pitchFamily="18" charset="0"/>
                              </a:rPr>
                              <m:t>𝑝</m:t>
                            </m:r>
                          </m:e>
                          <m:sub>
                            <m:r>
                              <a:rPr lang="en-US" sz="2400" b="0">
                                <a:effectLst/>
                                <a:latin typeface="Cambria Math" panose="02040503050406030204" pitchFamily="18" charset="0"/>
                              </a:rPr>
                              <m:t>1</m:t>
                            </m:r>
                          </m:sub>
                        </m:sSub>
                        <m:r>
                          <a:rPr lang="en-US" sz="2400" b="0">
                            <a:effectLst/>
                            <a:latin typeface="Cambria Math" panose="02040503050406030204" pitchFamily="18" charset="0"/>
                          </a:rPr>
                          <m:t>+</m:t>
                        </m:r>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𝑝</m:t>
                            </m:r>
                          </m:e>
                          <m:sub>
                            <m:r>
                              <a:rPr lang="en-US" sz="2400" b="0">
                                <a:effectLst/>
                                <a:latin typeface="Cambria Math" panose="02040503050406030204" pitchFamily="18" charset="0"/>
                              </a:rPr>
                              <m:t>6</m:t>
                            </m:r>
                          </m:sub>
                        </m:sSub>
                      </m:e>
                    </m:func>
                    <m:r>
                      <a:rPr lang="en-US" sz="2400" b="0" i="1">
                        <a:effectLst/>
                        <a:latin typeface="Cambria Math" panose="02040503050406030204" pitchFamily="18" charset="0"/>
                      </a:rPr>
                      <m:t>+</m:t>
                    </m:r>
                    <m:sSub>
                      <m:sSubPr>
                        <m:ctrlPr>
                          <a:rPr lang="en-US" sz="2400" b="0" i="1">
                            <a:effectLst/>
                            <a:latin typeface="Cambria Math" panose="02040503050406030204" pitchFamily="18" charset="0"/>
                          </a:rPr>
                        </m:ctrlPr>
                      </m:sSubPr>
                      <m:e>
                        <m:r>
                          <a:rPr lang="en-US" sz="2400" b="0" i="1">
                            <a:effectLst/>
                            <a:latin typeface="Cambria Math" panose="02040503050406030204" pitchFamily="18" charset="0"/>
                          </a:rPr>
                          <m:t>𝑝</m:t>
                        </m:r>
                      </m:e>
                      <m:sub>
                        <m:r>
                          <a:rPr lang="en-US" sz="2400" b="0">
                            <a:effectLst/>
                            <a:latin typeface="Cambria Math" panose="02040503050406030204" pitchFamily="18" charset="0"/>
                          </a:rPr>
                          <m:t>7</m:t>
                        </m:r>
                      </m:sub>
                    </m:sSub>
                    <m:r>
                      <a:rPr lang="en-US" sz="2400" b="0" i="1" smtClean="0">
                        <a:effectLst/>
                        <a:latin typeface="Cambria Math" panose="02040503050406030204" pitchFamily="18" charset="0"/>
                      </a:rPr>
                      <m:t>−0.5</m:t>
                    </m:r>
                    <m:r>
                      <a:rPr lang="en-US" sz="2400" b="0" i="1" smtClean="0">
                        <a:effectLst/>
                        <a:latin typeface="Cambria Math" panose="02040503050406030204" pitchFamily="18" charset="0"/>
                      </a:rPr>
                      <m:t>𝑥</m:t>
                    </m:r>
                    <m:r>
                      <a:rPr lang="en-US" sz="2400" b="0" i="1" smtClean="0">
                        <a:effectLst/>
                        <a:latin typeface="Cambria Math" panose="02040503050406030204" pitchFamily="18" charset="0"/>
                      </a:rPr>
                      <m:t> ≥0</m:t>
                    </m:r>
                  </m:oMath>
                </a14:m>
                <a:r>
                  <a:rPr lang="en-US" altLang="zh-CN" sz="2400" b="0" i="1" dirty="0">
                    <a:effectLst/>
                    <a:latin typeface="Cambria Math" panose="02040503050406030204" pitchFamily="18" charset="0"/>
                  </a:rPr>
                  <a:t> </a:t>
                </a:r>
                <a:r>
                  <a:rPr lang="en-US" altLang="zh-CN" sz="2400" dirty="0">
                    <a:effectLst/>
                    <a:latin typeface="Cambria Math" panose="02040503050406030204" pitchFamily="18" charset="0"/>
                  </a:rPr>
                  <a:t>for some feasible  dual solution: </a:t>
                </a:r>
                <a14:m>
                  <m:oMath xmlns:m="http://schemas.openxmlformats.org/officeDocument/2006/math">
                    <m:r>
                      <a:rPr lang="en-US" sz="2400" b="1" i="1">
                        <a:effectLst/>
                        <a:latin typeface="Cambria Math" panose="02040503050406030204" pitchFamily="18" charset="0"/>
                      </a:rPr>
                      <m:t>𝒑</m:t>
                    </m:r>
                  </m:oMath>
                </a14:m>
                <a:endParaRPr lang="en-US" altLang="zh-CN" sz="2400" dirty="0">
                  <a:effectLst/>
                  <a:ea typeface="宋体" pitchFamily="2" charset="-122"/>
                </a:endParaRPr>
              </a:p>
              <a:p>
                <a:pPr lvl="1">
                  <a:defRPr/>
                </a:pPr>
                <a:endParaRPr lang="en-US" altLang="zh-CN" sz="2200" dirty="0">
                  <a:ea typeface="宋体" pitchFamily="2" charset="-122"/>
                </a:endParaRPr>
              </a:p>
              <a:p>
                <a:pPr>
                  <a:defRPr/>
                </a:pPr>
                <a:endParaRPr lang="en-US" altLang="zh-CN" sz="2400" dirty="0">
                  <a:ea typeface="宋体" pitchFamily="2" charset="-122"/>
                </a:endParaRPr>
              </a:p>
              <a:p>
                <a:pPr marL="0" indent="0">
                  <a:buNone/>
                  <a:defRPr/>
                </a:pPr>
                <a:endParaRPr lang="en-US" altLang="zh-CN" sz="2400" dirty="0">
                  <a:ea typeface="宋体" pitchFamily="2" charset="-122"/>
                </a:endParaRPr>
              </a:p>
              <a:p>
                <a:pPr lvl="1">
                  <a:defRPr/>
                </a:pPr>
                <a:endParaRPr lang="en-US" altLang="zh-CN" sz="2200" dirty="0">
                  <a:ea typeface="宋体" pitchFamily="2" charset="-122"/>
                </a:endParaRPr>
              </a:p>
            </p:txBody>
          </p:sp>
        </mc:Choice>
        <mc:Fallback xmlns="">
          <p:sp>
            <p:nvSpPr>
              <p:cNvPr id="315395" name="Rectangle 3"/>
              <p:cNvSpPr>
                <a:spLocks noGrp="1" noRot="1" noChangeAspect="1" noMove="1" noResize="1" noEditPoints="1" noAdjustHandles="1" noChangeArrowheads="1" noChangeShapeType="1" noTextEdit="1"/>
              </p:cNvSpPr>
              <p:nvPr>
                <p:ph type="body" sz="half" idx="1"/>
              </p:nvPr>
            </p:nvSpPr>
            <p:spPr>
              <a:xfrm>
                <a:off x="0" y="475456"/>
                <a:ext cx="9249200" cy="1650616"/>
              </a:xfrm>
              <a:blipFill rotWithShape="0">
                <a:blip r:embed="rId5"/>
                <a:stretch>
                  <a:fillRect l="-857" b="-25239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Rectangle 3"/>
              <p:cNvSpPr txBox="1">
                <a:spLocks noChangeArrowheads="1"/>
              </p:cNvSpPr>
              <p:nvPr/>
            </p:nvSpPr>
            <p:spPr bwMode="auto">
              <a:xfrm>
                <a:off x="158149" y="1648815"/>
                <a:ext cx="7976858" cy="2702468"/>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pPr>
                <a:r>
                  <a:rPr lang="en-US" kern="0" dirty="0"/>
                  <a:t>  </a:t>
                </a:r>
                <a14:m>
                  <m:oMath xmlns:m="http://schemas.openxmlformats.org/officeDocument/2006/math">
                    <m:func>
                      <m:funcPr>
                        <m:ctrlPr>
                          <a:rPr lang="en-US" sz="2400" b="0" i="1">
                            <a:solidFill>
                              <a:srgbClr val="00279F"/>
                            </a:solidFill>
                            <a:effectLst/>
                            <a:latin typeface="Cambria Math" panose="02040503050406030204" pitchFamily="18" charset="0"/>
                          </a:rPr>
                        </m:ctrlPr>
                      </m:funcPr>
                      <m:fName>
                        <m:sSub>
                          <m:sSubPr>
                            <m:ctrlPr>
                              <a:rPr lang="en-US" sz="2400" b="0" i="1">
                                <a:solidFill>
                                  <a:srgbClr val="00279F"/>
                                </a:solidFill>
                                <a:effectLst/>
                                <a:latin typeface="Cambria Math" panose="02040503050406030204" pitchFamily="18" charset="0"/>
                              </a:rPr>
                            </m:ctrlPr>
                          </m:sSubPr>
                          <m:e>
                            <m:r>
                              <m:rPr>
                                <m:sty m:val="p"/>
                              </m:rPr>
                              <a:rPr lang="en-US" sz="2400" b="0">
                                <a:solidFill>
                                  <a:srgbClr val="00279F"/>
                                </a:solidFill>
                                <a:effectLst/>
                                <a:latin typeface="Cambria Math" panose="02040503050406030204" pitchFamily="18" charset="0"/>
                              </a:rPr>
                              <m:t>g</m:t>
                            </m:r>
                            <m:d>
                              <m:dPr>
                                <m:ctrlPr>
                                  <a:rPr lang="en-US" sz="2400" b="0" i="1">
                                    <a:solidFill>
                                      <a:srgbClr val="00279F"/>
                                    </a:solidFill>
                                    <a:effectLst/>
                                    <a:latin typeface="Cambria Math" panose="02040503050406030204" pitchFamily="18" charset="0"/>
                                  </a:rPr>
                                </m:ctrlPr>
                              </m:dPr>
                              <m:e>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𝑦</m:t>
                                    </m:r>
                                  </m:e>
                                  <m:sub>
                                    <m:r>
                                      <a:rPr lang="en-US" sz="2400" b="0" i="1">
                                        <a:solidFill>
                                          <a:srgbClr val="00279F"/>
                                        </a:solidFill>
                                        <a:effectLst/>
                                        <a:latin typeface="Cambria Math" panose="02040503050406030204" pitchFamily="18" charset="0"/>
                                      </a:rPr>
                                      <m:t>2</m:t>
                                    </m:r>
                                  </m:sub>
                                </m:sSub>
                              </m:e>
                            </m:d>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1</m:t>
                            </m:r>
                            <m:r>
                              <a:rPr lang="en-US" sz="2400" b="0" i="0" smtClean="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r>
                          <a:rPr lang="en-US" sz="2400" b="0" i="1" smtClean="0">
                            <a:solidFill>
                              <a:srgbClr val="00279F"/>
                            </a:solidFill>
                            <a:effectLst/>
                            <a:latin typeface="Cambria Math" panose="02040503050406030204" pitchFamily="18" charset="0"/>
                          </a:rPr>
                          <m:t>+2%</m:t>
                        </m:r>
                        <m:sSub>
                          <m:sSubPr>
                            <m:ctrlPr>
                              <a:rPr lang="en-US" sz="2400" b="0" i="1" smtClean="0">
                                <a:solidFill>
                                  <a:srgbClr val="00279F"/>
                                </a:solidFill>
                                <a:effectLst/>
                                <a:latin typeface="Cambria Math" panose="02040503050406030204" pitchFamily="18" charset="0"/>
                              </a:rPr>
                            </m:ctrlPr>
                          </m:sSubPr>
                          <m:e>
                            <m:r>
                              <a:rPr lang="en-US" sz="2400" b="0" i="1" smtClean="0">
                                <a:solidFill>
                                  <a:srgbClr val="00279F"/>
                                </a:solidFill>
                                <a:effectLst/>
                                <a:latin typeface="Cambria Math" panose="02040503050406030204" pitchFamily="18" charset="0"/>
                              </a:rPr>
                              <m:t>𝑦</m:t>
                            </m:r>
                          </m:e>
                          <m:sub>
                            <m:r>
                              <a:rPr lang="en-US" sz="2400" b="0" i="1" smtClean="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r>
                          <m:rPr>
                            <m:sty m:val="p"/>
                          </m:rPr>
                          <a:rPr lang="en-US" sz="2400" b="0">
                            <a:solidFill>
                              <a:srgbClr val="00279F"/>
                            </a:solidFill>
                            <a:effectLst/>
                            <a:latin typeface="Cambria Math" panose="02040503050406030204" pitchFamily="18" charset="0"/>
                          </a:rPr>
                          <m:t>m</m:t>
                        </m:r>
                        <m:r>
                          <m:rPr>
                            <m:sty m:val="p"/>
                          </m:rPr>
                          <a:rPr lang="en-US" sz="2400" b="0" i="0" smtClean="0">
                            <a:solidFill>
                              <a:srgbClr val="00279F"/>
                            </a:solidFill>
                            <a:effectLst/>
                            <a:latin typeface="Cambria Math" panose="02040503050406030204" pitchFamily="18" charset="0"/>
                          </a:rPr>
                          <m:t>ax</m:t>
                        </m:r>
                        <m:r>
                          <a:rPr lang="en-US" sz="2400" b="0">
                            <a:solidFill>
                              <a:srgbClr val="00279F"/>
                            </a:solidFill>
                            <a:effectLst/>
                            <a:latin typeface="Cambria Math" panose="02040503050406030204" pitchFamily="18" charset="0"/>
                          </a:rPr>
                          <m:t> </m:t>
                        </m:r>
                      </m:fName>
                      <m:e>
                        <m:r>
                          <a:rPr lang="en-US" sz="2400" b="0" i="1" smtClean="0">
                            <a:solidFill>
                              <a:srgbClr val="00279F"/>
                            </a:solidFill>
                            <a:effectLst/>
                            <a:latin typeface="Cambria Math" panose="02040503050406030204" pitchFamily="18" charset="0"/>
                          </a:rPr>
                          <m:t>2</m:t>
                        </m:r>
                        <m:sSub>
                          <m:sSubPr>
                            <m:ctrlPr>
                              <a:rPr lang="en-US" sz="2400" b="0" i="1" smtClean="0">
                                <a:solidFill>
                                  <a:srgbClr val="00279F"/>
                                </a:solidFill>
                                <a:effectLst/>
                                <a:latin typeface="Cambria Math" panose="02040503050406030204" pitchFamily="18" charset="0"/>
                                <a:ea typeface="Cambria Math" panose="02040503050406030204" pitchFamily="18" charset="0"/>
                              </a:rPr>
                            </m:ctrlPr>
                          </m:sSubPr>
                          <m:e>
                            <m:r>
                              <a:rPr lang="en-US" sz="2400" b="0" i="1" smtClean="0">
                                <a:solidFill>
                                  <a:srgbClr val="00279F"/>
                                </a:solidFill>
                                <a:effectLst/>
                                <a:latin typeface="Cambria Math" panose="02040503050406030204" pitchFamily="18" charset="0"/>
                                <a:ea typeface="Cambria Math" panose="02040503050406030204" pitchFamily="18" charset="0"/>
                              </a:rPr>
                              <m:t>𝛼</m:t>
                            </m:r>
                            <m:r>
                              <a:rPr lang="en-US" sz="2400" b="0" i="1" smtClean="0">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6</m:t>
                            </m:r>
                          </m:sub>
                        </m:sSub>
                      </m:e>
                    </m:func>
                    <m:r>
                      <a:rPr lang="en-US" sz="2400" b="0" i="1"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7</m:t>
                        </m:r>
                      </m:sub>
                    </m:sSub>
                  </m:oMath>
                </a14:m>
                <a:endParaRPr lang="en-US" sz="2400" b="0" dirty="0">
                  <a:solidFill>
                    <a:srgbClr val="00279F"/>
                  </a:solidFill>
                  <a:effectLst/>
                  <a:latin typeface="Cambria Math" panose="02040503050406030204" pitchFamily="18" charset="0"/>
                </a:endParaRP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r>
                      <a:rPr lang="en-US" sz="2400" b="0">
                        <a:solidFill>
                          <a:srgbClr val="00279F"/>
                        </a:solidFill>
                        <a:effectLst/>
                        <a:latin typeface="Cambria Math" panose="02040503050406030204" pitchFamily="18" charset="0"/>
                      </a:rPr>
                      <m:t>𝑠</m:t>
                    </m:r>
                    <m:r>
                      <a:rPr lang="en-US" sz="2400" b="0">
                        <a:solidFill>
                          <a:srgbClr val="00279F"/>
                        </a:solidFill>
                        <a:effectLst/>
                        <a:latin typeface="Cambria Math" panose="02040503050406030204" pitchFamily="18" charset="0"/>
                      </a:rPr>
                      <m:t>.</m:t>
                    </m:r>
                    <m:r>
                      <a:rPr lang="en-US" sz="2400" b="0">
                        <a:solidFill>
                          <a:srgbClr val="00279F"/>
                        </a:solidFill>
                        <a:effectLst/>
                        <a:latin typeface="Cambria Math" panose="02040503050406030204" pitchFamily="18" charset="0"/>
                      </a:rPr>
                      <m:t>𝑡</m:t>
                    </m:r>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0" smtClean="0">
                            <a:solidFill>
                              <a:srgbClr val="00279F"/>
                            </a:solidFill>
                            <a:effectLst/>
                            <a:latin typeface="Cambria Math" panose="02040503050406030204" pitchFamily="18" charset="0"/>
                          </a:rPr>
                          <m:t>      </m:t>
                        </m:r>
                        <m:r>
                          <a:rPr lang="en-US" sz="2400" b="0" i="1" smtClean="0">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2</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smtClean="0">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3</m:t>
                        </m:r>
                      </m:sub>
                    </m:sSub>
                    <m:r>
                      <a:rPr lang="en-US" sz="2400" b="0" i="0" smtClean="0">
                        <a:solidFill>
                          <a:srgbClr val="00279F"/>
                        </a:solidFill>
                        <a:effectLst/>
                        <a:latin typeface="Cambria Math" panose="02040503050406030204" pitchFamily="18" charset="0"/>
                      </a:rPr>
                      <m:t> =</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0.005%</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1</m:t>
                        </m:r>
                      </m:sub>
                    </m:sSub>
                  </m:oMath>
                </a14:m>
                <a:r>
                  <a:rPr lang="en-US" sz="2400" b="0" dirty="0">
                    <a:solidFill>
                      <a:srgbClr val="00279F"/>
                    </a:solidFill>
                    <a:effectLst/>
                    <a:latin typeface="Cambria Math" panose="02040503050406030204" pitchFamily="18" charset="0"/>
                  </a:rPr>
                  <a:t>	</a:t>
                </a:r>
              </a:p>
              <a:p>
                <a:pPr marL="0" indent="0">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4</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5 </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0.04%</m:t>
                        </m:r>
                        <m:r>
                          <a:rPr lang="en-US" sz="2400" b="0">
                            <a:solidFill>
                              <a:srgbClr val="00279F"/>
                            </a:solidFill>
                            <a:effectLst/>
                            <a:latin typeface="Cambria Math" panose="02040503050406030204" pitchFamily="18" charset="0"/>
                          </a:rPr>
                          <m:t>𝑦</m:t>
                        </m:r>
                      </m:e>
                      <m:sub>
                        <m:r>
                          <a:rPr lang="en-US" sz="2400" b="0">
                            <a:solidFill>
                              <a:srgbClr val="00279F"/>
                            </a:solidFill>
                            <a:effectLst/>
                            <a:latin typeface="Cambria Math" panose="02040503050406030204" pitchFamily="18" charset="0"/>
                          </a:rPr>
                          <m:t>2</m:t>
                        </m:r>
                      </m:sub>
                    </m:sSub>
                  </m:oMath>
                </a14:m>
                <a:r>
                  <a:rPr lang="en-US" sz="2400" b="0" dirty="0">
                    <a:solidFill>
                      <a:srgbClr val="00279F"/>
                    </a:solidFill>
                    <a:effectLst/>
                    <a:latin typeface="Cambria Math" panose="02040503050406030204" pitchFamily="18" charset="0"/>
                  </a:rPr>
                  <a:t>	</a:t>
                </a:r>
              </a:p>
              <a:p>
                <a:pPr marL="0" indent="0">
                  <a:buNone/>
                </a:pPr>
                <a:r>
                  <a:rPr lang="en-US" sz="2400" b="0" dirty="0">
                    <a:solidFill>
                      <a:srgbClr val="00279F"/>
                    </a:solidFill>
                    <a:effectLst/>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2</m:t>
                        </m:r>
                        <m:r>
                          <a:rPr lang="en-US" sz="2400" b="0">
                            <a:solidFill>
                              <a:srgbClr val="00279F"/>
                            </a:solidFill>
                            <a:effectLst/>
                            <a:latin typeface="Cambria Math" panose="02040503050406030204" pitchFamily="18" charset="0"/>
                          </a:rPr>
                          <m:t> </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3</m:t>
                        </m:r>
                        <m:r>
                          <a:rPr lang="en-US" sz="2400" b="0">
                            <a:solidFill>
                              <a:srgbClr val="00279F"/>
                            </a:solidFill>
                            <a:effectLst/>
                            <a:latin typeface="Cambria Math" panose="02040503050406030204" pitchFamily="18" charset="0"/>
                          </a:rPr>
                          <m:t> </m:t>
                        </m:r>
                      </m:sub>
                    </m:sSub>
                    <m:r>
                      <a:rPr lang="en-US" sz="2400" b="0" i="0" smtClean="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6</m:t>
                        </m:r>
                        <m:r>
                          <a:rPr lang="en-US" sz="2400" b="0">
                            <a:solidFill>
                              <a:srgbClr val="00279F"/>
                            </a:solidFill>
                            <a:effectLst/>
                            <a:latin typeface="Cambria Math" panose="02040503050406030204" pitchFamily="18" charset="0"/>
                          </a:rPr>
                          <m:t> </m:t>
                        </m:r>
                      </m:sub>
                    </m:sSub>
                    <m:r>
                      <a:rPr lang="en-US" sz="2400" b="0" i="1" smtClean="0">
                        <a:solidFill>
                          <a:srgbClr val="00279F"/>
                        </a:solidFill>
                        <a:effectLst/>
                        <a:latin typeface="Cambria Math" panose="02040503050406030204" pitchFamily="18" charset="0"/>
                        <a:ea typeface="Cambria Math" panose="02040503050406030204" pitchFamily="18" charset="0"/>
                      </a:rPr>
                      <m:t>≤</m:t>
                    </m:r>
                    <m:r>
                      <a:rPr lang="en-US" sz="2400" b="0" i="1">
                        <a:solidFill>
                          <a:srgbClr val="00279F"/>
                        </a:solidFill>
                        <a:effectLst/>
                        <a:latin typeface="Cambria Math" panose="02040503050406030204" pitchFamily="18" charset="0"/>
                        <a:ea typeface="Cambria Math" panose="02040503050406030204" pitchFamily="18" charset="0"/>
                      </a:rPr>
                      <m:t>0</m:t>
                    </m:r>
                  </m:oMath>
                </a14:m>
                <a:r>
                  <a:rPr lang="en-US" sz="2400" b="0" dirty="0">
                    <a:solidFill>
                      <a:srgbClr val="00279F"/>
                    </a:solidFill>
                    <a:effectLst/>
                    <a:latin typeface="Cambria Math" panose="02040503050406030204" pitchFamily="18" charset="0"/>
                  </a:rPr>
                  <a:t>	</a:t>
                </a:r>
              </a:p>
              <a:p>
                <a:pPr marL="0" indent="0">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i="1">
                            <a:solidFill>
                              <a:srgbClr val="00279F"/>
                            </a:solidFill>
                            <a:effectLst/>
                            <a:latin typeface="Cambria Math" panose="02040503050406030204" pitchFamily="18" charset="0"/>
                          </a:rPr>
                          <m:t>𝑝</m:t>
                        </m:r>
                      </m:e>
                      <m:sub>
                        <m:r>
                          <a:rPr lang="en-US" sz="2400" b="0">
                            <a:solidFill>
                              <a:srgbClr val="00279F"/>
                            </a:solidFill>
                            <a:effectLst/>
                            <a:latin typeface="Cambria Math" panose="02040503050406030204" pitchFamily="18" charset="0"/>
                          </a:rPr>
                          <m:t>1</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4</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5</m:t>
                        </m:r>
                        <m:r>
                          <a:rPr lang="en-US" sz="2400" b="0">
                            <a:solidFill>
                              <a:srgbClr val="00279F"/>
                            </a:solidFill>
                            <a:effectLst/>
                            <a:latin typeface="Cambria Math" panose="02040503050406030204" pitchFamily="18" charset="0"/>
                          </a:rPr>
                          <m:t> </m:t>
                        </m:r>
                      </m:sub>
                    </m:sSub>
                    <m:r>
                      <a:rPr lang="en-US" sz="2400" b="0">
                        <a:solidFill>
                          <a:srgbClr val="00279F"/>
                        </a:solidFill>
                        <a:effectLst/>
                        <a:latin typeface="Cambria Math" panose="02040503050406030204" pitchFamily="18" charset="0"/>
                      </a:rPr>
                      <m:t>+</m:t>
                    </m:r>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rPr>
                          <m:t>𝑝</m:t>
                        </m:r>
                      </m:e>
                      <m:sub>
                        <m:r>
                          <a:rPr lang="en-US" sz="2400" b="0" i="0" smtClean="0">
                            <a:solidFill>
                              <a:srgbClr val="00279F"/>
                            </a:solidFill>
                            <a:effectLst/>
                            <a:latin typeface="Cambria Math" panose="02040503050406030204" pitchFamily="18" charset="0"/>
                          </a:rPr>
                          <m:t>7</m:t>
                        </m:r>
                      </m:sub>
                    </m:sSub>
                    <m:r>
                      <a:rPr lang="en-US" sz="2400" b="0" i="1" smtClean="0">
                        <a:solidFill>
                          <a:srgbClr val="00279F"/>
                        </a:solidFill>
                        <a:effectLst/>
                        <a:latin typeface="Cambria Math" panose="02040503050406030204" pitchFamily="18" charset="0"/>
                      </a:rPr>
                      <m:t> </m:t>
                    </m:r>
                    <m:r>
                      <a:rPr lang="en-US" sz="2400" b="0" i="1">
                        <a:solidFill>
                          <a:srgbClr val="00279F"/>
                        </a:solidFill>
                        <a:effectLst/>
                        <a:latin typeface="Cambria Math" panose="02040503050406030204" pitchFamily="18" charset="0"/>
                        <a:ea typeface="Cambria Math" panose="02040503050406030204" pitchFamily="18" charset="0"/>
                      </a:rPr>
                      <m:t>≤0</m:t>
                    </m:r>
                  </m:oMath>
                </a14:m>
                <a:r>
                  <a:rPr lang="en-US" sz="2400" b="0" dirty="0">
                    <a:solidFill>
                      <a:srgbClr val="00279F"/>
                    </a:solidFill>
                    <a:effectLst/>
                    <a:latin typeface="Cambria Math" panose="02040503050406030204" pitchFamily="18" charset="0"/>
                  </a:rPr>
                  <a:t>	</a:t>
                </a:r>
              </a:p>
              <a:p>
                <a:pPr marL="0" indent="0">
                  <a:buFontTx/>
                  <a:buNone/>
                </a:pPr>
                <a:r>
                  <a:rPr lang="en-US" sz="2400" b="0" dirty="0">
                    <a:solidFill>
                      <a:srgbClr val="00279F"/>
                    </a:solidFill>
                    <a:effectLst/>
                    <a:latin typeface="Cambria Math" panose="02040503050406030204" pitchFamily="18" charset="0"/>
                  </a:rPr>
                  <a:t>				                 </a:t>
                </a:r>
                <a14:m>
                  <m:oMath xmlns:m="http://schemas.openxmlformats.org/officeDocument/2006/math">
                    <m:sSub>
                      <m:sSubPr>
                        <m:ctrlPr>
                          <a:rPr lang="en-US" sz="2400" b="0" i="1">
                            <a:solidFill>
                              <a:srgbClr val="00279F"/>
                            </a:solidFill>
                            <a:effectLst/>
                            <a:latin typeface="Cambria Math" panose="02040503050406030204" pitchFamily="18" charset="0"/>
                          </a:rPr>
                        </m:ctrlPr>
                      </m:sSubPr>
                      <m:e>
                        <m:r>
                          <a:rPr lang="en-US" sz="2400" b="0">
                            <a:solidFill>
                              <a:srgbClr val="00279F"/>
                            </a:solidFill>
                            <a:effectLst/>
                            <a:latin typeface="Cambria Math" panose="02040503050406030204" pitchFamily="18" charset="0"/>
                          </a:rPr>
                          <m:t> </m:t>
                        </m:r>
                        <m:r>
                          <a:rPr lang="en-US" sz="2400" b="0" i="1" smtClean="0">
                            <a:solidFill>
                              <a:srgbClr val="00279F"/>
                            </a:solidFill>
                            <a:effectLst/>
                            <a:latin typeface="Cambria Math" panose="02040503050406030204" pitchFamily="18" charset="0"/>
                          </a:rPr>
                          <m:t>𝑝</m:t>
                        </m:r>
                      </m:e>
                      <m:sub>
                        <m:r>
                          <a:rPr lang="en-US" sz="2400" b="0" i="1" smtClean="0">
                            <a:solidFill>
                              <a:srgbClr val="00279F"/>
                            </a:solidFill>
                            <a:effectLst/>
                            <a:latin typeface="Cambria Math" panose="02040503050406030204" pitchFamily="18" charset="0"/>
                          </a:rPr>
                          <m:t>𝑖</m:t>
                        </m:r>
                      </m:sub>
                    </m:sSub>
                    <m:r>
                      <a:rPr lang="en-US" sz="2400" b="0">
                        <a:solidFill>
                          <a:srgbClr val="00279F"/>
                        </a:solidFill>
                        <a:effectLst/>
                        <a:latin typeface="Cambria Math" panose="02040503050406030204" pitchFamily="18" charset="0"/>
                      </a:rPr>
                      <m:t>≤</m:t>
                    </m:r>
                    <m:r>
                      <a:rPr lang="en-US" sz="2400" b="0" i="0" smtClean="0">
                        <a:solidFill>
                          <a:srgbClr val="00279F"/>
                        </a:solidFill>
                        <a:effectLst/>
                        <a:latin typeface="Cambria Math" panose="02040503050406030204" pitchFamily="18" charset="0"/>
                      </a:rPr>
                      <m:t>0, </m:t>
                    </m:r>
                    <m:r>
                      <a:rPr lang="en-US" sz="2400" b="0" i="1" smtClean="0">
                        <a:solidFill>
                          <a:srgbClr val="00279F"/>
                        </a:solidFill>
                        <a:effectLst/>
                        <a:latin typeface="Cambria Math" panose="02040503050406030204" pitchFamily="18" charset="0"/>
                      </a:rPr>
                      <m:t>𝑖</m:t>
                    </m:r>
                    <m:r>
                      <a:rPr lang="en-US" sz="2400" b="0" i="1" smtClean="0">
                        <a:solidFill>
                          <a:srgbClr val="00279F"/>
                        </a:solidFill>
                        <a:effectLst/>
                        <a:latin typeface="Cambria Math" panose="02040503050406030204" pitchFamily="18" charset="0"/>
                      </a:rPr>
                      <m:t>=1,…,7</m:t>
                    </m:r>
                  </m:oMath>
                </a14:m>
                <a:r>
                  <a:rPr lang="en-US" sz="2400" b="0" i="1" dirty="0">
                    <a:solidFill>
                      <a:srgbClr val="00279F"/>
                    </a:solidFill>
                    <a:effectLst/>
                  </a:rPr>
                  <a:t> </a:t>
                </a:r>
                <a:r>
                  <a:rPr lang="en-US" sz="2400" b="0" dirty="0">
                    <a:solidFill>
                      <a:srgbClr val="00279F"/>
                    </a:solidFill>
                    <a:effectLst/>
                  </a:rPr>
                  <a:t>	</a:t>
                </a:r>
                <a:r>
                  <a:rPr lang="en-US" sz="2400" b="0" dirty="0">
                    <a:solidFill>
                      <a:srgbClr val="00279F"/>
                    </a:solidFill>
                  </a:rPr>
                  <a:t>	</a:t>
                </a:r>
                <a:endParaRPr lang="en-US" altLang="zh-CN" sz="2400" b="0" i="1" dirty="0">
                  <a:solidFill>
                    <a:srgbClr val="00279F"/>
                  </a:solidFill>
                  <a:latin typeface="Cambria Math" panose="02040503050406030204" pitchFamily="18" charset="0"/>
                </a:endParaRPr>
              </a:p>
            </p:txBody>
          </p:sp>
        </mc:Choice>
        <mc:Fallback xmlns="">
          <p:sp>
            <p:nvSpPr>
              <p:cNvPr id="9" name="Rectangle 3"/>
              <p:cNvSpPr txBox="1">
                <a:spLocks noRot="1" noChangeAspect="1" noMove="1" noResize="1" noEditPoints="1" noAdjustHandles="1" noChangeArrowheads="1" noChangeShapeType="1" noTextEdit="1"/>
              </p:cNvSpPr>
              <p:nvPr/>
            </p:nvSpPr>
            <p:spPr bwMode="auto">
              <a:xfrm>
                <a:off x="158149" y="1648815"/>
                <a:ext cx="7976858" cy="2702468"/>
              </a:xfrm>
              <a:prstGeom prst="rect">
                <a:avLst/>
              </a:prstGeom>
              <a:blipFill rotWithShape="0">
                <a:blip r:embed="rId6"/>
                <a:stretch>
                  <a:fillRect b="-3153"/>
                </a:stretch>
              </a:blipFill>
              <a:ln w="9525">
                <a:noFill/>
                <a:miter lim="800000"/>
                <a:headEnd/>
                <a:tailEnd/>
              </a:ln>
              <a:effectLst/>
            </p:spPr>
            <p:txBody>
              <a:bodyPr/>
              <a:lstStyle/>
              <a:p>
                <a:r>
                  <a:rPr lang="en-SG">
                    <a:noFill/>
                  </a:rPr>
                  <a:t> </a:t>
                </a:r>
              </a:p>
            </p:txBody>
          </p:sp>
        </mc:Fallback>
      </mc:AlternateContent>
    </p:spTree>
    <p:extLst>
      <p:ext uri="{BB962C8B-B14F-4D97-AF65-F5344CB8AC3E}">
        <p14:creationId xmlns:p14="http://schemas.microsoft.com/office/powerpoint/2010/main" val="5776159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ltLang="zh-CN" dirty="0">
                <a:ea typeface="宋体" pitchFamily="2" charset="-122"/>
              </a:rPr>
              <a:t>LP Formulation</a:t>
            </a:r>
          </a:p>
        </p:txBody>
      </p:sp>
      <mc:AlternateContent xmlns:mc="http://schemas.openxmlformats.org/markup-compatibility/2006" xmlns:a14="http://schemas.microsoft.com/office/drawing/2010/main">
        <mc:Choice Requires="a14">
          <p:sp>
            <p:nvSpPr>
              <p:cNvPr id="7" name="Rectangle 3"/>
              <p:cNvSpPr txBox="1">
                <a:spLocks noChangeArrowheads="1"/>
              </p:cNvSpPr>
              <p:nvPr/>
            </p:nvSpPr>
            <p:spPr bwMode="auto">
              <a:xfrm>
                <a:off x="-991043" y="718394"/>
                <a:ext cx="10622167" cy="5577373"/>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a:lstStyle>
              <a:p>
                <a:pPr marL="0" indent="0">
                  <a:buFontTx/>
                  <a:buNone/>
                  <a:defRPr/>
                </a:pPr>
                <a:endParaRPr lang="en-US" altLang="zh-CN" kern="0" dirty="0">
                  <a:ea typeface="宋体" pitchFamily="2" charset="-122"/>
                </a:endParaRPr>
              </a:p>
              <a:p>
                <a:pPr marL="0" indent="0">
                  <a:buFontTx/>
                  <a:buNone/>
                </a:pPr>
                <a:r>
                  <a:rPr lang="en-US" kern="0" dirty="0"/>
                  <a:t>                     </a:t>
                </a:r>
                <a14:m>
                  <m:oMath xmlns:m="http://schemas.openxmlformats.org/officeDocument/2006/math">
                    <m:r>
                      <a:rPr lang="en-US" sz="2400" b="1" i="1" kern="0" smtClean="0">
                        <a:effectLst/>
                        <a:latin typeface="Cambria Math" panose="02040503050406030204" pitchFamily="18" charset="0"/>
                        <a:ea typeface="Cambria Math" panose="02040503050406030204" pitchFamily="18" charset="0"/>
                      </a:rPr>
                      <m:t>𝒎𝒂𝒙</m:t>
                    </m:r>
                    <m:r>
                      <a:rPr lang="en-US" sz="2400" b="1" i="1" kern="0" smtClean="0">
                        <a:effectLst/>
                        <a:latin typeface="Cambria Math" panose="02040503050406030204" pitchFamily="18" charset="0"/>
                        <a:ea typeface="Cambria Math" panose="02040503050406030204" pitchFamily="18" charset="0"/>
                      </a:rPr>
                      <m:t>   </m:t>
                    </m:r>
                    <m:d>
                      <m:dPr>
                        <m:ctrlPr>
                          <a:rPr lang="en-US" sz="2400" b="1" i="1" kern="0">
                            <a:effectLst/>
                            <a:latin typeface="Cambria Math" panose="02040503050406030204" pitchFamily="18" charset="0"/>
                            <a:ea typeface="Cambria Math" panose="02040503050406030204" pitchFamily="18" charset="0"/>
                          </a:rPr>
                        </m:ctrlPr>
                      </m:dPr>
                      <m:e>
                        <m:r>
                          <a:rPr lang="en-US" sz="2400" b="1" i="1" kern="0">
                            <a:effectLst/>
                            <a:latin typeface="Cambria Math" panose="02040503050406030204" pitchFamily="18" charset="0"/>
                            <a:ea typeface="Cambria Math" panose="02040503050406030204" pitchFamily="18" charset="0"/>
                          </a:rPr>
                          <m:t>𝟔𝟐𝟎𝟎</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𝟕𝟎𝟎</m:t>
                        </m:r>
                      </m:e>
                    </m:d>
                    <m:r>
                      <a:rPr lang="en-US" sz="2400" b="1" i="1" kern="0">
                        <a:effectLst/>
                        <a:latin typeface="Cambria Math" panose="02040503050406030204" pitchFamily="18" charset="0"/>
                        <a:ea typeface="Cambria Math" panose="02040503050406030204" pitchFamily="18" charset="0"/>
                      </a:rPr>
                      <m:t>𝒙</m:t>
                    </m:r>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𝟏𝟎𝟎</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𝟏</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𝟏𝟗𝟗</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𝟗</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𝟐</m:t>
                        </m:r>
                      </m:sub>
                    </m:sSub>
                  </m:oMath>
                </a14:m>
                <a:endParaRPr lang="en-US" sz="2400" i="1" kern="0" dirty="0">
                  <a:effectLst/>
                  <a:latin typeface="Cambria Math" panose="02040503050406030204" pitchFamily="18" charset="0"/>
                  <a:ea typeface="Cambria Math" panose="02040503050406030204" pitchFamily="18" charset="0"/>
                </a:endParaRPr>
              </a:p>
              <a:p>
                <a:pPr marL="0" indent="0">
                  <a:buFontTx/>
                  <a:buNone/>
                </a:pPr>
                <a:r>
                  <a:rPr lang="en-US" sz="2400" i="1" kern="0" dirty="0">
                    <a:effectLst/>
                    <a:latin typeface="Cambria Math" panose="02040503050406030204" pitchFamily="18" charset="0"/>
                    <a:ea typeface="Cambria Math" panose="02040503050406030204" pitchFamily="18" charset="0"/>
                  </a:rPr>
                  <a:t>                    </a:t>
                </a:r>
                <a14:m>
                  <m:oMath xmlns:m="http://schemas.openxmlformats.org/officeDocument/2006/math">
                    <m:r>
                      <a:rPr lang="en-US" sz="2400" b="1" i="1" kern="0">
                        <a:effectLst/>
                        <a:latin typeface="Cambria Math" panose="02040503050406030204" pitchFamily="18" charset="0"/>
                        <a:ea typeface="Cambria Math" panose="02040503050406030204" pitchFamily="18" charset="0"/>
                      </a:rPr>
                      <m:t>𝒔</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𝒕</m:t>
                    </m:r>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𝟗𝟎</m:t>
                    </m:r>
                    <m:r>
                      <a:rPr lang="en-US" sz="2400" b="1" i="1" kern="0">
                        <a:effectLst/>
                        <a:latin typeface="Cambria Math" panose="02040503050406030204" pitchFamily="18" charset="0"/>
                        <a:ea typeface="Cambria Math" panose="02040503050406030204" pitchFamily="18" charset="0"/>
                      </a:rPr>
                      <m:t>𝒙</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𝟐𝟎𝟎𝟎</m:t>
                    </m:r>
                    <m:r>
                      <a:rPr lang="en-US" sz="2400" b="1" i="1" kern="0">
                        <a:effectLst/>
                        <a:latin typeface="Cambria Math" panose="02040503050406030204" pitchFamily="18" charset="0"/>
                        <a:ea typeface="Cambria Math" panose="02040503050406030204" pitchFamily="18" charset="0"/>
                      </a:rPr>
                      <m:t>, </m:t>
                    </m:r>
                  </m:oMath>
                </a14:m>
                <a:r>
                  <a:rPr lang="en-US" sz="2400" i="1" kern="0" dirty="0">
                    <a:effectLst/>
                    <a:latin typeface="Cambria Math" panose="02040503050406030204" pitchFamily="18" charset="0"/>
                    <a:ea typeface="Cambria Math" panose="02040503050406030204" pitchFamily="18" charset="0"/>
                  </a:rPr>
                  <a:t> </a:t>
                </a:r>
                <a:r>
                  <a:rPr lang="en-US" sz="2400" kern="0" dirty="0">
                    <a:effectLst/>
                    <a:latin typeface="Cambria Math" panose="02040503050406030204" pitchFamily="18" charset="0"/>
                    <a:ea typeface="Cambria Math" panose="02040503050406030204" pitchFamily="18" charset="0"/>
                  </a:rPr>
                  <a:t>(manpower)</a:t>
                </a:r>
              </a:p>
              <a:p>
                <a:pPr marL="0" indent="0">
                  <a:buFontTx/>
                  <a:buNone/>
                </a:pPr>
                <a:r>
                  <a:rPr lang="en-US" sz="2400" i="1" kern="0" dirty="0">
                    <a:effectLst/>
                    <a:latin typeface="Cambria Math" panose="02040503050406030204" pitchFamily="18" charset="0"/>
                    <a:ea typeface="Cambria Math" panose="02040503050406030204" pitchFamily="18" charset="0"/>
                  </a:rPr>
                  <a:t>			       4</a:t>
                </a:r>
                <a14:m>
                  <m:oMath xmlns:m="http://schemas.openxmlformats.org/officeDocument/2006/math">
                    <m:r>
                      <a:rPr lang="en-US" sz="2400" b="1" i="1" kern="0">
                        <a:effectLst/>
                        <a:latin typeface="Cambria Math" panose="02040503050406030204" pitchFamily="18" charset="0"/>
                        <a:ea typeface="Cambria Math" panose="02040503050406030204" pitchFamily="18" charset="0"/>
                      </a:rPr>
                      <m:t>𝟎</m:t>
                    </m:r>
                    <m:r>
                      <a:rPr lang="en-US" sz="2400" b="1" i="1" kern="0">
                        <a:effectLst/>
                        <a:latin typeface="Cambria Math" panose="02040503050406030204" pitchFamily="18" charset="0"/>
                        <a:ea typeface="Cambria Math" panose="02040503050406030204" pitchFamily="18" charset="0"/>
                      </a:rPr>
                      <m:t>𝒙</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𝟖𝟎𝟎</m:t>
                    </m:r>
                  </m:oMath>
                </a14:m>
                <a:r>
                  <a:rPr lang="en-US" sz="2400" i="1" kern="0" dirty="0">
                    <a:effectLst/>
                    <a:latin typeface="Cambria Math" panose="02040503050406030204" pitchFamily="18" charset="0"/>
                    <a:ea typeface="Cambria Math" panose="02040503050406030204" pitchFamily="18" charset="0"/>
                  </a:rPr>
                  <a:t>,    </a:t>
                </a:r>
                <a:r>
                  <a:rPr lang="en-US" sz="2400" kern="0" dirty="0">
                    <a:effectLst/>
                    <a:latin typeface="Cambria Math" panose="02040503050406030204" pitchFamily="18" charset="0"/>
                    <a:ea typeface="Cambria Math" panose="02040503050406030204" pitchFamily="18" charset="0"/>
                  </a:rPr>
                  <a:t>(equip)</a:t>
                </a:r>
              </a:p>
              <a:p>
                <a:pPr marL="0" indent="0">
                  <a:buFontTx/>
                  <a:buNone/>
                </a:pPr>
                <a:r>
                  <a:rPr lang="en-US" sz="2400" i="1" kern="0" dirty="0">
                    <a:effectLst/>
                    <a:latin typeface="Cambria Math" panose="02040503050406030204" pitchFamily="18" charset="0"/>
                    <a:ea typeface="Cambria Math" panose="02040503050406030204" pitchFamily="18" charset="0"/>
                  </a:rPr>
                  <a:t>			       </a:t>
                </a:r>
                <a14:m>
                  <m:oMath xmlns:m="http://schemas.openxmlformats.org/officeDocument/2006/math">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𝟏</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𝟐</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𝟏𝟎𝟎𝟎</m:t>
                    </m:r>
                  </m:oMath>
                </a14:m>
                <a:r>
                  <a:rPr lang="en-US" sz="2400" i="1" kern="0" dirty="0">
                    <a:effectLst/>
                    <a:latin typeface="Cambria Math" panose="02040503050406030204" pitchFamily="18" charset="0"/>
                    <a:ea typeface="Cambria Math" panose="02040503050406030204" pitchFamily="18" charset="0"/>
                  </a:rPr>
                  <a:t>,  </a:t>
                </a:r>
                <a:r>
                  <a:rPr lang="en-US" sz="2400" kern="0" dirty="0">
                    <a:effectLst/>
                    <a:latin typeface="Cambria Math" panose="02040503050406030204" pitchFamily="18" charset="0"/>
                    <a:ea typeface="Cambria Math" panose="02040503050406030204" pitchFamily="18" charset="0"/>
                  </a:rPr>
                  <a:t>(storage)</a:t>
                </a:r>
              </a:p>
              <a:p>
                <a:pPr marL="0" indent="0">
                  <a:buFontTx/>
                  <a:buNone/>
                </a:pPr>
                <a:r>
                  <a:rPr lang="en-US" sz="2400" i="1" kern="0" dirty="0">
                    <a:effectLst/>
                    <a:latin typeface="Cambria Math" panose="02040503050406030204" pitchFamily="18" charset="0"/>
                    <a:ea typeface="Cambria Math" panose="02040503050406030204" pitchFamily="18" charset="0"/>
                  </a:rPr>
                  <a:t>                           </a:t>
                </a:r>
                <a14:m>
                  <m:oMath xmlns:m="http://schemas.openxmlformats.org/officeDocument/2006/math">
                    <m:r>
                      <a:rPr lang="en-US" sz="2400" b="1" i="1" kern="0">
                        <a:effectLst/>
                        <a:latin typeface="Cambria Math" panose="02040503050406030204" pitchFamily="18" charset="0"/>
                        <a:ea typeface="Cambria Math" panose="02040503050406030204" pitchFamily="18" charset="0"/>
                      </a:rPr>
                      <m:t>𝟕𝟎𝟎</m:t>
                    </m:r>
                    <m:r>
                      <a:rPr lang="en-US" sz="2400" b="1" i="1" kern="0">
                        <a:effectLst/>
                        <a:latin typeface="Cambria Math" panose="02040503050406030204" pitchFamily="18" charset="0"/>
                        <a:ea typeface="Cambria Math" panose="02040503050406030204" pitchFamily="18" charset="0"/>
                      </a:rPr>
                      <m:t>𝒙</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𝟏𝟎𝟎</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𝟏</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𝟏𝟗𝟗</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𝟗</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𝟐</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𝟏𝟎𝟎𝟎𝟎𝟎</m:t>
                    </m:r>
                  </m:oMath>
                </a14:m>
                <a:r>
                  <a:rPr lang="en-US" sz="2400" i="1" kern="0" dirty="0">
                    <a:effectLst/>
                    <a:latin typeface="Cambria Math" panose="02040503050406030204" pitchFamily="18" charset="0"/>
                    <a:ea typeface="Cambria Math" panose="02040503050406030204" pitchFamily="18" charset="0"/>
                  </a:rPr>
                  <a:t>, </a:t>
                </a:r>
                <a:r>
                  <a:rPr lang="en-US" sz="2400" kern="0" dirty="0">
                    <a:effectLst/>
                    <a:latin typeface="Cambria Math" panose="02040503050406030204" pitchFamily="18" charset="0"/>
                    <a:ea typeface="Cambria Math" panose="02040503050406030204" pitchFamily="18" charset="0"/>
                  </a:rPr>
                  <a:t>(budget)</a:t>
                </a:r>
              </a:p>
              <a:p>
                <a:pPr marL="0" indent="0">
                  <a:buNone/>
                </a:pPr>
                <a:r>
                  <a:rPr lang="en-US" sz="2400" i="1" kern="0" dirty="0">
                    <a:effectLst/>
                    <a:latin typeface="Cambria Math" panose="02040503050406030204" pitchFamily="18" charset="0"/>
                    <a:ea typeface="Cambria Math" panose="02040503050406030204" pitchFamily="18" charset="0"/>
                  </a:rPr>
                  <a:t>		</a:t>
                </a:r>
                <a14:m>
                  <m:oMath xmlns:m="http://schemas.openxmlformats.org/officeDocument/2006/math">
                    <m:func>
                      <m:funcPr>
                        <m:ctrlPr>
                          <a:rPr lang="en-US" sz="2400" i="1" kern="0">
                            <a:effectLst/>
                            <a:latin typeface="Cambria Math" panose="02040503050406030204" pitchFamily="18" charset="0"/>
                            <a:ea typeface="Cambria Math" panose="02040503050406030204" pitchFamily="18" charset="0"/>
                          </a:rPr>
                        </m:ctrlPr>
                      </m:funcPr>
                      <m:fName>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𝟏</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𝟏</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𝟐</m:t>
                        </m:r>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𝟐</m:t>
                            </m:r>
                          </m:sub>
                        </m:sSub>
                        <m:r>
                          <a:rPr lang="en-US" sz="2400" b="1" i="1" kern="0">
                            <a:effectLst/>
                            <a:latin typeface="Cambria Math" panose="02040503050406030204" pitchFamily="18" charset="0"/>
                            <a:ea typeface="Cambria Math" panose="02040503050406030204" pitchFamily="18" charset="0"/>
                          </a:rPr>
                          <m:t>+</m:t>
                        </m:r>
                      </m:fName>
                      <m:e>
                        <m:r>
                          <a:rPr lang="en-US" sz="2400" b="1" i="1" kern="0">
                            <a:effectLst/>
                            <a:latin typeface="Cambria Math" panose="02040503050406030204" pitchFamily="18" charset="0"/>
                            <a:ea typeface="Cambria Math" panose="02040503050406030204" pitchFamily="18" charset="0"/>
                          </a:rPr>
                          <m:t>𝟐</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𝜶</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𝟏</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𝟔</m:t>
                            </m:r>
                          </m:sub>
                        </m:sSub>
                      </m:e>
                    </m:func>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𝟕</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𝟎</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𝟓</m:t>
                    </m:r>
                    <m:r>
                      <a:rPr lang="en-US" sz="2400" b="1" i="1" kern="0">
                        <a:effectLst/>
                        <a:latin typeface="Cambria Math" panose="02040503050406030204" pitchFamily="18" charset="0"/>
                        <a:ea typeface="Cambria Math" panose="02040503050406030204" pitchFamily="18" charset="0"/>
                      </a:rPr>
                      <m:t>𝒙</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𝟎</m:t>
                    </m:r>
                  </m:oMath>
                </a14:m>
                <a:r>
                  <a:rPr lang="en-US" sz="2400" i="1" kern="0" dirty="0">
                    <a:effectLst/>
                    <a:latin typeface="Cambria Math" panose="02040503050406030204" pitchFamily="18" charset="0"/>
                    <a:ea typeface="Cambria Math" panose="02040503050406030204" pitchFamily="18" charset="0"/>
                  </a:rPr>
                  <a:t>, </a:t>
                </a:r>
              </a:p>
              <a:p>
                <a:pPr marL="0" indent="0">
                  <a:buFontTx/>
                  <a:buNone/>
                </a:pPr>
                <a:r>
                  <a:rPr lang="en-US" sz="2400" i="1" kern="0" dirty="0">
                    <a:effectLst/>
                    <a:latin typeface="Cambria Math" panose="02040503050406030204" pitchFamily="18" charset="0"/>
                    <a:ea typeface="Cambria Math" panose="02040503050406030204" pitchFamily="18" charset="0"/>
                  </a:rPr>
                  <a:t>                                         </a:t>
                </a:r>
                <a14:m>
                  <m:oMath xmlns:m="http://schemas.openxmlformats.org/officeDocument/2006/math">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𝟐</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𝟑</m:t>
                        </m:r>
                      </m:sub>
                    </m:sSub>
                    <m:r>
                      <a:rPr lang="en-US" sz="2400" b="1" i="1" kern="0">
                        <a:effectLst/>
                        <a:latin typeface="Cambria Math" panose="02040503050406030204" pitchFamily="18" charset="0"/>
                        <a:ea typeface="Cambria Math" panose="02040503050406030204" pitchFamily="18" charset="0"/>
                      </a:rPr>
                      <m:t> =</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𝟎</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𝟎𝟎𝟓</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𝟏</m:t>
                        </m:r>
                      </m:sub>
                    </m:sSub>
                  </m:oMath>
                </a14:m>
                <a:r>
                  <a:rPr lang="en-US" sz="2400" i="1" kern="0" dirty="0">
                    <a:effectLst/>
                    <a:latin typeface="Cambria Math" panose="02040503050406030204" pitchFamily="18" charset="0"/>
                    <a:ea typeface="Cambria Math" panose="02040503050406030204" pitchFamily="18" charset="0"/>
                  </a:rPr>
                  <a:t>	</a:t>
                </a:r>
              </a:p>
              <a:p>
                <a:pPr marL="0" indent="0">
                  <a:buNone/>
                </a:pPr>
                <a:r>
                  <a:rPr lang="en-US" sz="2400" i="1" kern="0" dirty="0">
                    <a:effectLst/>
                    <a:latin typeface="Cambria Math" panose="02040503050406030204" pitchFamily="18" charset="0"/>
                    <a:ea typeface="Cambria Math" panose="02040503050406030204" pitchFamily="18" charset="0"/>
                  </a:rPr>
                  <a:t>	                                  </a:t>
                </a:r>
                <a14:m>
                  <m:oMath xmlns:m="http://schemas.openxmlformats.org/officeDocument/2006/math">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𝟒</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𝟓</m:t>
                        </m:r>
                        <m:r>
                          <a:rPr lang="en-US" sz="2400" b="1" i="1" kern="0">
                            <a:effectLst/>
                            <a:latin typeface="Cambria Math" panose="02040503050406030204" pitchFamily="18" charset="0"/>
                            <a:ea typeface="Cambria Math" panose="02040503050406030204" pitchFamily="18" charset="0"/>
                          </a:rPr>
                          <m:t> </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𝟎</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𝟎𝟒</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𝟐</m:t>
                        </m:r>
                      </m:sub>
                    </m:sSub>
                  </m:oMath>
                </a14:m>
                <a:r>
                  <a:rPr lang="en-US" sz="2400" i="1" kern="0" dirty="0">
                    <a:effectLst/>
                    <a:latin typeface="Cambria Math" panose="02040503050406030204" pitchFamily="18" charset="0"/>
                    <a:ea typeface="Cambria Math" panose="02040503050406030204" pitchFamily="18" charset="0"/>
                  </a:rPr>
                  <a:t>	</a:t>
                </a:r>
              </a:p>
              <a:p>
                <a:pPr marL="0" indent="0">
                  <a:buNone/>
                </a:pPr>
                <a:r>
                  <a:rPr lang="en-US" sz="2400" i="1" kern="0" dirty="0">
                    <a:effectLst/>
                    <a:latin typeface="Cambria Math" panose="02040503050406030204" pitchFamily="18" charset="0"/>
                    <a:ea typeface="Cambria Math" panose="02040503050406030204" pitchFamily="18" charset="0"/>
                  </a:rPr>
                  <a:t>		                    </a:t>
                </a:r>
                <a14:m>
                  <m:oMath xmlns:m="http://schemas.openxmlformats.org/officeDocument/2006/math">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𝟏</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𝟐</m:t>
                        </m:r>
                        <m:r>
                          <a:rPr lang="en-US" sz="2400" b="1" i="1" kern="0">
                            <a:effectLst/>
                            <a:latin typeface="Cambria Math" panose="02040503050406030204" pitchFamily="18" charset="0"/>
                            <a:ea typeface="Cambria Math" panose="02040503050406030204" pitchFamily="18" charset="0"/>
                          </a:rPr>
                          <m:t> </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𝟑</m:t>
                        </m:r>
                        <m:r>
                          <a:rPr lang="en-US" sz="2400" b="1" i="1" kern="0">
                            <a:effectLst/>
                            <a:latin typeface="Cambria Math" panose="02040503050406030204" pitchFamily="18" charset="0"/>
                            <a:ea typeface="Cambria Math" panose="02040503050406030204" pitchFamily="18" charset="0"/>
                          </a:rPr>
                          <m:t> </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𝟔</m:t>
                        </m:r>
                        <m:r>
                          <a:rPr lang="en-US" sz="2400" b="1" i="1" kern="0">
                            <a:effectLst/>
                            <a:latin typeface="Cambria Math" panose="02040503050406030204" pitchFamily="18" charset="0"/>
                            <a:ea typeface="Cambria Math" panose="02040503050406030204" pitchFamily="18" charset="0"/>
                          </a:rPr>
                          <m:t> </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𝟎</m:t>
                    </m:r>
                  </m:oMath>
                </a14:m>
                <a:r>
                  <a:rPr lang="en-US" sz="2400" i="1" kern="0" dirty="0">
                    <a:effectLst/>
                    <a:latin typeface="Cambria Math" panose="02040503050406030204" pitchFamily="18" charset="0"/>
                    <a:ea typeface="Cambria Math" panose="02040503050406030204" pitchFamily="18" charset="0"/>
                  </a:rPr>
                  <a:t>	</a:t>
                </a:r>
              </a:p>
              <a:p>
                <a:pPr marL="0" indent="0">
                  <a:buNone/>
                </a:pPr>
                <a:r>
                  <a:rPr lang="en-US" sz="2400" i="1" kern="0" dirty="0">
                    <a:effectLst/>
                    <a:latin typeface="Cambria Math" panose="02040503050406030204" pitchFamily="18" charset="0"/>
                    <a:ea typeface="Cambria Math" panose="02040503050406030204" pitchFamily="18" charset="0"/>
                  </a:rPr>
                  <a:t>	                          	      </a:t>
                </a:r>
                <a14:m>
                  <m:oMath xmlns:m="http://schemas.openxmlformats.org/officeDocument/2006/math">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𝟏</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𝟒</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𝟓</m:t>
                        </m:r>
                        <m:r>
                          <a:rPr lang="en-US" sz="2400" b="1" i="1" kern="0">
                            <a:effectLst/>
                            <a:latin typeface="Cambria Math" panose="02040503050406030204" pitchFamily="18" charset="0"/>
                            <a:ea typeface="Cambria Math" panose="02040503050406030204" pitchFamily="18" charset="0"/>
                          </a:rPr>
                          <m:t> </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𝟕</m:t>
                        </m:r>
                      </m:sub>
                    </m:sSub>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𝟎</m:t>
                    </m:r>
                  </m:oMath>
                </a14:m>
                <a:endParaRPr lang="en-US" sz="2400" i="1" kern="0" dirty="0">
                  <a:effectLst/>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1" i="1" kern="0">
                          <a:effectLst/>
                          <a:latin typeface="Cambria Math" panose="02040503050406030204" pitchFamily="18" charset="0"/>
                          <a:ea typeface="Cambria Math" panose="02040503050406030204" pitchFamily="18" charset="0"/>
                        </a:rPr>
                        <m:t>𝒙</m:t>
                      </m:r>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𝟏</m:t>
                          </m:r>
                        </m:sub>
                      </m:sSub>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𝒚</m:t>
                          </m:r>
                        </m:e>
                        <m:sub>
                          <m:r>
                            <a:rPr lang="en-US" sz="2400" b="1" i="1" kern="0">
                              <a:effectLst/>
                              <a:latin typeface="Cambria Math" panose="02040503050406030204" pitchFamily="18" charset="0"/>
                              <a:ea typeface="Cambria Math" panose="02040503050406030204" pitchFamily="18" charset="0"/>
                            </a:rPr>
                            <m:t>𝟐</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𝟎</m:t>
                      </m:r>
                      <m:r>
                        <a:rPr lang="en-US" sz="2400" b="1" i="1" kern="0">
                          <a:effectLst/>
                          <a:latin typeface="Cambria Math" panose="02040503050406030204" pitchFamily="18" charset="0"/>
                          <a:ea typeface="Cambria Math" panose="02040503050406030204" pitchFamily="18" charset="0"/>
                        </a:rPr>
                        <m:t>,</m:t>
                      </m:r>
                      <m:sSub>
                        <m:sSubPr>
                          <m:ctrlPr>
                            <a:rPr lang="en-US" sz="2400" b="1" i="1" kern="0">
                              <a:effectLst/>
                              <a:latin typeface="Cambria Math" panose="02040503050406030204" pitchFamily="18" charset="0"/>
                              <a:ea typeface="Cambria Math" panose="02040503050406030204" pitchFamily="18" charset="0"/>
                            </a:rPr>
                          </m:ctrlPr>
                        </m:sSubPr>
                        <m:e>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𝒑</m:t>
                          </m:r>
                        </m:e>
                        <m:sub>
                          <m:r>
                            <a:rPr lang="en-US" sz="2400" b="1" i="1" kern="0">
                              <a:effectLst/>
                              <a:latin typeface="Cambria Math" panose="02040503050406030204" pitchFamily="18" charset="0"/>
                              <a:ea typeface="Cambria Math" panose="02040503050406030204" pitchFamily="18" charset="0"/>
                            </a:rPr>
                            <m:t>𝒊</m:t>
                          </m:r>
                        </m:sub>
                      </m:sSub>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𝟎</m:t>
                      </m:r>
                      <m:r>
                        <a:rPr lang="en-US" sz="2400" b="1" i="1" kern="0">
                          <a:effectLst/>
                          <a:latin typeface="Cambria Math" panose="02040503050406030204" pitchFamily="18" charset="0"/>
                          <a:ea typeface="Cambria Math" panose="02040503050406030204" pitchFamily="18" charset="0"/>
                        </a:rPr>
                        <m:t>, </m:t>
                      </m:r>
                      <m:r>
                        <a:rPr lang="en-US" sz="2400" b="1" i="1" kern="0">
                          <a:effectLst/>
                          <a:latin typeface="Cambria Math" panose="02040503050406030204" pitchFamily="18" charset="0"/>
                          <a:ea typeface="Cambria Math" panose="02040503050406030204" pitchFamily="18" charset="0"/>
                        </a:rPr>
                        <m:t>𝒊</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𝟏</m:t>
                      </m:r>
                      <m:r>
                        <a:rPr lang="en-US" sz="2400" b="1" i="1" kern="0">
                          <a:effectLst/>
                          <a:latin typeface="Cambria Math" panose="02040503050406030204" pitchFamily="18" charset="0"/>
                          <a:ea typeface="Cambria Math" panose="02040503050406030204" pitchFamily="18" charset="0"/>
                        </a:rPr>
                        <m:t>,…,</m:t>
                      </m:r>
                      <m:r>
                        <a:rPr lang="en-US" sz="2400" b="1" i="1" kern="0">
                          <a:effectLst/>
                          <a:latin typeface="Cambria Math" panose="02040503050406030204" pitchFamily="18" charset="0"/>
                          <a:ea typeface="Cambria Math" panose="02040503050406030204" pitchFamily="18" charset="0"/>
                        </a:rPr>
                        <m:t>𝟕</m:t>
                      </m:r>
                    </m:oMath>
                  </m:oMathPara>
                </a14:m>
                <a:endParaRPr lang="en-US" altLang="zh-CN" sz="2400" i="1" kern="0" dirty="0">
                  <a:effectLst/>
                  <a:latin typeface="Cambria Math" panose="02040503050406030204" pitchFamily="18" charset="0"/>
                  <a:ea typeface="Cambria Math" panose="02040503050406030204" pitchFamily="18" charset="0"/>
                </a:endParaRPr>
              </a:p>
            </p:txBody>
          </p:sp>
        </mc:Choice>
        <mc:Fallback xmlns="">
          <p:sp>
            <p:nvSpPr>
              <p:cNvPr id="7" name="Rectangle 3"/>
              <p:cNvSpPr txBox="1">
                <a:spLocks noRot="1" noChangeAspect="1" noMove="1" noResize="1" noEditPoints="1" noAdjustHandles="1" noChangeArrowheads="1" noChangeShapeType="1" noTextEdit="1"/>
              </p:cNvSpPr>
              <p:nvPr/>
            </p:nvSpPr>
            <p:spPr bwMode="auto">
              <a:xfrm>
                <a:off x="-991043" y="718394"/>
                <a:ext cx="10622167" cy="5577373"/>
              </a:xfrm>
              <a:prstGeom prst="rect">
                <a:avLst/>
              </a:prstGeom>
              <a:blipFill rotWithShape="0">
                <a:blip r:embed="rId4"/>
                <a:stretch>
                  <a:fillRect/>
                </a:stretch>
              </a:blipFill>
              <a:ln w="9525">
                <a:noFill/>
                <a:miter lim="800000"/>
                <a:headEnd/>
                <a:tailEnd/>
              </a:ln>
              <a:effectLst/>
            </p:spPr>
            <p:txBody>
              <a:bodyPr/>
              <a:lstStyle/>
              <a:p>
                <a:r>
                  <a:rPr lang="en-SG">
                    <a:noFill/>
                  </a:rPr>
                  <a:t> </a:t>
                </a:r>
              </a:p>
            </p:txBody>
          </p:sp>
        </mc:Fallback>
      </mc:AlternateContent>
      <p:sp>
        <p:nvSpPr>
          <p:cNvPr id="3" name="Rounded Rectangle 2"/>
          <p:cNvSpPr/>
          <p:nvPr/>
        </p:nvSpPr>
        <p:spPr bwMode="auto">
          <a:xfrm>
            <a:off x="586946" y="3507080"/>
            <a:ext cx="6536724" cy="2242752"/>
          </a:xfrm>
          <a:prstGeom prst="roundRect">
            <a:avLst/>
          </a:prstGeom>
          <a:solidFill>
            <a:schemeClr val="accent1">
              <a:alpha val="27000"/>
            </a:schemeClr>
          </a:solidFill>
          <a:ln w="28575" cap="flat" cmpd="sng" algn="ctr">
            <a:solidFill>
              <a:srgbClr val="0033CC">
                <a:alpha val="64000"/>
              </a:srgbClr>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8" name="Rounded Rectangle 7"/>
          <p:cNvSpPr/>
          <p:nvPr/>
        </p:nvSpPr>
        <p:spPr bwMode="auto">
          <a:xfrm>
            <a:off x="7273061" y="4244556"/>
            <a:ext cx="1685588" cy="510778"/>
          </a:xfrm>
          <a:prstGeom prst="roundRect">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b="1" kern="0" dirty="0">
                <a:solidFill>
                  <a:srgbClr val="790015"/>
                </a:solidFill>
                <a:latin typeface="Cambria Math" panose="02040503050406030204" pitchFamily="18" charset="0"/>
                <a:ea typeface="Cambria Math" panose="02040503050406030204" pitchFamily="18" charset="0"/>
              </a:rPr>
              <a:t>Ingredient</a:t>
            </a:r>
            <a:endParaRPr lang="en-SG" sz="2400" b="1" kern="0" dirty="0">
              <a:solidFill>
                <a:srgbClr val="790015"/>
              </a:solidFill>
              <a:latin typeface="Cambria Math" panose="02040503050406030204" pitchFamily="18" charset="0"/>
              <a:ea typeface="Cambria Math" panose="02040503050406030204" pitchFamily="18" charset="0"/>
            </a:endParaRPr>
          </a:p>
        </p:txBody>
      </p:sp>
      <p:sp>
        <p:nvSpPr>
          <p:cNvPr id="6" name="Rectangle 53"/>
          <p:cNvSpPr>
            <a:spLocks noChangeArrowheads="1"/>
          </p:cNvSpPr>
          <p:nvPr/>
        </p:nvSpPr>
        <p:spPr bwMode="auto">
          <a:xfrm>
            <a:off x="692522" y="6290842"/>
            <a:ext cx="7423333" cy="18466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ＭＳ Ｐゴシック" panose="020B0600070205080204" pitchFamily="34" charset="-128"/>
              </a:defRPr>
            </a:lvl9pPr>
          </a:lstStyle>
          <a:p>
            <a:pPr>
              <a:spcAft>
                <a:spcPts val="275"/>
              </a:spcAft>
              <a:buClrTx/>
              <a:buFontTx/>
              <a:buNone/>
            </a:pPr>
            <a:r>
              <a:rPr lang="en-US" altLang="en-US" sz="1200" b="1" dirty="0">
                <a:solidFill>
                  <a:srgbClr val="FF3333"/>
                </a:solidFill>
              </a:rPr>
              <a:t> </a:t>
            </a:r>
            <a:r>
              <a:rPr lang="en-US" altLang="en-US" sz="1200" b="1" dirty="0">
                <a:solidFill>
                  <a:schemeClr val="tx1"/>
                </a:solidFill>
              </a:rPr>
              <a:t>Reference: Bertsimas and Sim, “The Price of Robustness”, 2004, </a:t>
            </a:r>
            <a:r>
              <a:rPr lang="en-US" altLang="en-US" sz="1200" b="1" i="1" dirty="0">
                <a:solidFill>
                  <a:schemeClr val="tx1"/>
                </a:solidFill>
              </a:rPr>
              <a:t>Operations Research </a:t>
            </a:r>
            <a:r>
              <a:rPr lang="en-US" altLang="en-US" sz="1200" b="1" dirty="0">
                <a:solidFill>
                  <a:schemeClr val="tx1"/>
                </a:solidFill>
              </a:rPr>
              <a:t>Vol. 52, No.1</a:t>
            </a:r>
          </a:p>
        </p:txBody>
      </p:sp>
    </p:spTree>
    <p:extLst>
      <p:ext uri="{BB962C8B-B14F-4D97-AF65-F5344CB8AC3E}">
        <p14:creationId xmlns:p14="http://schemas.microsoft.com/office/powerpoint/2010/main" val="25180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Tru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300"/>
  <p:tag name="DEFAULTMAGNIFICATION" val="1.5"/>
  <p:tag name="DEFAULTFONTSIZE" val="10"/>
  <p:tag name="DEFAULTWIDTH" val="394"/>
  <p:tag name="DEFAULTHEIGHT" val="338"/>
  <p:tag name="FIRSTXINCHEN@SUSY3254AVWXY596" val="2652"/>
  <p:tag name="FIRSTXIN20CHEN@ELDXLB0FUVWYY57I" val="3665"/>
</p:tagLst>
</file>

<file path=ppt/theme/theme1.xml><?xml version="1.0" encoding="utf-8"?>
<a:theme xmlns:a="http://schemas.openxmlformats.org/drawingml/2006/main" name="Lectures">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Lectur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rgbClr val="0033CC"/>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28575" cap="flat" cmpd="sng" algn="ctr">
          <a:solidFill>
            <a:srgbClr val="0033CC"/>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Lectures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Lectures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s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s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s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Lectures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C:\WINDOWS\Application Data\Microsoft\Templates\Lectures.pot</Template>
  <TotalTime>135148</TotalTime>
  <Words>1919</Words>
  <Application>Microsoft Office PowerPoint</Application>
  <PresentationFormat>On-screen Show (4:3)</PresentationFormat>
  <Paragraphs>460</Paragraphs>
  <Slides>30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宋体</vt:lpstr>
      <vt:lpstr>Cambria Math</vt:lpstr>
      <vt:lpstr>Times New Roman</vt:lpstr>
      <vt:lpstr>MS PGothic</vt:lpstr>
      <vt:lpstr>Lectures</vt:lpstr>
      <vt:lpstr>DBA5103</vt:lpstr>
      <vt:lpstr>PowerPoint Presentation</vt:lpstr>
      <vt:lpstr>Selling Seasonal Products</vt:lpstr>
      <vt:lpstr>Markdown</vt:lpstr>
      <vt:lpstr>An Example</vt:lpstr>
      <vt:lpstr>Key Steps</vt:lpstr>
      <vt:lpstr>Optimization Step</vt:lpstr>
      <vt:lpstr>Linear Programming Formulation</vt:lpstr>
      <vt:lpstr>Linear Programming Formulation</vt:lpstr>
      <vt:lpstr>Sensitivity Analysis</vt:lpstr>
      <vt:lpstr>Improving the Markdown Strategy</vt:lpstr>
      <vt:lpstr>PowerPoint Presentation</vt:lpstr>
      <vt:lpstr>Incomplete Knowledge of Data</vt:lpstr>
      <vt:lpstr>What’s Different?</vt:lpstr>
      <vt:lpstr>Production Example Revisited Again</vt:lpstr>
      <vt:lpstr>Example </vt:lpstr>
      <vt:lpstr>Supply Chain in Breaking Bad</vt:lpstr>
      <vt:lpstr>Production Problem</vt:lpstr>
      <vt:lpstr>Model</vt:lpstr>
      <vt:lpstr>Solution: $8819.66 (8.8% return)</vt:lpstr>
      <vt:lpstr>Data Uncertainty</vt:lpstr>
      <vt:lpstr>Remedy</vt:lpstr>
      <vt:lpstr>A Robust Optimization Perspective</vt:lpstr>
      <vt:lpstr>A Robust Optimization Perspective</vt:lpstr>
      <vt:lpstr>Controlling Conservativeness </vt:lpstr>
      <vt:lpstr>Controlling Conservativeness </vt:lpstr>
      <vt:lpstr>Model with Conservativeness Control</vt:lpstr>
      <vt:lpstr>LP Formulation</vt:lpstr>
      <vt:lpstr>LP Formulation</vt:lpstr>
      <vt:lpstr>LP Formulation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 to LP</dc:title>
  <dc:creator>Xin Chen</dc:creator>
  <cp:lastModifiedBy>Hu Zhenyu</cp:lastModifiedBy>
  <cp:revision>585</cp:revision>
  <dcterms:created xsi:type="dcterms:W3CDTF">2002-09-09T04:16:02Z</dcterms:created>
  <dcterms:modified xsi:type="dcterms:W3CDTF">2026-09-16T06:21:29Z</dcterms:modified>
</cp:coreProperties>
</file>