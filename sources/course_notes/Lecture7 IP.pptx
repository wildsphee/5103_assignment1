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9" r:id="rId1"/>
  </p:sldMasterIdLst>
  <p:notesMasterIdLst>
    <p:notesMasterId r:id="rId81"/>
  </p:notesMasterIdLst>
  <p:handoutMasterIdLst>
    <p:handoutMasterId r:id="rId82"/>
  </p:handoutMasterIdLst>
  <p:sldIdLst>
    <p:sldId id="651" r:id="rId2"/>
    <p:sldId id="257" r:id="rId3"/>
    <p:sldId id="498" r:id="rId4"/>
    <p:sldId id="510" r:id="rId5"/>
    <p:sldId id="511" r:id="rId6"/>
    <p:sldId id="512" r:id="rId7"/>
    <p:sldId id="515" r:id="rId8"/>
    <p:sldId id="516" r:id="rId9"/>
    <p:sldId id="517" r:id="rId10"/>
    <p:sldId id="518" r:id="rId11"/>
    <p:sldId id="563" r:id="rId12"/>
    <p:sldId id="618" r:id="rId13"/>
    <p:sldId id="619" r:id="rId14"/>
    <p:sldId id="623" r:id="rId15"/>
    <p:sldId id="624" r:id="rId16"/>
    <p:sldId id="622" r:id="rId17"/>
    <p:sldId id="625" r:id="rId18"/>
    <p:sldId id="652" r:id="rId19"/>
    <p:sldId id="653" r:id="rId20"/>
    <p:sldId id="654" r:id="rId21"/>
    <p:sldId id="499" r:id="rId22"/>
    <p:sldId id="588" r:id="rId23"/>
    <p:sldId id="589" r:id="rId24"/>
    <p:sldId id="590" r:id="rId25"/>
    <p:sldId id="591" r:id="rId26"/>
    <p:sldId id="592" r:id="rId27"/>
    <p:sldId id="593" r:id="rId28"/>
    <p:sldId id="594" r:id="rId29"/>
    <p:sldId id="595" r:id="rId30"/>
    <p:sldId id="596" r:id="rId31"/>
    <p:sldId id="597" r:id="rId32"/>
    <p:sldId id="598" r:id="rId33"/>
    <p:sldId id="599" r:id="rId34"/>
    <p:sldId id="600" r:id="rId35"/>
    <p:sldId id="601" r:id="rId36"/>
    <p:sldId id="602" r:id="rId37"/>
    <p:sldId id="603" r:id="rId38"/>
    <p:sldId id="604" r:id="rId39"/>
    <p:sldId id="605" r:id="rId40"/>
    <p:sldId id="606" r:id="rId41"/>
    <p:sldId id="607" r:id="rId42"/>
    <p:sldId id="608" r:id="rId43"/>
    <p:sldId id="609" r:id="rId44"/>
    <p:sldId id="610" r:id="rId45"/>
    <p:sldId id="611" r:id="rId46"/>
    <p:sldId id="612" r:id="rId47"/>
    <p:sldId id="613" r:id="rId48"/>
    <p:sldId id="614" r:id="rId49"/>
    <p:sldId id="616" r:id="rId50"/>
    <p:sldId id="632" r:id="rId51"/>
    <p:sldId id="538" r:id="rId52"/>
    <p:sldId id="560" r:id="rId53"/>
    <p:sldId id="539" r:id="rId54"/>
    <p:sldId id="540" r:id="rId55"/>
    <p:sldId id="532" r:id="rId56"/>
    <p:sldId id="533" r:id="rId57"/>
    <p:sldId id="534" r:id="rId58"/>
    <p:sldId id="536" r:id="rId59"/>
    <p:sldId id="537" r:id="rId60"/>
    <p:sldId id="655" r:id="rId61"/>
    <p:sldId id="656" r:id="rId62"/>
    <p:sldId id="657" r:id="rId63"/>
    <p:sldId id="633" r:id="rId64"/>
    <p:sldId id="634" r:id="rId65"/>
    <p:sldId id="635" r:id="rId66"/>
    <p:sldId id="636" r:id="rId67"/>
    <p:sldId id="637" r:id="rId68"/>
    <p:sldId id="638" r:id="rId69"/>
    <p:sldId id="639" r:id="rId70"/>
    <p:sldId id="640" r:id="rId71"/>
    <p:sldId id="641" r:id="rId72"/>
    <p:sldId id="642" r:id="rId73"/>
    <p:sldId id="643" r:id="rId74"/>
    <p:sldId id="644" r:id="rId75"/>
    <p:sldId id="645" r:id="rId76"/>
    <p:sldId id="646" r:id="rId77"/>
    <p:sldId id="647" r:id="rId78"/>
    <p:sldId id="648" r:id="rId79"/>
    <p:sldId id="649" r:id="rId80"/>
  </p:sldIdLst>
  <p:sldSz cx="9144000" cy="6858000" type="screen4x3"/>
  <p:notesSz cx="6858000" cy="9144000"/>
  <p:embeddedFontLst>
    <p:embeddedFont>
      <p:font typeface="宋体" panose="02010600030101010101" pitchFamily="2" charset="-122"/>
      <p:regular r:id="rId83"/>
    </p:embeddedFont>
    <p:embeddedFont>
      <p:font typeface="Cambria Math" panose="02040503050406030204" pitchFamily="18" charset="0"/>
      <p:regular r:id="rId84"/>
    </p:embeddedFont>
    <p:embeddedFont>
      <p:font typeface="MS PGothic" panose="020B0600070205080204" pitchFamily="34" charset="-128"/>
      <p:regular r:id="rId85"/>
    </p:embeddedFont>
  </p:embeddedFontLst>
  <p:custDataLst>
    <p:tags r:id="rId86"/>
  </p:custData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2C129C"/>
    <a:srgbClr val="C6D6FE"/>
    <a:srgbClr val="BACDFE"/>
    <a:srgbClr val="E9EFFF"/>
    <a:srgbClr val="FF33CC"/>
    <a:srgbClr val="FFFF00"/>
    <a:srgbClr val="A8C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94125" autoAdjust="0"/>
  </p:normalViewPr>
  <p:slideViewPr>
    <p:cSldViewPr snapToGrid="0">
      <p:cViewPr varScale="1">
        <p:scale>
          <a:sx n="111" d="100"/>
          <a:sy n="111" d="100"/>
        </p:scale>
        <p:origin x="166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2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2.fntdata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1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B1C7EBB-BE00-44DC-AAA2-1213A86712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3461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82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15696EE8-B9BB-4DC7-BDD3-AEC2C65202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06585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441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063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316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696EE8-B9BB-4DC7-BDD3-AEC2C6520280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3717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696EE8-B9BB-4DC7-BDD3-AEC2C6520280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2048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833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305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354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50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950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51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50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027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55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971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56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20813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F226D24-B8D2-4B87-839F-9D6015CE3AAD}" type="slidenum">
              <a:rPr lang="zh-CN" altLang="en-US" smtClean="0">
                <a:latin typeface="Times New Roman" pitchFamily="18" charset="0"/>
              </a:rPr>
              <a:pPr/>
              <a:t>60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145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63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2094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70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5230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71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8695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696EE8-B9BB-4DC7-BDD3-AEC2C6520280}" type="slidenum">
              <a:rPr lang="zh-CN" altLang="en-US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3950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8673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56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" y="1060450"/>
            <a:ext cx="4478338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060450"/>
            <a:ext cx="447992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217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903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330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0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338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602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54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1650" y="9525"/>
            <a:ext cx="2278063" cy="65230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463" y="9525"/>
            <a:ext cx="6681787" cy="6523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8150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3" y="9525"/>
            <a:ext cx="9099550" cy="9318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9050" y="1060450"/>
            <a:ext cx="4478338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060450"/>
            <a:ext cx="4479925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187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7938" y="-1588"/>
            <a:ext cx="9129712" cy="976313"/>
          </a:xfrm>
          <a:prstGeom prst="rect">
            <a:avLst/>
          </a:prstGeom>
          <a:solidFill>
            <a:srgbClr val="0033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463" y="9525"/>
            <a:ext cx="909955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Title: Cap All Words, Bold, Helvetica 32, White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" y="1060450"/>
            <a:ext cx="9110663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Level one: int. cap, bold, helvetica 30, maroon</a:t>
            </a:r>
          </a:p>
          <a:p>
            <a:pPr lvl="1"/>
            <a:r>
              <a:rPr lang="en-US" altLang="zh-CN"/>
              <a:t>Level two: initial cap, bold, helvetica 27, blue</a:t>
            </a:r>
          </a:p>
          <a:p>
            <a:pPr lvl="2"/>
            <a:r>
              <a:rPr lang="en-US" altLang="zh-CN"/>
              <a:t>Level three: initial cap, italics, helvetica 24, blue</a:t>
            </a:r>
          </a:p>
          <a:p>
            <a:pPr lvl="3"/>
            <a:r>
              <a:rPr lang="en-US" altLang="zh-CN"/>
              <a:t>Level four: </a:t>
            </a: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0" y="6592888"/>
            <a:ext cx="8874125" cy="6350"/>
          </a:xfrm>
          <a:prstGeom prst="line">
            <a:avLst/>
          </a:prstGeom>
          <a:noFill/>
          <a:ln w="25400">
            <a:solidFill>
              <a:srgbClr val="00279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572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9144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3716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8288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341313" indent="-341313" algn="l" defTabSz="909638" rtl="0" eaLnBrk="0" fontAlgn="base" hangingPunct="0">
        <a:spcBef>
          <a:spcPct val="20000"/>
        </a:spcBef>
        <a:spcAft>
          <a:spcPct val="0"/>
        </a:spcAft>
        <a:buClr>
          <a:srgbClr val="790015"/>
        </a:buClr>
        <a:buSzPct val="100000"/>
        <a:buChar char="•"/>
        <a:defRPr sz="2900" b="1">
          <a:solidFill>
            <a:srgbClr val="790015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38188" indent="-284163" algn="l" defTabSz="909638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100000"/>
        <a:buChar char="­"/>
        <a:defRPr sz="2700" b="1">
          <a:solidFill>
            <a:srgbClr val="00279F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38238" indent="-228600" algn="l" defTabSz="909638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SzPct val="100000"/>
        <a:buChar char="·"/>
        <a:defRPr sz="2400" i="1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473200" indent="-209550" algn="l" defTabSz="909638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0033CC"/>
          </a:solidFill>
          <a:latin typeface="+mn-lt"/>
        </a:defRPr>
      </a:lvl4pPr>
      <a:lvl5pPr marL="18954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5pPr>
      <a:lvl6pPr marL="23526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6pPr>
      <a:lvl7pPr marL="28098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7pPr>
      <a:lvl8pPr marL="32670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8pPr>
      <a:lvl9pPr marL="37242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4.png"/><Relationship Id="rId7" Type="http://schemas.openxmlformats.org/officeDocument/2006/relationships/image" Target="../media/image220.png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260.png"/><Relationship Id="rId5" Type="http://schemas.openxmlformats.org/officeDocument/2006/relationships/image" Target="../media/image18.png"/><Relationship Id="rId10" Type="http://schemas.openxmlformats.org/officeDocument/2006/relationships/image" Target="../media/image250.png"/><Relationship Id="rId4" Type="http://schemas.openxmlformats.org/officeDocument/2006/relationships/image" Target="../media/image15.png"/><Relationship Id="rId9" Type="http://schemas.openxmlformats.org/officeDocument/2006/relationships/image" Target="../media/image2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www.math.uwaterloo.ca/tsp/index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0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2.png"/><Relationship Id="rId4" Type="http://schemas.openxmlformats.org/officeDocument/2006/relationships/image" Target="../media/image2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10.png"/><Relationship Id="rId7" Type="http://schemas.openxmlformats.org/officeDocument/2006/relationships/image" Target="../media/image38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11" Type="http://schemas.openxmlformats.org/officeDocument/2006/relationships/image" Target="../media/image118.png"/><Relationship Id="rId5" Type="http://schemas.openxmlformats.org/officeDocument/2006/relationships/image" Target="../media/image361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0.png"/><Relationship Id="rId7" Type="http://schemas.openxmlformats.org/officeDocument/2006/relationships/image" Target="../media/image117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1.png"/><Relationship Id="rId4" Type="http://schemas.openxmlformats.org/officeDocument/2006/relationships/image" Target="../media/image20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0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5.png"/><Relationship Id="rId4" Type="http://schemas.openxmlformats.org/officeDocument/2006/relationships/image" Target="../media/image2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0.png"/><Relationship Id="rId7" Type="http://schemas.openxmlformats.org/officeDocument/2006/relationships/image" Target="../media/image123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18.png"/><Relationship Id="rId5" Type="http://schemas.openxmlformats.org/officeDocument/2006/relationships/image" Target="../media/image108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6.png"/><Relationship Id="rId4" Type="http://schemas.openxmlformats.org/officeDocument/2006/relationships/image" Target="../media/image2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0.png"/><Relationship Id="rId4" Type="http://schemas.openxmlformats.org/officeDocument/2006/relationships/image" Target="../media/image48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DBA5103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sz="2800" dirty="0">
                <a:ea typeface="宋体" pitchFamily="2" charset="-122"/>
              </a:rPr>
              <a:t>Operations Research and Analytics</a:t>
            </a:r>
            <a:endParaRPr lang="en-US" altLang="zh-CN" sz="3200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3200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sz="2400" dirty="0">
                <a:ea typeface="宋体" pitchFamily="2" charset="-122"/>
              </a:rPr>
              <a:t>Zhenyu Hu</a:t>
            </a:r>
          </a:p>
          <a:p>
            <a:pPr marL="0" indent="0" algn="ctr">
              <a:buNone/>
              <a:defRPr/>
            </a:pPr>
            <a:r>
              <a:rPr lang="en-US" altLang="zh-CN" sz="2400" dirty="0">
                <a:ea typeface="宋体" pitchFamily="2" charset="-122"/>
              </a:rPr>
              <a:t>Semester I, 2026/2027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481" y="4108868"/>
            <a:ext cx="297180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1270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Integer Programming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Integer Program Modeling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Further Applications</a:t>
            </a:r>
          </a:p>
          <a:p>
            <a:pPr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Linear Programming Relaxation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Branch and Bound Method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         Integer Program Modeling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04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Mix IP</a:t>
            </a:r>
            <a:endParaRPr lang="en-GB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84C6825-028E-4D0B-8071-B63D2F6AA6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322" y="1762299"/>
                <a:ext cx="7749834" cy="36409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2111" tIns="45324" rIns="92111" bIns="45324" numCol="1" anchor="t" anchorCtr="0" compatLnSpc="1">
                <a:prstTxWarp prst="textNoShape">
                  <a:avLst/>
                </a:prstTxWarp>
              </a:bodyPr>
              <a:lstStyle>
                <a:lvl1pPr marL="341313" indent="-34131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90015"/>
                  </a:buClr>
                  <a:buSzPct val="100000"/>
                  <a:buChar char="•"/>
                  <a:defRPr sz="2900" b="1">
                    <a:solidFill>
                      <a:srgbClr val="790015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38188" indent="-28416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Char char="­"/>
                  <a:defRPr sz="2700" b="1">
                    <a:solidFill>
                      <a:srgbClr val="00279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2pPr>
                <a:lvl3pPr marL="1138238" indent="-22860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100000"/>
                  <a:buChar char="·"/>
                  <a:defRPr sz="2400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3pPr>
                <a:lvl4pPr marL="1473200" indent="-20955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>
                    <a:solidFill>
                      <a:srgbClr val="0033CC"/>
                    </a:solidFill>
                    <a:latin typeface="+mn-lt"/>
                  </a:defRPr>
                </a:lvl4pPr>
                <a:lvl5pPr marL="18954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3526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8098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2670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7242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indent="0">
                  <a:buFontTx/>
                  <a:buNone/>
                </a:pPr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p>
                      <m:sSup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SG" b="1" i="1" kern="0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SG" b="1" i="1" kern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b="1" i="1" kern="0" smtClean="0">
                            <a:effectLst/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SG" b="1" i="1" kern="0" smtClea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SG" b="1" i="1" kern="0" smtClean="0">
                        <a:effectLst/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SG" b="1" i="1" kern="0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b="1" i="1" kern="0" smtClean="0">
                        <a:effectLst/>
                        <a:latin typeface="Cambria Math" panose="02040503050406030204" pitchFamily="18" charset="0"/>
                      </a:rPr>
                      <m:t>𝑩𝒚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i="1" kern="0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SG" b="1" i="1" kern="0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kern="0" dirty="0">
                    <a:effectLst/>
                  </a:rPr>
                  <a:t> </a:t>
                </a:r>
                <a:r>
                  <a:rPr lang="en-US" sz="2800" b="0" kern="0" dirty="0">
                    <a:effectLst/>
                  </a:rPr>
                  <a:t>integer</a:t>
                </a:r>
              </a:p>
              <a:p>
                <a:pPr marL="0" indent="0">
                  <a:buFontTx/>
                  <a:buNone/>
                </a:pPr>
                <a:r>
                  <a:rPr lang="en-US" sz="2800" b="0" kern="0" dirty="0">
                    <a:effectLst/>
                  </a:rPr>
                  <a:t>			       </a:t>
                </a:r>
                <a14:m>
                  <m:oMath xmlns:m="http://schemas.openxmlformats.org/officeDocument/2006/math">
                    <m:r>
                      <a:rPr lang="en-SG" sz="2800" b="1" i="1" kern="0" smtClean="0">
                        <a:effectLst/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800" b="0" kern="0" dirty="0">
                    <a:effectLst/>
                  </a:rPr>
                  <a:t>. </a:t>
                </a:r>
                <a:r>
                  <a:rPr lang="en-US" b="0" kern="0" dirty="0">
                    <a:effectLst/>
                  </a:rPr>
                  <a:t> </a:t>
                </a:r>
              </a:p>
              <a:p>
                <a:pPr marL="0" indent="0">
                  <a:buFontTx/>
                  <a:buNone/>
                </a:pPr>
                <a:endParaRPr lang="en-US" altLang="zh-CN" kern="0" dirty="0">
                  <a:ea typeface="宋体" pitchFamily="2" charset="-122"/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84C6825-028E-4D0B-8071-B63D2F6AA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322" y="1762299"/>
                <a:ext cx="7749834" cy="36409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20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Pure IP</a:t>
            </a:r>
            <a:endParaRPr lang="en-GB" altLang="en-US"/>
          </a:p>
        </p:txBody>
      </p:sp>
      <p:sp>
        <p:nvSpPr>
          <p:cNvPr id="2056" name="TextBox 7"/>
          <p:cNvSpPr txBox="1">
            <a:spLocks noChangeArrowheads="1"/>
          </p:cNvSpPr>
          <p:nvPr/>
        </p:nvSpPr>
        <p:spPr bwMode="auto">
          <a:xfrm>
            <a:off x="1643063" y="1739992"/>
            <a:ext cx="7858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rgbClr val="0070C0"/>
                </a:solidFill>
              </a:rPr>
              <a:t>IP</a:t>
            </a:r>
            <a:endParaRPr lang="en-GB" altLang="en-US" sz="2800" b="1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643063" y="4244975"/>
            <a:ext cx="7858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70C0"/>
                </a:solidFill>
              </a:rPr>
              <a:t>BIP</a:t>
            </a:r>
            <a:endParaRPr lang="en-GB" altLang="en-US" sz="2800" b="1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1FB91DC4-EDC5-4C56-9A76-3991B97D46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6842" y="1097257"/>
                <a:ext cx="6985063" cy="2331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2111" tIns="45324" rIns="92111" bIns="45324" numCol="1" anchor="t" anchorCtr="0" compatLnSpc="1">
                <a:prstTxWarp prst="textNoShape">
                  <a:avLst/>
                </a:prstTxWarp>
              </a:bodyPr>
              <a:lstStyle>
                <a:lvl1pPr marL="341313" indent="-34131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90015"/>
                  </a:buClr>
                  <a:buSzPct val="100000"/>
                  <a:buChar char="•"/>
                  <a:defRPr sz="2900" b="1">
                    <a:solidFill>
                      <a:srgbClr val="790015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38188" indent="-28416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Char char="­"/>
                  <a:defRPr sz="2700" b="1">
                    <a:solidFill>
                      <a:srgbClr val="00279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2pPr>
                <a:lvl3pPr marL="1138238" indent="-22860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100000"/>
                  <a:buChar char="·"/>
                  <a:defRPr sz="2400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3pPr>
                <a:lvl4pPr marL="1473200" indent="-20955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>
                    <a:solidFill>
                      <a:srgbClr val="0033CC"/>
                    </a:solidFill>
                    <a:latin typeface="+mn-lt"/>
                  </a:defRPr>
                </a:lvl4pPr>
                <a:lvl5pPr marL="18954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3526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8098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2670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7242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indent="0">
                  <a:buFontTx/>
                  <a:buNone/>
                </a:pPr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p>
                      <m:sSup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i="1" kern="0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SG" b="1" i="1" kern="0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kern="0" dirty="0">
                    <a:effectLst/>
                  </a:rPr>
                  <a:t> </a:t>
                </a:r>
                <a:r>
                  <a:rPr lang="en-US" sz="2800" b="0" kern="0" dirty="0">
                    <a:effectLst/>
                  </a:rPr>
                  <a:t>integer</a:t>
                </a:r>
                <a:r>
                  <a:rPr lang="en-US" b="0" kern="0" dirty="0">
                    <a:effectLst/>
                  </a:rPr>
                  <a:t> </a:t>
                </a:r>
              </a:p>
              <a:p>
                <a:pPr marL="0" indent="0">
                  <a:buFontTx/>
                  <a:buNone/>
                </a:pPr>
                <a:endParaRPr lang="en-US" altLang="zh-CN" kern="0" dirty="0">
                  <a:ea typeface="宋体" pitchFamily="2" charset="-122"/>
                </a:endParaRPr>
              </a:p>
            </p:txBody>
          </p:sp>
        </mc:Choice>
        <mc:Fallback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1FB91DC4-EDC5-4C56-9A76-3991B97D4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6842" y="1097257"/>
                <a:ext cx="6985063" cy="23317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39F173CD-7061-485B-A4A3-66FEFD227D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6842" y="3584869"/>
                <a:ext cx="5934889" cy="1827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2111" tIns="45324" rIns="92111" bIns="45324" numCol="1" anchor="t" anchorCtr="0" compatLnSpc="1">
                <a:prstTxWarp prst="textNoShape">
                  <a:avLst/>
                </a:prstTxWarp>
              </a:bodyPr>
              <a:lstStyle>
                <a:lvl1pPr marL="341313" indent="-34131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90015"/>
                  </a:buClr>
                  <a:buSzPct val="100000"/>
                  <a:buChar char="•"/>
                  <a:defRPr sz="2900" b="1">
                    <a:solidFill>
                      <a:srgbClr val="790015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38188" indent="-28416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Char char="­"/>
                  <a:defRPr sz="2700" b="1">
                    <a:solidFill>
                      <a:srgbClr val="00279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2pPr>
                <a:lvl3pPr marL="1138238" indent="-22860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100000"/>
                  <a:buChar char="·"/>
                  <a:defRPr sz="2400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3pPr>
                <a:lvl4pPr marL="1473200" indent="-20955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>
                    <a:solidFill>
                      <a:srgbClr val="0033CC"/>
                    </a:solidFill>
                    <a:latin typeface="+mn-lt"/>
                  </a:defRPr>
                </a:lvl4pPr>
                <a:lvl5pPr marL="18954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3526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8098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2670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7242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indent="0">
                  <a:buFontTx/>
                  <a:buNone/>
                </a:pPr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p>
                      <m:sSup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i="1" kern="0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SG" b="1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SG" b="1" i="1" kern="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b="1" i="1" kern="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SG" b="1" i="1" kern="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SG" b="1" i="1" kern="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SG" b="1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SG" b="1" i="1" kern="0" smtClean="0"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kern="0" dirty="0">
                    <a:effectLst/>
                  </a:rPr>
                  <a:t> </a:t>
                </a:r>
              </a:p>
              <a:p>
                <a:pPr marL="0" indent="0">
                  <a:buFontTx/>
                  <a:buNone/>
                </a:pPr>
                <a:endParaRPr lang="en-US" altLang="zh-CN" kern="0" dirty="0">
                  <a:ea typeface="宋体" pitchFamily="2" charset="-122"/>
                </a:endParaRPr>
              </a:p>
            </p:txBody>
          </p:sp>
        </mc:Choice>
        <mc:Fallback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39F173CD-7061-485B-A4A3-66FEFD227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6842" y="3584869"/>
                <a:ext cx="5934889" cy="1827398"/>
              </a:xfrm>
              <a:prstGeom prst="rect">
                <a:avLst/>
              </a:prstGeom>
              <a:blipFill>
                <a:blip r:embed="rId3"/>
                <a:stretch>
                  <a:fillRect b="-12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27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Modeling with Binary Variables</a:t>
            </a:r>
            <a:endParaRPr lang="en-GB" altLang="en-US"/>
          </a:p>
        </p:txBody>
      </p:sp>
      <p:pic>
        <p:nvPicPr>
          <p:cNvPr id="3079" name="Picture 2" descr="C:\Documents and Settings\s40712\Local Settings\Temporary Internet Files\Content.IE5\4W1Q9EKV\MPj0442177000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55" y="2791177"/>
            <a:ext cx="1357313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30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575652"/>
              </p:ext>
            </p:extLst>
          </p:nvPr>
        </p:nvGraphicFramePr>
        <p:xfrm>
          <a:off x="3649328" y="2791177"/>
          <a:ext cx="35147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6" name="Equation" r:id="rId4" imgW="1460160" imgH="457200" progId="Equation.DSMT4">
                  <p:embed/>
                </p:oleObj>
              </mc:Choice>
              <mc:Fallback>
                <p:oleObj name="Equation" r:id="rId4" imgW="1460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328" y="2791177"/>
                        <a:ext cx="35147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4962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Choice Among Several Possibilities</a:t>
            </a:r>
            <a:endParaRPr lang="en-GB" altLang="en-US"/>
          </a:p>
        </p:txBody>
      </p:sp>
      <p:sp>
        <p:nvSpPr>
          <p:cNvPr id="7173" name="Content Placeholder 2"/>
          <p:cNvSpPr>
            <a:spLocks noGrp="1"/>
          </p:cNvSpPr>
          <p:nvPr>
            <p:ph idx="1"/>
          </p:nvPr>
        </p:nvSpPr>
        <p:spPr>
          <a:xfrm>
            <a:off x="242093" y="1091866"/>
            <a:ext cx="8215313" cy="3805238"/>
          </a:xfrm>
        </p:spPr>
        <p:txBody>
          <a:bodyPr/>
          <a:lstStyle/>
          <a:p>
            <a:r>
              <a:rPr lang="en-US" altLang="en-US" dirty="0">
                <a:effectLst/>
              </a:rPr>
              <a:t>Due to resource constraint, at most one of project 1,2, and 3 can be implemented. How to model this constraint?</a:t>
            </a:r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>
                <a:effectLst/>
              </a:rPr>
              <a:t>If exactly two out of the five projects 2,3,4,5, and 6 must be implemented. How to model this constraint?</a:t>
            </a:r>
            <a:endParaRPr lang="en-GB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83211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 Implications</a:t>
            </a:r>
            <a:endParaRPr lang="en-GB" altLang="en-US"/>
          </a:p>
        </p:txBody>
      </p:sp>
      <p:sp>
        <p:nvSpPr>
          <p:cNvPr id="8199" name="Content Placeholder 2"/>
          <p:cNvSpPr>
            <a:spLocks noGrp="1"/>
          </p:cNvSpPr>
          <p:nvPr>
            <p:ph sz="quarter" idx="1"/>
          </p:nvPr>
        </p:nvSpPr>
        <p:spPr>
          <a:xfrm>
            <a:off x="193559" y="974725"/>
            <a:ext cx="8229600" cy="4937125"/>
          </a:xfrm>
        </p:spPr>
        <p:txBody>
          <a:bodyPr/>
          <a:lstStyle/>
          <a:p>
            <a:r>
              <a:rPr lang="en-US" altLang="en-US" sz="2400" dirty="0">
                <a:effectLst/>
              </a:rPr>
              <a:t>If project 1 is chosen, then project 4 is also chosen. </a:t>
            </a:r>
          </a:p>
          <a:p>
            <a:endParaRPr lang="en-US" altLang="en-US" sz="2400" dirty="0">
              <a:effectLst/>
            </a:endParaRPr>
          </a:p>
          <a:p>
            <a:endParaRPr lang="en-US" altLang="en-US" sz="2400" dirty="0">
              <a:effectLst/>
            </a:endParaRPr>
          </a:p>
          <a:p>
            <a:r>
              <a:rPr lang="en-US" altLang="en-US" sz="2400" dirty="0">
                <a:effectLst/>
              </a:rPr>
              <a:t>If project 2 is chosen, then we cannot choose project 5.</a:t>
            </a:r>
          </a:p>
          <a:p>
            <a:endParaRPr lang="en-US" altLang="en-US" sz="2400" dirty="0">
              <a:effectLst/>
            </a:endParaRPr>
          </a:p>
          <a:p>
            <a:r>
              <a:rPr lang="en-US" altLang="en-US" sz="2400" dirty="0">
                <a:effectLst/>
              </a:rPr>
              <a:t>If we don’t choose project 1, then project 6 must be chosen.</a:t>
            </a:r>
            <a:endParaRPr lang="en-GB" altLang="en-US" sz="2400" dirty="0">
              <a:effectLst/>
            </a:endParaRPr>
          </a:p>
          <a:p>
            <a:endParaRPr lang="en-US" altLang="en-US" sz="2400" dirty="0">
              <a:effectLst/>
            </a:endParaRPr>
          </a:p>
          <a:p>
            <a:r>
              <a:rPr lang="en-US" altLang="en-US" sz="2400" dirty="0">
                <a:effectLst/>
              </a:rPr>
              <a:t>Project 4 and 5 belong to the same company. Either both of them are chosen or neither of them is chosen.</a:t>
            </a:r>
          </a:p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604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Implication with three variables</a:t>
            </a:r>
            <a:endParaRPr lang="en-GB" altLang="en-US"/>
          </a:p>
        </p:txBody>
      </p:sp>
      <p:sp>
        <p:nvSpPr>
          <p:cNvPr id="4710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en-US" altLang="en-US" dirty="0">
                <a:effectLst/>
              </a:rPr>
              <a:t>If we do project 2, then we must do project 3 and 4.</a:t>
            </a:r>
          </a:p>
          <a:p>
            <a:endParaRPr lang="en-US" altLang="en-US" dirty="0">
              <a:effectLst/>
            </a:endParaRPr>
          </a:p>
          <a:p>
            <a:endParaRPr lang="en-US" altLang="en-US" dirty="0">
              <a:effectLst/>
            </a:endParaRPr>
          </a:p>
          <a:p>
            <a:r>
              <a:rPr lang="en-US" altLang="en-US" dirty="0">
                <a:effectLst/>
              </a:rPr>
              <a:t>If we do project 3, then we must do project 1 or 5. </a:t>
            </a:r>
          </a:p>
          <a:p>
            <a:endParaRPr lang="en-US" altLang="en-US" dirty="0">
              <a:effectLst/>
            </a:endParaRPr>
          </a:p>
          <a:p>
            <a:endParaRPr lang="en-US" altLang="en-US" dirty="0">
              <a:effectLst/>
            </a:endParaRPr>
          </a:p>
          <a:p>
            <a:r>
              <a:rPr lang="en-US" altLang="en-US" dirty="0">
                <a:effectLst/>
              </a:rPr>
              <a:t>If we do both 3 and 4, then we must do 6.</a:t>
            </a:r>
            <a:endParaRPr lang="en-GB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12133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9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32072" y="1219200"/>
                <a:ext cx="8229600" cy="4937125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How to convert the following constraint </a:t>
                </a:r>
                <a:br>
                  <a:rPr lang="en-GB" altLang="en-US" dirty="0">
                    <a:effectLst/>
                  </a:rPr>
                </a:br>
                <a:r>
                  <a:rPr lang="en-GB" altLang="en-US" dirty="0">
                    <a:effectLst/>
                  </a:rPr>
                  <a:t>into linear constraints?</a:t>
                </a:r>
              </a:p>
              <a:p>
                <a:endParaRPr lang="en-GB" altLang="en-US" dirty="0">
                  <a:effectLst/>
                </a:endParaRPr>
              </a:p>
              <a:p>
                <a:endParaRPr lang="en-GB" altLang="en-US" dirty="0">
                  <a:effectLst/>
                </a:endParaRPr>
              </a:p>
              <a:p>
                <a:pPr lvl="1"/>
                <a:r>
                  <a:rPr lang="en-GB" altLang="en-US" dirty="0">
                    <a:effectLst/>
                  </a:rPr>
                  <a:t>If project 2 is not chosen, then project 1 can not be chosen: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8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8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altLang="en-US" dirty="0">
                    <a:effectLst/>
                  </a:rPr>
                  <a:t> </a:t>
                </a:r>
              </a:p>
              <a:p>
                <a:pPr lvl="1"/>
                <a:r>
                  <a:rPr lang="en-GB" altLang="en-US" dirty="0">
                    <a:effectLst/>
                  </a:rPr>
                  <a:t>If project 3 is not chosen, then project 1 can not be chosen: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i="1" dirty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8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8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GB" altLang="en-US" dirty="0">
                    <a:effectLst/>
                  </a:rPr>
                  <a:t> </a:t>
                </a:r>
              </a:p>
              <a:p>
                <a:pPr lvl="1"/>
                <a:r>
                  <a:rPr lang="en-GB" altLang="en-US" dirty="0">
                    <a:effectLst/>
                  </a:rPr>
                  <a:t>If we do 2 and 3, then we must do 1: </a:t>
                </a:r>
              </a:p>
              <a:p>
                <a:pPr marL="45402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 dirty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en-US" sz="2800" i="1" dirty="0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en-US" sz="280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en-US" sz="28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 dirty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en-US" sz="2800" i="1" dirty="0"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en-US" sz="2800" b="1" i="1" dirty="0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28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 dirty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en-US" sz="2800" b="1" i="1" dirty="0" smtClean="0">
                              <a:effectLst/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en-US" sz="2800" b="1" i="1" dirty="0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800" b="1" i="1" dirty="0" smtClean="0">
                          <a:effectLst/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en-US" sz="2800" dirty="0">
                  <a:effectLst/>
                </a:endParaRPr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</p:txBody>
          </p:sp>
        </mc:Choice>
        <mc:Fallback xmlns="">
          <p:sp>
            <p:nvSpPr>
              <p:cNvPr id="92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32072" y="1219200"/>
                <a:ext cx="8229600" cy="4937125"/>
              </a:xfrm>
              <a:blipFill rotWithShape="0">
                <a:blip r:embed="rId3"/>
                <a:stretch>
                  <a:fillRect l="-1333" t="-1235" r="-88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463" y="9525"/>
            <a:ext cx="9099550" cy="931863"/>
          </a:xfrm>
        </p:spPr>
        <p:txBody>
          <a:bodyPr/>
          <a:lstStyle/>
          <a:p>
            <a:r>
              <a:rPr lang="en-US" altLang="en-US" dirty="0"/>
              <a:t>Product of Binary Variables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>
                <a:spLocks noChangeArrowheads="1"/>
              </p:cNvSpPr>
              <p:nvPr/>
            </p:nvSpPr>
            <p:spPr bwMode="auto">
              <a:xfrm>
                <a:off x="1533543" y="2398127"/>
                <a:ext cx="6390991" cy="5318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8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en-US" sz="2800" b="0" i="0" dirty="0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800" b="1" i="1" dirty="0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GB" altLang="en-US" sz="2800" dirty="0">
                    <a:solidFill>
                      <a:srgbClr val="FF0000"/>
                    </a:solidFill>
                    <a:effectLst/>
                  </a:rPr>
                  <a:t> binary.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3543" y="2398127"/>
                <a:ext cx="6390991" cy="531885"/>
              </a:xfrm>
              <a:prstGeom prst="rect">
                <a:avLst/>
              </a:prstGeom>
              <a:blipFill rotWithShape="0">
                <a:blip r:embed="rId4"/>
                <a:stretch>
                  <a:fillRect t="-11364" b="-28409"/>
                </a:stretch>
              </a:blipFill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15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9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1229032"/>
                <a:ext cx="9567582" cy="4937125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How to convert the following constraint </a:t>
                </a:r>
                <a:br>
                  <a:rPr lang="en-GB" altLang="en-US" dirty="0">
                    <a:effectLst/>
                  </a:rPr>
                </a:br>
                <a:r>
                  <a:rPr lang="en-GB" altLang="en-US" dirty="0">
                    <a:effectLst/>
                  </a:rPr>
                  <a:t>into linear constraints?</a:t>
                </a:r>
              </a:p>
              <a:p>
                <a:endParaRPr lang="en-GB" altLang="en-US" dirty="0">
                  <a:effectLst/>
                </a:endParaRPr>
              </a:p>
              <a:p>
                <a:endParaRPr lang="en-GB" altLang="en-US" dirty="0">
                  <a:effectLst/>
                </a:endParaRPr>
              </a:p>
              <a:p>
                <a:pPr lvl="1"/>
                <a:r>
                  <a:rPr lang="en-GB" altLang="en-US" sz="2600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en-US" sz="2600" b="1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600" b="1" i="1" dirty="0" smtClean="0">
                        <a:effectLst/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altLang="en-US" sz="2600" dirty="0">
                    <a:effectLst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600" b="1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b="1" i="1" dirty="0" smtClean="0">
                            <a:effectLst/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GB" altLang="en-US" sz="2600" dirty="0">
                    <a:effectLst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b="1" i="1" dirty="0" smtClean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26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600" i="1" dirty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en-US" sz="2600" i="1" dirty="0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b="1" i="1" dirty="0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600" b="1" i="1" dirty="0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en-US" sz="2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600" b="1" i="1" dirty="0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600" b="1" i="1" dirty="0" smtClean="0">
                        <a:effectLst/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en-US" sz="2600" b="1" i="1" dirty="0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en-US" sz="2600" b="1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b="1" i="1" dirty="0" smtClea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b="1" i="1" dirty="0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en-US" sz="2600" b="1" i="1" dirty="0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en-US" sz="2600" i="1" dirty="0">
                    <a:effectLst/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r>
                  <a:rPr lang="en-GB" altLang="en-US" sz="2600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dirty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en-US" sz="2600" dirty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600" b="1" i="0" dirty="0" smtClean="0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altLang="en-US" sz="2600" dirty="0">
                    <a:effectLst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dirty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600" dirty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600" b="1" i="0" dirty="0" smtClean="0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altLang="en-US" sz="2600" dirty="0">
                    <a:effectLst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b="1" i="1" dirty="0" smtClean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26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600" dirty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en-US" sz="2600" dirty="0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en-US" sz="260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en-US" sz="2600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dirty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60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b="1" i="0" dirty="0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altLang="en-US" sz="2600" dirty="0">
                    <a:effectLst/>
                  </a:rPr>
                  <a:t>. </a:t>
                </a:r>
              </a:p>
              <a:p>
                <a:pPr lvl="1"/>
                <a:r>
                  <a:rPr lang="en-US" altLang="en-US" sz="2600" dirty="0">
                    <a:effectLst/>
                  </a:rPr>
                  <a:t>Big </a:t>
                </a:r>
                <a14:m>
                  <m:oMath xmlns:m="http://schemas.openxmlformats.org/officeDocument/2006/math">
                    <m:r>
                      <a:rPr lang="en-US" altLang="en-US" sz="2600" b="1" i="1" dirty="0" smtClean="0">
                        <a:effectLst/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altLang="en-US" sz="2600" dirty="0">
                    <a:effectLst/>
                  </a:rPr>
                  <a:t>:</a:t>
                </a:r>
              </a:p>
              <a:p>
                <a:pPr marL="454025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b="1" i="1" dirty="0" smtClean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26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600" i="1" dirty="0">
                                <a:effectLst/>
                                <a:latin typeface="Cambria Math" panose="02040503050406030204" pitchFamily="18" charset="0"/>
                              </a:rPr>
                              <m:t>𝑴</m:t>
                            </m:r>
                            <m:r>
                              <a:rPr lang="en-US" altLang="en-US" sz="2600" dirty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en-US" sz="2600" dirty="0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en-US" sz="260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en-US" sz="2600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dirty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b="1" i="1" dirty="0" smtClean="0">
                            <a:effectLst/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altLang="en-US" sz="2600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dirty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altLang="en-US" sz="2600" dirty="0">
                    <a:effectLst/>
                  </a:rPr>
                  <a:t>, </a:t>
                </a:r>
              </a:p>
              <a:p>
                <a:pPr marL="454025" lvl="1" indent="0" algn="ctr">
                  <a:buNone/>
                </a:pPr>
                <a:r>
                  <a:rPr lang="en-US" altLang="en-US" sz="2600" dirty="0">
                    <a:effectLst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b="1" i="1" dirty="0" smtClean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26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600" i="1" dirty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en-US" sz="2600" i="1" dirty="0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GB" altLang="en-US" sz="2600" i="1" dirty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600" b="1" i="1" dirty="0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en-US" sz="26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600" b="1" i="1" dirty="0" smtClean="0">
                        <a:effectLst/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altLang="en-US" sz="2600" i="1" dirty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600" i="1" dirty="0">
                        <a:effectLst/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en-US" sz="2600" i="1" dirty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600" i="1" dirty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en-US" sz="2600" i="1" dirty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altLang="en-US" sz="260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:endParaRPr lang="en-US" altLang="en-US" sz="2800" dirty="0"/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</p:txBody>
          </p:sp>
        </mc:Choice>
        <mc:Fallback xmlns="">
          <p:sp>
            <p:nvSpPr>
              <p:cNvPr id="92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1229032"/>
                <a:ext cx="9567582" cy="4937125"/>
              </a:xfrm>
              <a:blipFill>
                <a:blip r:embed="rId3"/>
                <a:stretch>
                  <a:fillRect l="-1211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463" y="9525"/>
            <a:ext cx="9099550" cy="931863"/>
          </a:xfrm>
        </p:spPr>
        <p:txBody>
          <a:bodyPr/>
          <a:lstStyle/>
          <a:p>
            <a:r>
              <a:rPr lang="en-US" altLang="en-US" dirty="0"/>
              <a:t>Product of Binary and Nonnegative Variables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>
                <a:spLocks noChangeArrowheads="1"/>
              </p:cNvSpPr>
              <p:nvPr/>
            </p:nvSpPr>
            <p:spPr bwMode="auto">
              <a:xfrm>
                <a:off x="1582970" y="2398127"/>
                <a:ext cx="6390991" cy="5318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8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 smtClean="0">
                            <a:effectLst/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en-US" sz="2800" b="0" i="0" dirty="0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800" b="1" i="1" dirty="0" smtClean="0">
                        <a:effectLst/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dirty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altLang="en-US" sz="2800" dirty="0">
                    <a:solidFill>
                      <a:srgbClr val="FF0000"/>
                    </a:solidFill>
                    <a:effectLst/>
                  </a:rPr>
                  <a:t> binary.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2970" y="2398127"/>
                <a:ext cx="6390991" cy="531885"/>
              </a:xfrm>
              <a:prstGeom prst="rect">
                <a:avLst/>
              </a:prstGeom>
              <a:blipFill>
                <a:blip r:embed="rId4"/>
                <a:stretch>
                  <a:fillRect t="-11364" b="-28409"/>
                </a:stretch>
              </a:blipFill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34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Assignment Problem</a:t>
            </a:r>
            <a:endParaRPr lang="en-GB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47" y="1246967"/>
            <a:ext cx="8826366" cy="339119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54098" y="3807041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354098" y="4664291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54098" y="5378666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54098" y="6164478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640098" y="3807041"/>
            <a:ext cx="142875" cy="14287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640098" y="4664291"/>
            <a:ext cx="142875" cy="14287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640098" y="5378666"/>
            <a:ext cx="142875" cy="14287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640098" y="6164478"/>
            <a:ext cx="142875" cy="14287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4" name="Straight Connector 13"/>
          <p:cNvCxnSpPr>
            <a:stCxn id="6" idx="6"/>
            <a:endCxn id="11" idx="2"/>
          </p:cNvCxnSpPr>
          <p:nvPr/>
        </p:nvCxnSpPr>
        <p:spPr>
          <a:xfrm>
            <a:off x="496973" y="3878478"/>
            <a:ext cx="2143125" cy="857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5"/>
            <a:endCxn id="12" idx="2"/>
          </p:cNvCxnSpPr>
          <p:nvPr/>
        </p:nvCxnSpPr>
        <p:spPr>
          <a:xfrm>
            <a:off x="476049" y="3928992"/>
            <a:ext cx="2164049" cy="1521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</p:cNvCxnSpPr>
          <p:nvPr/>
        </p:nvCxnSpPr>
        <p:spPr>
          <a:xfrm>
            <a:off x="496973" y="3878478"/>
            <a:ext cx="2071687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6"/>
          </p:cNvCxnSpPr>
          <p:nvPr/>
        </p:nvCxnSpPr>
        <p:spPr>
          <a:xfrm flipV="1">
            <a:off x="496973" y="3949916"/>
            <a:ext cx="2071687" cy="785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1"/>
            <a:endCxn id="13" idx="1"/>
          </p:cNvCxnSpPr>
          <p:nvPr/>
        </p:nvCxnSpPr>
        <p:spPr>
          <a:xfrm rot="16200000" flipH="1">
            <a:off x="767641" y="4292022"/>
            <a:ext cx="1500188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8" idx="6"/>
            <a:endCxn id="12" idx="3"/>
          </p:cNvCxnSpPr>
          <p:nvPr/>
        </p:nvCxnSpPr>
        <p:spPr>
          <a:xfrm>
            <a:off x="496973" y="5450103"/>
            <a:ext cx="2163762" cy="5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8" idx="6"/>
            <a:endCxn id="11" idx="2"/>
          </p:cNvCxnSpPr>
          <p:nvPr/>
        </p:nvCxnSpPr>
        <p:spPr>
          <a:xfrm flipV="1">
            <a:off x="496973" y="4735728"/>
            <a:ext cx="2143125" cy="714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13" idx="2"/>
          </p:cNvCxnSpPr>
          <p:nvPr/>
        </p:nvCxnSpPr>
        <p:spPr>
          <a:xfrm>
            <a:off x="496973" y="5450103"/>
            <a:ext cx="2143125" cy="785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6"/>
          </p:cNvCxnSpPr>
          <p:nvPr/>
        </p:nvCxnSpPr>
        <p:spPr>
          <a:xfrm flipV="1">
            <a:off x="496973" y="3949916"/>
            <a:ext cx="2143125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6"/>
            <a:endCxn id="13" idx="3"/>
          </p:cNvCxnSpPr>
          <p:nvPr/>
        </p:nvCxnSpPr>
        <p:spPr>
          <a:xfrm>
            <a:off x="496973" y="6235916"/>
            <a:ext cx="2163762" cy="5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6"/>
            <a:endCxn id="11" idx="2"/>
          </p:cNvCxnSpPr>
          <p:nvPr/>
        </p:nvCxnSpPr>
        <p:spPr>
          <a:xfrm>
            <a:off x="496973" y="3878478"/>
            <a:ext cx="2143125" cy="85725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7" idx="6"/>
          </p:cNvCxnSpPr>
          <p:nvPr/>
        </p:nvCxnSpPr>
        <p:spPr>
          <a:xfrm>
            <a:off x="496973" y="4735728"/>
            <a:ext cx="2143125" cy="142875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9" idx="5"/>
            <a:endCxn id="10" idx="3"/>
          </p:cNvCxnSpPr>
          <p:nvPr/>
        </p:nvCxnSpPr>
        <p:spPr>
          <a:xfrm rot="5400000" flipH="1" flipV="1">
            <a:off x="389816" y="4015797"/>
            <a:ext cx="2357438" cy="21844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8" idx="6"/>
            <a:endCxn id="12" idx="3"/>
          </p:cNvCxnSpPr>
          <p:nvPr/>
        </p:nvCxnSpPr>
        <p:spPr>
          <a:xfrm>
            <a:off x="496973" y="5450103"/>
            <a:ext cx="2163762" cy="508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6" idx="5"/>
            <a:endCxn id="13" idx="1"/>
          </p:cNvCxnSpPr>
          <p:nvPr/>
        </p:nvCxnSpPr>
        <p:spPr>
          <a:xfrm>
            <a:off x="476049" y="3928992"/>
            <a:ext cx="2184973" cy="2256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96973" y="4735728"/>
            <a:ext cx="20716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12" idx="2"/>
          </p:cNvCxnSpPr>
          <p:nvPr/>
        </p:nvCxnSpPr>
        <p:spPr>
          <a:xfrm>
            <a:off x="496973" y="4735728"/>
            <a:ext cx="2143125" cy="714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10" idx="2"/>
          </p:cNvCxnSpPr>
          <p:nvPr/>
        </p:nvCxnSpPr>
        <p:spPr>
          <a:xfrm flipV="1">
            <a:off x="496973" y="3878479"/>
            <a:ext cx="2143125" cy="1571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6"/>
          </p:cNvCxnSpPr>
          <p:nvPr/>
        </p:nvCxnSpPr>
        <p:spPr>
          <a:xfrm flipV="1">
            <a:off x="496973" y="4735728"/>
            <a:ext cx="2143125" cy="1500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9" idx="6"/>
            <a:endCxn id="12" idx="4"/>
          </p:cNvCxnSpPr>
          <p:nvPr/>
        </p:nvCxnSpPr>
        <p:spPr>
          <a:xfrm flipV="1">
            <a:off x="496973" y="5521541"/>
            <a:ext cx="2214563" cy="714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252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Shortest Path Problem</a:t>
            </a:r>
            <a:endParaRPr lang="en-GB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67" y="1150459"/>
            <a:ext cx="8816741" cy="30567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749" y="4311269"/>
            <a:ext cx="1820783" cy="381095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58" y="4207168"/>
            <a:ext cx="3790085" cy="2255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5779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Knapsack Problem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60637" y="1077097"/>
                <a:ext cx="8956375" cy="4937125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altLang="en-US" sz="28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dirty="0">
                    <a:effectLst/>
                  </a:rPr>
                  <a:t> projects.</a:t>
                </a:r>
              </a:p>
              <a:p>
                <a:r>
                  <a:rPr lang="en-US" altLang="en-US" dirty="0">
                    <a:effectLst/>
                  </a:rPr>
                  <a:t>Project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800" b="0" dirty="0">
                    <a:solidFill>
                      <a:srgbClr val="FF0000"/>
                    </a:solidFill>
                    <a:effectLst/>
                  </a:rPr>
                  <a:t> </a:t>
                </a:r>
                <a:r>
                  <a:rPr lang="en-US" altLang="en-US" dirty="0">
                    <a:effectLst/>
                  </a:rPr>
                  <a:t>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effectLst/>
                  </a:rPr>
                  <a:t> to implement.</a:t>
                </a:r>
              </a:p>
              <a:p>
                <a:r>
                  <a:rPr lang="en-US" altLang="en-US" dirty="0">
                    <a:effectLst/>
                  </a:rPr>
                  <a:t>Project </a:t>
                </a:r>
                <a14:m>
                  <m:oMath xmlns:m="http://schemas.openxmlformats.org/officeDocument/2006/math">
                    <m:r>
                      <a:rPr lang="en-US" altLang="en-US" sz="28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800" b="0" dirty="0">
                    <a:solidFill>
                      <a:srgbClr val="FF0000"/>
                    </a:solidFill>
                    <a:effectLst/>
                  </a:rPr>
                  <a:t> </a:t>
                </a:r>
                <a:r>
                  <a:rPr lang="en-US" altLang="en-US" dirty="0">
                    <a:effectLst/>
                  </a:rPr>
                  <a:t>returns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8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effectLst/>
                  </a:rPr>
                  <a:t>.</a:t>
                </a:r>
              </a:p>
              <a:p>
                <a:r>
                  <a:rPr lang="en-US" altLang="en-US" dirty="0">
                    <a:effectLst/>
                  </a:rPr>
                  <a:t>Total budget is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altLang="en-US" sz="2800" dirty="0">
                    <a:effectLst/>
                  </a:rPr>
                  <a:t>.</a:t>
                </a:r>
              </a:p>
              <a:p>
                <a:endParaRPr lang="en-GB" altLang="en-US" sz="2800" dirty="0">
                  <a:effectLst/>
                </a:endParaRPr>
              </a:p>
              <a:p>
                <a:endParaRPr lang="en-GB" altLang="en-US" sz="2800" dirty="0">
                  <a:effectLst/>
                </a:endParaRPr>
              </a:p>
              <a:p>
                <a:pPr marL="0" indent="0">
                  <a:buNone/>
                </a:pPr>
                <a:r>
                  <a:rPr lang="en-GB" altLang="en-US" sz="2800" dirty="0">
                    <a:effectLst/>
                  </a:rPr>
                  <a:t>     Which projects to invest to maximize return?</a:t>
                </a:r>
              </a:p>
            </p:txBody>
          </p:sp>
        </mc:Choice>
        <mc:Fallback xmlns="">
          <p:sp>
            <p:nvSpPr>
              <p:cNvPr id="1434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60637" y="1077097"/>
                <a:ext cx="8956375" cy="4937125"/>
              </a:xfrm>
              <a:blipFill rotWithShape="0">
                <a:blip r:embed="rId2"/>
                <a:stretch>
                  <a:fillRect l="-1293" t="-123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 bwMode="auto">
          <a:xfrm>
            <a:off x="673443" y="4244546"/>
            <a:ext cx="7735330" cy="506627"/>
          </a:xfrm>
          <a:prstGeom prst="rect">
            <a:avLst/>
          </a:prstGeom>
          <a:noFill/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930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Knapsack Problem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60637" y="1077097"/>
                <a:ext cx="8956375" cy="493712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8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en-US" dirty="0">
                    <a:effectLst/>
                  </a:rPr>
                  <a:t> if project </a:t>
                </a:r>
                <a14:m>
                  <m:oMath xmlns:m="http://schemas.openxmlformats.org/officeDocument/2006/math">
                    <m:r>
                      <a:rPr lang="en-US" altLang="en-US" sz="32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dirty="0">
                    <a:effectLst/>
                  </a:rPr>
                  <a:t> is invested,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32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dirty="0">
                    <a:effectLst/>
                  </a:rPr>
                  <a:t> otherwise.</a:t>
                </a:r>
              </a:p>
              <a:p>
                <a:endParaRPr lang="en-GB" altLang="en-US" sz="2800" dirty="0">
                  <a:effectLst/>
                </a:endParaRPr>
              </a:p>
              <a:p>
                <a:endParaRPr lang="en-GB" altLang="en-US" sz="2800" dirty="0">
                  <a:effectLst/>
                </a:endParaRPr>
              </a:p>
              <a:p>
                <a:endParaRPr lang="en-GB" altLang="en-US" sz="2800" dirty="0">
                  <a:effectLst/>
                </a:endParaRPr>
              </a:p>
              <a:p>
                <a:pPr marL="0" indent="0">
                  <a:buNone/>
                </a:pPr>
                <a:r>
                  <a:rPr lang="en-GB" altLang="en-US" sz="2800" dirty="0">
                    <a:effectLst/>
                  </a:rPr>
                  <a:t>     </a:t>
                </a:r>
              </a:p>
            </p:txBody>
          </p:sp>
        </mc:Choice>
        <mc:Fallback xmlns="">
          <p:sp>
            <p:nvSpPr>
              <p:cNvPr id="1434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60637" y="1077097"/>
                <a:ext cx="8956375" cy="4937125"/>
              </a:xfrm>
              <a:blipFill>
                <a:blip r:embed="rId2"/>
                <a:stretch>
                  <a:fillRect t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-105035" y="2857238"/>
                <a:ext cx="8740878" cy="1572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Maximize:	</a:t>
                </a:r>
                <a14:m>
                  <m:oMath xmlns:m="http://schemas.openxmlformats.org/officeDocument/2006/math">
                    <m:r>
                      <a:rPr lang="en-US" altLang="en-US" sz="32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en-US" sz="3200" dirty="0"/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en-US" sz="3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3200" dirty="0">
                    <a:latin typeface="Cambria Math" panose="02040503050406030204" pitchFamily="18" charset="0"/>
                  </a:rPr>
                  <a:t> binary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5035" y="2857238"/>
                <a:ext cx="8740878" cy="1572995"/>
              </a:xfrm>
              <a:prstGeom prst="rect">
                <a:avLst/>
              </a:prstGeom>
              <a:blipFill rotWithShape="0">
                <a:blip r:embed="rId3"/>
                <a:stretch>
                  <a:fillRect t="-5426" b="-116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480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Facility Location Problem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7463" y="941388"/>
                <a:ext cx="9076038" cy="493712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sz="2500" dirty="0">
                    <a:effectLst/>
                  </a:rPr>
                  <a:t> be potential locations to place a facility, e.g., a plant. Once plant is built, there is no capacity in its production quantities.</a:t>
                </a:r>
              </a:p>
              <a:p>
                <a14:m>
                  <m:oMath xmlns:m="http://schemas.openxmlformats.org/officeDocument/2006/math">
                    <m:r>
                      <a:rPr lang="en-US" altLang="en-US" sz="25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US" sz="25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sz="2500" dirty="0">
                    <a:effectLst/>
                  </a:rPr>
                  <a:t> be the locations of the demands, e.g., distribution centers. Location </a:t>
                </a:r>
                <a14:m>
                  <m:oMath xmlns:m="http://schemas.openxmlformats.org/officeDocument/2006/math"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sz="2500" b="0" i="1" dirty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US" altLang="en-US" sz="2500" dirty="0">
                    <a:effectLst/>
                  </a:rPr>
                  <a:t>requires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sz="2500" b="0" i="1" dirty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US" altLang="en-US" sz="2500" dirty="0">
                    <a:effectLst/>
                  </a:rPr>
                  <a:t>units of product.</a:t>
                </a:r>
                <a:endParaRPr lang="en-US" altLang="en-US" sz="2500" b="0" i="1" dirty="0">
                  <a:solidFill>
                    <a:srgbClr val="FF0000"/>
                  </a:solidFill>
                  <a:effectLst/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2500" b="1" i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500" dirty="0">
                    <a:effectLst/>
                  </a:rPr>
                  <a:t>is the cost (e.g., transportation distance) of satisfying one unit demand at location </a:t>
                </a:r>
                <a14:m>
                  <m:oMath xmlns:m="http://schemas.openxmlformats.org/officeDocument/2006/math">
                    <m:r>
                      <a:rPr lang="en-US" altLang="en-US" sz="25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sz="2500" dirty="0">
                    <a:effectLst/>
                  </a:rPr>
                  <a:t> using supply at location </a:t>
                </a:r>
                <a14:m>
                  <m:oMath xmlns:m="http://schemas.openxmlformats.org/officeDocument/2006/math"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500" dirty="0">
                    <a:effectLst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500" i="1" dirty="0">
                    <a:effectLst/>
                  </a:rPr>
                  <a:t> </a:t>
                </a:r>
                <a:r>
                  <a:rPr lang="en-US" altLang="en-US" sz="2500" dirty="0">
                    <a:effectLst/>
                  </a:rPr>
                  <a:t>is the fixed cost of building a plant at location </a:t>
                </a:r>
                <a14:m>
                  <m:oMath xmlns:m="http://schemas.openxmlformats.org/officeDocument/2006/math">
                    <m:r>
                      <a:rPr lang="en-US" altLang="en-US" sz="25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500" dirty="0">
                    <a:effectLst/>
                  </a:rPr>
                  <a:t>.</a:t>
                </a:r>
              </a:p>
              <a:p>
                <a:endParaRPr lang="en-US" altLang="en-US" sz="2500" dirty="0">
                  <a:effectLst/>
                </a:endParaRPr>
              </a:p>
              <a:p>
                <a:pPr marL="0" indent="0" algn="ctr">
                  <a:buNone/>
                </a:pPr>
                <a:r>
                  <a:rPr lang="en-US" altLang="en-US" sz="2600" dirty="0">
                    <a:effectLst/>
                  </a:rPr>
                  <a:t>Which locations to open plants such that the total cost of building plants and transportation cost from satisfying demands is minimized?</a:t>
                </a:r>
              </a:p>
            </p:txBody>
          </p:sp>
        </mc:Choice>
        <mc:Fallback xmlns="">
          <p:sp>
            <p:nvSpPr>
              <p:cNvPr id="1434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7463" y="941388"/>
                <a:ext cx="9076038" cy="4937125"/>
              </a:xfrm>
              <a:blipFill>
                <a:blip r:embed="rId2"/>
                <a:stretch>
                  <a:fillRect l="-1075" t="-864" r="-1545" b="-15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 bwMode="auto">
          <a:xfrm>
            <a:off x="203886" y="5233086"/>
            <a:ext cx="8705336" cy="1180071"/>
          </a:xfrm>
          <a:prstGeom prst="rect">
            <a:avLst/>
          </a:pr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21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Facility Location Problem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60637" y="1077097"/>
                <a:ext cx="8956375" cy="546580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8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en-US" dirty="0">
                    <a:effectLst/>
                  </a:rPr>
                  <a:t> if a plant is built at location </a:t>
                </a:r>
                <a14:m>
                  <m:oMath xmlns:m="http://schemas.openxmlformats.org/officeDocument/2006/math">
                    <m:r>
                      <a:rPr lang="en-US" altLang="en-US" sz="32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dirty="0">
                    <a:effectLst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32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dirty="0">
                    <a:effectLst/>
                  </a:rPr>
                  <a:t> otherwise.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32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dirty="0">
                    <a:effectLst/>
                  </a:rPr>
                  <a:t>: the amount of products shipped from plant </a:t>
                </a:r>
                <a14:m>
                  <m:oMath xmlns:m="http://schemas.openxmlformats.org/officeDocument/2006/math">
                    <m:r>
                      <a:rPr lang="en-US" altLang="en-US" sz="28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dirty="0">
                    <a:effectLst/>
                  </a:rPr>
                  <a:t> to demand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dirty="0">
                    <a:effectLst/>
                  </a:rPr>
                  <a:t>.</a:t>
                </a: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>
                    <a:effectLst/>
                  </a:rPr>
                  <a:t> is a large number (one can take </a:t>
                </a:r>
                <a14:m>
                  <m:oMath xmlns:m="http://schemas.openxmlformats.org/officeDocument/2006/math">
                    <m:r>
                      <a:rPr lang="en-US" altLang="en-US" sz="24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en-US" sz="2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en-US" sz="24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en-US" sz="24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4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24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altLang="en-US" sz="24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en-US" dirty="0">
                    <a:effectLst/>
                  </a:rPr>
                  <a:t>)  </a:t>
                </a:r>
              </a:p>
              <a:p>
                <a:endParaRPr lang="en-GB" altLang="en-US" sz="2800" dirty="0">
                  <a:effectLst/>
                </a:endParaRPr>
              </a:p>
              <a:p>
                <a:endParaRPr lang="en-GB" altLang="en-US" sz="2800" dirty="0">
                  <a:effectLst/>
                </a:endParaRPr>
              </a:p>
              <a:p>
                <a:endParaRPr lang="en-GB" altLang="en-US" sz="2800" dirty="0">
                  <a:effectLst/>
                </a:endParaRPr>
              </a:p>
              <a:p>
                <a:pPr marL="0" indent="0">
                  <a:buNone/>
                </a:pPr>
                <a:r>
                  <a:rPr lang="en-GB" altLang="en-US" sz="2800" dirty="0">
                    <a:effectLst/>
                  </a:rPr>
                  <a:t>     </a:t>
                </a:r>
              </a:p>
            </p:txBody>
          </p:sp>
        </mc:Choice>
        <mc:Fallback xmlns="">
          <p:sp>
            <p:nvSpPr>
              <p:cNvPr id="1434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60637" y="1077097"/>
                <a:ext cx="8956375" cy="5465806"/>
              </a:xfrm>
              <a:blipFill rotWithShape="0">
                <a:blip r:embed="rId2"/>
                <a:stretch>
                  <a:fillRect t="-670" r="-408" b="-1194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7463" y="3407113"/>
                <a:ext cx="8740878" cy="22560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Minimize:	</a:t>
                </a:r>
                <a14:m>
                  <m:oMath xmlns:m="http://schemas.openxmlformats.org/officeDocument/2006/math">
                    <m:r>
                      <a:rPr lang="en-US" altLang="en-US" sz="3200" i="1">
                        <a:latin typeface="Cambria Math" panose="02040503050406030204" pitchFamily="18" charset="0"/>
                      </a:rPr>
                      <m:t>   </m:t>
                    </m:r>
                    <m:nary>
                      <m:naryPr>
                        <m:chr m:val="∑"/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altLang="en-US" sz="3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alt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en-US" sz="3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en-US" sz="32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en-US" sz="3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3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en-US" sz="32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en-US" sz="32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altLang="en-US" sz="4000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en-US" sz="3200" b="0" dirty="0"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dirty="0"/>
                  <a:t>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alt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en-US" sz="3200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</m:t>
                        </m:r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3200" dirty="0">
                    <a:latin typeface="Cambria Math" panose="02040503050406030204" pitchFamily="18" charset="0"/>
                  </a:rPr>
                  <a:t> binary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3" y="3407113"/>
                <a:ext cx="8740878" cy="2256002"/>
              </a:xfrm>
              <a:prstGeom prst="rect">
                <a:avLst/>
              </a:prstGeom>
              <a:blipFill rotWithShape="0">
                <a:blip r:embed="rId3"/>
                <a:stretch>
                  <a:fillRect t="-3784" b="-594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937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Flexibility</a:t>
            </a:r>
            <a:endParaRPr lang="en-GB" altLang="en-US" dirty="0"/>
          </a:p>
        </p:txBody>
      </p:sp>
      <p:pic>
        <p:nvPicPr>
          <p:cNvPr id="40964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995" y="2203148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995" y="3896902"/>
            <a:ext cx="855192" cy="73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995" y="5651431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71" name="Straight Arrow Connector 14"/>
          <p:cNvCxnSpPr>
            <a:cxnSpLocks noChangeShapeType="1"/>
            <a:stCxn id="40964" idx="3"/>
            <a:endCxn id="4" idx="1"/>
          </p:cNvCxnSpPr>
          <p:nvPr/>
        </p:nvCxnSpPr>
        <p:spPr bwMode="auto">
          <a:xfrm>
            <a:off x="2570399" y="2562663"/>
            <a:ext cx="3381671" cy="172843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070" y="3903759"/>
            <a:ext cx="1285875" cy="774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129" y="2173575"/>
            <a:ext cx="1259306" cy="778176"/>
          </a:xfrm>
          <a:prstGeom prst="rect">
            <a:avLst/>
          </a:prstGeom>
        </p:spPr>
      </p:pic>
      <p:cxnSp>
        <p:nvCxnSpPr>
          <p:cNvPr id="32" name="Straight Arrow Connector 14"/>
          <p:cNvCxnSpPr>
            <a:cxnSpLocks noChangeShapeType="1"/>
          </p:cNvCxnSpPr>
          <p:nvPr/>
        </p:nvCxnSpPr>
        <p:spPr bwMode="auto">
          <a:xfrm>
            <a:off x="2577123" y="2556947"/>
            <a:ext cx="3397730" cy="2102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4"/>
          <p:cNvCxnSpPr>
            <a:cxnSpLocks noChangeShapeType="1"/>
            <a:stCxn id="40964" idx="3"/>
            <a:endCxn id="11" idx="1"/>
          </p:cNvCxnSpPr>
          <p:nvPr/>
        </p:nvCxnSpPr>
        <p:spPr bwMode="auto">
          <a:xfrm>
            <a:off x="2570399" y="2562663"/>
            <a:ext cx="3397730" cy="346930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129" y="5618338"/>
            <a:ext cx="1371141" cy="8272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53"/>
              <p:cNvSpPr>
                <a:spLocks noChangeArrowheads="1"/>
              </p:cNvSpPr>
              <p:nvPr/>
            </p:nvSpPr>
            <p:spPr bwMode="auto">
              <a:xfrm>
                <a:off x="363119" y="4189755"/>
                <a:ext cx="1175413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000" b="1" dirty="0">
                    <a:solidFill>
                      <a:schemeClr val="tx1"/>
                    </a:solidFill>
                  </a:rPr>
                  <a:t> = 100</a:t>
                </a:r>
              </a:p>
            </p:txBody>
          </p:sp>
        </mc:Choice>
        <mc:Fallback xmlns="">
          <p:sp>
            <p:nvSpPr>
              <p:cNvPr id="35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119" y="4189755"/>
                <a:ext cx="1175413" cy="307777"/>
              </a:xfrm>
              <a:prstGeom prst="rect">
                <a:avLst/>
              </a:prstGeom>
              <a:blipFill>
                <a:blip r:embed="rId6"/>
                <a:stretch>
                  <a:fillRect t="-23529" r="-2604" b="-5098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53"/>
          <p:cNvSpPr>
            <a:spLocks noChangeArrowheads="1"/>
          </p:cNvSpPr>
          <p:nvPr/>
        </p:nvSpPr>
        <p:spPr bwMode="auto">
          <a:xfrm>
            <a:off x="7339270" y="242783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7" name="Rectangle 53"/>
          <p:cNvSpPr>
            <a:spLocks noChangeArrowheads="1"/>
          </p:cNvSpPr>
          <p:nvPr/>
        </p:nvSpPr>
        <p:spPr bwMode="auto">
          <a:xfrm>
            <a:off x="363118" y="585705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363118" y="254201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53"/>
              <p:cNvSpPr>
                <a:spLocks noChangeArrowheads="1"/>
              </p:cNvSpPr>
              <p:nvPr/>
            </p:nvSpPr>
            <p:spPr bwMode="auto">
              <a:xfrm>
                <a:off x="7339270" y="4202313"/>
                <a:ext cx="1175413" cy="3324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𝐷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sz="2000" b="1" dirty="0">
                    <a:solidFill>
                      <a:schemeClr val="tx1"/>
                    </a:solidFill>
                  </a:rPr>
                  <a:t> = 140</a:t>
                </a:r>
              </a:p>
            </p:txBody>
          </p:sp>
        </mc:Choice>
        <mc:Fallback xmlns="">
          <p:sp>
            <p:nvSpPr>
              <p:cNvPr id="39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39270" y="4202313"/>
                <a:ext cx="1175413" cy="332463"/>
              </a:xfrm>
              <a:prstGeom prst="rect">
                <a:avLst/>
              </a:prstGeom>
              <a:blipFill>
                <a:blip r:embed="rId7"/>
                <a:stretch>
                  <a:fillRect t="-23636" r="-3627" b="-3818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7339269" y="594902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7463" y="976644"/>
                <a:ext cx="9076038" cy="108629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sz="2500" i="1" dirty="0">
                    <a:effectLst/>
                  </a:rPr>
                  <a:t> </a:t>
                </a:r>
                <a:r>
                  <a:rPr lang="en-US" altLang="en-US" sz="2500" dirty="0">
                    <a:effectLst/>
                  </a:rPr>
                  <a:t>is the fixed cost of building flexibility </a:t>
                </a:r>
                <a14:m>
                  <m:oMath xmlns:m="http://schemas.openxmlformats.org/officeDocument/2006/math">
                    <m:r>
                      <a:rPr lang="en-US" altLang="en-US" sz="25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sz="2500" dirty="0">
                    <a:effectLst/>
                  </a:rPr>
                  <a:t> at plant </a:t>
                </a:r>
                <a14:m>
                  <m:oMath xmlns:m="http://schemas.openxmlformats.org/officeDocument/2006/math">
                    <m:r>
                      <a:rPr lang="en-US" altLang="en-US" sz="25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500" dirty="0">
                    <a:effectLst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sz="2500" dirty="0">
                    <a:effectLst/>
                  </a:rPr>
                  <a:t> is the profit from selling product </a:t>
                </a:r>
                <a14:m>
                  <m:oMath xmlns:m="http://schemas.openxmlformats.org/officeDocument/2006/math">
                    <m:r>
                      <a:rPr lang="en-US" altLang="en-US" sz="25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sz="25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2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7463" y="976644"/>
                <a:ext cx="9076038" cy="1086290"/>
              </a:xfrm>
              <a:blipFill>
                <a:blip r:embed="rId8"/>
                <a:stretch>
                  <a:fillRect l="-1075" t="-4494" b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997348" y="2195344"/>
                <a:ext cx="5920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348" y="2195344"/>
                <a:ext cx="59202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3997348" y="2999712"/>
                <a:ext cx="5920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348" y="2999712"/>
                <a:ext cx="59202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997348" y="4423506"/>
                <a:ext cx="5920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348" y="4423506"/>
                <a:ext cx="592022" cy="369332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574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Two-Stage Stochastic Optimization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60637" y="1077097"/>
                <a:ext cx="8956375" cy="546580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24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24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en-US" sz="2400" dirty="0">
                    <a:effectLst/>
                  </a:rPr>
                  <a:t> if flexibility to produce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sz="2400" dirty="0">
                    <a:effectLst/>
                  </a:rPr>
                  <a:t> is built at location </a:t>
                </a:r>
                <a14:m>
                  <m:oMath xmlns:m="http://schemas.openxmlformats.org/officeDocument/2006/math">
                    <m:r>
                      <a:rPr lang="en-US" altLang="en-US" sz="24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400" dirty="0">
                    <a:effectLst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24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24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sz="2400" dirty="0">
                    <a:effectLst/>
                  </a:rPr>
                  <a:t> otherwise.</a:t>
                </a:r>
              </a:p>
              <a:p>
                <a:endParaRPr lang="en-US" altLang="en-US" dirty="0">
                  <a:effectLst/>
                </a:endParaRPr>
              </a:p>
              <a:p>
                <a:pPr marL="0" indent="0">
                  <a:buNone/>
                </a:pPr>
                <a:endParaRPr lang="en-US" altLang="en-US" dirty="0">
                  <a:effectLst/>
                </a:endParaRPr>
              </a:p>
              <a:p>
                <a:r>
                  <a:rPr lang="en-GB" altLang="en-US" sz="2400" dirty="0">
                    <a:effectLst/>
                  </a:rPr>
                  <a:t>Given first-stage decision</a:t>
                </a:r>
                <a:r>
                  <a:rPr lang="en-GB" altLang="en-US" sz="2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smtClean="0">
                        <a:effectLst/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altLang="en-US" sz="2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GB" altLang="en-US" sz="2400" dirty="0">
                    <a:effectLst/>
                  </a:rPr>
                  <a:t>and a realization of random demand </a:t>
                </a:r>
                <a14:m>
                  <m:oMath xmlns:m="http://schemas.openxmlformats.org/officeDocument/2006/math">
                    <m:r>
                      <a:rPr lang="en-US" altLang="en-US" sz="2400" i="1" smtClean="0">
                        <a:effectLst/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GB" altLang="en-US" sz="2400" dirty="0">
                    <a:effectLst/>
                  </a:rPr>
                  <a:t>, the optimal sales is</a:t>
                </a:r>
              </a:p>
              <a:p>
                <a:endParaRPr lang="en-GB" altLang="en-US" sz="2800" dirty="0">
                  <a:effectLst/>
                </a:endParaRPr>
              </a:p>
              <a:p>
                <a:endParaRPr lang="en-GB" altLang="en-US" sz="2800" dirty="0">
                  <a:effectLst/>
                </a:endParaRPr>
              </a:p>
              <a:p>
                <a:pPr marL="0" indent="0">
                  <a:buNone/>
                </a:pPr>
                <a:r>
                  <a:rPr lang="en-GB" altLang="en-US" sz="2800" dirty="0">
                    <a:effectLst/>
                  </a:rPr>
                  <a:t>     </a:t>
                </a:r>
              </a:p>
            </p:txBody>
          </p:sp>
        </mc:Choice>
        <mc:Fallback xmlns="">
          <p:sp>
            <p:nvSpPr>
              <p:cNvPr id="1434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60637" y="1077097"/>
                <a:ext cx="8956375" cy="5465806"/>
              </a:xfrm>
              <a:blipFill>
                <a:blip r:embed="rId2"/>
                <a:stretch>
                  <a:fillRect l="-1020" t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6799" y="1800190"/>
                <a:ext cx="8740878" cy="11423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{0,1}</m:t>
                              </m:r>
                            </m:lim>
                          </m:limLow>
                        </m:fName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en-US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en-US" sz="24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)]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99" y="1800190"/>
                <a:ext cx="8740878" cy="1142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-1008531" y="4139116"/>
                <a:ext cx="8827995" cy="188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400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4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func>
                  </m:oMath>
                </a14:m>
                <a:endParaRPr lang="en-US" altLang="en-US" sz="2400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2400" dirty="0"/>
                  <a:t>      			            </a:t>
                </a:r>
                <a:r>
                  <a:rPr lang="en-US" altLang="en-US" sz="2400" dirty="0" err="1"/>
                  <a:t>s.t.</a:t>
                </a:r>
                <a:r>
                  <a:rPr lang="en-US" altLang="en-US" sz="2400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400" dirty="0"/>
                  <a:t>               				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2400" dirty="0"/>
                  <a:t>			   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SG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08531" y="4139116"/>
                <a:ext cx="8827995" cy="1884683"/>
              </a:xfrm>
              <a:prstGeom prst="rect">
                <a:avLst/>
              </a:prstGeom>
              <a:blipFill>
                <a:blip r:embed="rId4"/>
                <a:stretch>
                  <a:fillRect t="-29450" b="-24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824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Sample Average Approximation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60638" y="844134"/>
                <a:ext cx="8956375" cy="5465806"/>
              </a:xfrm>
            </p:spPr>
            <p:txBody>
              <a:bodyPr/>
              <a:lstStyle/>
              <a:p>
                <a:endParaRPr lang="en-US" altLang="en-US" sz="2400" dirty="0">
                  <a:effectLst/>
                </a:endParaRPr>
              </a:p>
              <a:p>
                <a:endParaRPr lang="en-US" altLang="en-US" sz="2400" dirty="0">
                  <a:effectLst/>
                </a:endParaRPr>
              </a:p>
              <a:p>
                <a:endParaRPr lang="en-US" altLang="en-US" sz="2400" dirty="0">
                  <a:effectLst/>
                </a:endParaRPr>
              </a:p>
              <a:p>
                <a:r>
                  <a:rPr lang="en-US" altLang="en-US" sz="2400" dirty="0">
                    <a:effectLst/>
                  </a:rPr>
                  <a:t>Consider K samples of demand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US" altLang="en-US" sz="2400" dirty="0">
                    <a:effectLst/>
                  </a:rPr>
                  <a:t> be the demand of product </a:t>
                </a:r>
                <a14:m>
                  <m:oMath xmlns:m="http://schemas.openxmlformats.org/officeDocument/2006/math">
                    <m:r>
                      <a:rPr lang="en-US" altLang="en-US" sz="24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sz="2400" dirty="0">
                    <a:effectLst/>
                  </a:rPr>
                  <a:t> in sample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2400" dirty="0">
                    <a:effectLst/>
                  </a:rPr>
                  <a:t>.</a:t>
                </a:r>
                <a:endParaRPr lang="en-US" altLang="en-US" dirty="0">
                  <a:effectLst/>
                </a:endParaRPr>
              </a:p>
              <a:p>
                <a:r>
                  <a:rPr lang="en-US" altLang="en-US" sz="2400" dirty="0">
                    <a:effectLst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4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US" altLang="en-US" sz="2400" dirty="0">
                    <a:effectLst/>
                  </a:rPr>
                  <a:t> be the amount of product</a:t>
                </a:r>
                <a:r>
                  <a:rPr lang="en-US" altLang="en-US" sz="2400" b="0" dirty="0">
                    <a:solidFill>
                      <a:srgbClr val="FF0000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altLang="en-US" sz="2400" dirty="0">
                    <a:effectLst/>
                  </a:rPr>
                  <a:t> produced at plant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altLang="en-US" sz="2400" dirty="0">
                    <a:effectLst/>
                  </a:rPr>
                  <a:t> in sample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altLang="en-US" sz="2800" dirty="0">
                    <a:effectLst/>
                  </a:rPr>
                  <a:t>.</a:t>
                </a:r>
              </a:p>
              <a:p>
                <a:endParaRPr lang="en-GB" altLang="en-US" sz="2800" dirty="0">
                  <a:effectLst/>
                </a:endParaRPr>
              </a:p>
              <a:p>
                <a:pPr marL="0" indent="0">
                  <a:buNone/>
                </a:pPr>
                <a:r>
                  <a:rPr lang="en-GB" altLang="en-US" sz="2800" dirty="0">
                    <a:effectLst/>
                  </a:rPr>
                  <a:t>     </a:t>
                </a:r>
              </a:p>
            </p:txBody>
          </p:sp>
        </mc:Choice>
        <mc:Fallback xmlns="">
          <p:sp>
            <p:nvSpPr>
              <p:cNvPr id="1434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60638" y="844134"/>
                <a:ext cx="8956375" cy="5465806"/>
              </a:xfrm>
              <a:blipFill>
                <a:blip r:embed="rId2"/>
                <a:stretch>
                  <a:fillRect l="-884" r="-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68386" y="998775"/>
                <a:ext cx="8740878" cy="11423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{0,1}</m:t>
                              </m:r>
                            </m:lim>
                          </m:limLow>
                        </m:fName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en-US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en-US" sz="24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)]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6" y="998775"/>
                <a:ext cx="8740878" cy="1142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-410137" y="4038263"/>
                <a:ext cx="8827995" cy="2328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4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en-US" alt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5"/>
                                          </m:rPr>
                                          <a:rPr lang="en-US" altLang="en-US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en-US" sz="24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en-US" sz="2400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  <m:r>
                                              <a:rPr lang="en-US" alt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func>
                  </m:oMath>
                </a14:m>
                <a:r>
                  <a:rPr lang="en-US" altLang="en-US" sz="2400" dirty="0"/>
                  <a:t>              </a:t>
                </a:r>
              </a:p>
              <a:p>
                <a:pPr>
                  <a:defRPr/>
                </a:pPr>
                <a:r>
                  <a:rPr lang="en-US" altLang="en-US" sz="2400" dirty="0"/>
                  <a:t>               </a:t>
                </a:r>
              </a:p>
              <a:p>
                <a:pPr>
                  <a:defRPr/>
                </a:pPr>
                <a:r>
                  <a:rPr lang="en-US" altLang="en-US" sz="2400" dirty="0"/>
                  <a:t>	      </a:t>
                </a:r>
                <a:r>
                  <a:rPr lang="en-US" altLang="en-US" sz="2400" dirty="0" err="1"/>
                  <a:t>s.t.</a:t>
                </a:r>
                <a:r>
                  <a:rPr lang="en-US" altLang="en-US" sz="2400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𝑗𝑘</m:t>
                            </m:r>
                          </m:sub>
                        </m:sSub>
                      </m:e>
                    </m:nary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en-US" sz="2400" dirty="0"/>
                  <a:t>               		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en-US" sz="2400" b="0" dirty="0"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en-US" sz="2400" b="0" i="1">
                        <a:latin typeface="Cambria Math" panose="02040503050406030204" pitchFamily="18" charset="0"/>
                      </a:rPr>
                      <m:t>             </m:t>
                    </m:r>
                  </m:oMath>
                </a14:m>
                <a:r>
                  <a:rPr lang="en-US" altLang="en-US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0137" y="4038263"/>
                <a:ext cx="8827995" cy="2328330"/>
              </a:xfrm>
              <a:prstGeom prst="rect">
                <a:avLst/>
              </a:prstGeom>
              <a:blipFill>
                <a:blip r:embed="rId4"/>
                <a:stretch>
                  <a:fillRect b="-19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005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             Further Applications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58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Travelling Salesman Problem</a:t>
            </a:r>
            <a:endParaRPr lang="en-GB" altLang="en-US"/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>
          <a:xfrm>
            <a:off x="17463" y="941388"/>
            <a:ext cx="9287175" cy="3337907"/>
          </a:xfrm>
        </p:spPr>
        <p:txBody>
          <a:bodyPr/>
          <a:lstStyle/>
          <a:p>
            <a:r>
              <a:rPr lang="en-GB" altLang="en-US" sz="2000" dirty="0">
                <a:effectLst/>
              </a:rPr>
              <a:t>Given a list of cities and their pairwise distances, the task is to find a shortest possible tour that visits each city exactly once.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-735341" y="6271113"/>
            <a:ext cx="60991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>
                <a:hlinkClick r:id="rId2"/>
              </a:rPr>
              <a:t>http://www.math.uwaterloo.ca/tsp/index.html</a:t>
            </a:r>
            <a:r>
              <a:rPr lang="en-SG" dirty="0"/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34" y="1601386"/>
            <a:ext cx="7444946" cy="476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61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Complete Graph</a:t>
            </a:r>
            <a:endParaRPr lang="en-GB" alt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428625" y="1214438"/>
            <a:ext cx="8229600" cy="4937125"/>
          </a:xfrm>
        </p:spPr>
        <p:txBody>
          <a:bodyPr/>
          <a:lstStyle/>
          <a:p>
            <a:r>
              <a:rPr lang="en-US" altLang="en-US" dirty="0">
                <a:effectLst/>
              </a:rPr>
              <a:t>Every pair of node is connected by an arc.</a:t>
            </a:r>
            <a:endParaRPr lang="en-GB" altLang="en-US" dirty="0">
              <a:effectLst/>
            </a:endParaRPr>
          </a:p>
        </p:txBody>
      </p:sp>
      <p:sp>
        <p:nvSpPr>
          <p:cNvPr id="10" name="Oval 9"/>
          <p:cNvSpPr/>
          <p:nvPr/>
        </p:nvSpPr>
        <p:spPr>
          <a:xfrm>
            <a:off x="3539906" y="2720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075855" y="367839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098609" y="367839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750343" y="523518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6" name="Straight Arrow Connector 15"/>
          <p:cNvCxnSpPr>
            <a:stCxn id="11" idx="4"/>
            <a:endCxn id="13" idx="1"/>
          </p:cNvCxnSpPr>
          <p:nvPr/>
        </p:nvCxnSpPr>
        <p:spPr>
          <a:xfrm>
            <a:off x="2361605" y="4249893"/>
            <a:ext cx="472432" cy="106898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2"/>
            <a:endCxn id="11" idx="7"/>
          </p:cNvCxnSpPr>
          <p:nvPr/>
        </p:nvCxnSpPr>
        <p:spPr>
          <a:xfrm flipH="1">
            <a:off x="2563661" y="3006725"/>
            <a:ext cx="976245" cy="75536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6"/>
            <a:endCxn id="12" idx="1"/>
          </p:cNvCxnSpPr>
          <p:nvPr/>
        </p:nvCxnSpPr>
        <p:spPr>
          <a:xfrm>
            <a:off x="4111406" y="3006725"/>
            <a:ext cx="1070897" cy="75536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1" idx="2"/>
            <a:endCxn id="13" idx="6"/>
          </p:cNvCxnSpPr>
          <p:nvPr/>
        </p:nvCxnSpPr>
        <p:spPr>
          <a:xfrm flipH="1" flipV="1">
            <a:off x="3321843" y="5520935"/>
            <a:ext cx="1053220" cy="164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375063" y="523682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32" name="Straight Arrow Connector 31"/>
          <p:cNvCxnSpPr>
            <a:stCxn id="12" idx="4"/>
            <a:endCxn id="21" idx="7"/>
          </p:cNvCxnSpPr>
          <p:nvPr/>
        </p:nvCxnSpPr>
        <p:spPr>
          <a:xfrm flipH="1">
            <a:off x="4862869" y="4249893"/>
            <a:ext cx="521490" cy="1070629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2"/>
            <a:endCxn id="11" idx="6"/>
          </p:cNvCxnSpPr>
          <p:nvPr/>
        </p:nvCxnSpPr>
        <p:spPr>
          <a:xfrm flipH="1">
            <a:off x="2647355" y="3964143"/>
            <a:ext cx="2451254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1" idx="1"/>
            <a:endCxn id="11" idx="5"/>
          </p:cNvCxnSpPr>
          <p:nvPr/>
        </p:nvCxnSpPr>
        <p:spPr>
          <a:xfrm flipH="1" flipV="1">
            <a:off x="2563661" y="4166199"/>
            <a:ext cx="1895096" cy="115432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3" idx="0"/>
          </p:cNvCxnSpPr>
          <p:nvPr/>
        </p:nvCxnSpPr>
        <p:spPr>
          <a:xfrm flipV="1">
            <a:off x="3036093" y="3212698"/>
            <a:ext cx="607867" cy="2022487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1" idx="0"/>
            <a:endCxn id="10" idx="5"/>
          </p:cNvCxnSpPr>
          <p:nvPr/>
        </p:nvCxnSpPr>
        <p:spPr>
          <a:xfrm flipH="1" flipV="1">
            <a:off x="4027712" y="3208781"/>
            <a:ext cx="633101" cy="2028047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2" idx="3"/>
            <a:endCxn id="13" idx="7"/>
          </p:cNvCxnSpPr>
          <p:nvPr/>
        </p:nvCxnSpPr>
        <p:spPr>
          <a:xfrm flipH="1">
            <a:off x="3238149" y="4166199"/>
            <a:ext cx="1944154" cy="115268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525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Mathematical Definition (Symmetric TSP)</a:t>
            </a:r>
            <a:endParaRPr lang="en-GB" altLang="en-US" dirty="0"/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>
          <a:xfrm>
            <a:off x="17462" y="1139825"/>
            <a:ext cx="8741527" cy="5164722"/>
          </a:xfrm>
        </p:spPr>
        <p:txBody>
          <a:bodyPr/>
          <a:lstStyle/>
          <a:p>
            <a:r>
              <a:rPr lang="en-GB" altLang="en-US" dirty="0">
                <a:effectLst/>
              </a:rPr>
              <a:t>Given a complete undirected graph and a cost on each arc, find a path starting and finishing at a specified node after having visited each other node exactly once (called </a:t>
            </a:r>
            <a:r>
              <a:rPr lang="en-GB" altLang="en-US" i="1" dirty="0">
                <a:solidFill>
                  <a:srgbClr val="FF0000"/>
                </a:solidFill>
                <a:effectLst/>
              </a:rPr>
              <a:t>Hamiltonian cycle</a:t>
            </a:r>
            <a:r>
              <a:rPr lang="en-GB" altLang="en-US" dirty="0">
                <a:effectLst/>
              </a:rPr>
              <a:t>) that minimizes the total cost.</a:t>
            </a:r>
          </a:p>
          <a:p>
            <a:endParaRPr lang="en-GB" altLang="en-US" dirty="0">
              <a:effectLst/>
            </a:endParaRPr>
          </a:p>
          <a:p>
            <a:r>
              <a:rPr lang="en-GB" altLang="en-US" dirty="0">
                <a:effectLst/>
              </a:rPr>
              <a:t>If in application, no arc exists between two nodes, we can assign an arbitrarily large cost on the arc connecting these two nodes.</a:t>
            </a:r>
          </a:p>
        </p:txBody>
      </p:sp>
    </p:spTree>
    <p:extLst>
      <p:ext uri="{BB962C8B-B14F-4D97-AF65-F5344CB8AC3E}">
        <p14:creationId xmlns:p14="http://schemas.microsoft.com/office/powerpoint/2010/main" val="1674543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Method</a:t>
            </a:r>
            <a:endParaRPr lang="en-GB" altLang="en-US" dirty="0"/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>
          <a:xfrm>
            <a:off x="17463" y="1139825"/>
            <a:ext cx="8770402" cy="5092533"/>
          </a:xfrm>
        </p:spPr>
        <p:txBody>
          <a:bodyPr/>
          <a:lstStyle/>
          <a:p>
            <a:r>
              <a:rPr lang="en-GB" altLang="en-US" dirty="0">
                <a:effectLst/>
              </a:rPr>
              <a:t>Brute force enumeration.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83995" y="2699093"/>
            <a:ext cx="8566485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How many feasible solutions are there?</a:t>
            </a:r>
            <a:endParaRPr lang="en-GB" alt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>
                <a:spLocks noChangeArrowheads="1"/>
              </p:cNvSpPr>
              <p:nvPr/>
            </p:nvSpPr>
            <p:spPr bwMode="auto">
              <a:xfrm>
                <a:off x="283995" y="4258361"/>
                <a:ext cx="8566485" cy="52322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800" dirty="0">
                    <a:solidFill>
                      <a:srgbClr val="FF0000"/>
                    </a:solidFill>
                    <a:effectLst/>
                  </a:rPr>
                  <a:t>How does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ea typeface="宋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𝑛</m:t>
                    </m:r>
                    <m:r>
                      <a:rPr lang="en-US" altLang="zh-CN" sz="280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!</m:t>
                    </m:r>
                  </m:oMath>
                </a14:m>
                <a:r>
                  <a:rPr lang="en-GB" altLang="en-US" sz="2800" dirty="0">
                    <a:solidFill>
                      <a:srgbClr val="FF0000"/>
                    </a:solidFill>
                    <a:effectLst/>
                  </a:rPr>
                  <a:t> compare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altLang="en-US" sz="2800" dirty="0">
                    <a:solidFill>
                      <a:srgbClr val="FF0000"/>
                    </a:solidFill>
                    <a:effectLst/>
                  </a:rPr>
                  <a:t>?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995" y="4258361"/>
                <a:ext cx="8566485" cy="523220"/>
              </a:xfrm>
              <a:prstGeom prst="rect">
                <a:avLst/>
              </a:prstGeom>
              <a:blipFill rotWithShape="0">
                <a:blip r:embed="rId2"/>
                <a:stretch>
                  <a:fillRect t="-11494" b="-31034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8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016258"/>
                <a:ext cx="9205196" cy="5477218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Suppose a graph with n nodes. The cost from node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altLang="en-US" dirty="0">
                    <a:effectLst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altLang="en-US" dirty="0">
                    <a:effectLst/>
                  </a:rPr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altLang="en-US" dirty="0">
                    <a:effectLst/>
                  </a:rPr>
                  <a:t>. For convenience,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altLang="en-US" dirty="0">
                    <a:effectLst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altLang="en-US" dirty="0">
                    <a:effectLst/>
                  </a:rPr>
                  <a:t> </a:t>
                </a:r>
                <a:r>
                  <a:rPr lang="en-US" altLang="en-US" dirty="0">
                    <a:effectLst/>
                  </a:rPr>
                  <a:t>if we travel from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altLang="en-US" dirty="0">
                    <a:effectLst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altLang="en-US" dirty="0">
                  <a:effectLst/>
                </a:endParaRPr>
              </a:p>
              <a:p>
                <a:pPr lvl="1"/>
                <a:r>
                  <a:rPr lang="en-US" altLang="en-US" dirty="0">
                    <a:effectLst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altLang="en-US" dirty="0">
                    <a:effectLst/>
                  </a:rPr>
                  <a:t> </a:t>
                </a:r>
                <a:r>
                  <a:rPr lang="en-GB" altLang="en-US" b="0" dirty="0">
                    <a:effectLst/>
                  </a:rPr>
                  <a:t> </a:t>
                </a:r>
                <a:r>
                  <a:rPr lang="en-GB" altLang="en-US" dirty="0">
                    <a:effectLst/>
                  </a:rPr>
                  <a:t>otherwise.</a:t>
                </a:r>
              </a:p>
            </p:txBody>
          </p:sp>
        </mc:Choice>
        <mc:Fallback xmlns="">
          <p:sp>
            <p:nvSpPr>
              <p:cNvPr id="6656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16258"/>
                <a:ext cx="9205196" cy="5477218"/>
              </a:xfrm>
              <a:blipFill rotWithShape="0">
                <a:blip r:embed="rId2"/>
                <a:stretch>
                  <a:fillRect l="-1258" t="-11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854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</a:t>
            </a:r>
            <a:endParaRPr lang="en-GB" altLang="en-US"/>
          </a:p>
        </p:txBody>
      </p:sp>
      <p:graphicFrame>
        <p:nvGraphicFramePr>
          <p:cNvPr id="19" name="Object 2"/>
          <p:cNvGraphicFramePr>
            <a:graphicFrameLocks noChangeAspect="1"/>
          </p:cNvGraphicFramePr>
          <p:nvPr>
            <p:extLst/>
          </p:nvPr>
        </p:nvGraphicFramePr>
        <p:xfrm>
          <a:off x="833939" y="1698859"/>
          <a:ext cx="3500437" cy="301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0" name="Equation" r:id="rId3" imgW="1803240" imgH="1600200" progId="Equation.DSMT4">
                  <p:embed/>
                </p:oleObj>
              </mc:Choice>
              <mc:Fallback>
                <p:oleObj name="Equation" r:id="rId3" imgW="1803240" imgH="160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939" y="1698859"/>
                        <a:ext cx="3500437" cy="301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loud 7"/>
          <p:cNvSpPr/>
          <p:nvPr/>
        </p:nvSpPr>
        <p:spPr bwMode="auto">
          <a:xfrm>
            <a:off x="5160195" y="2067159"/>
            <a:ext cx="3286125" cy="2643188"/>
          </a:xfrm>
          <a:prstGeom prst="cloud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dirty="0"/>
              <a:t>Assignment problem gives a lower bound to the TSP.</a:t>
            </a:r>
          </a:p>
          <a:p>
            <a:pPr eaLnBrk="0" hangingPunct="0">
              <a:defRPr/>
            </a:pPr>
            <a:endParaRPr lang="en-US" dirty="0"/>
          </a:p>
          <a:p>
            <a:pPr eaLnBrk="0" hangingPunct="0">
              <a:defRPr/>
            </a:pPr>
            <a:r>
              <a:rPr lang="en-US" dirty="0"/>
              <a:t>(why?)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446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    Assignment Problem</a:t>
            </a:r>
            <a:r>
              <a:rPr lang="en-US" altLang="en-US" dirty="0"/>
              <a:t>		</a:t>
            </a:r>
            <a:endParaRPr lang="en-GB" altLang="en-US" dirty="0"/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17463" y="1020970"/>
            <a:ext cx="9099550" cy="857250"/>
          </a:xfrm>
        </p:spPr>
        <p:txBody>
          <a:bodyPr/>
          <a:lstStyle/>
          <a:p>
            <a:endParaRPr lang="en-GB" altLang="en-US" sz="2400" dirty="0"/>
          </a:p>
        </p:txBody>
      </p:sp>
      <p:sp>
        <p:nvSpPr>
          <p:cNvPr id="7" name="Oval 6"/>
          <p:cNvSpPr/>
          <p:nvPr/>
        </p:nvSpPr>
        <p:spPr>
          <a:xfrm>
            <a:off x="5997297" y="211944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997297" y="295034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997297" y="3908076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8060055" y="1349874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1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60055" y="213974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060055" y="2962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Arrow Connector 13"/>
          <p:cNvCxnSpPr>
            <a:stCxn id="78" idx="6"/>
            <a:endCxn id="12" idx="2"/>
          </p:cNvCxnSpPr>
          <p:nvPr/>
        </p:nvCxnSpPr>
        <p:spPr>
          <a:xfrm flipV="1">
            <a:off x="6568797" y="3248725"/>
            <a:ext cx="1491258" cy="19452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4" idx="6"/>
            <a:endCxn id="11" idx="2"/>
          </p:cNvCxnSpPr>
          <p:nvPr/>
        </p:nvCxnSpPr>
        <p:spPr>
          <a:xfrm>
            <a:off x="6568797" y="1621644"/>
            <a:ext cx="1491258" cy="8038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6"/>
            <a:endCxn id="10" idx="2"/>
          </p:cNvCxnSpPr>
          <p:nvPr/>
        </p:nvCxnSpPr>
        <p:spPr>
          <a:xfrm flipV="1">
            <a:off x="6568797" y="1635624"/>
            <a:ext cx="1491258" cy="16004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6"/>
            <a:endCxn id="79" idx="2"/>
          </p:cNvCxnSpPr>
          <p:nvPr/>
        </p:nvCxnSpPr>
        <p:spPr>
          <a:xfrm>
            <a:off x="6568797" y="4193826"/>
            <a:ext cx="1489353" cy="9967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058150" y="3908076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5997297" y="1335894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1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75" name="Straight Arrow Connector 74"/>
          <p:cNvCxnSpPr>
            <a:stCxn id="7" idx="6"/>
            <a:endCxn id="22" idx="2"/>
          </p:cNvCxnSpPr>
          <p:nvPr/>
        </p:nvCxnSpPr>
        <p:spPr>
          <a:xfrm>
            <a:off x="6568797" y="2405198"/>
            <a:ext cx="1489353" cy="178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5997297" y="4908194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5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79" name="Oval 78"/>
          <p:cNvSpPr/>
          <p:nvPr/>
        </p:nvSpPr>
        <p:spPr>
          <a:xfrm>
            <a:off x="8058150" y="4904861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5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4" name="Oval 83"/>
          <p:cNvSpPr/>
          <p:nvPr/>
        </p:nvSpPr>
        <p:spPr>
          <a:xfrm>
            <a:off x="2069015" y="2005557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85" name="Oval 84"/>
          <p:cNvSpPr/>
          <p:nvPr/>
        </p:nvSpPr>
        <p:spPr>
          <a:xfrm>
            <a:off x="604964" y="2962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6" name="Oval 85"/>
          <p:cNvSpPr/>
          <p:nvPr/>
        </p:nvSpPr>
        <p:spPr>
          <a:xfrm>
            <a:off x="3627718" y="2962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7" name="Oval 86"/>
          <p:cNvSpPr/>
          <p:nvPr/>
        </p:nvSpPr>
        <p:spPr>
          <a:xfrm>
            <a:off x="1279452" y="4519767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88" name="Straight Arrow Connector 87"/>
          <p:cNvCxnSpPr>
            <a:stCxn id="85" idx="4"/>
            <a:endCxn id="87" idx="1"/>
          </p:cNvCxnSpPr>
          <p:nvPr/>
        </p:nvCxnSpPr>
        <p:spPr>
          <a:xfrm>
            <a:off x="890714" y="3534475"/>
            <a:ext cx="472432" cy="10689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84" idx="2"/>
            <a:endCxn id="85" idx="7"/>
          </p:cNvCxnSpPr>
          <p:nvPr/>
        </p:nvCxnSpPr>
        <p:spPr>
          <a:xfrm flipH="1">
            <a:off x="1092770" y="2291307"/>
            <a:ext cx="976245" cy="755362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4" idx="6"/>
            <a:endCxn id="86" idx="1"/>
          </p:cNvCxnSpPr>
          <p:nvPr/>
        </p:nvCxnSpPr>
        <p:spPr>
          <a:xfrm>
            <a:off x="2640515" y="2291307"/>
            <a:ext cx="1070897" cy="755362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92" idx="2"/>
            <a:endCxn id="87" idx="6"/>
          </p:cNvCxnSpPr>
          <p:nvPr/>
        </p:nvCxnSpPr>
        <p:spPr>
          <a:xfrm flipH="1" flipV="1">
            <a:off x="1850952" y="4805517"/>
            <a:ext cx="1053220" cy="1643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2904172" y="452141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93" name="Straight Arrow Connector 92"/>
          <p:cNvCxnSpPr>
            <a:stCxn id="86" idx="4"/>
            <a:endCxn id="92" idx="7"/>
          </p:cNvCxnSpPr>
          <p:nvPr/>
        </p:nvCxnSpPr>
        <p:spPr>
          <a:xfrm flipH="1">
            <a:off x="3391978" y="3534475"/>
            <a:ext cx="521490" cy="1070629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243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    Assignment Problem</a:t>
            </a:r>
            <a:r>
              <a:rPr lang="en-US" altLang="en-US" dirty="0"/>
              <a:t>		</a:t>
            </a:r>
            <a:endParaRPr lang="en-GB" altLang="en-US" dirty="0"/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17463" y="1020970"/>
            <a:ext cx="9099550" cy="857250"/>
          </a:xfrm>
        </p:spPr>
        <p:txBody>
          <a:bodyPr/>
          <a:lstStyle/>
          <a:p>
            <a:endParaRPr lang="en-GB" altLang="en-US" sz="2400" dirty="0"/>
          </a:p>
        </p:txBody>
      </p:sp>
      <p:sp>
        <p:nvSpPr>
          <p:cNvPr id="7" name="Oval 6"/>
          <p:cNvSpPr/>
          <p:nvPr/>
        </p:nvSpPr>
        <p:spPr>
          <a:xfrm>
            <a:off x="5997297" y="2119448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997297" y="295034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997297" y="3908076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8060055" y="1349874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1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60055" y="2139743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060055" y="2962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4" name="Straight Arrow Connector 13"/>
          <p:cNvCxnSpPr>
            <a:stCxn id="78" idx="6"/>
            <a:endCxn id="22" idx="2"/>
          </p:cNvCxnSpPr>
          <p:nvPr/>
        </p:nvCxnSpPr>
        <p:spPr>
          <a:xfrm flipV="1">
            <a:off x="6568797" y="4193826"/>
            <a:ext cx="1489353" cy="10001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4" idx="6"/>
            <a:endCxn id="11" idx="2"/>
          </p:cNvCxnSpPr>
          <p:nvPr/>
        </p:nvCxnSpPr>
        <p:spPr>
          <a:xfrm>
            <a:off x="6568797" y="1621644"/>
            <a:ext cx="1491258" cy="8038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6"/>
            <a:endCxn id="10" idx="2"/>
          </p:cNvCxnSpPr>
          <p:nvPr/>
        </p:nvCxnSpPr>
        <p:spPr>
          <a:xfrm flipV="1">
            <a:off x="6568797" y="1635624"/>
            <a:ext cx="1491258" cy="16004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6"/>
            <a:endCxn id="79" idx="2"/>
          </p:cNvCxnSpPr>
          <p:nvPr/>
        </p:nvCxnSpPr>
        <p:spPr>
          <a:xfrm>
            <a:off x="6568797" y="4193826"/>
            <a:ext cx="1489353" cy="9967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058150" y="3908076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5997297" y="1335894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1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75" name="Straight Arrow Connector 74"/>
          <p:cNvCxnSpPr>
            <a:stCxn id="7" idx="6"/>
            <a:endCxn id="12" idx="2"/>
          </p:cNvCxnSpPr>
          <p:nvPr/>
        </p:nvCxnSpPr>
        <p:spPr>
          <a:xfrm>
            <a:off x="6568797" y="2405198"/>
            <a:ext cx="1491258" cy="8435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5997297" y="4908194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5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79" name="Oval 78"/>
          <p:cNvSpPr/>
          <p:nvPr/>
        </p:nvSpPr>
        <p:spPr>
          <a:xfrm>
            <a:off x="8058150" y="4904861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5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4" name="Oval 83"/>
          <p:cNvSpPr/>
          <p:nvPr/>
        </p:nvSpPr>
        <p:spPr>
          <a:xfrm>
            <a:off x="2069015" y="2005557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85" name="Oval 84"/>
          <p:cNvSpPr/>
          <p:nvPr/>
        </p:nvSpPr>
        <p:spPr>
          <a:xfrm>
            <a:off x="604964" y="2962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6" name="Oval 85"/>
          <p:cNvSpPr/>
          <p:nvPr/>
        </p:nvSpPr>
        <p:spPr>
          <a:xfrm>
            <a:off x="3627718" y="2962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7" name="Oval 86"/>
          <p:cNvSpPr/>
          <p:nvPr/>
        </p:nvSpPr>
        <p:spPr>
          <a:xfrm>
            <a:off x="1279452" y="4519767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88" name="Straight Arrow Connector 87"/>
          <p:cNvCxnSpPr>
            <a:stCxn id="85" idx="6"/>
          </p:cNvCxnSpPr>
          <p:nvPr/>
        </p:nvCxnSpPr>
        <p:spPr>
          <a:xfrm flipV="1">
            <a:off x="1176464" y="3236095"/>
            <a:ext cx="2679256" cy="126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84" idx="2"/>
            <a:endCxn id="85" idx="7"/>
          </p:cNvCxnSpPr>
          <p:nvPr/>
        </p:nvCxnSpPr>
        <p:spPr>
          <a:xfrm flipH="1">
            <a:off x="1092770" y="2291307"/>
            <a:ext cx="976245" cy="755362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4" idx="6"/>
            <a:endCxn id="86" idx="1"/>
          </p:cNvCxnSpPr>
          <p:nvPr/>
        </p:nvCxnSpPr>
        <p:spPr>
          <a:xfrm>
            <a:off x="2640515" y="2291307"/>
            <a:ext cx="1070897" cy="755362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92" idx="3"/>
            <a:endCxn id="87" idx="5"/>
          </p:cNvCxnSpPr>
          <p:nvPr/>
        </p:nvCxnSpPr>
        <p:spPr>
          <a:xfrm flipH="1">
            <a:off x="1767258" y="5005871"/>
            <a:ext cx="1097561" cy="1702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2781125" y="451806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93" name="Straight Arrow Connector 92"/>
          <p:cNvCxnSpPr>
            <a:stCxn id="87" idx="7"/>
            <a:endCxn id="92" idx="1"/>
          </p:cNvCxnSpPr>
          <p:nvPr/>
        </p:nvCxnSpPr>
        <p:spPr>
          <a:xfrm flipV="1">
            <a:off x="1767258" y="4601759"/>
            <a:ext cx="1097561" cy="1702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25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  <p:bldP spid="87" grpId="0" animBg="1"/>
      <p:bldP spid="9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 (</a:t>
            </a:r>
            <a:r>
              <a:rPr lang="en-US" altLang="en-US" dirty="0" err="1"/>
              <a:t>Dantzig</a:t>
            </a:r>
            <a:r>
              <a:rPr lang="en-US" altLang="en-US" dirty="0"/>
              <a:t>, Fulkerson &amp; Johnson)</a:t>
            </a:r>
            <a:endParaRPr lang="en-GB" altLang="en-US" dirty="0"/>
          </a:p>
        </p:txBody>
      </p:sp>
      <p:graphicFrame>
        <p:nvGraphicFramePr>
          <p:cNvPr id="19" name="Object 2"/>
          <p:cNvGraphicFramePr>
            <a:graphicFrameLocks noChangeAspect="1"/>
          </p:cNvGraphicFramePr>
          <p:nvPr>
            <p:extLst/>
          </p:nvPr>
        </p:nvGraphicFramePr>
        <p:xfrm>
          <a:off x="3134377" y="1025091"/>
          <a:ext cx="3500437" cy="301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5" name="Equation" r:id="rId3" imgW="1803240" imgH="1600200" progId="Equation.DSMT4">
                  <p:embed/>
                </p:oleObj>
              </mc:Choice>
              <mc:Fallback>
                <p:oleObj name="Equation" r:id="rId3" imgW="1803240" imgH="160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4377" y="1025091"/>
                        <a:ext cx="3500437" cy="301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>
                <a:spLocks noChangeArrowheads="1"/>
              </p:cNvSpPr>
              <p:nvPr/>
            </p:nvSpPr>
            <p:spPr bwMode="auto">
              <a:xfrm>
                <a:off x="283995" y="4120282"/>
                <a:ext cx="8566485" cy="100322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800" dirty="0">
                    <a:solidFill>
                      <a:srgbClr val="FF0000"/>
                    </a:solidFill>
                    <a:effectLst/>
                  </a:rPr>
                  <a:t>Sub tour breaking constraints:</a:t>
                </a:r>
              </a:p>
              <a:p>
                <a:pPr eaLnBrk="1" hangingPunct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en-US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en-US" sz="2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800" i="1"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alt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≤|</m:t>
                    </m:r>
                    <m:r>
                      <a:rPr lang="en-US" alt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|−1,</m:t>
                    </m:r>
                  </m:oMath>
                </a14:m>
                <a:r>
                  <a:rPr lang="en-GB" altLang="en-US" sz="2800" dirty="0">
                    <a:solidFill>
                      <a:srgbClr val="FF0000"/>
                    </a:solidFill>
                    <a:effectLst/>
                  </a:rPr>
                  <a:t> for every subset S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995" y="4120282"/>
                <a:ext cx="8566485" cy="1003223"/>
              </a:xfrm>
              <a:prstGeom prst="rect">
                <a:avLst/>
              </a:prstGeom>
              <a:blipFill rotWithShape="0">
                <a:blip r:embed="rId5"/>
                <a:stretch>
                  <a:fillRect t="-6024" b="-10241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65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    Counting Cities Traveled</a:t>
            </a:r>
            <a:endParaRPr lang="en-GB" altLang="en-US" dirty="0"/>
          </a:p>
        </p:txBody>
      </p:sp>
      <p:cxnSp>
        <p:nvCxnSpPr>
          <p:cNvPr id="15" name="Straight Arrow Connector 14"/>
          <p:cNvCxnSpPr>
            <a:stCxn id="86" idx="2"/>
            <a:endCxn id="85" idx="6"/>
          </p:cNvCxnSpPr>
          <p:nvPr/>
        </p:nvCxnSpPr>
        <p:spPr>
          <a:xfrm flipH="1">
            <a:off x="1176464" y="3248725"/>
            <a:ext cx="2451254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2069015" y="2005557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85" name="Oval 84"/>
          <p:cNvSpPr/>
          <p:nvPr/>
        </p:nvSpPr>
        <p:spPr>
          <a:xfrm>
            <a:off x="604964" y="2962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6" name="Oval 85"/>
          <p:cNvSpPr/>
          <p:nvPr/>
        </p:nvSpPr>
        <p:spPr>
          <a:xfrm>
            <a:off x="3627718" y="2962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7" name="Oval 86"/>
          <p:cNvSpPr/>
          <p:nvPr/>
        </p:nvSpPr>
        <p:spPr>
          <a:xfrm>
            <a:off x="1279452" y="4519767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88" name="Straight Arrow Connector 87"/>
          <p:cNvCxnSpPr>
            <a:stCxn id="85" idx="4"/>
            <a:endCxn id="87" idx="1"/>
          </p:cNvCxnSpPr>
          <p:nvPr/>
        </p:nvCxnSpPr>
        <p:spPr>
          <a:xfrm>
            <a:off x="890714" y="3534475"/>
            <a:ext cx="472432" cy="10689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84" idx="2"/>
            <a:endCxn id="85" idx="7"/>
          </p:cNvCxnSpPr>
          <p:nvPr/>
        </p:nvCxnSpPr>
        <p:spPr>
          <a:xfrm flipH="1">
            <a:off x="1092770" y="2291307"/>
            <a:ext cx="976245" cy="755362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4" idx="6"/>
            <a:endCxn id="86" idx="1"/>
          </p:cNvCxnSpPr>
          <p:nvPr/>
        </p:nvCxnSpPr>
        <p:spPr>
          <a:xfrm>
            <a:off x="2640515" y="2291307"/>
            <a:ext cx="1070897" cy="755362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92" idx="2"/>
            <a:endCxn id="87" idx="6"/>
          </p:cNvCxnSpPr>
          <p:nvPr/>
        </p:nvCxnSpPr>
        <p:spPr>
          <a:xfrm flipH="1" flipV="1">
            <a:off x="1850952" y="4805517"/>
            <a:ext cx="1053220" cy="1643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2904172" y="452141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93" name="Straight Arrow Connector 92"/>
          <p:cNvCxnSpPr>
            <a:stCxn id="86" idx="4"/>
            <a:endCxn id="92" idx="7"/>
          </p:cNvCxnSpPr>
          <p:nvPr/>
        </p:nvCxnSpPr>
        <p:spPr>
          <a:xfrm flipH="1">
            <a:off x="3391978" y="3534475"/>
            <a:ext cx="521490" cy="1070629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53"/>
              <p:cNvSpPr>
                <a:spLocks noChangeArrowheads="1"/>
              </p:cNvSpPr>
              <p:nvPr/>
            </p:nvSpPr>
            <p:spPr bwMode="auto">
              <a:xfrm>
                <a:off x="1831967" y="1621644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1967" y="1621644"/>
                <a:ext cx="1175413" cy="346249"/>
              </a:xfrm>
              <a:prstGeom prst="rect">
                <a:avLst/>
              </a:prstGeom>
              <a:blipFill rotWithShape="0">
                <a:blip r:embed="rId2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53"/>
              <p:cNvSpPr>
                <a:spLocks noChangeArrowheads="1"/>
              </p:cNvSpPr>
              <p:nvPr/>
            </p:nvSpPr>
            <p:spPr bwMode="auto">
              <a:xfrm>
                <a:off x="354630" y="2571883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630" y="2571883"/>
                <a:ext cx="1175413" cy="346249"/>
              </a:xfrm>
              <a:prstGeom prst="rect">
                <a:avLst/>
              </a:prstGeom>
              <a:blipFill rotWithShape="0">
                <a:blip r:embed="rId3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53"/>
              <p:cNvSpPr>
                <a:spLocks noChangeArrowheads="1"/>
              </p:cNvSpPr>
              <p:nvPr/>
            </p:nvSpPr>
            <p:spPr bwMode="auto">
              <a:xfrm>
                <a:off x="3475672" y="2535449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5672" y="2535449"/>
                <a:ext cx="1175413" cy="346249"/>
              </a:xfrm>
              <a:prstGeom prst="rect">
                <a:avLst/>
              </a:prstGeom>
              <a:blipFill rotWithShape="0">
                <a:blip r:embed="rId4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53"/>
              <p:cNvSpPr>
                <a:spLocks noChangeArrowheads="1"/>
              </p:cNvSpPr>
              <p:nvPr/>
            </p:nvSpPr>
            <p:spPr bwMode="auto">
              <a:xfrm>
                <a:off x="3845478" y="1585047"/>
                <a:ext cx="311247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altLang="en-US" sz="2400" b="1" dirty="0">
                    <a:solidFill>
                      <a:schemeClr val="tx1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17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45478" y="1585047"/>
                <a:ext cx="3112470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22951" b="-5082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53"/>
              <p:cNvSpPr>
                <a:spLocks noChangeArrowheads="1"/>
              </p:cNvSpPr>
              <p:nvPr/>
            </p:nvSpPr>
            <p:spPr bwMode="auto">
              <a:xfrm>
                <a:off x="6300694" y="1566667"/>
                <a:ext cx="311247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lang="en-US" altLang="en-US" sz="2400" b="1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en-US" sz="2400" b="1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</mc:Choice>
        <mc:Fallback xmlns="">
          <p:sp>
            <p:nvSpPr>
              <p:cNvPr id="21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00694" y="1566667"/>
                <a:ext cx="3112470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22951" b="-4918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53"/>
              <p:cNvSpPr>
                <a:spLocks noChangeArrowheads="1"/>
              </p:cNvSpPr>
              <p:nvPr/>
            </p:nvSpPr>
            <p:spPr bwMode="auto">
              <a:xfrm>
                <a:off x="4076136" y="3029915"/>
                <a:ext cx="311247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24</m:t>
                        </m:r>
                      </m:sub>
                    </m:sSub>
                  </m:oMath>
                </a14:m>
                <a:r>
                  <a:rPr lang="en-US" altLang="en-US" sz="2400" b="1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en-US" sz="2400" b="1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</mc:Choice>
        <mc:Fallback xmlns="">
          <p:sp>
            <p:nvSpPr>
              <p:cNvPr id="22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6136" y="3029915"/>
                <a:ext cx="3112470" cy="369332"/>
              </a:xfrm>
              <a:prstGeom prst="rect">
                <a:avLst/>
              </a:prstGeom>
              <a:blipFill rotWithShape="0">
                <a:blip r:embed="rId7"/>
                <a:stretch>
                  <a:fillRect t="-22951" b="-5082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53"/>
              <p:cNvSpPr>
                <a:spLocks noChangeArrowheads="1"/>
              </p:cNvSpPr>
              <p:nvPr/>
            </p:nvSpPr>
            <p:spPr bwMode="auto">
              <a:xfrm>
                <a:off x="4097662" y="3781204"/>
                <a:ext cx="311247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45</m:t>
                        </m:r>
                      </m:sub>
                    </m:sSub>
                  </m:oMath>
                </a14:m>
                <a:r>
                  <a:rPr lang="en-US" altLang="en-US" sz="2400" b="1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en-US" sz="2400" b="1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</mc:Choice>
        <mc:Fallback xmlns="">
          <p:sp>
            <p:nvSpPr>
              <p:cNvPr id="23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7662" y="3781204"/>
                <a:ext cx="3112470" cy="369332"/>
              </a:xfrm>
              <a:prstGeom prst="rect">
                <a:avLst/>
              </a:prstGeom>
              <a:blipFill rotWithShape="0">
                <a:blip r:embed="rId8"/>
                <a:stretch>
                  <a:fillRect t="-22951" b="-5082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53"/>
              <p:cNvSpPr>
                <a:spLocks noChangeArrowheads="1"/>
              </p:cNvSpPr>
              <p:nvPr/>
            </p:nvSpPr>
            <p:spPr bwMode="auto">
              <a:xfrm>
                <a:off x="4045546" y="2314113"/>
                <a:ext cx="311247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53</m:t>
                        </m:r>
                      </m:sub>
                    </m:sSub>
                  </m:oMath>
                </a14:m>
                <a:r>
                  <a:rPr lang="en-US" altLang="en-US" sz="2400" b="1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en-US" sz="2400" b="1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</mc:Choice>
        <mc:Fallback xmlns="">
          <p:sp>
            <p:nvSpPr>
              <p:cNvPr id="2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5546" y="2314113"/>
                <a:ext cx="3112470" cy="369332"/>
              </a:xfrm>
              <a:prstGeom prst="rect">
                <a:avLst/>
              </a:prstGeom>
              <a:blipFill rotWithShape="0">
                <a:blip r:embed="rId9"/>
                <a:stretch>
                  <a:fillRect t="-25000" b="-51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53"/>
              <p:cNvSpPr>
                <a:spLocks noChangeArrowheads="1"/>
              </p:cNvSpPr>
              <p:nvPr/>
            </p:nvSpPr>
            <p:spPr bwMode="auto">
              <a:xfrm>
                <a:off x="488180" y="4805516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180" y="4805516"/>
                <a:ext cx="1175413" cy="346249"/>
              </a:xfrm>
              <a:prstGeom prst="rect">
                <a:avLst/>
              </a:prstGeom>
              <a:blipFill rotWithShape="0">
                <a:blip r:embed="rId10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53"/>
              <p:cNvSpPr>
                <a:spLocks noChangeArrowheads="1"/>
              </p:cNvSpPr>
              <p:nvPr/>
            </p:nvSpPr>
            <p:spPr bwMode="auto">
              <a:xfrm>
                <a:off x="3189922" y="4810928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9922" y="4810928"/>
                <a:ext cx="1175413" cy="346249"/>
              </a:xfrm>
              <a:prstGeom prst="rect">
                <a:avLst/>
              </a:prstGeom>
              <a:blipFill rotWithShape="0">
                <a:blip r:embed="rId11"/>
                <a:stretch>
                  <a:fillRect b="-70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830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2" grpId="0"/>
      <p:bldP spid="23" grpId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    Counting Cities Traveled</a:t>
            </a:r>
            <a:endParaRPr lang="en-GB" altLang="en-US" dirty="0"/>
          </a:p>
        </p:txBody>
      </p:sp>
      <p:cxnSp>
        <p:nvCxnSpPr>
          <p:cNvPr id="15" name="Straight Arrow Connector 14"/>
          <p:cNvCxnSpPr>
            <a:stCxn id="85" idx="6"/>
            <a:endCxn id="86" idx="2"/>
          </p:cNvCxnSpPr>
          <p:nvPr/>
        </p:nvCxnSpPr>
        <p:spPr>
          <a:xfrm>
            <a:off x="1176464" y="3248725"/>
            <a:ext cx="2451254" cy="0"/>
          </a:xfrm>
          <a:prstGeom prst="straightConnector1">
            <a:avLst/>
          </a:prstGeom>
          <a:ln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2069015" y="2005557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85" name="Oval 84"/>
          <p:cNvSpPr/>
          <p:nvPr/>
        </p:nvSpPr>
        <p:spPr>
          <a:xfrm>
            <a:off x="604964" y="2962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6" name="Oval 85"/>
          <p:cNvSpPr/>
          <p:nvPr/>
        </p:nvSpPr>
        <p:spPr>
          <a:xfrm>
            <a:off x="3627718" y="2962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7" name="Oval 86"/>
          <p:cNvSpPr/>
          <p:nvPr/>
        </p:nvSpPr>
        <p:spPr>
          <a:xfrm>
            <a:off x="1279452" y="4519767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89" name="Straight Arrow Connector 88"/>
          <p:cNvCxnSpPr>
            <a:stCxn id="84" idx="2"/>
            <a:endCxn id="85" idx="7"/>
          </p:cNvCxnSpPr>
          <p:nvPr/>
        </p:nvCxnSpPr>
        <p:spPr>
          <a:xfrm flipH="1">
            <a:off x="1092770" y="2291307"/>
            <a:ext cx="976245" cy="755362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4" idx="6"/>
            <a:endCxn id="86" idx="1"/>
          </p:cNvCxnSpPr>
          <p:nvPr/>
        </p:nvCxnSpPr>
        <p:spPr>
          <a:xfrm>
            <a:off x="2640515" y="2291307"/>
            <a:ext cx="1070897" cy="755362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92" idx="3"/>
            <a:endCxn id="87" idx="5"/>
          </p:cNvCxnSpPr>
          <p:nvPr/>
        </p:nvCxnSpPr>
        <p:spPr>
          <a:xfrm flipH="1" flipV="1">
            <a:off x="1767258" y="5007573"/>
            <a:ext cx="1220608" cy="1643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2904172" y="452141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93" name="Straight Arrow Connector 92"/>
          <p:cNvCxnSpPr>
            <a:stCxn id="87" idx="7"/>
            <a:endCxn id="92" idx="1"/>
          </p:cNvCxnSpPr>
          <p:nvPr/>
        </p:nvCxnSpPr>
        <p:spPr>
          <a:xfrm>
            <a:off x="1767258" y="4603461"/>
            <a:ext cx="1220608" cy="1643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53"/>
              <p:cNvSpPr>
                <a:spLocks noChangeArrowheads="1"/>
              </p:cNvSpPr>
              <p:nvPr/>
            </p:nvSpPr>
            <p:spPr bwMode="auto">
              <a:xfrm>
                <a:off x="1831967" y="1621644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1967" y="1621644"/>
                <a:ext cx="1175413" cy="346249"/>
              </a:xfrm>
              <a:prstGeom prst="rect">
                <a:avLst/>
              </a:prstGeom>
              <a:blipFill rotWithShape="0">
                <a:blip r:embed="rId2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53"/>
              <p:cNvSpPr>
                <a:spLocks noChangeArrowheads="1"/>
              </p:cNvSpPr>
              <p:nvPr/>
            </p:nvSpPr>
            <p:spPr bwMode="auto">
              <a:xfrm>
                <a:off x="354630" y="2571883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630" y="2571883"/>
                <a:ext cx="1175413" cy="346249"/>
              </a:xfrm>
              <a:prstGeom prst="rect">
                <a:avLst/>
              </a:prstGeom>
              <a:blipFill rotWithShape="0">
                <a:blip r:embed="rId3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53"/>
              <p:cNvSpPr>
                <a:spLocks noChangeArrowheads="1"/>
              </p:cNvSpPr>
              <p:nvPr/>
            </p:nvSpPr>
            <p:spPr bwMode="auto">
              <a:xfrm>
                <a:off x="3475672" y="2535449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5672" y="2535449"/>
                <a:ext cx="1175413" cy="346249"/>
              </a:xfrm>
              <a:prstGeom prst="rect">
                <a:avLst/>
              </a:prstGeom>
              <a:blipFill rotWithShape="0">
                <a:blip r:embed="rId4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53"/>
              <p:cNvSpPr>
                <a:spLocks noChangeArrowheads="1"/>
              </p:cNvSpPr>
              <p:nvPr/>
            </p:nvSpPr>
            <p:spPr bwMode="auto">
              <a:xfrm>
                <a:off x="5218065" y="1967893"/>
                <a:ext cx="3112470" cy="407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</m:sub>
                      </m:sSub>
                    </m:oMath>
                  </m:oMathPara>
                </a14:m>
                <a:endParaRPr lang="en-US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8065" y="1967893"/>
                <a:ext cx="3112470" cy="4078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53"/>
              <p:cNvSpPr>
                <a:spLocks noChangeArrowheads="1"/>
              </p:cNvSpPr>
              <p:nvPr/>
            </p:nvSpPr>
            <p:spPr bwMode="auto">
              <a:xfrm>
                <a:off x="5218065" y="2912319"/>
                <a:ext cx="3112470" cy="407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45</m:t>
                          </m:r>
                        </m:sub>
                      </m:sSub>
                    </m:oMath>
                  </m:oMathPara>
                </a14:m>
                <a:endParaRPr lang="en-US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8065" y="2912319"/>
                <a:ext cx="3112470" cy="40780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53"/>
              <p:cNvSpPr>
                <a:spLocks noChangeArrowheads="1"/>
              </p:cNvSpPr>
              <p:nvPr/>
            </p:nvSpPr>
            <p:spPr bwMode="auto">
              <a:xfrm>
                <a:off x="488180" y="4805516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180" y="4805516"/>
                <a:ext cx="1175413" cy="346249"/>
              </a:xfrm>
              <a:prstGeom prst="rect">
                <a:avLst/>
              </a:prstGeom>
              <a:blipFill rotWithShape="0">
                <a:blip r:embed="rId7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53"/>
              <p:cNvSpPr>
                <a:spLocks noChangeArrowheads="1"/>
              </p:cNvSpPr>
              <p:nvPr/>
            </p:nvSpPr>
            <p:spPr bwMode="auto">
              <a:xfrm>
                <a:off x="3189922" y="4810928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9922" y="4810928"/>
                <a:ext cx="1175413" cy="346249"/>
              </a:xfrm>
              <a:prstGeom prst="rect">
                <a:avLst/>
              </a:prstGeom>
              <a:blipFill rotWithShape="0">
                <a:blip r:embed="rId8"/>
                <a:stretch>
                  <a:fillRect b="-70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8164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</a:t>
            </a:r>
            <a:endParaRPr lang="en-GB" altLang="en-US" dirty="0"/>
          </a:p>
        </p:txBody>
      </p:sp>
      <p:graphicFrame>
        <p:nvGraphicFramePr>
          <p:cNvPr id="19" name="Object 2"/>
          <p:cNvGraphicFramePr>
            <a:graphicFrameLocks noChangeAspect="1"/>
          </p:cNvGraphicFramePr>
          <p:nvPr>
            <p:extLst/>
          </p:nvPr>
        </p:nvGraphicFramePr>
        <p:xfrm>
          <a:off x="2913397" y="941388"/>
          <a:ext cx="2976863" cy="2561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0" name="Equation" r:id="rId3" imgW="1803240" imgH="1600200" progId="Equation.DSMT4">
                  <p:embed/>
                </p:oleObj>
              </mc:Choice>
              <mc:Fallback>
                <p:oleObj name="Equation" r:id="rId3" imgW="1803240" imgH="160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397" y="941388"/>
                        <a:ext cx="2976863" cy="2561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>
                <a:spLocks noChangeArrowheads="1"/>
              </p:cNvSpPr>
              <p:nvPr/>
            </p:nvSpPr>
            <p:spPr bwMode="auto">
              <a:xfrm>
                <a:off x="832635" y="3586883"/>
                <a:ext cx="7305525" cy="279871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400" dirty="0">
                    <a:solidFill>
                      <a:srgbClr val="FF0000"/>
                    </a:solidFill>
                    <a:effectLst/>
                  </a:rPr>
                  <a:t>Introduce additional variables: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1" i="1">
                              <a:effectLst/>
                              <a:latin typeface="Cambria Math" panose="02040503050406030204" pitchFamily="18" charset="0"/>
                            </a:rPr>
                            <m:t>               </m:t>
                          </m:r>
                          <m: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 2,…,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altLang="en-US" sz="2400" dirty="0">
                  <a:solidFill>
                    <a:srgbClr val="FF0000"/>
                  </a:solidFill>
                  <a:effectLst/>
                </a:endParaRPr>
              </a:p>
              <a:p>
                <a:pPr eaLnBrk="1" hangingPunct="1"/>
                <a:r>
                  <a:rPr lang="en-US" altLang="en-US" sz="2400" dirty="0">
                    <a:solidFill>
                      <a:srgbClr val="FF0000"/>
                    </a:solidFill>
                    <a:effectLst/>
                  </a:rPr>
                  <a:t>and counting constraint: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</m:t>
                      </m:r>
                      <m:sSub>
                        <m:sSubPr>
                          <m:ctrlPr>
                            <a:rPr lang="en-US" alt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2≤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,1≤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altLang="en-US" sz="2400" dirty="0">
                  <a:solidFill>
                    <a:srgbClr val="FF0000"/>
                  </a:solidFill>
                  <a:effectLst/>
                </a:endParaRPr>
              </a:p>
              <a:p>
                <a:pPr eaLnBrk="1" hangingPunct="1"/>
                <a:r>
                  <a:rPr lang="en-GB" altLang="en-US" sz="2400" dirty="0">
                    <a:solidFill>
                      <a:srgbClr val="FF0000"/>
                    </a:solidFill>
                    <a:effectLst/>
                  </a:rPr>
                  <a:t>OR the equivalent counting constraint: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i="1">
                              <a:effectLst/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en-US" sz="24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2≤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,1≤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altLang="en-US" sz="2400" dirty="0">
                  <a:solidFill>
                    <a:srgbClr val="FF0000"/>
                  </a:solidFill>
                  <a:effectLst/>
                </a:endParaRPr>
              </a:p>
              <a:p>
                <a:pPr eaLnBrk="1" hangingPunct="1"/>
                <a:endParaRPr lang="en-GB" alt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2635" y="3586883"/>
                <a:ext cx="7305525" cy="2798715"/>
              </a:xfrm>
              <a:prstGeom prst="rect">
                <a:avLst/>
              </a:prstGeom>
              <a:blipFill rotWithShape="0">
                <a:blip r:embed="rId5"/>
                <a:stretch>
                  <a:fillRect t="-1299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14214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7462" y="9525"/>
            <a:ext cx="9126537" cy="931863"/>
          </a:xfrm>
        </p:spPr>
        <p:txBody>
          <a:bodyPr/>
          <a:lstStyle/>
          <a:p>
            <a:r>
              <a:rPr lang="en-US" sz="2800" dirty="0"/>
              <a:t>Transformation</a:t>
            </a:r>
            <a:endParaRPr lang="en-GB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7462" y="1095685"/>
                <a:ext cx="9267250" cy="4496442"/>
              </a:xfrm>
            </p:spPr>
            <p:txBody>
              <a:bodyPr/>
              <a:lstStyle/>
              <a:p>
                <a:r>
                  <a:rPr lang="en-US" altLang="en-US" sz="2800" dirty="0">
                    <a:effectLst/>
                  </a:rPr>
                  <a:t>The constraint below is not linear</a:t>
                </a:r>
              </a:p>
              <a:p>
                <a:endParaRPr lang="en-US" altLang="en-US" sz="2800" dirty="0">
                  <a:effectLst/>
                </a:endParaRPr>
              </a:p>
              <a:p>
                <a:endParaRPr lang="en-US" altLang="en-US" sz="2800" dirty="0">
                  <a:effectLst/>
                </a:endParaRPr>
              </a:p>
              <a:p>
                <a:r>
                  <a:rPr lang="en-US" altLang="en-US" sz="2800" dirty="0">
                    <a:effectLst/>
                  </a:rPr>
                  <a:t>For a very large constant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2800" b="0" i="1" dirty="0">
                    <a:effectLst/>
                  </a:rPr>
                  <a:t> </a:t>
                </a:r>
                <a:r>
                  <a:rPr lang="en-US" altLang="en-US" sz="2800" b="0" dirty="0">
                    <a:effectLst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sz="28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en-US" sz="2800" b="0" dirty="0">
                    <a:effectLst/>
                  </a:rPr>
                  <a:t> is sufficient</a:t>
                </a:r>
                <a:r>
                  <a:rPr lang="en-US" altLang="en-US" b="0" dirty="0">
                    <a:effectLst/>
                  </a:rPr>
                  <a:t>)</a:t>
                </a:r>
              </a:p>
              <a:p>
                <a:pPr marL="0" indent="0">
                  <a:buNone/>
                </a:pPr>
                <a:endParaRPr lang="en-US" altLang="en-US" dirty="0">
                  <a:effectLst/>
                </a:endParaRPr>
              </a:p>
              <a:p>
                <a:pPr marL="0" indent="0">
                  <a:buNone/>
                </a:pPr>
                <a:endParaRPr lang="en-US" altLang="en-US" dirty="0">
                  <a:effectLst/>
                </a:endParaRPr>
              </a:p>
              <a:p>
                <a:pPr marL="0" indent="0">
                  <a:buNone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4710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7462" y="1095685"/>
                <a:ext cx="9267250" cy="4496442"/>
              </a:xfrm>
              <a:blipFill rotWithShape="0">
                <a:blip r:embed="rId2"/>
                <a:stretch>
                  <a:fillRect l="-1184" t="-149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>
                <a:spLocks noChangeArrowheads="1"/>
              </p:cNvSpPr>
              <p:nvPr/>
            </p:nvSpPr>
            <p:spPr bwMode="auto">
              <a:xfrm>
                <a:off x="763236" y="1864769"/>
                <a:ext cx="7974394" cy="10552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+1−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≤0,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2≤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,1≤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alt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eaLnBrk="1" hangingPunct="1"/>
                <a:endParaRPr lang="en-GB" altLang="en-US" sz="28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3236" y="1864769"/>
                <a:ext cx="7974394" cy="105522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>
                <a:spLocks noChangeArrowheads="1"/>
              </p:cNvSpPr>
              <p:nvPr/>
            </p:nvSpPr>
            <p:spPr bwMode="auto">
              <a:xfrm>
                <a:off x="214296" y="3415429"/>
                <a:ext cx="8873582" cy="10552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+1−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sz="32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2≤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,1≤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alt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eaLnBrk="1" hangingPunct="1"/>
                <a:endParaRPr lang="en-GB" altLang="en-US" sz="28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96" y="3415429"/>
                <a:ext cx="8873582" cy="105522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515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 (Miller, Tucker and </a:t>
            </a:r>
            <a:r>
              <a:rPr lang="en-US" altLang="en-US" dirty="0" err="1"/>
              <a:t>Zemlin</a:t>
            </a:r>
            <a:r>
              <a:rPr lang="en-US" altLang="en-US" dirty="0"/>
              <a:t>)</a:t>
            </a:r>
            <a:endParaRPr lang="en-GB" altLang="en-US" dirty="0"/>
          </a:p>
        </p:txBody>
      </p:sp>
      <p:graphicFrame>
        <p:nvGraphicFramePr>
          <p:cNvPr id="19" name="Object 2"/>
          <p:cNvGraphicFramePr>
            <a:graphicFrameLocks noChangeAspect="1"/>
          </p:cNvGraphicFramePr>
          <p:nvPr>
            <p:extLst/>
          </p:nvPr>
        </p:nvGraphicFramePr>
        <p:xfrm>
          <a:off x="3134377" y="1025091"/>
          <a:ext cx="3500437" cy="301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4" name="Equation" r:id="rId3" imgW="1803240" imgH="1600200" progId="Equation.DSMT4">
                  <p:embed/>
                </p:oleObj>
              </mc:Choice>
              <mc:Fallback>
                <p:oleObj name="Equation" r:id="rId3" imgW="1803240" imgH="160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4377" y="1025091"/>
                        <a:ext cx="3500437" cy="301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>
                <a:spLocks noChangeArrowheads="1"/>
              </p:cNvSpPr>
              <p:nvPr/>
            </p:nvSpPr>
            <p:spPr bwMode="auto">
              <a:xfrm>
                <a:off x="283995" y="4120282"/>
                <a:ext cx="8566485" cy="1900777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800" dirty="0">
                    <a:solidFill>
                      <a:srgbClr val="FF0000"/>
                    </a:solidFill>
                    <a:effectLst/>
                  </a:rPr>
                  <a:t>Introduce additional variables: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b="1" i="1">
                              <a:effectLst/>
                              <a:latin typeface="Cambria Math" panose="02040503050406030204" pitchFamily="18" charset="0"/>
                            </a:rPr>
                            <m:t>               </m:t>
                          </m:r>
                          <m: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2800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  <m:r>
                        <a:rPr lang="en-US" altLang="en-US" sz="2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en-US" sz="2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en-US" sz="2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 2,…,</m:t>
                      </m:r>
                      <m:r>
                        <a:rPr lang="en-US" altLang="en-US" sz="2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altLang="en-US" sz="2400" dirty="0">
                  <a:solidFill>
                    <a:srgbClr val="FF0000"/>
                  </a:solidFill>
                  <a:effectLst/>
                </a:endParaRPr>
              </a:p>
              <a:p>
                <a:pPr eaLnBrk="1" hangingPunct="1"/>
                <a:r>
                  <a:rPr lang="en-US" altLang="en-US" sz="2800" dirty="0">
                    <a:solidFill>
                      <a:srgbClr val="FF0000"/>
                    </a:solidFill>
                    <a:effectLst/>
                  </a:rPr>
                  <a:t>and constraints: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2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+1−</m:t>
                      </m:r>
                      <m:sSub>
                        <m:sSubPr>
                          <m:ctrlP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sz="2800" i="1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en-US" sz="2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en-US" sz="2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),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2≤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,1≤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altLang="en-US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995" y="4120282"/>
                <a:ext cx="8566485" cy="1900777"/>
              </a:xfrm>
              <a:prstGeom prst="rect">
                <a:avLst/>
              </a:prstGeom>
              <a:blipFill rotWithShape="0">
                <a:blip r:embed="rId5"/>
                <a:stretch>
                  <a:fillRect t="-318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56623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    Counting Accumulated Cost/Distance/Time</a:t>
            </a:r>
            <a:endParaRPr lang="en-GB" altLang="en-US" dirty="0"/>
          </a:p>
        </p:txBody>
      </p:sp>
      <p:cxnSp>
        <p:nvCxnSpPr>
          <p:cNvPr id="15" name="Straight Arrow Connector 14"/>
          <p:cNvCxnSpPr>
            <a:stCxn id="86" idx="2"/>
            <a:endCxn id="85" idx="6"/>
          </p:cNvCxnSpPr>
          <p:nvPr/>
        </p:nvCxnSpPr>
        <p:spPr>
          <a:xfrm flipH="1">
            <a:off x="1176464" y="3248725"/>
            <a:ext cx="2451254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2069015" y="2005557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1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85" name="Oval 84"/>
          <p:cNvSpPr/>
          <p:nvPr/>
        </p:nvSpPr>
        <p:spPr>
          <a:xfrm>
            <a:off x="604964" y="2962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6" name="Oval 85"/>
          <p:cNvSpPr/>
          <p:nvPr/>
        </p:nvSpPr>
        <p:spPr>
          <a:xfrm>
            <a:off x="3627718" y="2962975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7" name="Oval 86"/>
          <p:cNvSpPr/>
          <p:nvPr/>
        </p:nvSpPr>
        <p:spPr>
          <a:xfrm>
            <a:off x="1279452" y="4519767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88" name="Straight Arrow Connector 87"/>
          <p:cNvCxnSpPr>
            <a:stCxn id="85" idx="4"/>
            <a:endCxn id="87" idx="1"/>
          </p:cNvCxnSpPr>
          <p:nvPr/>
        </p:nvCxnSpPr>
        <p:spPr>
          <a:xfrm>
            <a:off x="890714" y="3534475"/>
            <a:ext cx="472432" cy="10689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84" idx="2"/>
            <a:endCxn id="85" idx="7"/>
          </p:cNvCxnSpPr>
          <p:nvPr/>
        </p:nvCxnSpPr>
        <p:spPr>
          <a:xfrm flipH="1">
            <a:off x="1092770" y="2291307"/>
            <a:ext cx="976245" cy="755362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4" idx="6"/>
            <a:endCxn id="86" idx="1"/>
          </p:cNvCxnSpPr>
          <p:nvPr/>
        </p:nvCxnSpPr>
        <p:spPr>
          <a:xfrm>
            <a:off x="2640515" y="2291307"/>
            <a:ext cx="1070897" cy="755362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92" idx="2"/>
            <a:endCxn id="87" idx="6"/>
          </p:cNvCxnSpPr>
          <p:nvPr/>
        </p:nvCxnSpPr>
        <p:spPr>
          <a:xfrm flipH="1" flipV="1">
            <a:off x="1850952" y="4805517"/>
            <a:ext cx="1053220" cy="1643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2904172" y="4521410"/>
            <a:ext cx="5715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93" name="Straight Arrow Connector 92"/>
          <p:cNvCxnSpPr>
            <a:stCxn id="86" idx="4"/>
            <a:endCxn id="92" idx="7"/>
          </p:cNvCxnSpPr>
          <p:nvPr/>
        </p:nvCxnSpPr>
        <p:spPr>
          <a:xfrm flipH="1">
            <a:off x="3391978" y="3534475"/>
            <a:ext cx="521490" cy="1070629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53"/>
              <p:cNvSpPr>
                <a:spLocks noChangeArrowheads="1"/>
              </p:cNvSpPr>
              <p:nvPr/>
            </p:nvSpPr>
            <p:spPr bwMode="auto">
              <a:xfrm>
                <a:off x="1831967" y="1621644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1967" y="1621644"/>
                <a:ext cx="1175413" cy="346249"/>
              </a:xfrm>
              <a:prstGeom prst="rect">
                <a:avLst/>
              </a:prstGeom>
              <a:blipFill rotWithShape="0">
                <a:blip r:embed="rId2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53"/>
              <p:cNvSpPr>
                <a:spLocks noChangeArrowheads="1"/>
              </p:cNvSpPr>
              <p:nvPr/>
            </p:nvSpPr>
            <p:spPr bwMode="auto">
              <a:xfrm>
                <a:off x="354630" y="2571883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630" y="2571883"/>
                <a:ext cx="1175413" cy="346249"/>
              </a:xfrm>
              <a:prstGeom prst="rect">
                <a:avLst/>
              </a:prstGeom>
              <a:blipFill rotWithShape="0">
                <a:blip r:embed="rId3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53"/>
              <p:cNvSpPr>
                <a:spLocks noChangeArrowheads="1"/>
              </p:cNvSpPr>
              <p:nvPr/>
            </p:nvSpPr>
            <p:spPr bwMode="auto">
              <a:xfrm>
                <a:off x="3475672" y="2535449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5672" y="2535449"/>
                <a:ext cx="1175413" cy="346249"/>
              </a:xfrm>
              <a:prstGeom prst="rect">
                <a:avLst/>
              </a:prstGeom>
              <a:blipFill rotWithShape="0">
                <a:blip r:embed="rId4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53"/>
              <p:cNvSpPr>
                <a:spLocks noChangeArrowheads="1"/>
              </p:cNvSpPr>
              <p:nvPr/>
            </p:nvSpPr>
            <p:spPr bwMode="auto">
              <a:xfrm>
                <a:off x="3983625" y="1564824"/>
                <a:ext cx="3112470" cy="407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3625" y="1564824"/>
                <a:ext cx="3112470" cy="4078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53"/>
              <p:cNvSpPr>
                <a:spLocks noChangeArrowheads="1"/>
              </p:cNvSpPr>
              <p:nvPr/>
            </p:nvSpPr>
            <p:spPr bwMode="auto">
              <a:xfrm>
                <a:off x="6435771" y="1564824"/>
                <a:ext cx="3112470" cy="407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US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35771" y="1564824"/>
                <a:ext cx="3112470" cy="40780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53"/>
              <p:cNvSpPr>
                <a:spLocks noChangeArrowheads="1"/>
              </p:cNvSpPr>
              <p:nvPr/>
            </p:nvSpPr>
            <p:spPr bwMode="auto">
              <a:xfrm>
                <a:off x="3983625" y="2166576"/>
                <a:ext cx="3112470" cy="407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en-US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3625" y="2166576"/>
                <a:ext cx="3112470" cy="40780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53"/>
              <p:cNvSpPr>
                <a:spLocks noChangeArrowheads="1"/>
              </p:cNvSpPr>
              <p:nvPr/>
            </p:nvSpPr>
            <p:spPr bwMode="auto">
              <a:xfrm>
                <a:off x="3983625" y="2770170"/>
                <a:ext cx="3112470" cy="407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45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45</m:t>
                          </m:r>
                        </m:sub>
                      </m:sSub>
                    </m:oMath>
                  </m:oMathPara>
                </a14:m>
                <a:endParaRPr lang="en-US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3625" y="2770170"/>
                <a:ext cx="3112470" cy="40780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53"/>
              <p:cNvSpPr>
                <a:spLocks noChangeArrowheads="1"/>
              </p:cNvSpPr>
              <p:nvPr/>
            </p:nvSpPr>
            <p:spPr bwMode="auto">
              <a:xfrm>
                <a:off x="3983625" y="3373764"/>
                <a:ext cx="3112470" cy="407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53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53</m:t>
                          </m:r>
                        </m:sub>
                      </m:sSub>
                    </m:oMath>
                  </m:oMathPara>
                </a14:m>
                <a:endParaRPr lang="en-US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3625" y="3373764"/>
                <a:ext cx="3112470" cy="40780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53"/>
              <p:cNvSpPr>
                <a:spLocks noChangeArrowheads="1"/>
              </p:cNvSpPr>
              <p:nvPr/>
            </p:nvSpPr>
            <p:spPr bwMode="auto">
              <a:xfrm>
                <a:off x="488180" y="4805516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180" y="4805516"/>
                <a:ext cx="1175413" cy="346249"/>
              </a:xfrm>
              <a:prstGeom prst="rect">
                <a:avLst/>
              </a:prstGeom>
              <a:blipFill rotWithShape="0">
                <a:blip r:embed="rId10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53"/>
              <p:cNvSpPr>
                <a:spLocks noChangeArrowheads="1"/>
              </p:cNvSpPr>
              <p:nvPr/>
            </p:nvSpPr>
            <p:spPr bwMode="auto">
              <a:xfrm>
                <a:off x="3189922" y="4810928"/>
                <a:ext cx="1175413" cy="346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Aft>
                    <a:spcPts val="275"/>
                  </a:spcAft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9922" y="4810928"/>
                <a:ext cx="1175413" cy="346249"/>
              </a:xfrm>
              <a:prstGeom prst="rect">
                <a:avLst/>
              </a:prstGeom>
              <a:blipFill rotWithShape="0">
                <a:blip r:embed="rId11"/>
                <a:stretch>
                  <a:fillRect b="-70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2285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</a:t>
            </a:r>
            <a:endParaRPr lang="en-GB" altLang="en-US" dirty="0"/>
          </a:p>
        </p:txBody>
      </p:sp>
      <p:graphicFrame>
        <p:nvGraphicFramePr>
          <p:cNvPr id="19" name="Object 2"/>
          <p:cNvGraphicFramePr>
            <a:graphicFrameLocks noChangeAspect="1"/>
          </p:cNvGraphicFramePr>
          <p:nvPr>
            <p:extLst/>
          </p:nvPr>
        </p:nvGraphicFramePr>
        <p:xfrm>
          <a:off x="3134377" y="1025091"/>
          <a:ext cx="3500437" cy="301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8" name="Equation" r:id="rId3" imgW="1803240" imgH="1600200" progId="Equation.DSMT4">
                  <p:embed/>
                </p:oleObj>
              </mc:Choice>
              <mc:Fallback>
                <p:oleObj name="Equation" r:id="rId3" imgW="1803240" imgH="160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4377" y="1025091"/>
                        <a:ext cx="3500437" cy="301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>
                <a:spLocks noChangeArrowheads="1"/>
              </p:cNvSpPr>
              <p:nvPr/>
            </p:nvSpPr>
            <p:spPr bwMode="auto">
              <a:xfrm>
                <a:off x="17463" y="4148249"/>
                <a:ext cx="8994916" cy="196720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800" dirty="0">
                    <a:solidFill>
                      <a:srgbClr val="FF0000"/>
                    </a:solidFill>
                    <a:effectLst/>
                  </a:rPr>
                  <a:t>Introduce additional variables: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b="1" i="1">
                              <a:effectLst/>
                              <a:latin typeface="Cambria Math" panose="02040503050406030204" pitchFamily="18" charset="0"/>
                            </a:rPr>
                            <m:t>               </m:t>
                          </m:r>
                          <m: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28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  <m:r>
                        <a:rPr lang="en-US" altLang="en-US" sz="2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en-US" sz="2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en-US" sz="2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 2,…,</m:t>
                      </m:r>
                      <m:r>
                        <a:rPr lang="en-US" altLang="en-US" sz="2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altLang="en-US" sz="2400" dirty="0">
                  <a:solidFill>
                    <a:srgbClr val="FF0000"/>
                  </a:solidFill>
                  <a:effectLst/>
                </a:endParaRPr>
              </a:p>
              <a:p>
                <a:pPr eaLnBrk="1" hangingPunct="1"/>
                <a:r>
                  <a:rPr lang="en-US" altLang="en-US" sz="2800" dirty="0">
                    <a:solidFill>
                      <a:srgbClr val="FF0000"/>
                    </a:solidFill>
                    <a:effectLst/>
                  </a:rPr>
                  <a:t>and constraints: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),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2≤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,1≤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altLang="en-US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63" y="4148249"/>
                <a:ext cx="8994916" cy="1967205"/>
              </a:xfrm>
              <a:prstGeom prst="rect">
                <a:avLst/>
              </a:prstGeom>
              <a:blipFill rotWithShape="0">
                <a:blip r:embed="rId5"/>
                <a:stretch>
                  <a:fillRect t="-2769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74823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err="1">
                <a:ea typeface="宋体" pitchFamily="2" charset="-122"/>
              </a:rPr>
              <a:t>UberPOOL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18434" name="Picture 2" descr="https://newsroom.uber.com/wp-content/uploads/2015/02/uberpool-diagra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" y="1217205"/>
            <a:ext cx="9106163" cy="49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3"/>
          <p:cNvSpPr>
            <a:spLocks noChangeArrowheads="1"/>
          </p:cNvSpPr>
          <p:nvPr/>
        </p:nvSpPr>
        <p:spPr bwMode="auto">
          <a:xfrm>
            <a:off x="3866606" y="6291223"/>
            <a:ext cx="6466114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http://blog.under.com/uberPOOL-2015 </a:t>
            </a:r>
          </a:p>
        </p:txBody>
      </p:sp>
    </p:spTree>
    <p:extLst>
      <p:ext uri="{BB962C8B-B14F-4D97-AF65-F5344CB8AC3E}">
        <p14:creationId xmlns:p14="http://schemas.microsoft.com/office/powerpoint/2010/main" val="2579033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An Example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7444" y="4497573"/>
            <a:ext cx="1720334" cy="368337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Pick up passenger 1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47778" y="3124938"/>
            <a:ext cx="1720334" cy="36833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Pick up passenger 2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155723" y="3463944"/>
            <a:ext cx="1720334" cy="36833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Pick up passenger 3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482533" y="4865910"/>
            <a:ext cx="1759318" cy="368337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Drop off passenger 1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51584" y="4669300"/>
            <a:ext cx="1748524" cy="36833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Drop off passenger 2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740434" y="1848994"/>
            <a:ext cx="1831484" cy="36833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Drop off passenger 3</a:t>
            </a:r>
          </a:p>
        </p:txBody>
      </p:sp>
      <p:cxnSp>
        <p:nvCxnSpPr>
          <p:cNvPr id="11" name="AutoShape 8"/>
          <p:cNvCxnSpPr>
            <a:cxnSpLocks noChangeShapeType="1"/>
            <a:stCxn id="5" idx="0"/>
            <a:endCxn id="6" idx="1"/>
          </p:cNvCxnSpPr>
          <p:nvPr/>
        </p:nvCxnSpPr>
        <p:spPr bwMode="auto">
          <a:xfrm rot="5400000" flipH="1" flipV="1">
            <a:off x="1123461" y="3473257"/>
            <a:ext cx="1188466" cy="860167"/>
          </a:xfrm>
          <a:prstGeom prst="bentConnector2">
            <a:avLst/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" name="AutoShape 8"/>
          <p:cNvCxnSpPr>
            <a:cxnSpLocks noChangeShapeType="1"/>
            <a:endCxn id="8" idx="1"/>
          </p:cNvCxnSpPr>
          <p:nvPr/>
        </p:nvCxnSpPr>
        <p:spPr bwMode="auto">
          <a:xfrm>
            <a:off x="2140721" y="4681741"/>
            <a:ext cx="1341812" cy="368338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" name="AutoShape 8"/>
          <p:cNvCxnSpPr>
            <a:cxnSpLocks noChangeShapeType="1"/>
            <a:endCxn id="9" idx="1"/>
          </p:cNvCxnSpPr>
          <p:nvPr/>
        </p:nvCxnSpPr>
        <p:spPr bwMode="auto">
          <a:xfrm flipV="1">
            <a:off x="5241851" y="4853469"/>
            <a:ext cx="1609733" cy="205712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" name="AutoShape 8"/>
          <p:cNvCxnSpPr>
            <a:cxnSpLocks noChangeShapeType="1"/>
          </p:cNvCxnSpPr>
          <p:nvPr/>
        </p:nvCxnSpPr>
        <p:spPr bwMode="auto">
          <a:xfrm>
            <a:off x="3868112" y="3330650"/>
            <a:ext cx="1287611" cy="324202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" name="AutoShape 8"/>
          <p:cNvCxnSpPr>
            <a:cxnSpLocks noChangeShapeType="1"/>
            <a:endCxn id="10" idx="1"/>
          </p:cNvCxnSpPr>
          <p:nvPr/>
        </p:nvCxnSpPr>
        <p:spPr bwMode="auto">
          <a:xfrm flipV="1">
            <a:off x="3868112" y="2033163"/>
            <a:ext cx="2872322" cy="1291268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" name="AutoShape 8"/>
          <p:cNvCxnSpPr>
            <a:cxnSpLocks noChangeShapeType="1"/>
            <a:endCxn id="10" idx="2"/>
          </p:cNvCxnSpPr>
          <p:nvPr/>
        </p:nvCxnSpPr>
        <p:spPr bwMode="auto">
          <a:xfrm rot="5400000" flipH="1" flipV="1">
            <a:off x="6729956" y="2721892"/>
            <a:ext cx="1430781" cy="421660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" name="AutoShape 8"/>
          <p:cNvCxnSpPr>
            <a:cxnSpLocks noChangeShapeType="1"/>
            <a:stCxn id="6" idx="2"/>
            <a:endCxn id="8" idx="0"/>
          </p:cNvCxnSpPr>
          <p:nvPr/>
        </p:nvCxnSpPr>
        <p:spPr bwMode="auto">
          <a:xfrm rot="16200000" flipH="1">
            <a:off x="2998751" y="3502468"/>
            <a:ext cx="1372635" cy="1354247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" name="AutoShape 8"/>
          <p:cNvCxnSpPr>
            <a:cxnSpLocks noChangeShapeType="1"/>
            <a:stCxn id="9" idx="3"/>
            <a:endCxn id="10" idx="3"/>
          </p:cNvCxnSpPr>
          <p:nvPr/>
        </p:nvCxnSpPr>
        <p:spPr bwMode="auto">
          <a:xfrm flipH="1" flipV="1">
            <a:off x="8571918" y="2033163"/>
            <a:ext cx="28190" cy="2820306"/>
          </a:xfrm>
          <a:prstGeom prst="bentConnector3">
            <a:avLst>
              <a:gd name="adj1" fmla="val -810926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" name="AutoShape 8"/>
          <p:cNvCxnSpPr>
            <a:cxnSpLocks noChangeShapeType="1"/>
            <a:endCxn id="7" idx="2"/>
          </p:cNvCxnSpPr>
          <p:nvPr/>
        </p:nvCxnSpPr>
        <p:spPr bwMode="auto">
          <a:xfrm rot="5400000" flipH="1" flipV="1">
            <a:off x="5218001" y="4270500"/>
            <a:ext cx="1236108" cy="359670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" name="AutoShape 8"/>
          <p:cNvCxnSpPr>
            <a:cxnSpLocks noChangeShapeType="1"/>
            <a:stCxn id="7" idx="3"/>
            <a:endCxn id="9" idx="0"/>
          </p:cNvCxnSpPr>
          <p:nvPr/>
        </p:nvCxnSpPr>
        <p:spPr bwMode="auto">
          <a:xfrm>
            <a:off x="6876057" y="3648113"/>
            <a:ext cx="849789" cy="1021187"/>
          </a:xfrm>
          <a:prstGeom prst="bentConnector2">
            <a:avLst/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" name="Rectangle 53"/>
          <p:cNvSpPr>
            <a:spLocks noChangeArrowheads="1"/>
          </p:cNvSpPr>
          <p:nvPr/>
        </p:nvSpPr>
        <p:spPr bwMode="auto">
          <a:xfrm>
            <a:off x="396084" y="4994370"/>
            <a:ext cx="161036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Start point</a:t>
            </a:r>
          </a:p>
        </p:txBody>
      </p:sp>
      <p:sp>
        <p:nvSpPr>
          <p:cNvPr id="23" name="TextBox 34"/>
          <p:cNvSpPr txBox="1">
            <a:spLocks noChangeArrowheads="1"/>
          </p:cNvSpPr>
          <p:nvPr/>
        </p:nvSpPr>
        <p:spPr bwMode="auto">
          <a:xfrm>
            <a:off x="673193" y="3637336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4</a:t>
            </a:r>
            <a:endParaRPr lang="en-GB" altLang="en-US" dirty="0"/>
          </a:p>
        </p:txBody>
      </p:sp>
      <p:sp>
        <p:nvSpPr>
          <p:cNvPr id="24" name="TextBox 34"/>
          <p:cNvSpPr txBox="1">
            <a:spLocks noChangeArrowheads="1"/>
          </p:cNvSpPr>
          <p:nvPr/>
        </p:nvSpPr>
        <p:spPr bwMode="auto">
          <a:xfrm>
            <a:off x="2176058" y="5101975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2</a:t>
            </a:r>
            <a:endParaRPr lang="en-GB" altLang="en-US" dirty="0"/>
          </a:p>
        </p:txBody>
      </p:sp>
      <p:sp>
        <p:nvSpPr>
          <p:cNvPr id="26" name="TextBox 34"/>
          <p:cNvSpPr txBox="1">
            <a:spLocks noChangeArrowheads="1"/>
          </p:cNvSpPr>
          <p:nvPr/>
        </p:nvSpPr>
        <p:spPr bwMode="auto">
          <a:xfrm>
            <a:off x="3000226" y="3789374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6</a:t>
            </a:r>
            <a:endParaRPr lang="en-GB" altLang="en-US" dirty="0"/>
          </a:p>
        </p:txBody>
      </p:sp>
      <p:sp>
        <p:nvSpPr>
          <p:cNvPr id="27" name="TextBox 34"/>
          <p:cNvSpPr txBox="1">
            <a:spLocks noChangeArrowheads="1"/>
          </p:cNvSpPr>
          <p:nvPr/>
        </p:nvSpPr>
        <p:spPr bwMode="auto">
          <a:xfrm>
            <a:off x="4592586" y="3667293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28" name="TextBox 34"/>
          <p:cNvSpPr txBox="1">
            <a:spLocks noChangeArrowheads="1"/>
          </p:cNvSpPr>
          <p:nvPr/>
        </p:nvSpPr>
        <p:spPr bwMode="auto">
          <a:xfrm>
            <a:off x="5438060" y="4036625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29" name="TextBox 34"/>
          <p:cNvSpPr txBox="1">
            <a:spLocks noChangeArrowheads="1"/>
          </p:cNvSpPr>
          <p:nvPr/>
        </p:nvSpPr>
        <p:spPr bwMode="auto">
          <a:xfrm>
            <a:off x="7119996" y="4012752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31" name="TextBox 34"/>
          <p:cNvSpPr txBox="1">
            <a:spLocks noChangeArrowheads="1"/>
          </p:cNvSpPr>
          <p:nvPr/>
        </p:nvSpPr>
        <p:spPr bwMode="auto">
          <a:xfrm>
            <a:off x="6952971" y="2504547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32" name="TextBox 34"/>
          <p:cNvSpPr txBox="1">
            <a:spLocks noChangeArrowheads="1"/>
          </p:cNvSpPr>
          <p:nvPr/>
        </p:nvSpPr>
        <p:spPr bwMode="auto">
          <a:xfrm>
            <a:off x="8104207" y="3202012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3</a:t>
            </a:r>
            <a:endParaRPr lang="en-GB" altLang="en-US" dirty="0"/>
          </a:p>
        </p:txBody>
      </p:sp>
      <p:sp>
        <p:nvSpPr>
          <p:cNvPr id="34" name="TextBox 34"/>
          <p:cNvSpPr txBox="1">
            <a:spLocks noChangeArrowheads="1"/>
          </p:cNvSpPr>
          <p:nvPr/>
        </p:nvSpPr>
        <p:spPr bwMode="auto">
          <a:xfrm>
            <a:off x="5946105" y="5140240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2</a:t>
            </a:r>
            <a:endParaRPr lang="en-GB" altLang="en-US" dirty="0"/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4612329" y="2233937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7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03475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79" y="1097280"/>
            <a:ext cx="8812213" cy="4525963"/>
          </a:xfrm>
        </p:spPr>
        <p:txBody>
          <a:bodyPr/>
          <a:lstStyle/>
          <a:p>
            <a:r>
              <a:rPr lang="en-US" sz="2400" dirty="0">
                <a:effectLst/>
              </a:rPr>
              <a:t>The objective is to find a route that achieves: </a:t>
            </a:r>
          </a:p>
          <a:p>
            <a:pPr lvl="1"/>
            <a:r>
              <a:rPr lang="en-US" sz="2200" dirty="0">
                <a:effectLst/>
              </a:rPr>
              <a:t>Send every customer to his/her destination</a:t>
            </a:r>
          </a:p>
          <a:p>
            <a:pPr lvl="1"/>
            <a:r>
              <a:rPr lang="en-US" sz="2200" dirty="0">
                <a:effectLst/>
              </a:rPr>
              <a:t>Minimizes the total time/distance traveled</a:t>
            </a:r>
          </a:p>
          <a:p>
            <a:pPr marL="454025" lvl="1" indent="0">
              <a:buNone/>
            </a:pPr>
            <a:endParaRPr lang="en-US" sz="2200" b="1" u="sng" dirty="0">
              <a:solidFill>
                <a:srgbClr val="FF0000"/>
              </a:solidFill>
              <a:effectLst/>
            </a:endParaRPr>
          </a:p>
          <a:p>
            <a:endParaRPr lang="en-US" sz="2400" u="sng" dirty="0">
              <a:effectLst/>
            </a:endParaRPr>
          </a:p>
          <a:p>
            <a:r>
              <a:rPr lang="en-US" sz="2400" dirty="0">
                <a:effectLst/>
              </a:rPr>
              <a:t>Assumptions:</a:t>
            </a:r>
          </a:p>
          <a:p>
            <a:pPr lvl="1"/>
            <a:r>
              <a:rPr lang="en-US" sz="2200" dirty="0">
                <a:effectLst/>
              </a:rPr>
              <a:t>We know every positions in advance</a:t>
            </a:r>
          </a:p>
          <a:p>
            <a:pPr lvl="1"/>
            <a:r>
              <a:rPr lang="en-US" sz="2200" dirty="0">
                <a:effectLst/>
              </a:rPr>
              <a:t>The vehicle has unlimited capacity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How should we model the problem?</a:t>
            </a:r>
          </a:p>
          <a:p>
            <a:pPr algn="just">
              <a:buNone/>
            </a:pPr>
            <a:r>
              <a:rPr lang="en-US" dirty="0"/>
              <a:t>	</a:t>
            </a:r>
            <a:endParaRPr lang="en-US" sz="1600" dirty="0"/>
          </a:p>
          <a:p>
            <a:pPr algn="just">
              <a:buNone/>
            </a:pPr>
            <a:endParaRPr lang="en-US" sz="1600" dirty="0"/>
          </a:p>
          <a:p>
            <a:pPr algn="just">
              <a:buNone/>
            </a:pPr>
            <a:r>
              <a:rPr lang="en-US" sz="1600" dirty="0"/>
              <a:t>	</a:t>
            </a:r>
          </a:p>
          <a:p>
            <a:pPr algn="just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870295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462" y="1139825"/>
                <a:ext cx="8741527" cy="5164722"/>
              </a:xfrm>
            </p:spPr>
            <p:txBody>
              <a:bodyPr/>
              <a:lstStyle/>
              <a:p>
                <a:r>
                  <a:rPr lang="en-GB" altLang="en-US" dirty="0">
                    <a:effectLst/>
                  </a:rPr>
                  <a:t>Graph is not complete.</a:t>
                </a:r>
              </a:p>
              <a:p>
                <a:pPr lvl="1"/>
                <a:r>
                  <a:rPr lang="en-GB" altLang="en-US" dirty="0">
                    <a:effectLst/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altLang="en-US" dirty="0">
                    <a:effectLst/>
                  </a:rPr>
                  <a:t> if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en-US" dirty="0">
                    <a:effectLst/>
                  </a:rPr>
                  <a:t> is not in the graph.</a:t>
                </a:r>
              </a:p>
              <a:p>
                <a:pPr marL="0" indent="0">
                  <a:buNone/>
                </a:pPr>
                <a:endParaRPr lang="en-GB" altLang="en-US" dirty="0">
                  <a:effectLst/>
                </a:endParaRPr>
              </a:p>
              <a:p>
                <a:r>
                  <a:rPr lang="en-GB" altLang="en-US" dirty="0">
                    <a:effectLst/>
                  </a:rPr>
                  <a:t>It is not required to return to the starting node.</a:t>
                </a:r>
              </a:p>
              <a:p>
                <a:pPr lvl="1"/>
                <a:r>
                  <a:rPr lang="en-GB" altLang="en-US" dirty="0">
                    <a:effectLst/>
                  </a:rPr>
                  <a:t>We can assign 0 cost to all arcs flowing into the starting node.</a:t>
                </a:r>
              </a:p>
            </p:txBody>
          </p:sp>
        </mc:Choice>
        <mc:Fallback xmlns="">
          <p:sp>
            <p:nvSpPr>
              <p:cNvPr id="6656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62" y="1139825"/>
                <a:ext cx="8741527" cy="5164722"/>
              </a:xfrm>
              <a:blipFill rotWithShape="0">
                <a:blip r:embed="rId2"/>
                <a:stretch>
                  <a:fillRect l="-1325" t="-1181" r="-20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6920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Modification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7444" y="4497573"/>
            <a:ext cx="1720334" cy="368337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1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47778" y="3124938"/>
            <a:ext cx="1720334" cy="36833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2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155723" y="3463944"/>
            <a:ext cx="1720334" cy="36833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5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482533" y="4865910"/>
            <a:ext cx="1759318" cy="368337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3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51584" y="4669300"/>
            <a:ext cx="1748524" cy="36833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4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740434" y="1848994"/>
            <a:ext cx="1831484" cy="36833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6</a:t>
            </a:r>
          </a:p>
        </p:txBody>
      </p:sp>
      <p:cxnSp>
        <p:nvCxnSpPr>
          <p:cNvPr id="11" name="AutoShape 8"/>
          <p:cNvCxnSpPr>
            <a:cxnSpLocks noChangeShapeType="1"/>
            <a:stCxn id="5" idx="0"/>
            <a:endCxn id="6" idx="1"/>
          </p:cNvCxnSpPr>
          <p:nvPr/>
        </p:nvCxnSpPr>
        <p:spPr bwMode="auto">
          <a:xfrm rot="5400000" flipH="1" flipV="1">
            <a:off x="1123461" y="3473257"/>
            <a:ext cx="1188466" cy="860167"/>
          </a:xfrm>
          <a:prstGeom prst="bentConnector2">
            <a:avLst/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" name="AutoShape 8"/>
          <p:cNvCxnSpPr>
            <a:cxnSpLocks noChangeShapeType="1"/>
            <a:endCxn id="8" idx="1"/>
          </p:cNvCxnSpPr>
          <p:nvPr/>
        </p:nvCxnSpPr>
        <p:spPr bwMode="auto">
          <a:xfrm>
            <a:off x="2140721" y="4681741"/>
            <a:ext cx="1341812" cy="368338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" name="AutoShape 8"/>
          <p:cNvCxnSpPr>
            <a:cxnSpLocks noChangeShapeType="1"/>
            <a:endCxn id="9" idx="1"/>
          </p:cNvCxnSpPr>
          <p:nvPr/>
        </p:nvCxnSpPr>
        <p:spPr bwMode="auto">
          <a:xfrm flipV="1">
            <a:off x="5241851" y="4853469"/>
            <a:ext cx="1609733" cy="205712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" name="AutoShape 8"/>
          <p:cNvCxnSpPr>
            <a:cxnSpLocks noChangeShapeType="1"/>
          </p:cNvCxnSpPr>
          <p:nvPr/>
        </p:nvCxnSpPr>
        <p:spPr bwMode="auto">
          <a:xfrm>
            <a:off x="3868112" y="3330650"/>
            <a:ext cx="1287611" cy="324202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" name="AutoShape 8"/>
          <p:cNvCxnSpPr>
            <a:cxnSpLocks noChangeShapeType="1"/>
            <a:endCxn id="10" idx="1"/>
          </p:cNvCxnSpPr>
          <p:nvPr/>
        </p:nvCxnSpPr>
        <p:spPr bwMode="auto">
          <a:xfrm flipV="1">
            <a:off x="3868112" y="2033163"/>
            <a:ext cx="2872322" cy="1291268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" name="AutoShape 8"/>
          <p:cNvCxnSpPr>
            <a:cxnSpLocks noChangeShapeType="1"/>
            <a:endCxn id="10" idx="2"/>
          </p:cNvCxnSpPr>
          <p:nvPr/>
        </p:nvCxnSpPr>
        <p:spPr bwMode="auto">
          <a:xfrm rot="5400000" flipH="1" flipV="1">
            <a:off x="6729956" y="2721892"/>
            <a:ext cx="1430781" cy="421660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" name="AutoShape 8"/>
          <p:cNvCxnSpPr>
            <a:cxnSpLocks noChangeShapeType="1"/>
            <a:stCxn id="6" idx="2"/>
            <a:endCxn id="8" idx="0"/>
          </p:cNvCxnSpPr>
          <p:nvPr/>
        </p:nvCxnSpPr>
        <p:spPr bwMode="auto">
          <a:xfrm rot="16200000" flipH="1">
            <a:off x="2998751" y="3502468"/>
            <a:ext cx="1372635" cy="1354247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" name="AutoShape 8"/>
          <p:cNvCxnSpPr>
            <a:cxnSpLocks noChangeShapeType="1"/>
            <a:stCxn id="9" idx="3"/>
            <a:endCxn id="10" idx="3"/>
          </p:cNvCxnSpPr>
          <p:nvPr/>
        </p:nvCxnSpPr>
        <p:spPr bwMode="auto">
          <a:xfrm flipH="1" flipV="1">
            <a:off x="8571918" y="2033163"/>
            <a:ext cx="28190" cy="2820306"/>
          </a:xfrm>
          <a:prstGeom prst="bentConnector3">
            <a:avLst>
              <a:gd name="adj1" fmla="val -810926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" name="AutoShape 8"/>
          <p:cNvCxnSpPr>
            <a:cxnSpLocks noChangeShapeType="1"/>
            <a:endCxn id="7" idx="2"/>
          </p:cNvCxnSpPr>
          <p:nvPr/>
        </p:nvCxnSpPr>
        <p:spPr bwMode="auto">
          <a:xfrm rot="5400000" flipH="1" flipV="1">
            <a:off x="5218001" y="4270500"/>
            <a:ext cx="1236108" cy="359670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" name="AutoShape 8"/>
          <p:cNvCxnSpPr>
            <a:cxnSpLocks noChangeShapeType="1"/>
            <a:stCxn id="7" idx="3"/>
            <a:endCxn id="9" idx="0"/>
          </p:cNvCxnSpPr>
          <p:nvPr/>
        </p:nvCxnSpPr>
        <p:spPr bwMode="auto">
          <a:xfrm>
            <a:off x="6876057" y="3648113"/>
            <a:ext cx="849789" cy="1021187"/>
          </a:xfrm>
          <a:prstGeom prst="bentConnector2">
            <a:avLst/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" name="Rectangle 53"/>
          <p:cNvSpPr>
            <a:spLocks noChangeArrowheads="1"/>
          </p:cNvSpPr>
          <p:nvPr/>
        </p:nvSpPr>
        <p:spPr bwMode="auto">
          <a:xfrm>
            <a:off x="396084" y="4994370"/>
            <a:ext cx="161036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Start point</a:t>
            </a:r>
          </a:p>
        </p:txBody>
      </p:sp>
      <p:sp>
        <p:nvSpPr>
          <p:cNvPr id="23" name="TextBox 34"/>
          <p:cNvSpPr txBox="1">
            <a:spLocks noChangeArrowheads="1"/>
          </p:cNvSpPr>
          <p:nvPr/>
        </p:nvSpPr>
        <p:spPr bwMode="auto">
          <a:xfrm>
            <a:off x="673193" y="3637336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4</a:t>
            </a:r>
            <a:endParaRPr lang="en-GB" altLang="en-US" dirty="0"/>
          </a:p>
        </p:txBody>
      </p:sp>
      <p:sp>
        <p:nvSpPr>
          <p:cNvPr id="24" name="TextBox 34"/>
          <p:cNvSpPr txBox="1">
            <a:spLocks noChangeArrowheads="1"/>
          </p:cNvSpPr>
          <p:nvPr/>
        </p:nvSpPr>
        <p:spPr bwMode="auto">
          <a:xfrm>
            <a:off x="2176058" y="5101975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2</a:t>
            </a:r>
            <a:endParaRPr lang="en-GB" altLang="en-US" dirty="0"/>
          </a:p>
        </p:txBody>
      </p:sp>
      <p:sp>
        <p:nvSpPr>
          <p:cNvPr id="26" name="TextBox 34"/>
          <p:cNvSpPr txBox="1">
            <a:spLocks noChangeArrowheads="1"/>
          </p:cNvSpPr>
          <p:nvPr/>
        </p:nvSpPr>
        <p:spPr bwMode="auto">
          <a:xfrm>
            <a:off x="3000226" y="3789374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6</a:t>
            </a:r>
            <a:endParaRPr lang="en-GB" altLang="en-US" dirty="0"/>
          </a:p>
        </p:txBody>
      </p:sp>
      <p:sp>
        <p:nvSpPr>
          <p:cNvPr id="27" name="TextBox 34"/>
          <p:cNvSpPr txBox="1">
            <a:spLocks noChangeArrowheads="1"/>
          </p:cNvSpPr>
          <p:nvPr/>
        </p:nvSpPr>
        <p:spPr bwMode="auto">
          <a:xfrm>
            <a:off x="4592586" y="3667293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28" name="TextBox 34"/>
          <p:cNvSpPr txBox="1">
            <a:spLocks noChangeArrowheads="1"/>
          </p:cNvSpPr>
          <p:nvPr/>
        </p:nvSpPr>
        <p:spPr bwMode="auto">
          <a:xfrm>
            <a:off x="5438060" y="4036625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29" name="TextBox 34"/>
          <p:cNvSpPr txBox="1">
            <a:spLocks noChangeArrowheads="1"/>
          </p:cNvSpPr>
          <p:nvPr/>
        </p:nvSpPr>
        <p:spPr bwMode="auto">
          <a:xfrm>
            <a:off x="7119996" y="4012752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31" name="TextBox 34"/>
          <p:cNvSpPr txBox="1">
            <a:spLocks noChangeArrowheads="1"/>
          </p:cNvSpPr>
          <p:nvPr/>
        </p:nvSpPr>
        <p:spPr bwMode="auto">
          <a:xfrm>
            <a:off x="6952971" y="2504547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32" name="TextBox 34"/>
          <p:cNvSpPr txBox="1">
            <a:spLocks noChangeArrowheads="1"/>
          </p:cNvSpPr>
          <p:nvPr/>
        </p:nvSpPr>
        <p:spPr bwMode="auto">
          <a:xfrm>
            <a:off x="8104207" y="3202012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3</a:t>
            </a:r>
            <a:endParaRPr lang="en-GB" altLang="en-US" dirty="0"/>
          </a:p>
        </p:txBody>
      </p:sp>
      <p:sp>
        <p:nvSpPr>
          <p:cNvPr id="34" name="TextBox 34"/>
          <p:cNvSpPr txBox="1">
            <a:spLocks noChangeArrowheads="1"/>
          </p:cNvSpPr>
          <p:nvPr/>
        </p:nvSpPr>
        <p:spPr bwMode="auto">
          <a:xfrm>
            <a:off x="5946105" y="5140240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2</a:t>
            </a:r>
            <a:endParaRPr lang="en-GB" altLang="en-US" dirty="0"/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4612329" y="2233937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7</a:t>
            </a:r>
            <a:endParaRPr lang="en-GB" altLang="en-US" dirty="0"/>
          </a:p>
        </p:txBody>
      </p:sp>
      <p:cxnSp>
        <p:nvCxnSpPr>
          <p:cNvPr id="12" name="Curved Connector 11"/>
          <p:cNvCxnSpPr/>
          <p:nvPr/>
        </p:nvCxnSpPr>
        <p:spPr bwMode="auto">
          <a:xfrm rot="5400000" flipH="1" flipV="1">
            <a:off x="2791813" y="545519"/>
            <a:ext cx="2464410" cy="5452823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37" name="TextBox 34"/>
          <p:cNvSpPr txBox="1">
            <a:spLocks noChangeArrowheads="1"/>
          </p:cNvSpPr>
          <p:nvPr/>
        </p:nvSpPr>
        <p:spPr bwMode="auto">
          <a:xfrm>
            <a:off x="3197011" y="2183019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33CC"/>
                </a:solidFill>
              </a:rPr>
              <a:t>1000</a:t>
            </a:r>
            <a:endParaRPr lang="en-GB" altLang="en-US" dirty="0">
              <a:solidFill>
                <a:srgbClr val="0033CC"/>
              </a:solidFill>
            </a:endParaRPr>
          </a:p>
        </p:txBody>
      </p:sp>
      <p:sp>
        <p:nvSpPr>
          <p:cNvPr id="15" name="Freeform 14"/>
          <p:cNvSpPr/>
          <p:nvPr/>
        </p:nvSpPr>
        <p:spPr bwMode="auto">
          <a:xfrm>
            <a:off x="1177542" y="1842682"/>
            <a:ext cx="1830834" cy="2628734"/>
          </a:xfrm>
          <a:custGeom>
            <a:avLst/>
            <a:gdLst>
              <a:gd name="connsiteX0" fmla="*/ 1830834 w 1830834"/>
              <a:gd name="connsiteY0" fmla="*/ 1284566 h 2628734"/>
              <a:gd name="connsiteX1" fmla="*/ 148338 w 1830834"/>
              <a:gd name="connsiteY1" fmla="*/ 40982 h 2628734"/>
              <a:gd name="connsiteX2" fmla="*/ 84330 w 1830834"/>
              <a:gd name="connsiteY2" fmla="*/ 2628734 h 2628734"/>
              <a:gd name="connsiteX3" fmla="*/ 84330 w 1830834"/>
              <a:gd name="connsiteY3" fmla="*/ 2628734 h 2628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0834" h="2628734">
                <a:moveTo>
                  <a:pt x="1830834" y="1284566"/>
                </a:moveTo>
                <a:cubicBezTo>
                  <a:pt x="1135128" y="550760"/>
                  <a:pt x="439422" y="-183046"/>
                  <a:pt x="148338" y="40982"/>
                </a:cubicBezTo>
                <a:cubicBezTo>
                  <a:pt x="-142746" y="265010"/>
                  <a:pt x="84330" y="2628734"/>
                  <a:pt x="84330" y="2628734"/>
                </a:cubicBezTo>
                <a:lnTo>
                  <a:pt x="84330" y="2628734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9" name="TextBox 34"/>
          <p:cNvSpPr txBox="1">
            <a:spLocks noChangeArrowheads="1"/>
          </p:cNvSpPr>
          <p:nvPr/>
        </p:nvSpPr>
        <p:spPr bwMode="auto">
          <a:xfrm>
            <a:off x="1029586" y="1473847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0</a:t>
            </a: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16" name="Freeform 15"/>
          <p:cNvSpPr/>
          <p:nvPr/>
        </p:nvSpPr>
        <p:spPr bwMode="auto">
          <a:xfrm>
            <a:off x="1324629" y="4891061"/>
            <a:ext cx="3081528" cy="1348793"/>
          </a:xfrm>
          <a:custGeom>
            <a:avLst/>
            <a:gdLst>
              <a:gd name="connsiteX0" fmla="*/ 3081528 w 3081528"/>
              <a:gd name="connsiteY0" fmla="*/ 356616 h 1348793"/>
              <a:gd name="connsiteX1" fmla="*/ 1673352 w 3081528"/>
              <a:gd name="connsiteY1" fmla="*/ 1344168 h 1348793"/>
              <a:gd name="connsiteX2" fmla="*/ 0 w 3081528"/>
              <a:gd name="connsiteY2" fmla="*/ 0 h 1348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1528" h="1348793">
                <a:moveTo>
                  <a:pt x="3081528" y="356616"/>
                </a:moveTo>
                <a:cubicBezTo>
                  <a:pt x="2634234" y="880110"/>
                  <a:pt x="2186940" y="1403604"/>
                  <a:pt x="1673352" y="1344168"/>
                </a:cubicBezTo>
                <a:cubicBezTo>
                  <a:pt x="1159764" y="1284732"/>
                  <a:pt x="877824" y="1365504"/>
                  <a:pt x="0" y="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1" name="TextBox 34"/>
          <p:cNvSpPr txBox="1">
            <a:spLocks noChangeArrowheads="1"/>
          </p:cNvSpPr>
          <p:nvPr/>
        </p:nvSpPr>
        <p:spPr bwMode="auto">
          <a:xfrm>
            <a:off x="3648154" y="5734240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0</a:t>
            </a:r>
            <a:endParaRPr lang="en-GB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50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15" grpId="0" animBg="1"/>
      <p:bldP spid="39" grpId="0"/>
      <p:bldP spid="16" grpId="0" animBg="1"/>
      <p:bldP spid="4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TSP: Data</a:t>
            </a:r>
            <a:endParaRPr lang="en-GB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116"/>
            <a:ext cx="9160301" cy="334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9468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TSP: Model</a:t>
            </a:r>
            <a:endParaRPr lang="en-GB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9608"/>
            <a:ext cx="9117013" cy="486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324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Solution: Optimal Value 9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7444" y="4497573"/>
            <a:ext cx="1720334" cy="368337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</a:t>
            </a:r>
            <a:r>
              <a:rPr lang="en-US" altLang="en-US" sz="1000" b="1" dirty="0"/>
              <a:t>1. Pick up passenger 1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47778" y="3124938"/>
            <a:ext cx="1720334" cy="36833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000" b="1" dirty="0"/>
              <a:t>2.  Pick up passenger 2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155723" y="3463944"/>
            <a:ext cx="1720334" cy="36833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000" b="1" dirty="0"/>
              <a:t>5. Pick up passenger 3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482533" y="4865910"/>
            <a:ext cx="1759318" cy="368337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</a:t>
            </a:r>
            <a:r>
              <a:rPr lang="en-US" altLang="en-US" sz="1000" b="1" dirty="0"/>
              <a:t>3. Drop off passenger 1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51584" y="4669300"/>
            <a:ext cx="1748524" cy="36833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</a:t>
            </a:r>
            <a:r>
              <a:rPr lang="en-US" altLang="en-US" sz="1000" b="1" dirty="0"/>
              <a:t>4. Drop off passenger 2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740434" y="1848994"/>
            <a:ext cx="1831484" cy="36833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000" b="1" dirty="0"/>
              <a:t> 6. Drop off passenger 3</a:t>
            </a:r>
          </a:p>
        </p:txBody>
      </p:sp>
      <p:cxnSp>
        <p:nvCxnSpPr>
          <p:cNvPr id="11" name="AutoShape 8"/>
          <p:cNvCxnSpPr>
            <a:cxnSpLocks noChangeShapeType="1"/>
            <a:stCxn id="5" idx="0"/>
            <a:endCxn id="6" idx="1"/>
          </p:cNvCxnSpPr>
          <p:nvPr/>
        </p:nvCxnSpPr>
        <p:spPr bwMode="auto">
          <a:xfrm rot="5400000" flipH="1" flipV="1">
            <a:off x="1123461" y="3473257"/>
            <a:ext cx="1188466" cy="860167"/>
          </a:xfrm>
          <a:prstGeom prst="bentConnector2">
            <a:avLst/>
          </a:prstGeom>
          <a:noFill/>
          <a:ln w="25560" cap="flat">
            <a:solidFill>
              <a:srgbClr val="FF0000"/>
            </a:solidFill>
            <a:prstDash val="sysDash"/>
            <a:round/>
            <a:headEnd type="arrow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" name="AutoShape 8"/>
          <p:cNvCxnSpPr>
            <a:cxnSpLocks noChangeShapeType="1"/>
            <a:endCxn id="8" idx="1"/>
          </p:cNvCxnSpPr>
          <p:nvPr/>
        </p:nvCxnSpPr>
        <p:spPr bwMode="auto">
          <a:xfrm>
            <a:off x="2140721" y="4681741"/>
            <a:ext cx="1341812" cy="368338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" name="AutoShape 8"/>
          <p:cNvCxnSpPr>
            <a:cxnSpLocks noChangeShapeType="1"/>
            <a:endCxn id="9" idx="1"/>
          </p:cNvCxnSpPr>
          <p:nvPr/>
        </p:nvCxnSpPr>
        <p:spPr bwMode="auto">
          <a:xfrm flipV="1">
            <a:off x="5241851" y="4853469"/>
            <a:ext cx="1609733" cy="205712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" name="AutoShape 8"/>
          <p:cNvCxnSpPr>
            <a:cxnSpLocks noChangeShapeType="1"/>
          </p:cNvCxnSpPr>
          <p:nvPr/>
        </p:nvCxnSpPr>
        <p:spPr bwMode="auto">
          <a:xfrm>
            <a:off x="3868112" y="3330650"/>
            <a:ext cx="1287611" cy="324202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 type="arrow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" name="AutoShape 8"/>
          <p:cNvCxnSpPr>
            <a:cxnSpLocks noChangeShapeType="1"/>
            <a:stCxn id="7" idx="3"/>
            <a:endCxn id="10" idx="2"/>
          </p:cNvCxnSpPr>
          <p:nvPr/>
        </p:nvCxnSpPr>
        <p:spPr bwMode="auto">
          <a:xfrm flipV="1">
            <a:off x="6876057" y="2217331"/>
            <a:ext cx="780119" cy="1430782"/>
          </a:xfrm>
          <a:prstGeom prst="bentConnector2">
            <a:avLst/>
          </a:prstGeom>
          <a:noFill/>
          <a:ln w="25560" cap="flat">
            <a:solidFill>
              <a:schemeClr val="tx1"/>
            </a:solidFill>
            <a:round/>
            <a:headEnd type="arrow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" name="AutoShape 8"/>
          <p:cNvCxnSpPr>
            <a:cxnSpLocks noChangeShapeType="1"/>
            <a:stCxn id="9" idx="3"/>
            <a:endCxn id="10" idx="3"/>
          </p:cNvCxnSpPr>
          <p:nvPr/>
        </p:nvCxnSpPr>
        <p:spPr bwMode="auto">
          <a:xfrm flipH="1" flipV="1">
            <a:off x="8571918" y="2033163"/>
            <a:ext cx="28190" cy="2820306"/>
          </a:xfrm>
          <a:prstGeom prst="bentConnector3">
            <a:avLst>
              <a:gd name="adj1" fmla="val -810926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" name="Rectangle 53"/>
          <p:cNvSpPr>
            <a:spLocks noChangeArrowheads="1"/>
          </p:cNvSpPr>
          <p:nvPr/>
        </p:nvSpPr>
        <p:spPr bwMode="auto">
          <a:xfrm>
            <a:off x="396084" y="4994370"/>
            <a:ext cx="161036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Start point</a:t>
            </a:r>
          </a:p>
        </p:txBody>
      </p:sp>
      <p:sp>
        <p:nvSpPr>
          <p:cNvPr id="23" name="TextBox 34"/>
          <p:cNvSpPr txBox="1">
            <a:spLocks noChangeArrowheads="1"/>
          </p:cNvSpPr>
          <p:nvPr/>
        </p:nvSpPr>
        <p:spPr bwMode="auto">
          <a:xfrm>
            <a:off x="717496" y="3336714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0</a:t>
            </a: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24" name="TextBox 34"/>
          <p:cNvSpPr txBox="1">
            <a:spLocks noChangeArrowheads="1"/>
          </p:cNvSpPr>
          <p:nvPr/>
        </p:nvSpPr>
        <p:spPr bwMode="auto">
          <a:xfrm>
            <a:off x="2176058" y="5101975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2</a:t>
            </a:r>
            <a:endParaRPr lang="en-GB" altLang="en-US" dirty="0"/>
          </a:p>
        </p:txBody>
      </p:sp>
      <p:sp>
        <p:nvSpPr>
          <p:cNvPr id="27" name="TextBox 34"/>
          <p:cNvSpPr txBox="1">
            <a:spLocks noChangeArrowheads="1"/>
          </p:cNvSpPr>
          <p:nvPr/>
        </p:nvSpPr>
        <p:spPr bwMode="auto">
          <a:xfrm>
            <a:off x="4288774" y="3677444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31" name="TextBox 34"/>
          <p:cNvSpPr txBox="1">
            <a:spLocks noChangeArrowheads="1"/>
          </p:cNvSpPr>
          <p:nvPr/>
        </p:nvSpPr>
        <p:spPr bwMode="auto">
          <a:xfrm>
            <a:off x="7031946" y="2767323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32" name="TextBox 34"/>
          <p:cNvSpPr txBox="1">
            <a:spLocks noChangeArrowheads="1"/>
          </p:cNvSpPr>
          <p:nvPr/>
        </p:nvSpPr>
        <p:spPr bwMode="auto">
          <a:xfrm>
            <a:off x="8163668" y="3312101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3</a:t>
            </a:r>
            <a:endParaRPr lang="en-GB" altLang="en-US" dirty="0"/>
          </a:p>
        </p:txBody>
      </p:sp>
      <p:sp>
        <p:nvSpPr>
          <p:cNvPr id="34" name="TextBox 34"/>
          <p:cNvSpPr txBox="1">
            <a:spLocks noChangeArrowheads="1"/>
          </p:cNvSpPr>
          <p:nvPr/>
        </p:nvSpPr>
        <p:spPr bwMode="auto">
          <a:xfrm>
            <a:off x="5946105" y="5140240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2</a:t>
            </a:r>
            <a:endParaRPr lang="en-GB" alt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184614" y="1878791"/>
            <a:ext cx="59528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Is this solution feasible?</a:t>
            </a:r>
            <a:endParaRPr lang="en-GB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56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41388"/>
            <a:ext cx="8955882" cy="516549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effectLst/>
              </a:rPr>
              <a:t>In order to get a feasible solution, we need to impose precedence constraints:</a:t>
            </a:r>
          </a:p>
          <a:p>
            <a:pPr lvl="1"/>
            <a:r>
              <a:rPr lang="en-US" dirty="0">
                <a:effectLst/>
              </a:rPr>
              <a:t>Node 1 (pick customer 1) need to be traveled before node 3 (drop customer 1) .</a:t>
            </a:r>
          </a:p>
          <a:p>
            <a:pPr lvl="1"/>
            <a:r>
              <a:rPr lang="en-US" dirty="0">
                <a:effectLst/>
              </a:rPr>
              <a:t>Node 2 (pick customer 2) need to be traveled before node 4 (drop customer 2) .</a:t>
            </a:r>
          </a:p>
          <a:p>
            <a:pPr lvl="1"/>
            <a:r>
              <a:rPr lang="en-US" dirty="0">
                <a:effectLst/>
              </a:rPr>
              <a:t>Node 5 (pick customer 3) need to be traveled before node 6 (drop customer 3) 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algn="just">
              <a:buNone/>
            </a:pPr>
            <a:r>
              <a:rPr lang="en-US" dirty="0"/>
              <a:t>	</a:t>
            </a:r>
            <a:endParaRPr lang="en-US" sz="1600" dirty="0"/>
          </a:p>
          <a:p>
            <a:pPr algn="just">
              <a:buNone/>
            </a:pPr>
            <a:endParaRPr lang="en-US" sz="1600" dirty="0"/>
          </a:p>
          <a:p>
            <a:pPr algn="just">
              <a:buNone/>
            </a:pPr>
            <a:r>
              <a:rPr lang="en-US" sz="1600" dirty="0"/>
              <a:t>	</a:t>
            </a:r>
          </a:p>
          <a:p>
            <a:pPr algn="just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604311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7462" y="9525"/>
            <a:ext cx="9126537" cy="931863"/>
          </a:xfrm>
        </p:spPr>
        <p:txBody>
          <a:bodyPr/>
          <a:lstStyle/>
          <a:p>
            <a:r>
              <a:rPr lang="en-US" sz="2800" dirty="0"/>
              <a:t>Precedence Constraints</a:t>
            </a:r>
            <a:endParaRPr lang="en-GB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4464" y="1124713"/>
                <a:ext cx="8741527" cy="4496442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Recall the meaning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en-US" dirty="0">
                    <a:effectLst/>
                  </a:rPr>
                  <a:t> at each node i: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en-US" sz="32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en-US" dirty="0">
                    <a:effectLst/>
                  </a:rPr>
                  <a:t> is the number of nodes visited so far.</a:t>
                </a:r>
              </a:p>
              <a:p>
                <a:endParaRPr lang="en-US" altLang="en-US" dirty="0">
                  <a:effectLst/>
                </a:endParaRPr>
              </a:p>
              <a:p>
                <a:r>
                  <a:rPr lang="en-US" altLang="en-US" dirty="0">
                    <a:effectLst/>
                  </a:rPr>
                  <a:t>If we define a precedent pairs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altLang="en-US" dirty="0">
                    <a:effectLst/>
                  </a:rPr>
                  <a:t> containing (1, 3), (2, 4) and (5, 6), then the precedence constraints can be expressed as</a:t>
                </a:r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4710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4464" y="1124713"/>
                <a:ext cx="8741527" cy="4496442"/>
              </a:xfrm>
              <a:blipFill rotWithShape="0">
                <a:blip r:embed="rId2"/>
                <a:stretch>
                  <a:fillRect l="-1255" t="-950" r="-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>
                <a:spLocks noChangeArrowheads="1"/>
              </p:cNvSpPr>
              <p:nvPr/>
            </p:nvSpPr>
            <p:spPr bwMode="auto">
              <a:xfrm>
                <a:off x="593533" y="4424964"/>
                <a:ext cx="7974394" cy="994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en-US" sz="28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en-US" sz="28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en-US" sz="28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en-US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en-US" sz="28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en-US" sz="2800" dirty="0">
                          <a:effectLst/>
                        </a:rPr>
                        <m:t> </m:t>
                      </m:r>
                      <m:r>
                        <a:rPr lang="en-US" altLang="en-US" sz="2800" b="1" i="1" dirty="0" smtClean="0">
                          <a:effectLst/>
                          <a:latin typeface="Cambria Math" panose="02040503050406030204" pitchFamily="18" charset="0"/>
                        </a:rPr>
                        <m:t>𝒇𝒐𝒓</m:t>
                      </m:r>
                      <m:r>
                        <a:rPr lang="en-US" altLang="en-US" sz="2800" b="1" i="1" dirty="0" smtClean="0"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en-US" sz="28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</m:t>
                      </m:r>
                      <m:r>
                        <a:rPr lang="en-US" altLang="en-US" sz="28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en-US" sz="28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𝒋</m:t>
                      </m:r>
                      <m:r>
                        <a:rPr lang="en-US" altLang="en-US" sz="28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)∈</m:t>
                      </m:r>
                      <m:r>
                        <a:rPr lang="en-US" altLang="en-US" sz="28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m:rPr>
                          <m:nor/>
                        </m:rPr>
                        <a:rPr lang="en-US" altLang="en-US" sz="2800" dirty="0">
                          <a:effectLst/>
                        </a:rPr>
                        <m:t> </m:t>
                      </m:r>
                    </m:oMath>
                  </m:oMathPara>
                </a14:m>
                <a:endParaRPr lang="en-US" altLang="en-US" sz="2800" dirty="0">
                  <a:effectLst/>
                </a:endParaRPr>
              </a:p>
              <a:p>
                <a:pPr eaLnBrk="1" hangingPunct="1"/>
                <a:endParaRPr lang="en-GB" altLang="en-US" sz="28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533" y="4424964"/>
                <a:ext cx="7974394" cy="99488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64790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Constraints</a:t>
            </a:r>
            <a:endParaRPr lang="en-GB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" y="1586847"/>
            <a:ext cx="9138462" cy="25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221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Solution: Optimal Value 11 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7444" y="4497573"/>
            <a:ext cx="1720334" cy="368337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1. Pick up passenger 1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47778" y="3124938"/>
            <a:ext cx="1720334" cy="36833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2. Pick up passenger 2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155723" y="3463944"/>
            <a:ext cx="1720334" cy="36833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5. Pick up passenger 3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482533" y="4865910"/>
            <a:ext cx="1759318" cy="368337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3. Drop off passenger 1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51584" y="4669300"/>
            <a:ext cx="1748524" cy="36833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4. Drop off passenger 2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740434" y="1848994"/>
            <a:ext cx="1831484" cy="36833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6. Drop off passenger 3</a:t>
            </a:r>
          </a:p>
        </p:txBody>
      </p:sp>
      <p:cxnSp>
        <p:nvCxnSpPr>
          <p:cNvPr id="11" name="AutoShape 8"/>
          <p:cNvCxnSpPr>
            <a:cxnSpLocks noChangeShapeType="1"/>
            <a:stCxn id="5" idx="0"/>
            <a:endCxn id="6" idx="1"/>
          </p:cNvCxnSpPr>
          <p:nvPr/>
        </p:nvCxnSpPr>
        <p:spPr bwMode="auto">
          <a:xfrm rot="5400000" flipH="1" flipV="1">
            <a:off x="1123461" y="3473257"/>
            <a:ext cx="1188466" cy="860167"/>
          </a:xfrm>
          <a:prstGeom prst="bentConnector2">
            <a:avLst/>
          </a:prstGeom>
          <a:noFill/>
          <a:ln w="25560" cap="flat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" name="AutoShape 8"/>
          <p:cNvCxnSpPr>
            <a:cxnSpLocks noChangeShapeType="1"/>
            <a:stCxn id="9" idx="2"/>
            <a:endCxn id="8" idx="2"/>
          </p:cNvCxnSpPr>
          <p:nvPr/>
        </p:nvCxnSpPr>
        <p:spPr bwMode="auto">
          <a:xfrm rot="5400000">
            <a:off x="5945714" y="3454115"/>
            <a:ext cx="196610" cy="3363654"/>
          </a:xfrm>
          <a:prstGeom prst="bentConnector3">
            <a:avLst>
              <a:gd name="adj1" fmla="val 216271"/>
            </a:avLst>
          </a:prstGeom>
          <a:noFill/>
          <a:ln w="25560" cap="flat">
            <a:solidFill>
              <a:schemeClr val="tx1"/>
            </a:solidFill>
            <a:round/>
            <a:headEnd type="arrow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" name="AutoShape 8"/>
          <p:cNvCxnSpPr>
            <a:cxnSpLocks noChangeShapeType="1"/>
          </p:cNvCxnSpPr>
          <p:nvPr/>
        </p:nvCxnSpPr>
        <p:spPr bwMode="auto">
          <a:xfrm>
            <a:off x="3868112" y="3330650"/>
            <a:ext cx="1287611" cy="324202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" name="AutoShape 8"/>
          <p:cNvCxnSpPr>
            <a:cxnSpLocks noChangeShapeType="1"/>
            <a:stCxn id="10" idx="3"/>
            <a:endCxn id="9" idx="3"/>
          </p:cNvCxnSpPr>
          <p:nvPr/>
        </p:nvCxnSpPr>
        <p:spPr bwMode="auto">
          <a:xfrm>
            <a:off x="8571918" y="2033163"/>
            <a:ext cx="28190" cy="2820306"/>
          </a:xfrm>
          <a:prstGeom prst="bentConnector3">
            <a:avLst>
              <a:gd name="adj1" fmla="val 910926"/>
            </a:avLst>
          </a:prstGeom>
          <a:noFill/>
          <a:ln w="25560" cap="flat">
            <a:solidFill>
              <a:schemeClr val="tx1"/>
            </a:solidFill>
            <a:round/>
            <a:headEnd type="arrow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" name="Rectangle 53"/>
          <p:cNvSpPr>
            <a:spLocks noChangeArrowheads="1"/>
          </p:cNvSpPr>
          <p:nvPr/>
        </p:nvSpPr>
        <p:spPr bwMode="auto">
          <a:xfrm>
            <a:off x="396084" y="4994370"/>
            <a:ext cx="161036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Start point</a:t>
            </a:r>
          </a:p>
        </p:txBody>
      </p:sp>
      <p:sp>
        <p:nvSpPr>
          <p:cNvPr id="23" name="TextBox 34"/>
          <p:cNvSpPr txBox="1">
            <a:spLocks noChangeArrowheads="1"/>
          </p:cNvSpPr>
          <p:nvPr/>
        </p:nvSpPr>
        <p:spPr bwMode="auto">
          <a:xfrm>
            <a:off x="673193" y="3637336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4</a:t>
            </a:r>
            <a:endParaRPr lang="en-GB" altLang="en-US" dirty="0"/>
          </a:p>
        </p:txBody>
      </p:sp>
      <p:sp>
        <p:nvSpPr>
          <p:cNvPr id="27" name="TextBox 34"/>
          <p:cNvSpPr txBox="1">
            <a:spLocks noChangeArrowheads="1"/>
          </p:cNvSpPr>
          <p:nvPr/>
        </p:nvSpPr>
        <p:spPr bwMode="auto">
          <a:xfrm>
            <a:off x="4592586" y="3667293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32" name="TextBox 34"/>
          <p:cNvSpPr txBox="1">
            <a:spLocks noChangeArrowheads="1"/>
          </p:cNvSpPr>
          <p:nvPr/>
        </p:nvSpPr>
        <p:spPr bwMode="auto">
          <a:xfrm>
            <a:off x="8149926" y="3341225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3</a:t>
            </a:r>
            <a:endParaRPr lang="en-GB" altLang="en-US" dirty="0"/>
          </a:p>
        </p:txBody>
      </p:sp>
      <p:sp>
        <p:nvSpPr>
          <p:cNvPr id="34" name="TextBox 34"/>
          <p:cNvSpPr txBox="1">
            <a:spLocks noChangeArrowheads="1"/>
          </p:cNvSpPr>
          <p:nvPr/>
        </p:nvSpPr>
        <p:spPr bwMode="auto">
          <a:xfrm>
            <a:off x="5791472" y="5602584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2</a:t>
            </a:r>
            <a:endParaRPr lang="en-GB" altLang="en-US" dirty="0"/>
          </a:p>
        </p:txBody>
      </p:sp>
      <p:sp>
        <p:nvSpPr>
          <p:cNvPr id="36" name="TextBox 34"/>
          <p:cNvSpPr txBox="1">
            <a:spLocks noChangeArrowheads="1"/>
          </p:cNvSpPr>
          <p:nvPr/>
        </p:nvSpPr>
        <p:spPr bwMode="auto">
          <a:xfrm>
            <a:off x="2568200" y="1677268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0</a:t>
            </a:r>
            <a:endParaRPr lang="en-GB" altLang="en-US" dirty="0">
              <a:solidFill>
                <a:srgbClr val="FF0000"/>
              </a:solidFill>
            </a:endParaRPr>
          </a:p>
        </p:txBody>
      </p:sp>
      <p:cxnSp>
        <p:nvCxnSpPr>
          <p:cNvPr id="15" name="Elbow Connector 14"/>
          <p:cNvCxnSpPr>
            <a:endCxn id="5" idx="1"/>
          </p:cNvCxnSpPr>
          <p:nvPr/>
        </p:nvCxnSpPr>
        <p:spPr bwMode="auto">
          <a:xfrm rot="10800000" flipV="1">
            <a:off x="427444" y="2033162"/>
            <a:ext cx="6207254" cy="2648580"/>
          </a:xfrm>
          <a:prstGeom prst="bentConnector3">
            <a:avLst>
              <a:gd name="adj1" fmla="val 103683"/>
            </a:avLst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4" name="AutoShape 8"/>
          <p:cNvCxnSpPr>
            <a:cxnSpLocks noChangeShapeType="1"/>
            <a:stCxn id="8" idx="3"/>
          </p:cNvCxnSpPr>
          <p:nvPr/>
        </p:nvCxnSpPr>
        <p:spPr bwMode="auto">
          <a:xfrm flipV="1">
            <a:off x="5241851" y="3832281"/>
            <a:ext cx="774039" cy="1217798"/>
          </a:xfrm>
          <a:prstGeom prst="bentConnector2">
            <a:avLst/>
          </a:prstGeom>
          <a:noFill/>
          <a:ln w="25560" cap="flat">
            <a:solidFill>
              <a:schemeClr val="tx1"/>
            </a:solidFill>
            <a:round/>
            <a:headEnd type="arrow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0" name="TextBox 34"/>
          <p:cNvSpPr txBox="1">
            <a:spLocks noChangeArrowheads="1"/>
          </p:cNvSpPr>
          <p:nvPr/>
        </p:nvSpPr>
        <p:spPr bwMode="auto">
          <a:xfrm>
            <a:off x="5372884" y="4226113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427444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OR Solution: Optimal Value 11 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7444" y="4497573"/>
            <a:ext cx="1720334" cy="368337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1. Pick up passenger 1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47778" y="3124938"/>
            <a:ext cx="1720334" cy="36833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2. Pick up passenger 2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155723" y="3463944"/>
            <a:ext cx="1720334" cy="36833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5. Pick up passenger 3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482533" y="4865910"/>
            <a:ext cx="1759318" cy="368337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3. Drop off passenger 1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51584" y="4669300"/>
            <a:ext cx="1748524" cy="36833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4. Drop off passenger 2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740434" y="1848994"/>
            <a:ext cx="1831484" cy="36833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6. Drop off passenger 3</a:t>
            </a:r>
          </a:p>
        </p:txBody>
      </p:sp>
      <p:cxnSp>
        <p:nvCxnSpPr>
          <p:cNvPr id="11" name="AutoShape 8"/>
          <p:cNvCxnSpPr>
            <a:cxnSpLocks noChangeShapeType="1"/>
            <a:stCxn id="5" idx="0"/>
            <a:endCxn id="6" idx="1"/>
          </p:cNvCxnSpPr>
          <p:nvPr/>
        </p:nvCxnSpPr>
        <p:spPr bwMode="auto">
          <a:xfrm rot="5400000" flipH="1" flipV="1">
            <a:off x="1123461" y="3473257"/>
            <a:ext cx="1188466" cy="860167"/>
          </a:xfrm>
          <a:prstGeom prst="bentConnector2">
            <a:avLst/>
          </a:prstGeom>
          <a:noFill/>
          <a:ln w="25560" cap="flat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" name="AutoShape 8"/>
          <p:cNvCxnSpPr>
            <a:cxnSpLocks noChangeShapeType="1"/>
            <a:stCxn id="8" idx="3"/>
            <a:endCxn id="9" idx="1"/>
          </p:cNvCxnSpPr>
          <p:nvPr/>
        </p:nvCxnSpPr>
        <p:spPr bwMode="auto">
          <a:xfrm flipV="1">
            <a:off x="5241851" y="4853469"/>
            <a:ext cx="1609733" cy="196610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 type="arrow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" name="AutoShape 8"/>
          <p:cNvCxnSpPr>
            <a:cxnSpLocks noChangeShapeType="1"/>
          </p:cNvCxnSpPr>
          <p:nvPr/>
        </p:nvCxnSpPr>
        <p:spPr bwMode="auto">
          <a:xfrm>
            <a:off x="3868112" y="3330650"/>
            <a:ext cx="1287611" cy="324202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" name="AutoShape 8"/>
          <p:cNvCxnSpPr>
            <a:cxnSpLocks noChangeShapeType="1"/>
            <a:stCxn id="9" idx="3"/>
            <a:endCxn id="10" idx="3"/>
          </p:cNvCxnSpPr>
          <p:nvPr/>
        </p:nvCxnSpPr>
        <p:spPr bwMode="auto">
          <a:xfrm flipH="1" flipV="1">
            <a:off x="8571918" y="2033163"/>
            <a:ext cx="28190" cy="2820306"/>
          </a:xfrm>
          <a:prstGeom prst="bentConnector3">
            <a:avLst>
              <a:gd name="adj1" fmla="val -810926"/>
            </a:avLst>
          </a:prstGeom>
          <a:noFill/>
          <a:ln w="25560" cap="flat">
            <a:solidFill>
              <a:schemeClr val="tx1"/>
            </a:solidFill>
            <a:round/>
            <a:headEnd type="arrow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" name="AutoShape 8"/>
          <p:cNvCxnSpPr>
            <a:cxnSpLocks noChangeShapeType="1"/>
            <a:stCxn id="10" idx="2"/>
            <a:endCxn id="7" idx="3"/>
          </p:cNvCxnSpPr>
          <p:nvPr/>
        </p:nvCxnSpPr>
        <p:spPr bwMode="auto">
          <a:xfrm rot="5400000">
            <a:off x="6550726" y="2542663"/>
            <a:ext cx="1430782" cy="780119"/>
          </a:xfrm>
          <a:prstGeom prst="bentConnector2">
            <a:avLst/>
          </a:prstGeom>
          <a:noFill/>
          <a:ln w="25560" cap="flat">
            <a:solidFill>
              <a:schemeClr val="tx1"/>
            </a:solidFill>
            <a:round/>
            <a:headEnd type="arrow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" name="Rectangle 53"/>
          <p:cNvSpPr>
            <a:spLocks noChangeArrowheads="1"/>
          </p:cNvSpPr>
          <p:nvPr/>
        </p:nvSpPr>
        <p:spPr bwMode="auto">
          <a:xfrm>
            <a:off x="396084" y="4994370"/>
            <a:ext cx="161036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Start point</a:t>
            </a:r>
          </a:p>
        </p:txBody>
      </p:sp>
      <p:sp>
        <p:nvSpPr>
          <p:cNvPr id="23" name="TextBox 34"/>
          <p:cNvSpPr txBox="1">
            <a:spLocks noChangeArrowheads="1"/>
          </p:cNvSpPr>
          <p:nvPr/>
        </p:nvSpPr>
        <p:spPr bwMode="auto">
          <a:xfrm>
            <a:off x="673193" y="3637336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4</a:t>
            </a:r>
            <a:endParaRPr lang="en-GB" altLang="en-US" dirty="0"/>
          </a:p>
        </p:txBody>
      </p:sp>
      <p:sp>
        <p:nvSpPr>
          <p:cNvPr id="27" name="TextBox 34"/>
          <p:cNvSpPr txBox="1">
            <a:spLocks noChangeArrowheads="1"/>
          </p:cNvSpPr>
          <p:nvPr/>
        </p:nvSpPr>
        <p:spPr bwMode="auto">
          <a:xfrm>
            <a:off x="4592586" y="3667293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28" name="TextBox 34"/>
          <p:cNvSpPr txBox="1">
            <a:spLocks noChangeArrowheads="1"/>
          </p:cNvSpPr>
          <p:nvPr/>
        </p:nvSpPr>
        <p:spPr bwMode="auto">
          <a:xfrm>
            <a:off x="6946565" y="2774258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1</a:t>
            </a:r>
            <a:endParaRPr lang="en-GB" altLang="en-US" dirty="0"/>
          </a:p>
        </p:txBody>
      </p:sp>
      <p:sp>
        <p:nvSpPr>
          <p:cNvPr id="32" name="TextBox 34"/>
          <p:cNvSpPr txBox="1">
            <a:spLocks noChangeArrowheads="1"/>
          </p:cNvSpPr>
          <p:nvPr/>
        </p:nvSpPr>
        <p:spPr bwMode="auto">
          <a:xfrm>
            <a:off x="8104207" y="3202012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3</a:t>
            </a:r>
            <a:endParaRPr lang="en-GB" altLang="en-US" dirty="0"/>
          </a:p>
        </p:txBody>
      </p:sp>
      <p:sp>
        <p:nvSpPr>
          <p:cNvPr id="34" name="TextBox 34"/>
          <p:cNvSpPr txBox="1">
            <a:spLocks noChangeArrowheads="1"/>
          </p:cNvSpPr>
          <p:nvPr/>
        </p:nvSpPr>
        <p:spPr bwMode="auto">
          <a:xfrm>
            <a:off x="5835539" y="5080171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2</a:t>
            </a:r>
            <a:endParaRPr lang="en-GB" altLang="en-US" dirty="0"/>
          </a:p>
        </p:txBody>
      </p:sp>
      <p:sp>
        <p:nvSpPr>
          <p:cNvPr id="36" name="TextBox 34"/>
          <p:cNvSpPr txBox="1">
            <a:spLocks noChangeArrowheads="1"/>
          </p:cNvSpPr>
          <p:nvPr/>
        </p:nvSpPr>
        <p:spPr bwMode="auto">
          <a:xfrm>
            <a:off x="2098525" y="5086703"/>
            <a:ext cx="7127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0</a:t>
            </a:r>
            <a:endParaRPr lang="en-GB" altLang="en-US" dirty="0">
              <a:solidFill>
                <a:srgbClr val="FF0000"/>
              </a:solidFill>
            </a:endParaRPr>
          </a:p>
        </p:txBody>
      </p:sp>
      <p:cxnSp>
        <p:nvCxnSpPr>
          <p:cNvPr id="15" name="Elbow Connector 14"/>
          <p:cNvCxnSpPr>
            <a:stCxn id="8" idx="1"/>
            <a:endCxn id="5" idx="3"/>
          </p:cNvCxnSpPr>
          <p:nvPr/>
        </p:nvCxnSpPr>
        <p:spPr bwMode="auto">
          <a:xfrm rot="10800000">
            <a:off x="2147779" y="4681743"/>
            <a:ext cx="1334755" cy="368337"/>
          </a:xfrm>
          <a:prstGeom prst="bentConnector3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900721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Sudoku</a:t>
            </a:r>
            <a:endParaRPr lang="en-GB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481" y="1037925"/>
            <a:ext cx="5351514" cy="531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1649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charset="-128"/>
              </a:rPr>
              <a:t>Sudoku</a:t>
            </a:r>
          </a:p>
        </p:txBody>
      </p:sp>
      <p:pic>
        <p:nvPicPr>
          <p:cNvPr id="4301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320" y="1143000"/>
            <a:ext cx="3113088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1" name="Picture 4" descr="Screen Shot 2015-10-06 at 8.24.0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1074420"/>
            <a:ext cx="4545013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03582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Sudoku: IP Formulation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35819" y="1142198"/>
                <a:ext cx="8229600" cy="4937125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Decision variable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 smtClea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b="1" i="1" smtClean="0">
                            <a:effectLst/>
                            <a:latin typeface="Cambria Math" panose="02040503050406030204" pitchFamily="18" charset="0"/>
                          </a:rPr>
                          <m:t>𝒊𝒋𝒌</m:t>
                        </m:r>
                      </m:sub>
                    </m:sSub>
                    <m:r>
                      <a:rPr lang="en-US" altLang="en-US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en-US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altLang="en-US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en-US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</m:t>
                    </m:r>
                  </m:oMath>
                </a14:m>
                <a:endParaRPr lang="en-US" altLang="en-US" dirty="0">
                  <a:effectLst/>
                </a:endParaRPr>
              </a:p>
              <a:p>
                <a:r>
                  <a:rPr lang="en-US" altLang="en-US" dirty="0">
                    <a:effectLst/>
                  </a:rPr>
                  <a:t>Input data: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 smtClean="0">
                            <a:effectLst/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en-US" b="1" i="1" smtClean="0">
                            <a:effectLst/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endParaRPr lang="en-US" altLang="en-US" dirty="0">
                  <a:effectLst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effectLst/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en-US" i="1">
                            <a:effectLst/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1" i="1" smtClean="0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en-US" dirty="0">
                    <a:effectLst/>
                  </a:rPr>
                  <a:t>, if it is not filled.</a:t>
                </a:r>
              </a:p>
            </p:txBody>
          </p:sp>
        </mc:Choice>
        <mc:Fallback xmlns="">
          <p:sp>
            <p:nvSpPr>
              <p:cNvPr id="1741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35819" y="1142198"/>
                <a:ext cx="8229600" cy="4937125"/>
              </a:xfrm>
              <a:blipFill rotWithShape="0">
                <a:blip r:embed="rId2"/>
                <a:stretch>
                  <a:fillRect l="-1407" t="-13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479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Sudoku: IP Formulation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20366" y="1600032"/>
                <a:ext cx="7693743" cy="45544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8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/>
                        </m:limLow>
                      </m:fName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en-US" altLang="en-US" sz="2800" dirty="0"/>
                  <a:t>   </a:t>
                </a: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  <m:r>
                      <a:rPr lang="en-US" altLang="en-US" sz="2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800" dirty="0"/>
                  <a:t> </a:t>
                </a:r>
              </a:p>
              <a:p>
                <a:pPr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en-US" sz="28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80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en-US" sz="28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80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2800" dirty="0"/>
                  <a:t> </a:t>
                </a:r>
              </a:p>
              <a:p>
                <a:pPr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en-US" sz="2800" i="1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2800" dirty="0"/>
                  <a:t> </a:t>
                </a:r>
              </a:p>
              <a:p>
                <a:pPr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en-US" sz="2800" i="1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sz="2800" dirty="0"/>
                  <a:t> </a:t>
                </a:r>
              </a:p>
              <a:p>
                <a:pPr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=3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en-US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=3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  <m:sup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altLang="en-US" sz="2800" i="1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∈{1,2,3}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800" dirty="0"/>
                  <a:t> 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{0, 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en-US" sz="2800" dirty="0"/>
              </a:p>
              <a:p>
                <a:pPr>
                  <a:defRPr/>
                </a:pPr>
                <a:endParaRPr lang="en-US" altLang="en-US" sz="2800" dirty="0"/>
              </a:p>
              <a:p>
                <a:pPr>
                  <a:defRPr/>
                </a:pPr>
                <a:endParaRPr lang="en-US" alt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66" y="1600032"/>
                <a:ext cx="7693743" cy="455445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8250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Rue La </a:t>
            </a:r>
            <a:r>
              <a:rPr lang="en-US" altLang="zh-CN" dirty="0" err="1">
                <a:ea typeface="宋体" pitchFamily="2" charset="-122"/>
              </a:rPr>
              <a:t>La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51" y="1185585"/>
            <a:ext cx="6475391" cy="3225677"/>
          </a:xfrm>
          <a:prstGeom prst="rect">
            <a:avLst/>
          </a:prstGeom>
        </p:spPr>
      </p:pic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258643" y="1000919"/>
            <a:ext cx="423474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https://www.ruelala.com/boutique/</a:t>
            </a:r>
          </a:p>
        </p:txBody>
      </p:sp>
      <p:sp>
        <p:nvSpPr>
          <p:cNvPr id="9" name="Rectangle 53"/>
          <p:cNvSpPr>
            <a:spLocks noChangeArrowheads="1"/>
          </p:cNvSpPr>
          <p:nvPr/>
        </p:nvSpPr>
        <p:spPr bwMode="auto">
          <a:xfrm>
            <a:off x="1146043" y="4716681"/>
            <a:ext cx="47828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$39.99 </a:t>
            </a:r>
          </a:p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 $44.99</a:t>
            </a:r>
          </a:p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 $49.99</a:t>
            </a:r>
          </a:p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 $54.99</a:t>
            </a:r>
          </a:p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 $59.99</a:t>
            </a:r>
          </a:p>
        </p:txBody>
      </p:sp>
      <p:sp>
        <p:nvSpPr>
          <p:cNvPr id="10" name="Rectangle 53"/>
          <p:cNvSpPr>
            <a:spLocks noChangeArrowheads="1"/>
          </p:cNvSpPr>
          <p:nvPr/>
        </p:nvSpPr>
        <p:spPr bwMode="auto">
          <a:xfrm>
            <a:off x="3761534" y="4716681"/>
            <a:ext cx="47828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$39.99 </a:t>
            </a:r>
          </a:p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 $44.99</a:t>
            </a:r>
          </a:p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 $49.99</a:t>
            </a:r>
          </a:p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 $54.99</a:t>
            </a:r>
          </a:p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 $59.99</a:t>
            </a:r>
          </a:p>
        </p:txBody>
      </p:sp>
      <p:sp>
        <p:nvSpPr>
          <p:cNvPr id="11" name="Rectangle 53"/>
          <p:cNvSpPr>
            <a:spLocks noChangeArrowheads="1"/>
          </p:cNvSpPr>
          <p:nvPr/>
        </p:nvSpPr>
        <p:spPr bwMode="auto">
          <a:xfrm>
            <a:off x="6206479" y="4716681"/>
            <a:ext cx="47828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$39.99 </a:t>
            </a:r>
          </a:p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 $44.99</a:t>
            </a:r>
          </a:p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 $49.99</a:t>
            </a:r>
          </a:p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 $54.99</a:t>
            </a:r>
          </a:p>
          <a:p>
            <a:pPr>
              <a:spcAft>
                <a:spcPts val="275"/>
              </a:spcAft>
            </a:pPr>
            <a:r>
              <a:rPr lang="en-US" altLang="en-US" sz="1200" b="1" dirty="0">
                <a:solidFill>
                  <a:schemeClr val="tx1"/>
                </a:solidFill>
              </a:rPr>
              <a:t> $59.99</a:t>
            </a:r>
          </a:p>
        </p:txBody>
      </p:sp>
      <p:sp>
        <p:nvSpPr>
          <p:cNvPr id="12" name="Rectangle 53"/>
          <p:cNvSpPr>
            <a:spLocks noChangeArrowheads="1"/>
          </p:cNvSpPr>
          <p:nvPr/>
        </p:nvSpPr>
        <p:spPr bwMode="auto">
          <a:xfrm>
            <a:off x="-1541809" y="4532015"/>
            <a:ext cx="423474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rgbClr val="FF0000"/>
                </a:solidFill>
              </a:rPr>
              <a:t>Price Grids</a:t>
            </a:r>
          </a:p>
        </p:txBody>
      </p:sp>
      <p:sp>
        <p:nvSpPr>
          <p:cNvPr id="15" name="Rectangle 53"/>
          <p:cNvSpPr>
            <a:spLocks noChangeArrowheads="1"/>
          </p:cNvSpPr>
          <p:nvPr/>
        </p:nvSpPr>
        <p:spPr bwMode="auto">
          <a:xfrm>
            <a:off x="1624330" y="2168327"/>
            <a:ext cx="572869" cy="44627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defTabSz="909638">
              <a:spcBef>
                <a:spcPct val="20000"/>
              </a:spcBef>
              <a:buClr>
                <a:srgbClr val="790015"/>
              </a:buClr>
              <a:buSzPct val="100000"/>
              <a:defRPr/>
            </a:pPr>
            <a:r>
              <a:rPr lang="en-US" altLang="en-US" sz="29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itchFamily="2" charset="-122"/>
              </a:rPr>
              <a:t>1</a:t>
            </a:r>
          </a:p>
        </p:txBody>
      </p:sp>
      <p:sp>
        <p:nvSpPr>
          <p:cNvPr id="16" name="Rectangle 53"/>
          <p:cNvSpPr>
            <a:spLocks noChangeArrowheads="1"/>
          </p:cNvSpPr>
          <p:nvPr/>
        </p:nvSpPr>
        <p:spPr bwMode="auto">
          <a:xfrm>
            <a:off x="4001512" y="2189386"/>
            <a:ext cx="572869" cy="44627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defTabSz="909638">
              <a:spcBef>
                <a:spcPct val="20000"/>
              </a:spcBef>
              <a:buClr>
                <a:srgbClr val="790015"/>
              </a:buClr>
              <a:buSzPct val="100000"/>
              <a:defRPr/>
            </a:pPr>
            <a:r>
              <a:rPr lang="en-US" altLang="en-US" sz="29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itchFamily="2" charset="-122"/>
              </a:rPr>
              <a:t>2</a:t>
            </a:r>
          </a:p>
        </p:txBody>
      </p:sp>
      <p:sp>
        <p:nvSpPr>
          <p:cNvPr id="17" name="Rectangle 53"/>
          <p:cNvSpPr>
            <a:spLocks noChangeArrowheads="1"/>
          </p:cNvSpPr>
          <p:nvPr/>
        </p:nvSpPr>
        <p:spPr bwMode="auto">
          <a:xfrm>
            <a:off x="6315634" y="2194634"/>
            <a:ext cx="572869" cy="44627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defTabSz="909638">
              <a:spcBef>
                <a:spcPct val="20000"/>
              </a:spcBef>
              <a:buClr>
                <a:srgbClr val="790015"/>
              </a:buClr>
              <a:buSzPct val="100000"/>
              <a:defRPr/>
            </a:pPr>
            <a:r>
              <a:rPr lang="en-US" altLang="en-US" sz="29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itchFamily="2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3278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What do we need?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" name="Rectangle 53"/>
          <p:cNvSpPr>
            <a:spLocks noChangeArrowheads="1"/>
          </p:cNvSpPr>
          <p:nvPr/>
        </p:nvSpPr>
        <p:spPr bwMode="auto">
          <a:xfrm>
            <a:off x="355196" y="4285198"/>
            <a:ext cx="843837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defTabSz="909638">
              <a:spcBef>
                <a:spcPct val="20000"/>
              </a:spcBef>
              <a:buClr>
                <a:srgbClr val="790015"/>
              </a:buClr>
              <a:buSzPct val="100000"/>
              <a:defRPr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600" b="1" dirty="0">
                <a:solidFill>
                  <a:srgbClr val="790015"/>
                </a:solidFill>
                <a:latin typeface="+mn-lt"/>
                <a:ea typeface="宋体" pitchFamily="2" charset="-122"/>
              </a:rPr>
              <a:t>What are the demands for products 1, 2 and 3 under prices ($49.99, $49.99, $59.99)?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69" y="981961"/>
            <a:ext cx="6519411" cy="3160362"/>
          </a:xfrm>
          <a:prstGeom prst="rect">
            <a:avLst/>
          </a:prstGeom>
        </p:spPr>
      </p:pic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348053" y="4873813"/>
            <a:ext cx="843837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defTabSz="909638">
              <a:spcBef>
                <a:spcPct val="20000"/>
              </a:spcBef>
              <a:buClr>
                <a:srgbClr val="790015"/>
              </a:buClr>
              <a:buSzPct val="100000"/>
              <a:defRPr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600" b="1" dirty="0">
                <a:solidFill>
                  <a:srgbClr val="790015"/>
                </a:solidFill>
                <a:latin typeface="+mn-lt"/>
                <a:ea typeface="宋体" pitchFamily="2" charset="-122"/>
              </a:rPr>
              <a:t>Will demand for product 1, 2 and 3 change under prices ($49.99, $39.99, $59.99)? </a:t>
            </a:r>
          </a:p>
        </p:txBody>
      </p:sp>
      <p:sp>
        <p:nvSpPr>
          <p:cNvPr id="14" name="Rectangle 53"/>
          <p:cNvSpPr>
            <a:spLocks noChangeArrowheads="1"/>
          </p:cNvSpPr>
          <p:nvPr/>
        </p:nvSpPr>
        <p:spPr bwMode="auto">
          <a:xfrm>
            <a:off x="3040112" y="3870885"/>
            <a:ext cx="415688" cy="1384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</a:pPr>
            <a:r>
              <a:rPr lang="en-US" altLang="en-US" sz="900" b="1" dirty="0">
                <a:solidFill>
                  <a:schemeClr val="tx1"/>
                </a:solidFill>
              </a:rPr>
              <a:t>$39.99</a:t>
            </a:r>
          </a:p>
        </p:txBody>
      </p:sp>
      <p:sp>
        <p:nvSpPr>
          <p:cNvPr id="15" name="Rectangle 53"/>
          <p:cNvSpPr>
            <a:spLocks noChangeArrowheads="1"/>
          </p:cNvSpPr>
          <p:nvPr/>
        </p:nvSpPr>
        <p:spPr bwMode="auto">
          <a:xfrm>
            <a:off x="355196" y="5402898"/>
            <a:ext cx="448797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defTabSz="909638">
              <a:spcBef>
                <a:spcPct val="20000"/>
              </a:spcBef>
              <a:buClr>
                <a:srgbClr val="790015"/>
              </a:buClr>
              <a:buSzPct val="100000"/>
              <a:defRPr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600" b="1" dirty="0">
                <a:solidFill>
                  <a:srgbClr val="790015"/>
                </a:solidFill>
                <a:latin typeface="+mn-lt"/>
                <a:ea typeface="宋体" pitchFamily="2" charset="-122"/>
              </a:rPr>
              <a:t>How many possible price points are there?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471131" y="5349564"/>
                <a:ext cx="11350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  <m:t>5</m:t>
                        </m:r>
                      </m:e>
                      <m:sup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  <m:t>3</m:t>
                        </m:r>
                      </m:sup>
                    </m:sSup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 (</m:t>
                    </m:r>
                    <m:sSup>
                      <m:sSupPr>
                        <m:ctrlP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  <m:t>𝑀</m:t>
                        </m:r>
                      </m:e>
                      <m:sup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  <m:t>𝑁</m:t>
                        </m:r>
                      </m:sup>
                    </m:sSup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</a:t>
                </a:r>
                <a:endParaRPr lang="en-S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131" y="5349564"/>
                <a:ext cx="1135054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475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/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Simplification Assumption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88183" y="1118369"/>
                <a:ext cx="9205196" cy="5477218"/>
              </a:xfrm>
            </p:spPr>
            <p:txBody>
              <a:bodyPr/>
              <a:lstStyle/>
              <a:p>
                <a:r>
                  <a:rPr lang="en-GB" altLang="en-US" sz="2400" dirty="0">
                    <a:effectLst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altLang="en-US" sz="2400" dirty="0">
                    <a:effectLst/>
                  </a:rPr>
                  <a:t> denote the m-</a:t>
                </a:r>
                <a:r>
                  <a:rPr lang="en-GB" altLang="en-US" sz="2400" dirty="0" err="1">
                    <a:effectLst/>
                  </a:rPr>
                  <a:t>th</a:t>
                </a:r>
                <a:r>
                  <a:rPr lang="en-GB" altLang="en-US" sz="2400" dirty="0">
                    <a:effectLst/>
                  </a:rPr>
                  <a:t> price point,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=39.99</m:t>
                    </m:r>
                  </m:oMath>
                </a14:m>
                <a:endParaRPr lang="en-GB" altLang="en-US" sz="2400" dirty="0">
                  <a:effectLst/>
                </a:endParaRPr>
              </a:p>
              <a:p>
                <a:r>
                  <a:rPr lang="en-GB" altLang="en-US" sz="2400" dirty="0">
                    <a:effectLst/>
                  </a:rPr>
                  <a:t>Demand for a product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𝑛</m:t>
                    </m:r>
                  </m:oMath>
                </a14:m>
                <a:r>
                  <a:rPr lang="en-GB" altLang="en-US" sz="2400" dirty="0">
                    <a:effectLst/>
                  </a:rPr>
                  <a:t> depends on its own price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altLang="en-US" sz="2400" dirty="0">
                    <a:effectLst/>
                  </a:rPr>
                  <a:t> and the sum of prices (or average price) of all products </a:t>
                </a:r>
                <a14:m>
                  <m:oMath xmlns:m="http://schemas.openxmlformats.org/officeDocument/2006/math">
                    <m:r>
                      <a:rPr lang="en-US" altLang="zh-CN" sz="2400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𝑘</m:t>
                    </m:r>
                  </m:oMath>
                </a14:m>
                <a:r>
                  <a:rPr lang="en-GB" altLang="en-US" sz="2400" dirty="0">
                    <a:effectLst/>
                  </a:rPr>
                  <a:t>. </a:t>
                </a:r>
              </a:p>
              <a:p>
                <a:pPr lvl="1"/>
                <a:r>
                  <a:rPr lang="en-GB" altLang="en-US" sz="2400" dirty="0">
                    <a:effectLst/>
                  </a:rPr>
                  <a:t>Demand for product 1 is the same under</a:t>
                </a:r>
              </a:p>
              <a:p>
                <a:pPr lvl="2"/>
                <a:r>
                  <a:rPr lang="en-US" altLang="en-US" b="1" dirty="0">
                    <a:solidFill>
                      <a:srgbClr val="790015"/>
                    </a:solidFill>
                    <a:effectLst/>
                    <a:ea typeface="宋体" pitchFamily="2" charset="-122"/>
                  </a:rPr>
                  <a:t>($49.99, $39.99, $59.99) or ($49.99, $49.99, $49.99)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dirty="0">
                        <a:effectLst/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dirty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dirty="0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dirty="0" smtClean="0">
                        <a:effectLst/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dirty="0" smtClean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dirty="0" smtClean="0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dirty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en-US" sz="2400" dirty="0">
                    <a:effectLst/>
                  </a:rPr>
                  <a:t> is the demand for product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altLang="en-US" sz="2400" dirty="0">
                    <a:effectLst/>
                  </a:rPr>
                  <a:t> at price point </a:t>
                </a:r>
                <a14:m>
                  <m:oMath xmlns:m="http://schemas.openxmlformats.org/officeDocument/2006/math">
                    <m:r>
                      <a:rPr lang="en-US" altLang="zh-CN" sz="2400" b="0" i="1" dirty="0">
                        <a:effectLst/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altLang="en-US" sz="2400" dirty="0">
                    <a:effectLst/>
                  </a:rPr>
                  <a:t> and when total price is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altLang="en-US" sz="2400" b="0" dirty="0">
                    <a:effectLst/>
                  </a:rPr>
                  <a:t>.</a:t>
                </a:r>
              </a:p>
              <a:p>
                <a:pPr lvl="1"/>
                <a:r>
                  <a:rPr lang="en-GB" altLang="en-US" sz="2400" dirty="0">
                    <a:effectLst/>
                  </a:rPr>
                  <a:t>The possible values for </a:t>
                </a:r>
                <a14:m>
                  <m:oMath xmlns:m="http://schemas.openxmlformats.org/officeDocument/2006/math">
                    <m:r>
                      <a:rPr lang="en-US" altLang="zh-CN" sz="2400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𝑘</m:t>
                    </m:r>
                  </m:oMath>
                </a14:m>
                <a:r>
                  <a:rPr lang="en-GB" altLang="en-US" sz="2400" dirty="0">
                    <a:effectLst/>
                  </a:rPr>
                  <a:t> are 3x39.99, 3x39.99 + 5, 3x39.99 + 10, …, 3x59.99 in total 3x4 + 1 points.</a:t>
                </a:r>
                <a:r>
                  <a:rPr lang="en-GB" altLang="en-US" dirty="0">
                    <a:effectLst/>
                  </a:rPr>
                  <a:t> </a:t>
                </a:r>
              </a:p>
              <a:p>
                <a:pPr lvl="2"/>
                <a:r>
                  <a:rPr lang="en-US" altLang="zh-CN" sz="2200" dirty="0">
                    <a:effectLst/>
                  </a:rPr>
                  <a:t>Need to estimate demands at  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zh-CN" sz="2200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200" b="0" i="1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CN" sz="2200" b="0" i="1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×[</m:t>
                    </m:r>
                    <m:r>
                      <a:rPr lang="en-US" altLang="zh-CN" sz="2200" b="0" i="1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zh-CN" sz="2200" b="0" i="1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sz="22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2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200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  <m:r>
                      <a:rPr lang="en-US" altLang="zh-CN" sz="2200" b="0" i="1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altLang="en-US" sz="2200" dirty="0">
                    <a:effectLst/>
                  </a:rPr>
                  <a:t> points instead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pPr>
                      <m:e>
                        <m:r>
                          <a:rPr lang="en-US" altLang="zh-CN" sz="22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𝑀</m:t>
                        </m:r>
                      </m:e>
                      <m:sup>
                        <m:r>
                          <a:rPr lang="en-US" altLang="zh-CN" sz="22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GB" altLang="en-US" sz="2200" dirty="0">
                    <a:effectLst/>
                  </a:rPr>
                  <a:t> points (consider M=2, N=50).</a:t>
                </a:r>
              </a:p>
            </p:txBody>
          </p:sp>
        </mc:Choice>
        <mc:Fallback xmlns="">
          <p:sp>
            <p:nvSpPr>
              <p:cNvPr id="6656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88183" y="1118369"/>
                <a:ext cx="9205196" cy="5477218"/>
              </a:xfrm>
              <a:blipFill rotWithShape="0">
                <a:blip r:embed="rId2"/>
                <a:stretch>
                  <a:fillRect l="-927" t="-77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3669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Optimization Model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016258"/>
                <a:ext cx="9205196" cy="5477218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Here, </a:t>
                </a:r>
                <a14:m>
                  <m:oMath xmlns:m="http://schemas.openxmlformats.org/officeDocument/2006/math">
                    <m:r>
                      <a:rPr lang="en-US" altLang="zh-CN" dirty="0">
                        <a:effectLst/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dirty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dirty="0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>
                        <a:effectLst/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dirty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dirty="0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dirty="0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altLang="en-US" dirty="0">
                    <a:effectLst/>
                  </a:rPr>
                  <a:t>is not a parameter, since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𝑘</m:t>
                    </m:r>
                  </m:oMath>
                </a14:m>
                <a:r>
                  <a:rPr lang="en-GB" altLang="en-US" dirty="0">
                    <a:effectLst/>
                  </a:rPr>
                  <a:t> depends on the prices of each of the product.</a:t>
                </a:r>
              </a:p>
              <a:p>
                <a:r>
                  <a:rPr lang="en-GB" altLang="en-US" dirty="0">
                    <a:effectLst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𝑘</m:t>
                    </m:r>
                  </m:oMath>
                </a14:m>
                <a:r>
                  <a:rPr lang="en-GB" altLang="en-US" dirty="0">
                    <a:effectLst/>
                  </a:rPr>
                  <a:t> is fixed, say,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𝑘</m:t>
                    </m:r>
                    <m:r>
                      <a:rPr lang="en-US" altLang="zh-CN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=3×49.99 </m:t>
                    </m:r>
                  </m:oMath>
                </a14:m>
                <a:r>
                  <a:rPr lang="en-GB" altLang="en-US" dirty="0">
                    <a:effectLst/>
                  </a:rPr>
                  <a:t>, can we model the problem?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altLang="en-US" dirty="0">
                    <a:effectLst/>
                  </a:rPr>
                  <a:t> </a:t>
                </a:r>
                <a:r>
                  <a:rPr lang="en-US" altLang="en-US" dirty="0">
                    <a:effectLst/>
                  </a:rPr>
                  <a:t>if product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altLang="en-US" b="0" dirty="0">
                    <a:effectLst/>
                  </a:rPr>
                  <a:t> </a:t>
                </a:r>
                <a:r>
                  <a:rPr lang="en-GB" altLang="en-US" dirty="0">
                    <a:effectLst/>
                  </a:rPr>
                  <a:t>is priced at price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28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altLang="en-US" b="0" dirty="0">
                    <a:effectLst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 dirty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altLang="en-US" dirty="0">
                    <a:effectLst/>
                  </a:rPr>
                  <a:t> </a:t>
                </a:r>
                <a:r>
                  <a:rPr lang="en-GB" altLang="en-US" b="0" dirty="0">
                    <a:effectLst/>
                  </a:rPr>
                  <a:t> </a:t>
                </a:r>
                <a:r>
                  <a:rPr lang="en-GB" altLang="en-US" dirty="0">
                    <a:effectLst/>
                  </a:rPr>
                  <a:t>otherwise.</a:t>
                </a:r>
              </a:p>
              <a:p>
                <a:pPr lvl="1"/>
                <a:r>
                  <a:rPr lang="en-US" altLang="en-US" dirty="0">
                    <a:effectLst/>
                  </a:rPr>
                  <a:t>Objective: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altLang="zh-CN" b="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b="0" i="0" dirty="0" smtClean="0">
                                <a:effectLst/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dirty="0" smtClean="0">
                                <a:effectLst/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nary>
                              <m:naryPr>
                                <m:chr m:val="∑"/>
                                <m:ctrlPr>
                                  <a:rPr lang="en-US" altLang="zh-CN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altLang="zh-CN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b="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zh-CN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altLang="zh-CN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</m:e>
                        </m:func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altLang="en-US" dirty="0">
                    <a:effectLst/>
                  </a:rPr>
                  <a:t> </a:t>
                </a:r>
              </a:p>
              <a:p>
                <a:pPr lvl="1"/>
                <a:r>
                  <a:rPr lang="en-US" altLang="zh-CN" dirty="0">
                    <a:effectLst/>
                  </a:rPr>
                  <a:t>Choose only one price: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dirty="0"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dirty="0"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dirty="0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GB" altLang="en-US" dirty="0">
                  <a:effectLst/>
                </a:endParaRPr>
              </a:p>
              <a:p>
                <a:pPr lvl="1"/>
                <a:r>
                  <a:rPr lang="en-GB" altLang="en-US" dirty="0">
                    <a:effectLst/>
                  </a:rPr>
                  <a:t>Total price is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𝑘</m:t>
                    </m:r>
                  </m:oMath>
                </a14:m>
                <a:r>
                  <a:rPr lang="en-GB" altLang="en-US" dirty="0">
                    <a:effectLst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b="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dirty="0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dirty="0">
                                <a:effectLst/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dirty="0">
                                <a:effectLst/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b="0" i="1" dirty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 dirty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GB" altLang="en-US" dirty="0">
                  <a:effectLst/>
                </a:endParaRPr>
              </a:p>
            </p:txBody>
          </p:sp>
        </mc:Choice>
        <mc:Fallback xmlns="">
          <p:sp>
            <p:nvSpPr>
              <p:cNvPr id="6656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16258"/>
                <a:ext cx="9205196" cy="5477218"/>
              </a:xfrm>
              <a:blipFill rotWithShape="0">
                <a:blip r:embed="rId2"/>
                <a:stretch>
                  <a:fillRect l="-1258" t="-1114" r="-46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7924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Optimization Model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016258"/>
                <a:ext cx="9205196" cy="5477218"/>
              </a:xfrm>
            </p:spPr>
            <p:txBody>
              <a:bodyPr/>
              <a:lstStyle/>
              <a:p>
                <a:r>
                  <a:rPr lang="en-GB" altLang="en-US" dirty="0">
                    <a:effectLst/>
                  </a:rPr>
                  <a:t>But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𝑘</m:t>
                    </m:r>
                  </m:oMath>
                </a14:m>
                <a:r>
                  <a:rPr lang="en-GB" altLang="en-US" dirty="0">
                    <a:effectLst/>
                  </a:rPr>
                  <a:t> is </a:t>
                </a:r>
                <a:r>
                  <a:rPr lang="en-US" altLang="en-US" dirty="0">
                    <a:effectLst/>
                  </a:rPr>
                  <a:t>not fixed…</a:t>
                </a:r>
                <a:endParaRPr lang="en-GB" altLang="en-US" dirty="0">
                  <a:effectLst/>
                </a:endParaRPr>
              </a:p>
              <a:p>
                <a:pPr lvl="1"/>
                <a:r>
                  <a:rPr lang="en-GB" altLang="en-US" dirty="0">
                    <a:effectLst/>
                  </a:rPr>
                  <a:t>Try every possible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𝑘</m:t>
                    </m:r>
                  </m:oMath>
                </a14:m>
                <a:r>
                  <a:rPr lang="en-GB" altLang="en-US" dirty="0">
                    <a:effectLst/>
                  </a:rPr>
                  <a:t> !</a:t>
                </a:r>
              </a:p>
              <a:p>
                <a:pPr lvl="1"/>
                <a:r>
                  <a:rPr lang="en-GB" altLang="en-US" dirty="0">
                    <a:effectLst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𝑘</m:t>
                    </m:r>
                  </m:oMath>
                </a14:m>
                <a:r>
                  <a:rPr lang="en-GB" altLang="en-US" sz="2800" dirty="0">
                    <a:effectLst/>
                  </a:rPr>
                  <a:t> = 3x39.99, 3x39.99 + 5, …, 3x59.99</a:t>
                </a:r>
                <a:endParaRPr lang="en-GB" altLang="en-US" dirty="0">
                  <a:effectLst/>
                </a:endParaRPr>
              </a:p>
              <a:p>
                <a:pPr lvl="1"/>
                <a:r>
                  <a:rPr lang="en-US" altLang="en-US" dirty="0">
                    <a:effectLst/>
                  </a:rPr>
                  <a:t>Solve the IP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GB" altLang="en-US" dirty="0">
                  <a:effectLst/>
                </a:endParaRPr>
              </a:p>
              <a:p>
                <a:pPr lvl="1"/>
                <a:r>
                  <a:rPr lang="en-GB" altLang="en-US" dirty="0">
                    <a:effectLst/>
                  </a:rPr>
                  <a:t>Find the maximum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b="0" i="1" dirty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altLang="en-US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6656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16258"/>
                <a:ext cx="9205196" cy="5477218"/>
              </a:xfrm>
              <a:blipFill rotWithShape="0">
                <a:blip r:embed="rId2"/>
                <a:stretch>
                  <a:fillRect l="-1258" t="-11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9563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Job Shop Scheduling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601540"/>
            <a:ext cx="9199516" cy="4572000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sz="2300" dirty="0">
              <a:ea typeface="宋体" pitchFamily="2" charset="-122"/>
            </a:endParaRPr>
          </a:p>
          <a:p>
            <a:pPr>
              <a:defRPr/>
            </a:pPr>
            <a:r>
              <a:rPr lang="en-US" sz="2300" dirty="0">
                <a:effectLst/>
              </a:rPr>
              <a:t>A clinic is determining the service schedules for the following patients in the next day.</a:t>
            </a:r>
          </a:p>
          <a:p>
            <a:pPr>
              <a:defRPr/>
            </a:pPr>
            <a:endParaRPr lang="en-US" altLang="zh-CN" sz="2400" dirty="0">
              <a:effectLst/>
              <a:ea typeface="宋体" pitchFamily="2" charset="-122"/>
            </a:endParaRPr>
          </a:p>
          <a:p>
            <a:pPr>
              <a:defRPr/>
            </a:pPr>
            <a:endParaRPr lang="en-US" altLang="zh-CN" sz="2400" dirty="0">
              <a:effectLst/>
              <a:ea typeface="宋体" pitchFamily="2" charset="-122"/>
            </a:endParaRPr>
          </a:p>
          <a:p>
            <a:pPr>
              <a:defRPr/>
            </a:pPr>
            <a:endParaRPr lang="en-US" altLang="zh-CN" sz="2400" dirty="0">
              <a:effectLst/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2400" dirty="0">
              <a:effectLst/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2400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sz="2300" dirty="0">
                <a:effectLst/>
              </a:rPr>
              <a:t>Waiting is possibly inevitable: e.g., </a:t>
            </a:r>
          </a:p>
          <a:p>
            <a:pPr lvl="1">
              <a:defRPr/>
            </a:pPr>
            <a:r>
              <a:rPr lang="en-US" sz="2200" dirty="0">
                <a:effectLst/>
              </a:rPr>
              <a:t>Patient </a:t>
            </a:r>
            <a:r>
              <a:rPr lang="en-US" altLang="zh-CN" sz="2200" dirty="0">
                <a:effectLst/>
              </a:rPr>
              <a:t>A: imaging from 8-10, OT from 10-13, recovery from 13-15</a:t>
            </a:r>
          </a:p>
          <a:p>
            <a:pPr lvl="1">
              <a:defRPr/>
            </a:pPr>
            <a:r>
              <a:rPr lang="en-US" altLang="zh-CN" sz="2200" dirty="0">
                <a:effectLst/>
              </a:rPr>
              <a:t>Patient C: wait 2 hours for imaging and wait another 2 hours for OT.</a:t>
            </a:r>
          </a:p>
          <a:p>
            <a:pPr>
              <a:defRPr/>
            </a:pPr>
            <a:r>
              <a:rPr lang="en-US" altLang="zh-CN" sz="2300" dirty="0">
                <a:effectLst/>
              </a:rPr>
              <a:t>Objective: Minimize total waiting time = total completion time</a:t>
            </a:r>
          </a:p>
          <a:p>
            <a:pPr>
              <a:defRPr/>
            </a:pPr>
            <a:endParaRPr lang="en-US" altLang="zh-CN" sz="2400" dirty="0">
              <a:effectLst/>
              <a:ea typeface="宋体" pitchFamily="2" charset="-122"/>
            </a:endParaRPr>
          </a:p>
          <a:p>
            <a:pPr>
              <a:defRPr/>
            </a:pPr>
            <a:endParaRPr lang="en-US" altLang="zh-CN" sz="2400" dirty="0">
              <a:effectLst/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2600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2600" dirty="0">
              <a:ea typeface="宋体" pitchFamily="2" charset="-122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E7B41A-5E57-4579-B1DF-C017B07B8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895515"/>
              </p:ext>
            </p:extLst>
          </p:nvPr>
        </p:nvGraphicFramePr>
        <p:xfrm>
          <a:off x="550856" y="2090859"/>
          <a:ext cx="798677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768">
                  <a:extLst>
                    <a:ext uri="{9D8B030D-6E8A-4147-A177-3AD203B41FA5}">
                      <a16:colId xmlns:a16="http://schemas.microsoft.com/office/drawing/2014/main" val="4081431628"/>
                    </a:ext>
                  </a:extLst>
                </a:gridCol>
                <a:gridCol w="2353987">
                  <a:extLst>
                    <a:ext uri="{9D8B030D-6E8A-4147-A177-3AD203B41FA5}">
                      <a16:colId xmlns:a16="http://schemas.microsoft.com/office/drawing/2014/main" val="2501650854"/>
                    </a:ext>
                  </a:extLst>
                </a:gridCol>
                <a:gridCol w="2533896">
                  <a:extLst>
                    <a:ext uri="{9D8B030D-6E8A-4147-A177-3AD203B41FA5}">
                      <a16:colId xmlns:a16="http://schemas.microsoft.com/office/drawing/2014/main" val="42103357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16969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Patient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Step 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Step 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Step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369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SG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Imaging Center, 2h</a:t>
                      </a:r>
                      <a:endParaRPr lang="en-SG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Operating Theatre, 3h</a:t>
                      </a:r>
                      <a:endParaRPr lang="en-SG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SG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Recovery Room, 2h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31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SG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Operating Theatre, 2h</a:t>
                      </a:r>
                      <a:endParaRPr lang="en-SG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SG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Recovery Room, 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Imaging Center, 1h</a:t>
                      </a:r>
                      <a:endParaRPr lang="en-SG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49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SG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Imaging Center, 1h</a:t>
                      </a:r>
                      <a:endParaRPr lang="en-SG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Operating Theatre, 2h</a:t>
                      </a:r>
                      <a:endParaRPr lang="en-SG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Recovery Room, 3h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518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2384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General Description</a:t>
            </a:r>
            <a:endParaRPr lang="en-GB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40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0975" y="1127018"/>
                <a:ext cx="9076038" cy="493712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={1,2</m:t>
                    </m:r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sz="2500" dirty="0">
                    <a:effectLst/>
                  </a:rPr>
                  <a:t> be the set of jobs, e.g., a list of patients. </a:t>
                </a:r>
                <a14:m>
                  <m:oMath xmlns:m="http://schemas.openxmlformats.org/officeDocument/2006/math">
                    <m:r>
                      <a:rPr lang="en-US" altLang="en-US" sz="25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sz="25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5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US" altLang="en-US" sz="25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US" sz="25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sz="2500" dirty="0">
                    <a:effectLst/>
                  </a:rPr>
                  <a:t> be the set of machines, e.g., facilities.</a:t>
                </a:r>
              </a:p>
              <a:p>
                <a:pPr marL="0" indent="0">
                  <a:buNone/>
                </a:pPr>
                <a:endParaRPr lang="en-US" altLang="en-US" sz="2500" dirty="0">
                  <a:effectLst/>
                </a:endParaRPr>
              </a:p>
              <a:p>
                <a:r>
                  <a:rPr lang="en-US" altLang="en-US" sz="2500" dirty="0">
                    <a:effectLst/>
                  </a:rPr>
                  <a:t>For each job </a:t>
                </a:r>
                <a14:m>
                  <m:oMath xmlns:m="http://schemas.openxmlformats.org/officeDocument/2006/math"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endParaRPr lang="en-US" altLang="en-US" sz="2500" b="0" i="1" dirty="0">
                  <a:solidFill>
                    <a:srgbClr val="FF000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2300" dirty="0">
                    <a:effectLst/>
                  </a:rPr>
                  <a:t>: set of machines required by job </a:t>
                </a:r>
                <a14:m>
                  <m:oMath xmlns:m="http://schemas.openxmlformats.org/officeDocument/2006/math">
                    <m:r>
                      <a:rPr lang="en-US" altLang="en-US" sz="23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300" dirty="0">
                    <a:effectLst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sz="23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300" dirty="0">
                    <a:effectLst/>
                  </a:rPr>
                  <a:t>: processing time of job </a:t>
                </a:r>
                <a14:m>
                  <m:oMath xmlns:m="http://schemas.openxmlformats.org/officeDocument/2006/math">
                    <m:r>
                      <a:rPr lang="en-US" altLang="en-US" sz="23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300" dirty="0">
                    <a:solidFill>
                      <a:srgbClr val="790015"/>
                    </a:solidFill>
                    <a:effectLst/>
                    <a:ea typeface="+mn-ea"/>
                    <a:cs typeface="+mn-cs"/>
                  </a:rPr>
                  <a:t> </a:t>
                </a:r>
                <a:r>
                  <a:rPr lang="en-US" altLang="en-US" sz="2300" dirty="0">
                    <a:effectLst/>
                    <a:ea typeface="+mn-ea"/>
                    <a:cs typeface="+mn-cs"/>
                  </a:rPr>
                  <a:t>on</a:t>
                </a:r>
                <a:r>
                  <a:rPr lang="en-US" altLang="en-US" sz="2300" dirty="0">
                    <a:effectLst/>
                  </a:rPr>
                  <a:t> machine </a:t>
                </a:r>
                <a14:m>
                  <m:oMath xmlns:m="http://schemas.openxmlformats.org/officeDocument/2006/math">
                    <m:r>
                      <a:rPr lang="en-US" altLang="en-US" sz="23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2300" dirty="0">
                    <a:effectLst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300" dirty="0">
                    <a:effectLst/>
                  </a:rPr>
                  <a:t>: precedence pairs,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300" dirty="0">
                    <a:effectLst/>
                  </a:rPr>
                  <a:t> means job </a:t>
                </a:r>
                <a14:m>
                  <m:oMath xmlns:m="http://schemas.openxmlformats.org/officeDocument/2006/math">
                    <m:r>
                      <a:rPr lang="en-US" altLang="en-US" sz="23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300" dirty="0">
                    <a:effectLst/>
                  </a:rPr>
                  <a:t> must finish on machine </a:t>
                </a:r>
                <a14:m>
                  <m:oMath xmlns:m="http://schemas.openxmlformats.org/officeDocument/2006/math"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2300" dirty="0">
                    <a:effectLst/>
                  </a:rPr>
                  <a:t> before starting on machine </a:t>
                </a:r>
                <a14:m>
                  <m:oMath xmlns:m="http://schemas.openxmlformats.org/officeDocument/2006/math"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en-US" sz="2300" dirty="0">
                    <a:effectLst/>
                  </a:rPr>
                  <a:t>.</a:t>
                </a:r>
              </a:p>
              <a:p>
                <a:pPr marL="454025" lvl="1" indent="0">
                  <a:buNone/>
                </a:pPr>
                <a:endParaRPr lang="en-US" altLang="en-US" sz="2300" dirty="0">
                  <a:effectLst/>
                </a:endParaRPr>
              </a:p>
              <a:p>
                <a:r>
                  <a:rPr lang="en-US" altLang="en-US" sz="2500" dirty="0">
                    <a:effectLst/>
                  </a:rPr>
                  <a:t>In our example: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𝐼𝐶</m:t>
                    </m:r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𝑂𝑇</m:t>
                    </m:r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sz="2300" dirty="0"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𝐼𝐶</m:t>
                        </m:r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𝑂𝑇</m:t>
                        </m:r>
                      </m:e>
                    </m:d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𝑂𝑇</m:t>
                    </m:r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altLang="en-US" sz="2300" dirty="0">
                  <a:effectLst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𝐼𝐶</m:t>
                        </m:r>
                      </m:sub>
                    </m:sSub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=2,</m:t>
                    </m:r>
                    <m:sSub>
                      <m:sSubPr>
                        <m:ctrlP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𝑂𝑇</m:t>
                        </m:r>
                      </m:sub>
                    </m:sSub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=3,</m:t>
                    </m:r>
                    <m:sSub>
                      <m:sSubPr>
                        <m:ctrlP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3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3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𝑅𝑅</m:t>
                        </m:r>
                      </m:sub>
                    </m:sSub>
                    <m:r>
                      <a:rPr lang="en-US" altLang="en-US" sz="23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altLang="en-US" sz="2300" dirty="0">
                  <a:effectLst/>
                </a:endParaRPr>
              </a:p>
              <a:p>
                <a:pPr lvl="1"/>
                <a:endParaRPr lang="en-US" altLang="en-US" sz="2300" dirty="0">
                  <a:effectLst/>
                </a:endParaRPr>
              </a:p>
              <a:p>
                <a:endParaRPr lang="en-US" altLang="en-US" sz="2500" dirty="0">
                  <a:effectLst/>
                </a:endParaRPr>
              </a:p>
            </p:txBody>
          </p:sp>
        </mc:Choice>
        <mc:Fallback>
          <p:sp>
            <p:nvSpPr>
              <p:cNvPr id="1434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0975" y="1127018"/>
                <a:ext cx="9076038" cy="4937125"/>
              </a:xfrm>
              <a:blipFill>
                <a:blip r:embed="rId2"/>
                <a:stretch>
                  <a:fillRect l="-1075" t="-988" b="-58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2980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</a:t>
            </a:r>
            <a:endParaRPr lang="en-GB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40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89050" y="1004879"/>
                <a:ext cx="8956375" cy="546580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en-US" sz="2500" dirty="0">
                    <a:effectLst/>
                  </a:rPr>
                  <a:t> be the starting time of job </a:t>
                </a:r>
                <a14:m>
                  <m:oMath xmlns:m="http://schemas.openxmlformats.org/officeDocument/2006/math"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500" dirty="0">
                    <a:effectLst/>
                  </a:rPr>
                  <a:t> on machine </a:t>
                </a:r>
                <a14:m>
                  <m:oMath xmlns:m="http://schemas.openxmlformats.org/officeDocument/2006/math"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500" dirty="0">
                    <a:effectLst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en-US" sz="25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5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𝐹𝑖𝑛𝑖𝑠h</m:t>
                        </m:r>
                      </m:sub>
                    </m:sSub>
                  </m:oMath>
                </a14:m>
                <a:r>
                  <a:rPr lang="en-US" altLang="en-US" sz="2500" dirty="0">
                    <a:effectLst/>
                  </a:rPr>
                  <a:t> be the completion time job </a:t>
                </a:r>
                <a14:m>
                  <m:oMath xmlns:m="http://schemas.openxmlformats.org/officeDocument/2006/math">
                    <m:r>
                      <a:rPr lang="en-US" altLang="en-US" sz="25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500" dirty="0">
                    <a:effectLst/>
                  </a:rPr>
                  <a:t>. </a:t>
                </a:r>
              </a:p>
              <a:p>
                <a:endParaRPr lang="en-US" altLang="zh-CN" sz="2000" dirty="0">
                  <a:effectLst/>
                </a:endParaRPr>
              </a:p>
              <a:p>
                <a:r>
                  <a:rPr lang="en-US" altLang="zh-CN" sz="2500" dirty="0">
                    <a:effectLst/>
                  </a:rPr>
                  <a:t>Objective: </a:t>
                </a:r>
                <a14:m>
                  <m:oMath xmlns:m="http://schemas.openxmlformats.org/officeDocument/2006/math">
                    <m:r>
                      <a:rPr lang="en-SG" altLang="zh-CN" sz="2500" b="0" i="1" dirty="0" smtClean="0">
                        <a:effectLst/>
                        <a:latin typeface="Cambria Math" panose="02040503050406030204" pitchFamily="18" charset="0"/>
                      </a:rPr>
                      <m:t>𝑚𝑖𝑛</m:t>
                    </m:r>
                    <m:nary>
                      <m:naryPr>
                        <m:chr m:val="∑"/>
                        <m:ctrlPr>
                          <a:rPr lang="en-US" altLang="zh-CN" sz="25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SG" altLang="zh-CN" sz="2500" b="0" i="1" dirty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500" b="0" i="1" dirty="0"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SG" altLang="zh-CN" sz="2500" b="0" i="1" dirty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SG" altLang="zh-CN" sz="2500" b="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zh-CN" sz="2500" b="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SG" altLang="zh-CN" sz="2500" b="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SG" altLang="zh-CN" sz="2500" b="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SG" altLang="zh-CN" sz="2500" b="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𝐹𝑖𝑛𝑖𝑠h</m:t>
                            </m:r>
                          </m:sub>
                        </m:sSub>
                      </m:e>
                    </m:nary>
                  </m:oMath>
                </a14:m>
                <a:endParaRPr lang="en-US" altLang="en-US" sz="2500" dirty="0">
                  <a:effectLst/>
                </a:endParaRPr>
              </a:p>
              <a:p>
                <a:endParaRPr lang="en-US" altLang="en-US" sz="2000" dirty="0">
                  <a:effectLst/>
                </a:endParaRPr>
              </a:p>
              <a:p>
                <a:r>
                  <a:rPr lang="en-US" altLang="en-US" sz="2500" dirty="0">
                    <a:effectLst/>
                  </a:rPr>
                  <a:t>Within-job precedence constraint: for job </a:t>
                </a:r>
                <a14:m>
                  <m:oMath xmlns:m="http://schemas.openxmlformats.org/officeDocument/2006/math">
                    <m:r>
                      <a:rPr lang="en-US" altLang="en-US" sz="25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500" dirty="0">
                    <a:effectLst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altLang="zh-CN" sz="2400" b="0" i="1" dirty="0" smtClea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SG" altLang="zh-CN" sz="2400" b="0" i="1" dirty="0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SG" altLang="zh-CN" sz="2400" b="0" i="1" dirty="0" smtClean="0">
                        <a:effectLst/>
                        <a:latin typeface="Cambria Math" panose="02040503050406030204" pitchFamily="18" charset="0"/>
                      </a:rPr>
                      <m:t>,  ∀</m:t>
                    </m:r>
                    <m:d>
                      <m:dPr>
                        <m:ctrlP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SG" altLang="zh-CN" sz="2400" b="0" i="1" dirty="0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en-US" sz="2300" dirty="0">
                  <a:effectLst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𝐹𝑖𝑛𝑖𝑠h</m:t>
                        </m:r>
                      </m:sub>
                    </m:sSub>
                    <m:r>
                      <a:rPr lang="en-SG" altLang="zh-CN" sz="2400" b="0" i="1" dirty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SG" altLang="zh-CN" sz="2400" b="0" i="1" dirty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SG" altLang="zh-CN" sz="2400" b="0" i="1" dirty="0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altLang="zh-CN" sz="2400" b="0" i="1" dirty="0" smtClean="0">
                        <a:effectLst/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SG" altLang="zh-CN" sz="2400" b="0" i="1" dirty="0" smtClean="0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altLang="zh-CN" sz="2400" b="0" i="1" dirty="0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en-US" sz="2400" dirty="0">
                  <a:effectLst/>
                </a:endParaRPr>
              </a:p>
              <a:p>
                <a:endParaRPr lang="en-US" altLang="en-US" sz="2000" dirty="0">
                  <a:effectLst/>
                </a:endParaRPr>
              </a:p>
              <a:p>
                <a:r>
                  <a:rPr lang="en-US" altLang="en-US" sz="2500" dirty="0">
                    <a:effectLst/>
                  </a:rPr>
                  <a:t>Within-machine precedence constraint: for machine </a:t>
                </a:r>
                <a14:m>
                  <m:oMath xmlns:m="http://schemas.openxmlformats.org/officeDocument/2006/math">
                    <m:r>
                      <a:rPr lang="en-US" altLang="en-US" sz="25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2500" dirty="0">
                    <a:effectLst/>
                  </a:rPr>
                  <a:t> and jobs </a:t>
                </a:r>
                <a14:m>
                  <m:oMath xmlns:m="http://schemas.openxmlformats.org/officeDocument/2006/math">
                    <m:r>
                      <a:rPr lang="en-US" altLang="en-US" sz="25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SG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altLang="en-US" sz="25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sz="2500" dirty="0">
                    <a:effectLst/>
                  </a:rPr>
                  <a:t> such that </a:t>
                </a:r>
                <a14:m>
                  <m:oMath xmlns:m="http://schemas.openxmlformats.org/officeDocument/2006/math">
                    <m:r>
                      <a:rPr lang="en-SG" altLang="zh-CN" sz="2500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altLang="zh-CN" sz="2500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SG" altLang="zh-CN" sz="25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5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SG" altLang="zh-CN" sz="25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altLang="zh-CN" sz="2500" b="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SG" altLang="zh-CN" sz="25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5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SG" altLang="zh-CN" sz="2500" b="0" i="1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en-US" sz="2500" b="0" i="1" dirty="0">
                  <a:solidFill>
                    <a:srgbClr val="FF0000"/>
                  </a:solidFill>
                  <a:effectLst/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SG" altLang="zh-CN" sz="2400" b="0" i="1" dirty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SG" altLang="zh-CN" sz="2400" b="0" i="1" dirty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SG" altLang="zh-CN" sz="2400" b="0" i="1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>
                    <a:effectLst/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SG" altLang="zh-CN" sz="2400" b="0" i="1" dirty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SG" altLang="zh-CN" sz="2400" b="0" i="1" dirty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altLang="zh-CN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zh-CN" sz="2400" b="0" i="1" dirty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SG" altLang="zh-CN" sz="2400" b="0" i="1" dirty="0" smtClean="0"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400" dirty="0">
                  <a:effectLst/>
                </a:endParaRPr>
              </a:p>
              <a:p>
                <a:pPr lvl="1"/>
                <a:endParaRPr lang="en-US" altLang="en-US" sz="2400" dirty="0">
                  <a:effectLst/>
                </a:endParaRPr>
              </a:p>
              <a:p>
                <a:endParaRPr lang="en-GB" altLang="en-US" sz="2800" dirty="0">
                  <a:effectLst/>
                </a:endParaRPr>
              </a:p>
              <a:p>
                <a:endParaRPr lang="en-GB" altLang="en-US" sz="2800" dirty="0">
                  <a:effectLst/>
                </a:endParaRPr>
              </a:p>
              <a:p>
                <a:pPr marL="0" indent="0">
                  <a:buNone/>
                </a:pPr>
                <a:r>
                  <a:rPr lang="en-GB" altLang="en-US" sz="2800" dirty="0">
                    <a:effectLst/>
                  </a:rPr>
                  <a:t>     </a:t>
                </a:r>
              </a:p>
            </p:txBody>
          </p:sp>
        </mc:Choice>
        <mc:Fallback>
          <p:sp>
            <p:nvSpPr>
              <p:cNvPr id="1434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89050" y="1004879"/>
                <a:ext cx="8956375" cy="5465806"/>
              </a:xfrm>
              <a:blipFill>
                <a:blip r:embed="rId2"/>
                <a:stretch>
                  <a:fillRect l="-1089" t="-100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15873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    Linear Programming Relaxation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707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Method of LP Relaxation</a:t>
            </a:r>
            <a:endParaRPr lang="en-GB" altLang="en-US" dirty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502544" y="3003906"/>
            <a:ext cx="28572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/>
              <a:t>LP Relaxation</a:t>
            </a:r>
            <a:endParaRPr lang="en-GB" altLang="en-US" sz="2400" b="1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56377" y="5839860"/>
            <a:ext cx="8021721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Round the solution to the nearest integers </a:t>
            </a:r>
            <a:endParaRPr lang="en-GB" altLang="en-US" sz="2800" dirty="0">
              <a:solidFill>
                <a:srgbClr val="FF0000"/>
              </a:solidFill>
            </a:endParaRPr>
          </a:p>
        </p:txBody>
      </p:sp>
      <p:sp>
        <p:nvSpPr>
          <p:cNvPr id="2" name="Right Arrow 1"/>
          <p:cNvSpPr/>
          <p:nvPr/>
        </p:nvSpPr>
        <p:spPr bwMode="auto">
          <a:xfrm rot="5400000">
            <a:off x="4162642" y="5138585"/>
            <a:ext cx="589935" cy="428111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359789" y="1283452"/>
                <a:ext cx="4134915" cy="1609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Minimize:	</a:t>
                </a: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en-US" sz="4000" b="1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en-US" sz="3200" b="1" dirty="0"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SG" sz="3200" dirty="0">
                    <a:latin typeface="Cambria Math" panose="02040503050406030204" pitchFamily="18" charset="0"/>
                  </a:rPr>
                  <a:t>binary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789" y="1283452"/>
                <a:ext cx="4134915" cy="1609223"/>
              </a:xfrm>
              <a:prstGeom prst="rect">
                <a:avLst/>
              </a:prstGeom>
              <a:blipFill rotWithShape="0">
                <a:blip r:embed="rId2"/>
                <a:stretch>
                  <a:fillRect t="-4924" b="-9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22696" y="1294081"/>
                <a:ext cx="4134915" cy="1609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Minimize:	</a:t>
                </a: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en-US" sz="4000" b="1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en-US" sz="3200" b="1" dirty="0"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SG" sz="3200" dirty="0">
                    <a:latin typeface="Cambria Math" panose="02040503050406030204" pitchFamily="18" charset="0"/>
                  </a:rPr>
                  <a:t>integer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96" y="1294081"/>
                <a:ext cx="4134915" cy="1609223"/>
              </a:xfrm>
              <a:prstGeom prst="rect">
                <a:avLst/>
              </a:prstGeom>
              <a:blipFill rotWithShape="0">
                <a:blip r:embed="rId3"/>
                <a:stretch>
                  <a:fillRect t="-4924" b="-9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22696" y="3641504"/>
                <a:ext cx="4134915" cy="1609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Minimize:	</a:t>
                </a: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en-US" sz="4000" b="1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en-US" sz="3200" b="1" dirty="0"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b="1" dirty="0"/>
                  <a:t>     </a:t>
                </a: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SG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96" y="3641504"/>
                <a:ext cx="4134915" cy="1609223"/>
              </a:xfrm>
              <a:prstGeom prst="rect">
                <a:avLst/>
              </a:prstGeom>
              <a:blipFill rotWithShape="0">
                <a:blip r:embed="rId4"/>
                <a:stretch>
                  <a:fillRect t="-49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359788" y="3692461"/>
                <a:ext cx="4134915" cy="1609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Minimize:	</a:t>
                </a: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en-US" sz="4000" b="1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en-US" sz="3200" b="1" dirty="0"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b="1" dirty="0"/>
                  <a:t>     </a:t>
                </a:r>
                <a14:m>
                  <m:oMath xmlns:m="http://schemas.openxmlformats.org/officeDocument/2006/math">
                    <m:r>
                      <a:rPr lang="en-US" altLang="en-US" sz="3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SG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788" y="3692461"/>
                <a:ext cx="4134915" cy="1609223"/>
              </a:xfrm>
              <a:prstGeom prst="rect">
                <a:avLst/>
              </a:prstGeom>
              <a:blipFill rotWithShape="0">
                <a:blip r:embed="rId5"/>
                <a:stretch>
                  <a:fillRect t="-49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/>
          <p:cNvSpPr/>
          <p:nvPr/>
        </p:nvSpPr>
        <p:spPr bwMode="auto">
          <a:xfrm rot="5400000">
            <a:off x="4162643" y="2939280"/>
            <a:ext cx="589935" cy="428111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8777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Investment Example</a:t>
            </a:r>
            <a:endParaRPr lang="en-GB" altLang="en-US" dirty="0"/>
          </a:p>
        </p:txBody>
      </p:sp>
      <p:sp>
        <p:nvSpPr>
          <p:cNvPr id="15364" name="Content Placeholder 2"/>
          <p:cNvSpPr>
            <a:spLocks noGrp="1"/>
          </p:cNvSpPr>
          <p:nvPr>
            <p:ph sz="quarter" idx="1"/>
          </p:nvPr>
        </p:nvSpPr>
        <p:spPr>
          <a:xfrm>
            <a:off x="-1" y="941388"/>
            <a:ext cx="8845617" cy="4937125"/>
          </a:xfrm>
        </p:spPr>
        <p:txBody>
          <a:bodyPr/>
          <a:lstStyle/>
          <a:p>
            <a:r>
              <a:rPr lang="en-US" altLang="en-US" dirty="0">
                <a:effectLst/>
              </a:rPr>
              <a:t>Consider two investments opportunities:</a:t>
            </a:r>
          </a:p>
          <a:p>
            <a:pPr lvl="1"/>
            <a:r>
              <a:rPr lang="en-US" altLang="en-US" dirty="0">
                <a:effectLst/>
              </a:rPr>
              <a:t>Invest $100K, return 1 million 40 years later.</a:t>
            </a:r>
          </a:p>
          <a:p>
            <a:pPr lvl="2"/>
            <a:r>
              <a:rPr lang="en-US" altLang="en-US" dirty="0">
                <a:effectLst/>
              </a:rPr>
              <a:t>Annual rate of return: 5.9%</a:t>
            </a:r>
          </a:p>
          <a:p>
            <a:pPr lvl="1"/>
            <a:r>
              <a:rPr lang="en-US" altLang="en-US" dirty="0">
                <a:effectLst/>
              </a:rPr>
              <a:t>Invest $80K, return 0.95 million 40 years later.</a:t>
            </a:r>
          </a:p>
          <a:p>
            <a:pPr lvl="2"/>
            <a:r>
              <a:rPr lang="en-US" altLang="en-US" dirty="0">
                <a:effectLst/>
              </a:rPr>
              <a:t>Annual rate of return: 6.4%</a:t>
            </a:r>
          </a:p>
          <a:p>
            <a:pPr lvl="1"/>
            <a:endParaRPr lang="en-US" altLang="en-US" dirty="0">
              <a:effectLst/>
            </a:endParaRPr>
          </a:p>
          <a:p>
            <a:r>
              <a:rPr lang="en-US" altLang="en-US" dirty="0">
                <a:effectLst/>
              </a:rPr>
              <a:t>Budget constraint: $100K.</a:t>
            </a:r>
          </a:p>
          <a:p>
            <a:endParaRPr lang="en-US" altLang="en-US" dirty="0">
              <a:effectLst/>
            </a:endParaRPr>
          </a:p>
          <a:p>
            <a:r>
              <a:rPr lang="en-US" altLang="en-US" dirty="0">
                <a:effectLst/>
              </a:rPr>
              <a:t>Objective: Maximize the return after 40 years.</a:t>
            </a:r>
          </a:p>
        </p:txBody>
      </p:sp>
    </p:spTree>
    <p:extLst>
      <p:ext uri="{BB962C8B-B14F-4D97-AF65-F5344CB8AC3E}">
        <p14:creationId xmlns:p14="http://schemas.microsoft.com/office/powerpoint/2010/main" val="3322898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</a:t>
            </a:r>
            <a:endParaRPr lang="en-GB" altLang="en-US" dirty="0"/>
          </a:p>
        </p:txBody>
      </p:sp>
      <p:sp>
        <p:nvSpPr>
          <p:cNvPr id="15364" name="Content Placeholder 2"/>
          <p:cNvSpPr>
            <a:spLocks noGrp="1"/>
          </p:cNvSpPr>
          <p:nvPr>
            <p:ph sz="quarter" idx="1"/>
          </p:nvPr>
        </p:nvSpPr>
        <p:spPr>
          <a:xfrm>
            <a:off x="-1" y="941388"/>
            <a:ext cx="8845617" cy="4937125"/>
          </a:xfrm>
        </p:spPr>
        <p:txBody>
          <a:bodyPr/>
          <a:lstStyle/>
          <a:p>
            <a:r>
              <a:rPr lang="en-US" altLang="en-US" dirty="0">
                <a:effectLst/>
              </a:rPr>
              <a:t>IP formulation:</a:t>
            </a:r>
          </a:p>
          <a:p>
            <a:endParaRPr lang="en-US" altLang="en-US" dirty="0">
              <a:effectLst/>
            </a:endParaRPr>
          </a:p>
          <a:p>
            <a:endParaRPr lang="en-US" altLang="en-US" dirty="0">
              <a:effectLst/>
            </a:endParaRPr>
          </a:p>
          <a:p>
            <a:endParaRPr lang="en-US" altLang="en-US" dirty="0">
              <a:effectLst/>
            </a:endParaRPr>
          </a:p>
          <a:p>
            <a:endParaRPr lang="en-US" altLang="en-US" dirty="0">
              <a:effectLst/>
            </a:endParaRPr>
          </a:p>
          <a:p>
            <a:r>
              <a:rPr lang="en-US" altLang="en-US" dirty="0">
                <a:effectLst/>
              </a:rPr>
              <a:t>LP relaxation</a:t>
            </a:r>
          </a:p>
          <a:p>
            <a:pPr lvl="1"/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2368" y="1509434"/>
                <a:ext cx="8740878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Maximize: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950</m:t>
                        </m:r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en-US" sz="3200" dirty="0"/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</a:t>
                </a:r>
                <a14:m>
                  <m:oMath xmlns:m="http://schemas.openxmlformats.org/officeDocument/2006/math">
                    <m:r>
                      <a:rPr lang="en-US" altLang="en-US" sz="32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US" altLang="en-US" sz="3200" dirty="0"/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sz="3200" dirty="0">
                    <a:latin typeface="Cambria Math" panose="02040503050406030204" pitchFamily="18" charset="0"/>
                  </a:rPr>
                  <a:t> binary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8" y="1509434"/>
                <a:ext cx="8740878" cy="1569660"/>
              </a:xfrm>
              <a:prstGeom prst="rect">
                <a:avLst/>
              </a:prstGeom>
              <a:blipFill rotWithShape="0">
                <a:blip r:embed="rId2"/>
                <a:stretch>
                  <a:fillRect t="-5058" b="-1206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-1" y="4169059"/>
                <a:ext cx="8740878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Maximize: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950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en-US" sz="3200" dirty="0"/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≤100</m:t>
                    </m:r>
                  </m:oMath>
                </a14:m>
                <a:endParaRPr lang="en-US" altLang="en-US" sz="3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SG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169059"/>
                <a:ext cx="8740878" cy="1569660"/>
              </a:xfrm>
              <a:prstGeom prst="rect">
                <a:avLst/>
              </a:prstGeom>
              <a:blipFill rotWithShape="0">
                <a:blip r:embed="rId3"/>
                <a:stretch>
                  <a:fillRect t="-50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 bwMode="auto">
          <a:xfrm>
            <a:off x="304800" y="6047772"/>
            <a:ext cx="550607" cy="373626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>
                <a:spLocks noChangeArrowheads="1"/>
              </p:cNvSpPr>
              <p:nvPr/>
            </p:nvSpPr>
            <p:spPr bwMode="auto">
              <a:xfrm>
                <a:off x="1045258" y="5972975"/>
                <a:ext cx="3143284" cy="52322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)=(0.2, 1)</m:t>
                      </m:r>
                    </m:oMath>
                  </m:oMathPara>
                </a14:m>
                <a:endParaRPr lang="en-GB" alt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5258" y="5972975"/>
                <a:ext cx="3143284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 bwMode="auto">
          <a:xfrm>
            <a:off x="4498258" y="6072933"/>
            <a:ext cx="550607" cy="373626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>
                <a:spLocks noChangeArrowheads="1"/>
              </p:cNvSpPr>
              <p:nvPr/>
            </p:nvSpPr>
            <p:spPr bwMode="auto">
              <a:xfrm>
                <a:off x="5248548" y="5972975"/>
                <a:ext cx="3143284" cy="52322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)=(0, 1)</m:t>
                      </m:r>
                    </m:oMath>
                  </m:oMathPara>
                </a14:m>
                <a:endParaRPr lang="en-GB" alt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8548" y="5972975"/>
                <a:ext cx="3143284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64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Method of LP Relaxation</a:t>
            </a:r>
            <a:endParaRPr lang="en-GB" altLang="en-US" dirty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484133" y="2986638"/>
            <a:ext cx="27594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/>
              <a:t>LP Relaxation</a:t>
            </a:r>
            <a:endParaRPr lang="en-GB" altLang="en-US" sz="2400" b="1" dirty="0"/>
          </a:p>
        </p:txBody>
      </p:sp>
      <p:sp>
        <p:nvSpPr>
          <p:cNvPr id="2" name="Right Arrow 1"/>
          <p:cNvSpPr/>
          <p:nvPr/>
        </p:nvSpPr>
        <p:spPr bwMode="auto">
          <a:xfrm rot="5400000">
            <a:off x="4162642" y="5138585"/>
            <a:ext cx="589935" cy="428111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359789" y="1283452"/>
                <a:ext cx="4134915" cy="1609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Minimize:	</a:t>
                </a: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en-US" sz="4000" b="1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en-US" sz="3200" b="1" dirty="0"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SG" sz="3200" dirty="0">
                    <a:latin typeface="Cambria Math" panose="02040503050406030204" pitchFamily="18" charset="0"/>
                  </a:rPr>
                  <a:t>binary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789" y="1283452"/>
                <a:ext cx="4134915" cy="1609223"/>
              </a:xfrm>
              <a:prstGeom prst="rect">
                <a:avLst/>
              </a:prstGeom>
              <a:blipFill rotWithShape="0">
                <a:blip r:embed="rId2"/>
                <a:stretch>
                  <a:fillRect t="-4924" b="-9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22696" y="1294081"/>
                <a:ext cx="4134915" cy="1609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Minimize:	</a:t>
                </a: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en-US" sz="4000" b="1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en-US" sz="3200" b="1" dirty="0"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SG" sz="3200" dirty="0">
                    <a:latin typeface="Cambria Math" panose="02040503050406030204" pitchFamily="18" charset="0"/>
                  </a:rPr>
                  <a:t>integer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96" y="1294081"/>
                <a:ext cx="4134915" cy="1609223"/>
              </a:xfrm>
              <a:prstGeom prst="rect">
                <a:avLst/>
              </a:prstGeom>
              <a:blipFill rotWithShape="0">
                <a:blip r:embed="rId3"/>
                <a:stretch>
                  <a:fillRect t="-4924" b="-9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22696" y="3641504"/>
                <a:ext cx="4134915" cy="1609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Minimize:	</a:t>
                </a: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en-US" sz="4000" b="1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en-US" sz="3200" b="1" dirty="0"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b="1" dirty="0"/>
                  <a:t>     </a:t>
                </a: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SG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96" y="3641504"/>
                <a:ext cx="4134915" cy="1609223"/>
              </a:xfrm>
              <a:prstGeom prst="rect">
                <a:avLst/>
              </a:prstGeom>
              <a:blipFill rotWithShape="0">
                <a:blip r:embed="rId4"/>
                <a:stretch>
                  <a:fillRect t="-49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359788" y="3692461"/>
                <a:ext cx="4134915" cy="1609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Minimize:	</a:t>
                </a:r>
                <a14:m>
                  <m:oMath xmlns:m="http://schemas.openxmlformats.org/officeDocument/2006/math"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altLang="en-US" sz="32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en-US" sz="4000" b="1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en-US" sz="3200" b="1" dirty="0"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:r>
                  <a:rPr lang="en-US" altLang="en-US" sz="3200" b="1" dirty="0"/>
                  <a:t>     </a:t>
                </a:r>
                <a14:m>
                  <m:oMath xmlns:m="http://schemas.openxmlformats.org/officeDocument/2006/math">
                    <m:r>
                      <a:rPr lang="en-US" altLang="en-US" sz="3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SG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788" y="3692461"/>
                <a:ext cx="4134915" cy="1609223"/>
              </a:xfrm>
              <a:prstGeom prst="rect">
                <a:avLst/>
              </a:prstGeom>
              <a:blipFill rotWithShape="0">
                <a:blip r:embed="rId5"/>
                <a:stretch>
                  <a:fillRect t="-49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/>
          <p:cNvSpPr/>
          <p:nvPr/>
        </p:nvSpPr>
        <p:spPr bwMode="auto">
          <a:xfrm rot="5400000">
            <a:off x="4162643" y="2939280"/>
            <a:ext cx="589935" cy="428111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346137" y="5727317"/>
            <a:ext cx="6651055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When are they the same?</a:t>
            </a:r>
            <a:endParaRPr lang="en-GB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17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Cramer’s Rule</a:t>
            </a:r>
            <a:endParaRPr lang="en-GB" altLang="en-US" dirty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7463" y="2001693"/>
            <a:ext cx="899178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/>
              <a:t>Cramer’s Rule: consider a system of n linear equations and n unknowns</a:t>
            </a:r>
            <a:endParaRPr lang="en-GB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>
                <a:spLocks noChangeArrowheads="1"/>
              </p:cNvSpPr>
              <p:nvPr/>
            </p:nvSpPr>
            <p:spPr bwMode="auto">
              <a:xfrm>
                <a:off x="1241709" y="1279316"/>
                <a:ext cx="6651055" cy="52322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800" dirty="0">
                    <a:solidFill>
                      <a:srgbClr val="FF0000"/>
                    </a:solidFill>
                    <a:effectLst/>
                  </a:rPr>
                  <a:t>The solution for LP: </a:t>
                </a:r>
                <a14:m>
                  <m:oMath xmlns:m="http://schemas.openxmlformats.org/officeDocument/2006/math">
                    <m:r>
                      <a:rPr lang="en-US" altLang="en-US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𝑩</m:t>
                    </m:r>
                    <m:sSub>
                      <m:sSubPr>
                        <m:ctrlPr>
                          <a:rPr lang="en-US" altLang="en-US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altLang="en-US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GB" altLang="en-US" sz="2800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41709" y="1279316"/>
                <a:ext cx="6651055" cy="523220"/>
              </a:xfrm>
              <a:prstGeom prst="rect">
                <a:avLst/>
              </a:prstGeom>
              <a:blipFill rotWithShape="0">
                <a:blip r:embed="rId2"/>
                <a:stretch>
                  <a:fillRect t="-11364" b="-2954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>
                <a:spLocks noChangeArrowheads="1"/>
              </p:cNvSpPr>
              <p:nvPr/>
            </p:nvSpPr>
            <p:spPr bwMode="auto">
              <a:xfrm>
                <a:off x="282526" y="3031847"/>
                <a:ext cx="8216582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𝑩𝒙</m:t>
                      </m:r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=</m:t>
                      </m:r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𝒃</m:t>
                      </m:r>
                    </m:oMath>
                  </m:oMathPara>
                </a14:m>
                <a:endParaRPr lang="en-GB" altLang="en-US" sz="2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526" y="3031847"/>
                <a:ext cx="8216582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>
                <a:spLocks noChangeArrowheads="1"/>
              </p:cNvSpPr>
              <p:nvPr/>
            </p:nvSpPr>
            <p:spPr bwMode="auto">
              <a:xfrm>
                <a:off x="282526" y="3826785"/>
                <a:ext cx="8216582" cy="1420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𝒊</m:t>
                          </m:r>
                        </m:sub>
                      </m:sSub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𝒅𝒆𝒕</m:t>
                          </m:r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1" i="1" dirty="0" smtClean="0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dirty="0" smtClean="0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CN" sz="2800" b="1" i="1" dirty="0" smtClean="0">
                                  <a:latin typeface="Cambria Math" panose="02040503050406030204" pitchFamily="18" charset="0"/>
                                  <a:ea typeface="宋体" pitchFamily="2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𝒅𝒆𝒕</m:t>
                          </m:r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(</m:t>
                          </m:r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𝑩</m:t>
                          </m:r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altLang="en-US" sz="2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𝑴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𝒊</m:t>
                          </m:r>
                        </m:sub>
                      </m:sSub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=[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𝒊</m:t>
                          </m:r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−</m:t>
                          </m:r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,</m:t>
                      </m:r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𝒃</m:t>
                      </m:r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𝒊</m:t>
                          </m:r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+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𝒏</m:t>
                          </m:r>
                        </m:sub>
                      </m:sSub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]</m:t>
                      </m:r>
                    </m:oMath>
                  </m:oMathPara>
                </a14:m>
                <a:endParaRPr lang="en-GB" altLang="en-US" sz="2800" b="1" i="1" dirty="0">
                  <a:latin typeface="Cambria Math" panose="02040503050406030204" pitchFamily="18" charset="0"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526" y="3826785"/>
                <a:ext cx="8216582" cy="142032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01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Totally </a:t>
            </a:r>
            <a:r>
              <a:rPr lang="en-US" altLang="en-US" dirty="0" err="1"/>
              <a:t>Unimodular</a:t>
            </a:r>
            <a:r>
              <a:rPr lang="en-US" altLang="en-US" dirty="0"/>
              <a:t> Matrix</a:t>
            </a:r>
            <a:endParaRPr lang="en-GB" altLang="en-US" dirty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1213106"/>
            <a:ext cx="899178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 err="1"/>
              <a:t>Unimodular</a:t>
            </a:r>
            <a:r>
              <a:rPr lang="en-US" altLang="en-US" sz="2400" b="1" dirty="0"/>
              <a:t> Matrix: A square integer matrix having determinant +1 or -1.</a:t>
            </a:r>
            <a:endParaRPr lang="en-GB" altLang="en-US" sz="2400" b="1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12648" y="2314083"/>
            <a:ext cx="8566485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If the optimal basis is </a:t>
            </a:r>
            <a:r>
              <a:rPr lang="en-US" altLang="en-US" sz="2800" dirty="0" err="1">
                <a:solidFill>
                  <a:srgbClr val="FF0000"/>
                </a:solidFill>
              </a:rPr>
              <a:t>unimodular</a:t>
            </a:r>
            <a:r>
              <a:rPr lang="en-US" altLang="en-US" sz="2800" dirty="0">
                <a:solidFill>
                  <a:srgbClr val="FF0000"/>
                </a:solidFill>
              </a:rPr>
              <a:t>, then we are done.</a:t>
            </a:r>
            <a:endParaRPr lang="en-GB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1346" y="3107283"/>
            <a:ext cx="899178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/>
              <a:t>Totally </a:t>
            </a:r>
            <a:r>
              <a:rPr lang="en-US" altLang="en-US" sz="2400" b="1" dirty="0" err="1"/>
              <a:t>Unimodular</a:t>
            </a:r>
            <a:r>
              <a:rPr lang="en-US" altLang="en-US" sz="2400" b="1" dirty="0"/>
              <a:t> Matrix: A matrix for which every square non-singular submatrix is </a:t>
            </a:r>
            <a:r>
              <a:rPr lang="en-US" altLang="en-US" sz="2400" b="1" dirty="0" err="1"/>
              <a:t>unimodular</a:t>
            </a:r>
            <a:r>
              <a:rPr lang="en-US" altLang="en-US" sz="2400" b="1" dirty="0"/>
              <a:t>.</a:t>
            </a:r>
            <a:endParaRPr lang="en-GB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>
                <a:spLocks noChangeArrowheads="1"/>
              </p:cNvSpPr>
              <p:nvPr/>
            </p:nvSpPr>
            <p:spPr bwMode="auto">
              <a:xfrm>
                <a:off x="212648" y="4208260"/>
                <a:ext cx="8566485" cy="52322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800" dirty="0">
                    <a:solidFill>
                      <a:srgbClr val="FF0000"/>
                    </a:solidFill>
                    <a:effectLst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en-US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en-US" sz="2800" dirty="0">
                    <a:solidFill>
                      <a:srgbClr val="FF0000"/>
                    </a:solidFill>
                    <a:effectLst/>
                  </a:rPr>
                  <a:t> is totally </a:t>
                </a:r>
                <a:r>
                  <a:rPr lang="en-US" altLang="en-US" sz="2800" dirty="0" err="1">
                    <a:solidFill>
                      <a:srgbClr val="FF0000"/>
                    </a:solidFill>
                    <a:effectLst/>
                  </a:rPr>
                  <a:t>unimodular</a:t>
                </a:r>
                <a:r>
                  <a:rPr lang="en-US" altLang="en-US" sz="2800" dirty="0">
                    <a:solidFill>
                      <a:srgbClr val="FF0000"/>
                    </a:solidFill>
                    <a:effectLst/>
                  </a:rPr>
                  <a:t>, then we are done.</a:t>
                </a:r>
                <a:endParaRPr lang="en-GB" altLang="en-US" sz="2800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648" y="4208260"/>
                <a:ext cx="8566485" cy="523220"/>
              </a:xfrm>
              <a:prstGeom prst="rect">
                <a:avLst/>
              </a:prstGeom>
              <a:blipFill rotWithShape="0">
                <a:blip r:embed="rId2"/>
                <a:stretch>
                  <a:fillRect t="-10227" b="-2954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129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>
                <a:ea typeface="宋体" pitchFamily="2" charset="-122"/>
              </a:rPr>
              <a:t>Necessary Condition and Example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52" y="2381151"/>
            <a:ext cx="7151570" cy="31515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>
                <a:spLocks noChangeArrowheads="1"/>
              </p:cNvSpPr>
              <p:nvPr/>
            </p:nvSpPr>
            <p:spPr bwMode="auto">
              <a:xfrm>
                <a:off x="283995" y="1279344"/>
                <a:ext cx="8566485" cy="52322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2800" dirty="0">
                    <a:ea typeface="宋体" pitchFamily="2" charset="-122"/>
                  </a:rPr>
                  <a:t>Every entry of </a:t>
                </a:r>
                <a14:m>
                  <m:oMath xmlns:m="http://schemas.openxmlformats.org/officeDocument/2006/math">
                    <m:r>
                      <a:rPr lang="en-US" altLang="en-US" sz="28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sz="2800" dirty="0">
                    <a:ea typeface="宋体" pitchFamily="2" charset="-122"/>
                  </a:rPr>
                  <a:t> is 0, +1, or -1</a:t>
                </a:r>
                <a:endParaRPr lang="en-GB" alt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995" y="1279344"/>
                <a:ext cx="8566485" cy="523220"/>
              </a:xfrm>
              <a:prstGeom prst="rect">
                <a:avLst/>
              </a:prstGeom>
              <a:blipFill rotWithShape="0">
                <a:blip r:embed="rId4"/>
                <a:stretch>
                  <a:fillRect t="-11364" b="-2954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 bwMode="auto">
          <a:xfrm>
            <a:off x="3197110" y="3282631"/>
            <a:ext cx="1670919" cy="1043308"/>
          </a:xfrm>
          <a:prstGeom prst="rect">
            <a:avLst/>
          </a:prstGeom>
          <a:solidFill>
            <a:schemeClr val="accent1">
              <a:alpha val="27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26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          Branch and Bound Method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025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Knapsack Problem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60637" y="1077097"/>
                <a:ext cx="8956375" cy="493712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GB" altLang="en-US" sz="2800" dirty="0">
                  <a:effectLst/>
                </a:endParaRPr>
              </a:p>
              <a:p>
                <a:endParaRPr lang="en-GB" altLang="en-US" sz="2800" dirty="0">
                  <a:effectLst/>
                </a:endParaRPr>
              </a:p>
              <a:p>
                <a:endParaRPr lang="en-GB" altLang="en-US" sz="2800" dirty="0">
                  <a:effectLst/>
                </a:endParaRPr>
              </a:p>
              <a:p>
                <a:endParaRPr lang="en-GB" altLang="en-US" sz="2800" dirty="0">
                  <a:effectLst/>
                </a:endParaRPr>
              </a:p>
              <a:p>
                <a:r>
                  <a:rPr lang="en-GB" altLang="en-US" sz="2800" dirty="0">
                    <a:effectLst/>
                  </a:rPr>
                  <a:t>How many feasible solutions do we have?</a:t>
                </a:r>
              </a:p>
              <a:p>
                <a:pPr lvl="1"/>
                <a:r>
                  <a:rPr lang="en-GB" altLang="en-US" sz="2600" dirty="0">
                    <a:effectLst/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=50</m:t>
                    </m:r>
                  </m:oMath>
                </a14:m>
                <a:endParaRPr lang="en-US" altLang="en-US" sz="2800" b="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en-US" sz="2800" b="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en-US" sz="2800" dirty="0">
                    <a:effectLst/>
                  </a:rPr>
                  <a:t>NP-hard</a:t>
                </a:r>
              </a:p>
              <a:p>
                <a:pPr lvl="1"/>
                <a:endParaRPr lang="en-GB" altLang="en-US" sz="2600" dirty="0">
                  <a:effectLst/>
                </a:endParaRPr>
              </a:p>
              <a:p>
                <a:endParaRPr lang="en-GB" altLang="en-US" sz="2800" dirty="0">
                  <a:effectLst/>
                </a:endParaRPr>
              </a:p>
              <a:p>
                <a:pPr marL="0" indent="0">
                  <a:buNone/>
                </a:pPr>
                <a:r>
                  <a:rPr lang="en-GB" altLang="en-US" sz="2800" dirty="0">
                    <a:effectLst/>
                  </a:rPr>
                  <a:t>     </a:t>
                </a:r>
              </a:p>
            </p:txBody>
          </p:sp>
        </mc:Choice>
        <mc:Fallback xmlns="">
          <p:sp>
            <p:nvSpPr>
              <p:cNvPr id="1434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60637" y="1077097"/>
                <a:ext cx="8956375" cy="4937125"/>
              </a:xfrm>
              <a:blipFill rotWithShape="0">
                <a:blip r:embed="rId3"/>
                <a:stretch>
                  <a:fillRect l="-12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0637" y="1201158"/>
                <a:ext cx="8740878" cy="1572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Maximize:	</a:t>
                </a:r>
                <a14:m>
                  <m:oMath xmlns:m="http://schemas.openxmlformats.org/officeDocument/2006/math">
                    <m:r>
                      <a:rPr lang="en-US" altLang="en-US" sz="32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en-US" sz="3200" dirty="0"/>
              </a:p>
              <a:p>
                <a:pPr>
                  <a:defRPr/>
                </a:pPr>
                <a:r>
                  <a:rPr lang="en-US" altLang="en-US" sz="3200" dirty="0" err="1"/>
                  <a:t>s.t.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en-US" sz="3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3200" dirty="0">
                    <a:latin typeface="Cambria Math" panose="02040503050406030204" pitchFamily="18" charset="0"/>
                  </a:rPr>
                  <a:t> binary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37" y="1201158"/>
                <a:ext cx="8740878" cy="1572995"/>
              </a:xfrm>
              <a:prstGeom prst="rect">
                <a:avLst/>
              </a:prstGeom>
              <a:blipFill rotWithShape="0">
                <a:blip r:embed="rId4"/>
                <a:stretch>
                  <a:fillRect t="-5426" b="-116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1921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Investment Example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1" y="941388"/>
                <a:ext cx="9291485" cy="4937125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Consider three investments opportunities:</a:t>
                </a:r>
              </a:p>
              <a:p>
                <a:pPr lvl="1"/>
                <a:r>
                  <a:rPr lang="en-US" altLang="en-US" dirty="0">
                    <a:effectLst/>
                  </a:rPr>
                  <a:t>Invest $100K, return 1 million 40 years later.</a:t>
                </a:r>
              </a:p>
              <a:p>
                <a:pPr lvl="2"/>
                <a:r>
                  <a:rPr lang="en-US" altLang="en-US" dirty="0">
                    <a:effectLst/>
                  </a:rPr>
                  <a:t>Annual rate of return: 5.9%</a:t>
                </a:r>
              </a:p>
              <a:p>
                <a:pPr lvl="1"/>
                <a:r>
                  <a:rPr lang="en-US" altLang="en-US" dirty="0">
                    <a:effectLst/>
                  </a:rPr>
                  <a:t>Invest $80K, return 0.95 million 40 years later.</a:t>
                </a:r>
              </a:p>
              <a:p>
                <a:pPr lvl="2"/>
                <a:r>
                  <a:rPr lang="en-US" altLang="en-US" dirty="0">
                    <a:effectLst/>
                  </a:rPr>
                  <a:t>Annual rate of return: 6.4%</a:t>
                </a:r>
              </a:p>
              <a:p>
                <a:pPr lvl="1"/>
                <a:r>
                  <a:rPr lang="en-US" altLang="en-US" dirty="0">
                    <a:effectLst/>
                  </a:rPr>
                  <a:t>Invest $50K, return 0.35 million 40 years later.</a:t>
                </a:r>
              </a:p>
              <a:p>
                <a:pPr lvl="2"/>
                <a:r>
                  <a:rPr lang="en-US" altLang="en-US" dirty="0">
                    <a:effectLst/>
                  </a:rPr>
                  <a:t>Annual rate of return: 5.0%</a:t>
                </a:r>
              </a:p>
              <a:p>
                <a:pPr lvl="1"/>
                <a:endParaRPr lang="en-US" altLang="en-US" dirty="0">
                  <a:effectLst/>
                </a:endParaRPr>
              </a:p>
              <a:p>
                <a:r>
                  <a:rPr lang="en-US" altLang="en-US" dirty="0">
                    <a:effectLst/>
                  </a:rPr>
                  <a:t>Budget constraint: $200K.</a:t>
                </a:r>
              </a:p>
              <a:p>
                <a:endParaRPr lang="en-US" altLang="en-US" dirty="0">
                  <a:effectLst/>
                </a:endParaRPr>
              </a:p>
              <a:p>
                <a:r>
                  <a:rPr lang="en-US" altLang="en-US" dirty="0">
                    <a:effectLst/>
                  </a:rPr>
                  <a:t>Objective: Maximize </a:t>
                </a:r>
                <a14:m>
                  <m:oMath xmlns:m="http://schemas.openxmlformats.org/officeDocument/2006/math">
                    <m:r>
                      <a:rPr lang="en-US" altLang="en-US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en-US" dirty="0">
                    <a:effectLst/>
                  </a:rPr>
                  <a:t>: the return after 40 years.</a:t>
                </a:r>
              </a:p>
            </p:txBody>
          </p:sp>
        </mc:Choice>
        <mc:Fallback xmlns="">
          <p:sp>
            <p:nvSpPr>
              <p:cNvPr id="1536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1" y="941388"/>
                <a:ext cx="9291485" cy="4937125"/>
              </a:xfrm>
              <a:blipFill rotWithShape="0">
                <a:blip r:embed="rId2"/>
                <a:stretch>
                  <a:fillRect l="-1247" t="-1235" b="-139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5161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to Branch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1" y="941388"/>
                <a:ext cx="8845617" cy="4937125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LP relaxation</a:t>
                </a: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r>
                  <a:rPr lang="en-US" altLang="en-US" dirty="0">
                    <a:effectLst/>
                  </a:rPr>
                  <a:t>Branch: consider two sub-problems: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400" b="1" i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en-US" b="0" dirty="0">
                  <a:effectLst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en-US" dirty="0">
                  <a:effectLst/>
                </a:endParaRPr>
              </a:p>
              <a:p>
                <a:pPr lvl="1"/>
                <a:endParaRPr lang="en-US" altLang="en-US" dirty="0"/>
              </a:p>
            </p:txBody>
          </p:sp>
        </mc:Choice>
        <mc:Fallback xmlns="">
          <p:sp>
            <p:nvSpPr>
              <p:cNvPr id="1536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1" y="941388"/>
                <a:ext cx="8845617" cy="4937125"/>
              </a:xfrm>
              <a:blipFill rotWithShape="0">
                <a:blip r:embed="rId2"/>
                <a:stretch>
                  <a:fillRect l="-1309" t="-123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-1" y="1622504"/>
                <a:ext cx="8740878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Maximize: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950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en-US" sz="3200" dirty="0"/>
              </a:p>
              <a:p>
                <a:pPr>
                  <a:defRPr/>
                </a:pPr>
                <a:r>
                  <a:rPr lang="en-US" altLang="en-US" sz="3200" dirty="0"/>
                  <a:t>s.t</a:t>
                </a:r>
                <a:r>
                  <a:rPr lang="en-US" altLang="en-US" sz="3200" dirty="0" err="1"/>
                  <a:t>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</m:oMath>
                </a14:m>
                <a:endParaRPr lang="en-US" altLang="en-US" sz="3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SG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622504"/>
                <a:ext cx="8740878" cy="1569660"/>
              </a:xfrm>
              <a:prstGeom prst="rect">
                <a:avLst/>
              </a:prstGeom>
              <a:blipFill rotWithShape="0">
                <a:blip r:embed="rId3"/>
                <a:stretch>
                  <a:fillRect t="-50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 bwMode="auto">
          <a:xfrm>
            <a:off x="532969" y="3499654"/>
            <a:ext cx="550607" cy="373626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>
                <a:spLocks noChangeArrowheads="1"/>
              </p:cNvSpPr>
              <p:nvPr/>
            </p:nvSpPr>
            <p:spPr bwMode="auto">
              <a:xfrm>
                <a:off x="1354973" y="3424577"/>
                <a:ext cx="7307246" cy="52322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1, 1, 0.4</m:t>
                        </m:r>
                      </m:e>
                    </m:d>
                    <m:r>
                      <a:rPr lang="en-US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GB" altLang="en-US" sz="28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GB" altLang="en-US" sz="2800" dirty="0">
                    <a:solidFill>
                      <a:srgbClr val="FF0000"/>
                    </a:solidFill>
                  </a:rPr>
                  <a:t>Objective: 2090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4973" y="3424577"/>
                <a:ext cx="7307246" cy="523220"/>
              </a:xfrm>
              <a:prstGeom prst="rect">
                <a:avLst/>
              </a:prstGeom>
              <a:blipFill rotWithShape="0">
                <a:blip r:embed="rId4"/>
                <a:stretch>
                  <a:fillRect t="-11364" b="-2954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779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to Bound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1" y="941388"/>
                <a:ext cx="8845617" cy="4937125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First branch: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32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r>
                  <a:rPr lang="en-US" altLang="en-US" dirty="0">
                    <a:effectLst/>
                  </a:rPr>
                  <a:t>What information do we get from this?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en-US" sz="24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1950</m:t>
                    </m:r>
                  </m:oMath>
                </a14:m>
                <a:endParaRPr lang="en-US" altLang="en-US" b="0" dirty="0">
                  <a:effectLst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en-US" sz="24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2090</m:t>
                    </m:r>
                  </m:oMath>
                </a14:m>
                <a:r>
                  <a:rPr lang="en-US" altLang="en-US" b="0" dirty="0">
                    <a:effectLst/>
                  </a:rPr>
                  <a:t> (from the full problem)</a:t>
                </a:r>
              </a:p>
              <a:p>
                <a:pPr lvl="1"/>
                <a:endParaRPr lang="en-US" altLang="en-US" dirty="0"/>
              </a:p>
            </p:txBody>
          </p:sp>
        </mc:Choice>
        <mc:Fallback xmlns="">
          <p:sp>
            <p:nvSpPr>
              <p:cNvPr id="1536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1" y="941388"/>
                <a:ext cx="8845617" cy="4937125"/>
              </a:xfrm>
              <a:blipFill rotWithShape="0">
                <a:blip r:embed="rId2"/>
                <a:stretch>
                  <a:fillRect l="-1309" t="-49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-1" y="1622504"/>
                <a:ext cx="8740878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Maximize: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950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en-US" sz="3200" dirty="0"/>
              </a:p>
              <a:p>
                <a:pPr>
                  <a:defRPr/>
                </a:pPr>
                <a:r>
                  <a:rPr lang="en-US" altLang="en-US" sz="3200" dirty="0"/>
                  <a:t>s.t</a:t>
                </a:r>
                <a:r>
                  <a:rPr lang="en-US" altLang="en-US" sz="3200" dirty="0" err="1"/>
                  <a:t>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</m:oMath>
                </a14:m>
                <a:endParaRPr lang="en-US" altLang="en-US" sz="3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en-US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SG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622504"/>
                <a:ext cx="8740878" cy="1569660"/>
              </a:xfrm>
              <a:prstGeom prst="rect">
                <a:avLst/>
              </a:prstGeom>
              <a:blipFill rotWithShape="0">
                <a:blip r:embed="rId3"/>
                <a:stretch>
                  <a:fillRect t="-50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 bwMode="auto">
          <a:xfrm>
            <a:off x="532969" y="3499654"/>
            <a:ext cx="550607" cy="373626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>
                <a:spLocks noChangeArrowheads="1"/>
              </p:cNvSpPr>
              <p:nvPr/>
            </p:nvSpPr>
            <p:spPr bwMode="auto">
              <a:xfrm>
                <a:off x="1354973" y="3424577"/>
                <a:ext cx="7307246" cy="52322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1, 1, 0</m:t>
                        </m:r>
                      </m:e>
                    </m:d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GB" altLang="en-US" sz="2800" dirty="0">
                    <a:solidFill>
                      <a:srgbClr val="FF0000"/>
                    </a:solidFill>
                    <a:effectLst/>
                  </a:rPr>
                  <a:t> Objective: 1950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4973" y="3424577"/>
                <a:ext cx="7307246" cy="523220"/>
              </a:xfrm>
              <a:prstGeom prst="rect">
                <a:avLst/>
              </a:prstGeom>
              <a:blipFill rotWithShape="0">
                <a:blip r:embed="rId4"/>
                <a:stretch>
                  <a:fillRect t="-11364" b="-2954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68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to Bound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1" y="941388"/>
                <a:ext cx="8845617" cy="4937125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Second branch: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32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0" i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r>
                  <a:rPr lang="en-US" altLang="en-US" dirty="0">
                    <a:effectLst/>
                  </a:rPr>
                  <a:t>What information do we get from this?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1950</m:t>
                    </m:r>
                    <m:r>
                      <a:rPr lang="en-US" altLang="en-US" sz="24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4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en-US" sz="24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4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2000</m:t>
                    </m:r>
                  </m:oMath>
                </a14:m>
                <a:endParaRPr lang="en-US" altLang="en-US" b="0" dirty="0">
                  <a:effectLst/>
                </a:endParaRPr>
              </a:p>
              <a:p>
                <a:pPr lvl="1"/>
                <a:r>
                  <a:rPr lang="en-US" altLang="en-US" b="0" dirty="0">
                    <a:effectLst/>
                  </a:rPr>
                  <a:t>Need to further branch: maybe a better solution than (1, 1, 0) lies in this branch.</a:t>
                </a:r>
              </a:p>
              <a:p>
                <a:pPr lvl="1"/>
                <a:endParaRPr lang="en-US" altLang="en-US" dirty="0"/>
              </a:p>
            </p:txBody>
          </p:sp>
        </mc:Choice>
        <mc:Fallback xmlns="">
          <p:sp>
            <p:nvSpPr>
              <p:cNvPr id="1536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1" y="941388"/>
                <a:ext cx="8845617" cy="4937125"/>
              </a:xfrm>
              <a:blipFill rotWithShape="0">
                <a:blip r:embed="rId2"/>
                <a:stretch>
                  <a:fillRect l="-1309" t="-494" b="-67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-1" y="1622504"/>
                <a:ext cx="8740878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Maximize: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950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en-US" sz="3200" dirty="0"/>
              </a:p>
              <a:p>
                <a:pPr>
                  <a:defRPr/>
                </a:pPr>
                <a:r>
                  <a:rPr lang="en-US" altLang="en-US" sz="3200" dirty="0"/>
                  <a:t>s.t</a:t>
                </a:r>
                <a:r>
                  <a:rPr lang="en-US" altLang="en-US" sz="3200" dirty="0" err="1"/>
                  <a:t>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</m:oMath>
                </a14:m>
                <a:endParaRPr lang="en-US" altLang="en-US" sz="3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en-US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SG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622504"/>
                <a:ext cx="8740878" cy="1569660"/>
              </a:xfrm>
              <a:prstGeom prst="rect">
                <a:avLst/>
              </a:prstGeom>
              <a:blipFill rotWithShape="0">
                <a:blip r:embed="rId3"/>
                <a:stretch>
                  <a:fillRect t="-50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 bwMode="auto">
          <a:xfrm>
            <a:off x="532969" y="3499654"/>
            <a:ext cx="550607" cy="373626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>
                <a:spLocks noChangeArrowheads="1"/>
              </p:cNvSpPr>
              <p:nvPr/>
            </p:nvSpPr>
            <p:spPr bwMode="auto">
              <a:xfrm>
                <a:off x="1354973" y="3424577"/>
                <a:ext cx="7307246" cy="52322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0.7, 1, 1</m:t>
                        </m:r>
                      </m:e>
                    </m:d>
                    <m:r>
                      <a:rPr lang="en-US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GB" altLang="en-US" sz="28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GB" altLang="en-US" sz="2800" dirty="0">
                    <a:solidFill>
                      <a:srgbClr val="FF0000"/>
                    </a:solidFill>
                  </a:rPr>
                  <a:t>Objective: 2000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4973" y="3424577"/>
                <a:ext cx="7307246" cy="523220"/>
              </a:xfrm>
              <a:prstGeom prst="rect">
                <a:avLst/>
              </a:prstGeom>
              <a:blipFill rotWithShape="0">
                <a:blip r:embed="rId4"/>
                <a:stretch>
                  <a:fillRect t="-11364" b="-2954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38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Branches in Branch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altLang="en-US" dirty="0"/>
              </a:p>
            </p:txBody>
          </p:sp>
        </mc:Choice>
        <mc:Fallback xmlns="">
          <p:sp>
            <p:nvSpPr>
              <p:cNvPr id="15363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b="-72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1" y="941388"/>
                <a:ext cx="8845617" cy="4937125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First branch: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r>
                  <a:rPr lang="en-US" altLang="en-US" dirty="0">
                    <a:effectLst/>
                  </a:rPr>
                  <a:t>What information do we get from this?</a:t>
                </a:r>
              </a:p>
              <a:p>
                <a:pPr lvl="1"/>
                <a:r>
                  <a:rPr lang="en-US" altLang="en-US" b="0" dirty="0">
                    <a:effectLst/>
                  </a:rPr>
                  <a:t>Since </a:t>
                </a:r>
                <a14:m>
                  <m:oMath xmlns:m="http://schemas.openxmlformats.org/officeDocument/2006/math">
                    <m:r>
                      <a:rPr lang="en-US" altLang="en-US" sz="28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1950</m:t>
                    </m:r>
                    <m:r>
                      <a:rPr lang="en-US" altLang="en-US" sz="28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8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en-US" sz="28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8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2000</m:t>
                    </m:r>
                  </m:oMath>
                </a14:m>
                <a:r>
                  <a:rPr lang="en-US" altLang="en-US" b="0" dirty="0">
                    <a:effectLst/>
                  </a:rPr>
                  <a:t>, this branch cannot contain optimal solution, no need to explore further.</a:t>
                </a:r>
              </a:p>
              <a:p>
                <a:pPr lvl="1"/>
                <a:endParaRPr lang="en-US" altLang="en-US" dirty="0"/>
              </a:p>
            </p:txBody>
          </p:sp>
        </mc:Choice>
        <mc:Fallback xmlns="">
          <p:sp>
            <p:nvSpPr>
              <p:cNvPr id="1536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1" y="941388"/>
                <a:ext cx="8845617" cy="4937125"/>
              </a:xfrm>
              <a:blipFill>
                <a:blip r:embed="rId3"/>
                <a:stretch>
                  <a:fillRect l="-1309" t="-494" r="-130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-1" y="1622504"/>
                <a:ext cx="8740878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Maximize: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950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en-US" sz="3200" dirty="0"/>
              </a:p>
              <a:p>
                <a:pPr>
                  <a:defRPr/>
                </a:pPr>
                <a:r>
                  <a:rPr lang="en-US" altLang="en-US" sz="3200" dirty="0"/>
                  <a:t>s.t</a:t>
                </a:r>
                <a:r>
                  <a:rPr lang="en-US" altLang="en-US" sz="3200" dirty="0" err="1"/>
                  <a:t>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</m:oMath>
                </a14:m>
                <a:endParaRPr lang="en-US" altLang="en-US" sz="3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200" b="0" i="1" smtClean="0">
                          <a:latin typeface="Cambria Math" panose="02040503050406030204" pitchFamily="18" charset="0"/>
                        </a:rPr>
                        <m:t>0,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en-US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SG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622504"/>
                <a:ext cx="8740878" cy="1569660"/>
              </a:xfrm>
              <a:prstGeom prst="rect">
                <a:avLst/>
              </a:prstGeom>
              <a:blipFill rotWithShape="0">
                <a:blip r:embed="rId4"/>
                <a:stretch>
                  <a:fillRect t="-50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 bwMode="auto">
          <a:xfrm>
            <a:off x="532969" y="3499654"/>
            <a:ext cx="550607" cy="373626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>
                <a:spLocks noChangeArrowheads="1"/>
              </p:cNvSpPr>
              <p:nvPr/>
            </p:nvSpPr>
            <p:spPr bwMode="auto">
              <a:xfrm>
                <a:off x="1310973" y="3424857"/>
                <a:ext cx="7307246" cy="52322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0, 1, 1</m:t>
                        </m:r>
                      </m:e>
                    </m:d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GB" altLang="en-US" sz="2800" dirty="0">
                    <a:solidFill>
                      <a:srgbClr val="FF0000"/>
                    </a:solidFill>
                    <a:effectLst/>
                  </a:rPr>
                  <a:t> Objective: 1300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0973" y="3424857"/>
                <a:ext cx="7307246" cy="523220"/>
              </a:xfrm>
              <a:prstGeom prst="rect">
                <a:avLst/>
              </a:prstGeom>
              <a:blipFill rotWithShape="0">
                <a:blip r:embed="rId5"/>
                <a:stretch>
                  <a:fillRect t="-11364" b="-2954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44892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Branches in Branch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altLang="en-US" dirty="0"/>
              </a:p>
            </p:txBody>
          </p:sp>
        </mc:Choice>
        <mc:Fallback xmlns="">
          <p:sp>
            <p:nvSpPr>
              <p:cNvPr id="15363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b="-72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1" y="941388"/>
                <a:ext cx="8845617" cy="4937125"/>
              </a:xfrm>
            </p:spPr>
            <p:txBody>
              <a:bodyPr/>
              <a:lstStyle/>
              <a:p>
                <a:r>
                  <a:rPr lang="en-US" altLang="en-US" dirty="0">
                    <a:effectLst/>
                  </a:rPr>
                  <a:t>Second branch: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b="0" i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endParaRPr lang="en-US" altLang="en-US" dirty="0">
                  <a:effectLst/>
                </a:endParaRPr>
              </a:p>
              <a:p>
                <a:r>
                  <a:rPr lang="en-US" altLang="en-US" dirty="0">
                    <a:effectLst/>
                  </a:rPr>
                  <a:t>What information do we get from this?</a:t>
                </a:r>
              </a:p>
              <a:p>
                <a:pPr lvl="1"/>
                <a:r>
                  <a:rPr lang="en-US" altLang="en-US" b="0" dirty="0">
                    <a:effectLst/>
                  </a:rPr>
                  <a:t>Since </a:t>
                </a:r>
                <a14:m>
                  <m:oMath xmlns:m="http://schemas.openxmlformats.org/officeDocument/2006/math">
                    <m:r>
                      <a:rPr lang="en-US" altLang="en-US" sz="28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1950</m:t>
                    </m:r>
                    <m:r>
                      <a:rPr lang="en-US" altLang="en-US" sz="28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8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en-US" sz="28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8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2000</m:t>
                    </m:r>
                  </m:oMath>
                </a14:m>
                <a:r>
                  <a:rPr lang="en-US" altLang="en-US" b="0" dirty="0">
                    <a:effectLst/>
                  </a:rPr>
                  <a:t>, this branch cannot contain optimal solution, no need to explore further.</a:t>
                </a:r>
              </a:p>
            </p:txBody>
          </p:sp>
        </mc:Choice>
        <mc:Fallback xmlns="">
          <p:sp>
            <p:nvSpPr>
              <p:cNvPr id="1536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1" y="941388"/>
                <a:ext cx="8845617" cy="4937125"/>
              </a:xfrm>
              <a:blipFill>
                <a:blip r:embed="rId3"/>
                <a:stretch>
                  <a:fillRect l="-1309" t="-494" r="-130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-1" y="1622504"/>
                <a:ext cx="8740878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en-US" sz="3200" dirty="0"/>
                  <a:t>Maximize: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950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en-US" sz="3200" dirty="0"/>
              </a:p>
              <a:p>
                <a:pPr>
                  <a:defRPr/>
                </a:pPr>
                <a:r>
                  <a:rPr lang="en-US" altLang="en-US" sz="3200" dirty="0"/>
                  <a:t>s.t</a:t>
                </a:r>
                <a:r>
                  <a:rPr lang="en-US" altLang="en-US" sz="3200" dirty="0" err="1"/>
                  <a:t>.</a:t>
                </a:r>
                <a:r>
                  <a:rPr lang="en-US" altLang="en-US" sz="32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</m:oMath>
                </a14:m>
                <a:endParaRPr lang="en-US" altLang="en-US" sz="3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200" b="0" i="1" smtClean="0">
                          <a:latin typeface="Cambria Math" panose="02040503050406030204" pitchFamily="18" charset="0"/>
                        </a:rPr>
                        <m:t>1,</m:t>
                      </m:r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en-US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SG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622504"/>
                <a:ext cx="8740878" cy="1569660"/>
              </a:xfrm>
              <a:prstGeom prst="rect">
                <a:avLst/>
              </a:prstGeom>
              <a:blipFill rotWithShape="0">
                <a:blip r:embed="rId4"/>
                <a:stretch>
                  <a:fillRect t="-50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 bwMode="auto">
          <a:xfrm>
            <a:off x="532969" y="3499654"/>
            <a:ext cx="550607" cy="373626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>
                <a:spLocks noChangeArrowheads="1"/>
              </p:cNvSpPr>
              <p:nvPr/>
            </p:nvSpPr>
            <p:spPr bwMode="auto">
              <a:xfrm>
                <a:off x="1354973" y="3424577"/>
                <a:ext cx="7307246" cy="52322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1, 0.625, 1</m:t>
                        </m:r>
                      </m:e>
                    </m:d>
                    <m:r>
                      <a:rPr lang="en-US" altLang="en-US" sz="28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GB" altLang="en-US" sz="2800" dirty="0">
                    <a:solidFill>
                      <a:srgbClr val="FF0000"/>
                    </a:solidFill>
                    <a:effectLst/>
                  </a:rPr>
                  <a:t> Objective: 1943.75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4973" y="3424577"/>
                <a:ext cx="7307246" cy="523220"/>
              </a:xfrm>
              <a:prstGeom prst="rect">
                <a:avLst/>
              </a:prstGeom>
              <a:blipFill rotWithShape="0">
                <a:blip r:embed="rId5"/>
                <a:stretch>
                  <a:fillRect t="-11364" r="-916" b="-2954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99971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Tree View</a:t>
            </a:r>
            <a:endParaRPr lang="en-GB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>
                <a:spLocks noChangeArrowheads="1"/>
              </p:cNvSpPr>
              <p:nvPr/>
            </p:nvSpPr>
            <p:spPr bwMode="auto">
              <a:xfrm>
                <a:off x="1464221" y="1059574"/>
                <a:ext cx="6352424" cy="52322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1, 1, 0.4</m:t>
                        </m:r>
                      </m:e>
                    </m:d>
                    <m:r>
                      <a:rPr lang="en-US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GB" altLang="en-US" sz="28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GB" altLang="en-US" sz="2800" dirty="0">
                    <a:solidFill>
                      <a:srgbClr val="FF0000"/>
                    </a:solidFill>
                  </a:rPr>
                  <a:t>Objective: 2090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4221" y="1059574"/>
                <a:ext cx="6352424" cy="523220"/>
              </a:xfrm>
              <a:prstGeom prst="rect">
                <a:avLst/>
              </a:prstGeom>
              <a:blipFill rotWithShape="0">
                <a:blip r:embed="rId2"/>
                <a:stretch>
                  <a:fillRect t="-11364" r="-1628" b="-2954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>
                <a:spLocks noChangeArrowheads="1"/>
              </p:cNvSpPr>
              <p:nvPr/>
            </p:nvSpPr>
            <p:spPr bwMode="auto">
              <a:xfrm>
                <a:off x="17463" y="2372526"/>
                <a:ext cx="4387389" cy="40011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0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1, 1, 0</m:t>
                        </m:r>
                      </m:e>
                    </m:d>
                    <m:r>
                      <a:rPr lang="en-US" alt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GB" altLang="en-US" sz="2000" dirty="0">
                    <a:solidFill>
                      <a:srgbClr val="FF0000"/>
                    </a:solidFill>
                    <a:effectLst/>
                  </a:rPr>
                  <a:t> Objective: 1950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63" y="2372526"/>
                <a:ext cx="4387389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554" t="-4412" r="-1108" b="-25000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>
                <a:spLocks noChangeArrowheads="1"/>
              </p:cNvSpPr>
              <p:nvPr/>
            </p:nvSpPr>
            <p:spPr bwMode="auto">
              <a:xfrm>
                <a:off x="4532672" y="2372526"/>
                <a:ext cx="4603050" cy="40011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0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0.7, 1, 1</m:t>
                        </m:r>
                      </m:e>
                    </m:d>
                    <m:r>
                      <a:rPr lang="en-US" alt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GB" altLang="en-US" sz="2000" dirty="0">
                    <a:solidFill>
                      <a:srgbClr val="FF0000"/>
                    </a:solidFill>
                    <a:effectLst/>
                  </a:rPr>
                  <a:t> Objective: 2000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2672" y="2372526"/>
                <a:ext cx="4603050" cy="400110"/>
              </a:xfrm>
              <a:prstGeom prst="rect">
                <a:avLst/>
              </a:prstGeom>
              <a:blipFill rotWithShape="0">
                <a:blip r:embed="rId4"/>
                <a:stretch>
                  <a:fillRect l="-264" t="-4412" r="-793" b="-25000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>
            <a:stCxn id="15" idx="2"/>
            <a:endCxn id="17" idx="0"/>
          </p:cNvCxnSpPr>
          <p:nvPr/>
        </p:nvCxnSpPr>
        <p:spPr bwMode="auto">
          <a:xfrm flipH="1">
            <a:off x="2211158" y="1582794"/>
            <a:ext cx="2429275" cy="78973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>
            <a:stCxn id="15" idx="2"/>
            <a:endCxn id="18" idx="0"/>
          </p:cNvCxnSpPr>
          <p:nvPr/>
        </p:nvCxnSpPr>
        <p:spPr bwMode="auto">
          <a:xfrm>
            <a:off x="4640433" y="1582794"/>
            <a:ext cx="2193764" cy="78973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565977" y="3616633"/>
                <a:ext cx="9069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977" y="3616633"/>
                <a:ext cx="906915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328290" y="1697528"/>
                <a:ext cx="9069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290" y="1697528"/>
                <a:ext cx="906915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>
                <a:spLocks noChangeArrowheads="1"/>
              </p:cNvSpPr>
              <p:nvPr/>
            </p:nvSpPr>
            <p:spPr bwMode="auto">
              <a:xfrm>
                <a:off x="411076" y="4003719"/>
                <a:ext cx="4436227" cy="40011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0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0, 1, 1</m:t>
                        </m:r>
                      </m:e>
                    </m:d>
                    <m:r>
                      <a:rPr lang="en-US" alt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GB" altLang="en-US" sz="2000" dirty="0">
                    <a:solidFill>
                      <a:srgbClr val="FF0000"/>
                    </a:solidFill>
                    <a:effectLst/>
                  </a:rPr>
                  <a:t> Objective: 1300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076" y="4003719"/>
                <a:ext cx="4436227" cy="400110"/>
              </a:xfrm>
              <a:prstGeom prst="rect">
                <a:avLst/>
              </a:prstGeom>
              <a:blipFill rotWithShape="0">
                <a:blip r:embed="rId7"/>
                <a:stretch>
                  <a:fillRect t="-5970" r="-685" b="-26866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>
                <a:spLocks noChangeArrowheads="1"/>
              </p:cNvSpPr>
              <p:nvPr/>
            </p:nvSpPr>
            <p:spPr bwMode="auto">
              <a:xfrm>
                <a:off x="3425795" y="5037067"/>
                <a:ext cx="5311298" cy="40011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0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1, 0.625, 1</m:t>
                        </m:r>
                      </m:e>
                    </m:d>
                    <m:r>
                      <a:rPr lang="en-US" altLang="en-US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GB" altLang="en-US" sz="2000" dirty="0">
                    <a:solidFill>
                      <a:srgbClr val="FF0000"/>
                    </a:solidFill>
                    <a:effectLst/>
                  </a:rPr>
                  <a:t> Objective: 1943.75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5795" y="5037067"/>
                <a:ext cx="5311298" cy="400110"/>
              </a:xfrm>
              <a:prstGeom prst="rect">
                <a:avLst/>
              </a:prstGeom>
              <a:blipFill rotWithShape="0">
                <a:blip r:embed="rId8"/>
                <a:stretch>
                  <a:fillRect t="-4412" r="-229" b="-25000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8" idx="2"/>
            <a:endCxn id="22" idx="0"/>
          </p:cNvCxnSpPr>
          <p:nvPr/>
        </p:nvCxnSpPr>
        <p:spPr bwMode="auto">
          <a:xfrm flipH="1">
            <a:off x="2629190" y="2772636"/>
            <a:ext cx="4205007" cy="123108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Straight Arrow Connector 24"/>
          <p:cNvCxnSpPr>
            <a:stCxn id="18" idx="2"/>
            <a:endCxn id="23" idx="0"/>
          </p:cNvCxnSpPr>
          <p:nvPr/>
        </p:nvCxnSpPr>
        <p:spPr bwMode="auto">
          <a:xfrm flipH="1">
            <a:off x="6081444" y="2772636"/>
            <a:ext cx="752753" cy="226443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162793" y="1686575"/>
                <a:ext cx="9069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en-US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793" y="1686575"/>
                <a:ext cx="906915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3100106" y="3162258"/>
                <a:ext cx="9069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106" y="3162258"/>
                <a:ext cx="906915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60723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Tru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300"/>
  <p:tag name="DEFAULTMAGNIFICATION" val="1.5"/>
  <p:tag name="DEFAULTFONTSIZE" val="10"/>
  <p:tag name="DEFAULTWIDTH" val="394"/>
  <p:tag name="DEFAULTHEIGHT" val="338"/>
  <p:tag name="FIRSTXINCHEN@SUSY3254AVWXY596" val="2652"/>
  <p:tag name="FIRSTXIN20CHEN@ELDXLB0FUVWYY57I" val="3665"/>
</p:tagLst>
</file>

<file path=ppt/theme/theme1.xml><?xml version="1.0" encoding="utf-8"?>
<a:theme xmlns:a="http://schemas.openxmlformats.org/drawingml/2006/main" name="Lectures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ectur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ectures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s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Data\Microsoft\Templates\Lectures.pot</Template>
  <TotalTime>118664</TotalTime>
  <Words>3864</Words>
  <Application>Microsoft Office PowerPoint</Application>
  <PresentationFormat>On-screen Show (4:3)</PresentationFormat>
  <Paragraphs>736</Paragraphs>
  <Slides>79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6" baseType="lpstr">
      <vt:lpstr>Arial</vt:lpstr>
      <vt:lpstr>宋体</vt:lpstr>
      <vt:lpstr>Cambria Math</vt:lpstr>
      <vt:lpstr>Times New Roman</vt:lpstr>
      <vt:lpstr>MS PGothic</vt:lpstr>
      <vt:lpstr>Lectures</vt:lpstr>
      <vt:lpstr>Equation</vt:lpstr>
      <vt:lpstr>DBA5103</vt:lpstr>
      <vt:lpstr>Integer Programming</vt:lpstr>
      <vt:lpstr>PowerPoint Presentation</vt:lpstr>
      <vt:lpstr>Mix IP</vt:lpstr>
      <vt:lpstr>Pure IP</vt:lpstr>
      <vt:lpstr>Modeling with Binary Variables</vt:lpstr>
      <vt:lpstr>Choice Among Several Possibilities</vt:lpstr>
      <vt:lpstr>Simple Implications</vt:lpstr>
      <vt:lpstr>Implication with three variables</vt:lpstr>
      <vt:lpstr>Product of Binary Variables</vt:lpstr>
      <vt:lpstr>Product of Binary and Nonnegative Variables</vt:lpstr>
      <vt:lpstr>Assignment Problem</vt:lpstr>
      <vt:lpstr>Shortest Path Problem</vt:lpstr>
      <vt:lpstr>Knapsack Problem</vt:lpstr>
      <vt:lpstr>Knapsack Problem</vt:lpstr>
      <vt:lpstr>Facility Location Problem</vt:lpstr>
      <vt:lpstr>Facility Location Problem</vt:lpstr>
      <vt:lpstr>Process Flexibility</vt:lpstr>
      <vt:lpstr>Two-Stage Stochastic Optimization</vt:lpstr>
      <vt:lpstr>Sample Average Approximation</vt:lpstr>
      <vt:lpstr>PowerPoint Presentation</vt:lpstr>
      <vt:lpstr>Travelling Salesman Problem</vt:lpstr>
      <vt:lpstr>Complete Graph</vt:lpstr>
      <vt:lpstr>Mathematical Definition (Symmetric TSP)</vt:lpstr>
      <vt:lpstr>Naïve Method</vt:lpstr>
      <vt:lpstr>Model</vt:lpstr>
      <vt:lpstr>Model</vt:lpstr>
      <vt:lpstr>    Assignment Problem  </vt:lpstr>
      <vt:lpstr>    Assignment Problem  </vt:lpstr>
      <vt:lpstr>Model (Dantzig, Fulkerson &amp; Johnson)</vt:lpstr>
      <vt:lpstr>    Counting Cities Traveled</vt:lpstr>
      <vt:lpstr>    Counting Cities Traveled</vt:lpstr>
      <vt:lpstr>Model</vt:lpstr>
      <vt:lpstr>Transformation</vt:lpstr>
      <vt:lpstr>Model (Miller, Tucker and Zemlin)</vt:lpstr>
      <vt:lpstr>    Counting Accumulated Cost/Distance/Time</vt:lpstr>
      <vt:lpstr>Model</vt:lpstr>
      <vt:lpstr>UberPOOL</vt:lpstr>
      <vt:lpstr>An Example</vt:lpstr>
      <vt:lpstr>The Problem</vt:lpstr>
      <vt:lpstr>Model</vt:lpstr>
      <vt:lpstr>Modification</vt:lpstr>
      <vt:lpstr>TSP: Data</vt:lpstr>
      <vt:lpstr>TSP: Model</vt:lpstr>
      <vt:lpstr>Solution: Optimal Value 9</vt:lpstr>
      <vt:lpstr>Precedence Constraints</vt:lpstr>
      <vt:lpstr>Precedence Constraints</vt:lpstr>
      <vt:lpstr>Precedence Constraints</vt:lpstr>
      <vt:lpstr>Solution: Optimal Value 11 </vt:lpstr>
      <vt:lpstr>OR Solution: Optimal Value 11 </vt:lpstr>
      <vt:lpstr>Sudoku</vt:lpstr>
      <vt:lpstr>Sudoku</vt:lpstr>
      <vt:lpstr>Sudoku: IP Formulation</vt:lpstr>
      <vt:lpstr>Sudoku: IP Formulation</vt:lpstr>
      <vt:lpstr>Rue La La</vt:lpstr>
      <vt:lpstr>What do we need?</vt:lpstr>
      <vt:lpstr>Simplification Assumption</vt:lpstr>
      <vt:lpstr>Optimization Model</vt:lpstr>
      <vt:lpstr>Optimization Model</vt:lpstr>
      <vt:lpstr>Job Shop Scheduling</vt:lpstr>
      <vt:lpstr>General Description</vt:lpstr>
      <vt:lpstr>Model</vt:lpstr>
      <vt:lpstr>PowerPoint Presentation</vt:lpstr>
      <vt:lpstr>Method of LP Relaxation</vt:lpstr>
      <vt:lpstr>Investment Example</vt:lpstr>
      <vt:lpstr>Model</vt:lpstr>
      <vt:lpstr>Method of LP Relaxation</vt:lpstr>
      <vt:lpstr>Cramer’s Rule</vt:lpstr>
      <vt:lpstr>Totally Unimodular Matrix</vt:lpstr>
      <vt:lpstr>Necessary Condition and Example</vt:lpstr>
      <vt:lpstr>PowerPoint Presentation</vt:lpstr>
      <vt:lpstr>Knapsack Problem</vt:lpstr>
      <vt:lpstr>Investment Example</vt:lpstr>
      <vt:lpstr>How to Branch</vt:lpstr>
      <vt:lpstr>How to Bound</vt:lpstr>
      <vt:lpstr>How to Bound</vt:lpstr>
      <vt:lpstr>Branches in Branch x_3=1</vt:lpstr>
      <vt:lpstr>Branches in Branch x_3=1</vt:lpstr>
      <vt:lpstr>Tree 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to LP</dc:title>
  <dc:creator>Xin Chen</dc:creator>
  <cp:lastModifiedBy>Hu Zhenyu</cp:lastModifiedBy>
  <cp:revision>623</cp:revision>
  <dcterms:created xsi:type="dcterms:W3CDTF">2002-09-09T04:16:02Z</dcterms:created>
  <dcterms:modified xsi:type="dcterms:W3CDTF">2026-10-13T03:00:53Z</dcterms:modified>
</cp:coreProperties>
</file>