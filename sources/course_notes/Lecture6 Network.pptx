
<file path=[Content_Types].xml><?xml version="1.0" encoding="utf-8"?>
<Types xmlns="http://schemas.openxmlformats.org/package/2006/content-types"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9" r:id="rId1"/>
  </p:sldMasterIdLst>
  <p:notesMasterIdLst>
    <p:notesMasterId r:id="rId63"/>
  </p:notesMasterIdLst>
  <p:handoutMasterIdLst>
    <p:handoutMasterId r:id="rId64"/>
  </p:handoutMasterIdLst>
  <p:sldIdLst>
    <p:sldId id="505" r:id="rId2"/>
    <p:sldId id="257" r:id="rId3"/>
    <p:sldId id="493" r:id="rId4"/>
    <p:sldId id="406" r:id="rId5"/>
    <p:sldId id="408" r:id="rId6"/>
    <p:sldId id="410" r:id="rId7"/>
    <p:sldId id="411" r:id="rId8"/>
    <p:sldId id="412" r:id="rId9"/>
    <p:sldId id="413" r:id="rId10"/>
    <p:sldId id="416" r:id="rId11"/>
    <p:sldId id="417" r:id="rId12"/>
    <p:sldId id="444" r:id="rId13"/>
    <p:sldId id="490" r:id="rId14"/>
    <p:sldId id="491" r:id="rId15"/>
    <p:sldId id="492" r:id="rId16"/>
    <p:sldId id="418" r:id="rId17"/>
    <p:sldId id="504" r:id="rId18"/>
    <p:sldId id="419" r:id="rId19"/>
    <p:sldId id="405" r:id="rId20"/>
    <p:sldId id="420" r:id="rId21"/>
    <p:sldId id="424" r:id="rId22"/>
    <p:sldId id="425" r:id="rId23"/>
    <p:sldId id="430" r:id="rId24"/>
    <p:sldId id="427" r:id="rId25"/>
    <p:sldId id="431" r:id="rId26"/>
    <p:sldId id="428" r:id="rId27"/>
    <p:sldId id="432" r:id="rId28"/>
    <p:sldId id="429" r:id="rId29"/>
    <p:sldId id="433" r:id="rId30"/>
    <p:sldId id="437" r:id="rId31"/>
    <p:sldId id="503" r:id="rId32"/>
    <p:sldId id="502" r:id="rId33"/>
    <p:sldId id="438" r:id="rId34"/>
    <p:sldId id="439" r:id="rId35"/>
    <p:sldId id="441" r:id="rId36"/>
    <p:sldId id="440" r:id="rId37"/>
    <p:sldId id="442" r:id="rId38"/>
    <p:sldId id="445" r:id="rId39"/>
    <p:sldId id="446" r:id="rId40"/>
    <p:sldId id="465" r:id="rId41"/>
    <p:sldId id="495" r:id="rId42"/>
    <p:sldId id="496" r:id="rId43"/>
    <p:sldId id="469" r:id="rId44"/>
    <p:sldId id="595" r:id="rId45"/>
    <p:sldId id="596" r:id="rId46"/>
    <p:sldId id="497" r:id="rId47"/>
    <p:sldId id="470" r:id="rId48"/>
    <p:sldId id="471" r:id="rId49"/>
    <p:sldId id="472" r:id="rId50"/>
    <p:sldId id="473" r:id="rId51"/>
    <p:sldId id="498" r:id="rId52"/>
    <p:sldId id="499" r:id="rId53"/>
    <p:sldId id="501" r:id="rId54"/>
    <p:sldId id="475" r:id="rId55"/>
    <p:sldId id="476" r:id="rId56"/>
    <p:sldId id="474" r:id="rId57"/>
    <p:sldId id="477" r:id="rId58"/>
    <p:sldId id="479" r:id="rId59"/>
    <p:sldId id="480" r:id="rId60"/>
    <p:sldId id="481" r:id="rId61"/>
    <p:sldId id="482" r:id="rId62"/>
  </p:sldIdLst>
  <p:sldSz cx="9144000" cy="6858000" type="screen4x3"/>
  <p:notesSz cx="6858000" cy="9144000"/>
  <p:embeddedFontLst>
    <p:embeddedFont>
      <p:font typeface="宋体" panose="02010600030101010101" pitchFamily="2" charset="-122"/>
      <p:regular r:id="rId65"/>
    </p:embeddedFont>
    <p:embeddedFont>
      <p:font typeface="Cambria Math" panose="02040503050406030204" pitchFamily="18" charset="0"/>
      <p:regular r:id="rId66"/>
    </p:embeddedFont>
    <p:embeddedFont>
      <p:font typeface="MS PGothic" panose="020B0600070205080204" pitchFamily="34" charset="-128"/>
      <p:regular r:id="rId67"/>
    </p:embeddedFont>
    <p:embeddedFont>
      <p:font typeface="Verdana" panose="020B0604030504040204" pitchFamily="34" charset="0"/>
      <p:regular r:id="rId68"/>
      <p:bold r:id="rId69"/>
      <p:italic r:id="rId70"/>
      <p:boldItalic r:id="rId71"/>
    </p:embeddedFont>
  </p:embeddedFontLst>
  <p:custDataLst>
    <p:tags r:id="rId72"/>
  </p:custDataLst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  <a:srgbClr val="0033CC"/>
    <a:srgbClr val="2C129C"/>
    <a:srgbClr val="C6D6FE"/>
    <a:srgbClr val="BACDFE"/>
    <a:srgbClr val="E9EFFF"/>
    <a:srgbClr val="FFFF00"/>
    <a:srgbClr val="A8C1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8" autoAdjust="0"/>
    <p:restoredTop sz="94125" autoAdjust="0"/>
  </p:normalViewPr>
  <p:slideViewPr>
    <p:cSldViewPr snapToGrid="0">
      <p:cViewPr varScale="1">
        <p:scale>
          <a:sx n="111" d="100"/>
          <a:sy n="111" d="100"/>
        </p:scale>
        <p:origin x="1243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322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notesMaster" Target="notesMasters/notesMaster1.xml"/><Relationship Id="rId68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2.fntdata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handoutMaster" Target="handoutMasters/handoutMaster1.xml"/><Relationship Id="rId69" Type="http://schemas.openxmlformats.org/officeDocument/2006/relationships/font" Target="fonts/font5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gs" Target="tags/tag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6.fntdata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1.fntdata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font" Target="fonts/font7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75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75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0B1C7EBB-BE00-44DC-AAA2-1213A867127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34619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22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62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22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1822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22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15696EE8-B9BB-4DC7-BDD3-AEC2C652028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8065852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1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28714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2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0631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3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6914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16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34916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17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58074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20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51116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21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75653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30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12562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31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53303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33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8011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34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94017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35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03696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36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05547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37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25355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38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68447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39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33079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40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25532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41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21497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42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39747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43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14996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5F226D24-B8D2-4B87-839F-9D6015CE3AAD}" type="slidenum">
              <a:rPr lang="zh-CN" altLang="en-US" smtClean="0">
                <a:latin typeface="Times New Roman" pitchFamily="18" charset="0"/>
              </a:rPr>
              <a:pPr/>
              <a:t>44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41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1453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45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01110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46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0655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47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45838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49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689364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5696EE8-B9BB-4DC7-BDD3-AEC2C6520280}" type="slidenum">
              <a:rPr lang="zh-CN" altLang="en-US" smtClean="0"/>
              <a:pPr>
                <a:defRPr/>
              </a:pPr>
              <a:t>50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877548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51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743732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52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667596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53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919136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5696EE8-B9BB-4DC7-BDD3-AEC2C6520280}" type="slidenum">
              <a:rPr lang="zh-CN" altLang="en-US" smtClean="0"/>
              <a:pPr>
                <a:defRPr/>
              </a:pPr>
              <a:t>57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108948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58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9141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86733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82563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38801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050" y="1060450"/>
            <a:ext cx="4478338" cy="5472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788" y="1060450"/>
            <a:ext cx="4479925" cy="5472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1217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09033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73305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0088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03387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6028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02540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1650" y="9525"/>
            <a:ext cx="2278063" cy="65230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463" y="9525"/>
            <a:ext cx="6681787" cy="65230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78150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63" y="9525"/>
            <a:ext cx="9099550" cy="9318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9050" y="1060450"/>
            <a:ext cx="4478338" cy="5472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788" y="1060450"/>
            <a:ext cx="4479925" cy="5472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6187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7938" y="-1588"/>
            <a:ext cx="9129712" cy="976313"/>
          </a:xfrm>
          <a:prstGeom prst="rect">
            <a:avLst/>
          </a:prstGeom>
          <a:solidFill>
            <a:srgbClr val="0033C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7463" y="9525"/>
            <a:ext cx="9099550" cy="931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11" tIns="45324" rIns="92111" bIns="4532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Title: Cap All Words, Bold, Helvetica 32, White</a:t>
            </a:r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" y="1060450"/>
            <a:ext cx="9110663" cy="5472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11" tIns="45324" rIns="92111" bIns="453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Level one: int. cap, bold, helvetica 30, maroon</a:t>
            </a:r>
          </a:p>
          <a:p>
            <a:pPr lvl="1"/>
            <a:r>
              <a:rPr lang="en-US" altLang="zh-CN"/>
              <a:t>Level two: initial cap, bold, helvetica 27, blue</a:t>
            </a:r>
          </a:p>
          <a:p>
            <a:pPr lvl="2"/>
            <a:r>
              <a:rPr lang="en-US" altLang="zh-CN"/>
              <a:t>Level three: initial cap, italics, helvetica 24, blue</a:t>
            </a:r>
          </a:p>
          <a:p>
            <a:pPr lvl="3"/>
            <a:r>
              <a:rPr lang="en-US" altLang="zh-CN"/>
              <a:t>Level four: </a:t>
            </a:r>
          </a:p>
        </p:txBody>
      </p:sp>
      <p:sp>
        <p:nvSpPr>
          <p:cNvPr id="14341" name="Line 5"/>
          <p:cNvSpPr>
            <a:spLocks noChangeShapeType="1"/>
          </p:cNvSpPr>
          <p:nvPr/>
        </p:nvSpPr>
        <p:spPr bwMode="auto">
          <a:xfrm flipV="1">
            <a:off x="0" y="6592888"/>
            <a:ext cx="8874125" cy="6350"/>
          </a:xfrm>
          <a:prstGeom prst="line">
            <a:avLst/>
          </a:prstGeom>
          <a:noFill/>
          <a:ln w="25400">
            <a:solidFill>
              <a:srgbClr val="00279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xStyles>
    <p:titleStyle>
      <a:lvl1pPr algn="ctr" defTabSz="909638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defTabSz="909638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2pPr>
      <a:lvl3pPr algn="ctr" defTabSz="909638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3pPr>
      <a:lvl4pPr algn="ctr" defTabSz="909638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4pPr>
      <a:lvl5pPr algn="ctr" defTabSz="909638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5pPr>
      <a:lvl6pPr marL="457200" algn="ctr" defTabSz="909638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6pPr>
      <a:lvl7pPr marL="914400" algn="ctr" defTabSz="909638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7pPr>
      <a:lvl8pPr marL="1371600" algn="ctr" defTabSz="909638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8pPr>
      <a:lvl9pPr marL="1828800" algn="ctr" defTabSz="909638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9pPr>
    </p:titleStyle>
    <p:bodyStyle>
      <a:lvl1pPr marL="341313" indent="-341313" algn="l" defTabSz="909638" rtl="0" eaLnBrk="0" fontAlgn="base" hangingPunct="0">
        <a:spcBef>
          <a:spcPct val="20000"/>
        </a:spcBef>
        <a:spcAft>
          <a:spcPct val="0"/>
        </a:spcAft>
        <a:buClr>
          <a:srgbClr val="790015"/>
        </a:buClr>
        <a:buSzPct val="100000"/>
        <a:buChar char="•"/>
        <a:defRPr sz="2900" b="1">
          <a:solidFill>
            <a:srgbClr val="790015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38188" indent="-284163" algn="l" defTabSz="909638" rtl="0" eaLnBrk="0" fontAlgn="base" hangingPunct="0">
        <a:spcBef>
          <a:spcPct val="20000"/>
        </a:spcBef>
        <a:spcAft>
          <a:spcPct val="0"/>
        </a:spcAft>
        <a:buClr>
          <a:srgbClr val="000099"/>
        </a:buClr>
        <a:buSzPct val="100000"/>
        <a:buChar char="­"/>
        <a:defRPr sz="2700" b="1">
          <a:solidFill>
            <a:srgbClr val="00279F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2pPr>
      <a:lvl3pPr marL="1138238" indent="-228600" algn="l" defTabSz="909638" rtl="0" eaLnBrk="0" fontAlgn="base" hangingPunct="0">
        <a:spcBef>
          <a:spcPct val="20000"/>
        </a:spcBef>
        <a:spcAft>
          <a:spcPct val="0"/>
        </a:spcAft>
        <a:buClr>
          <a:srgbClr val="006600"/>
        </a:buClr>
        <a:buSzPct val="100000"/>
        <a:buChar char="·"/>
        <a:defRPr sz="2400" i="1">
          <a:solidFill>
            <a:srgbClr val="0066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3pPr>
      <a:lvl4pPr marL="1473200" indent="-209550" algn="l" defTabSz="909638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rgbClr val="0033CC"/>
          </a:solidFill>
          <a:latin typeface="+mn-lt"/>
        </a:defRPr>
      </a:lvl4pPr>
      <a:lvl5pPr marL="1895475" indent="-211138" algn="l" defTabSz="909638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Times New Roman" pitchFamily="18" charset="0"/>
        </a:defRPr>
      </a:lvl5pPr>
      <a:lvl6pPr marL="2352675" indent="-211138" algn="l" defTabSz="909638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Times New Roman" pitchFamily="18" charset="0"/>
        </a:defRPr>
      </a:lvl6pPr>
      <a:lvl7pPr marL="2809875" indent="-211138" algn="l" defTabSz="909638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Times New Roman" pitchFamily="18" charset="0"/>
        </a:defRPr>
      </a:lvl7pPr>
      <a:lvl8pPr marL="3267075" indent="-211138" algn="l" defTabSz="909638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Times New Roman" pitchFamily="18" charset="0"/>
        </a:defRPr>
      </a:lvl8pPr>
      <a:lvl9pPr marL="3724275" indent="-211138" algn="l" defTabSz="909638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DBA5103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 algn="ctr">
              <a:buNone/>
              <a:defRPr/>
            </a:pPr>
            <a:r>
              <a:rPr lang="en-US" altLang="zh-CN" dirty="0">
                <a:ea typeface="宋体" pitchFamily="2" charset="-122"/>
              </a:rPr>
              <a:t> </a:t>
            </a:r>
            <a:r>
              <a:rPr lang="en-US" altLang="zh-CN" sz="2800" dirty="0">
                <a:ea typeface="宋体" pitchFamily="2" charset="-122"/>
              </a:rPr>
              <a:t>Operations Research and Analytics</a:t>
            </a:r>
            <a:endParaRPr lang="en-US" altLang="zh-CN" sz="3200" dirty="0">
              <a:ea typeface="宋体" pitchFamily="2" charset="-122"/>
            </a:endParaRPr>
          </a:p>
          <a:p>
            <a:pPr marL="0" indent="0">
              <a:buNone/>
              <a:defRPr/>
            </a:pPr>
            <a:endParaRPr lang="en-US" altLang="zh-CN" sz="3200" dirty="0">
              <a:ea typeface="宋体" pitchFamily="2" charset="-122"/>
            </a:endParaRPr>
          </a:p>
          <a:p>
            <a:pPr marL="0" indent="0" algn="ctr">
              <a:buNone/>
              <a:defRPr/>
            </a:pPr>
            <a:r>
              <a:rPr lang="en-US" altLang="zh-CN" sz="2400" dirty="0">
                <a:ea typeface="宋体" pitchFamily="2" charset="-122"/>
              </a:rPr>
              <a:t>Zhenyu Hu</a:t>
            </a:r>
          </a:p>
          <a:p>
            <a:pPr marL="0" indent="0" algn="ctr">
              <a:buNone/>
              <a:defRPr/>
            </a:pPr>
            <a:r>
              <a:rPr lang="en-US" altLang="zh-CN" sz="2400" dirty="0">
                <a:ea typeface="宋体" pitchFamily="2" charset="-122"/>
              </a:rPr>
              <a:t>Semester I</a:t>
            </a:r>
            <a:r>
              <a:rPr lang="en-US" altLang="zh-CN" sz="2400">
                <a:ea typeface="宋体" pitchFamily="2" charset="-122"/>
              </a:rPr>
              <a:t>, 2026/2027</a:t>
            </a:r>
            <a:endParaRPr lang="en-US" altLang="zh-CN" sz="2400" dirty="0"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8481" y="4108868"/>
            <a:ext cx="2971800" cy="1801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12087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Network Flow Models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altLang="zh-CN" dirty="0">
              <a:ea typeface="宋体" pitchFamily="2" charset="-122"/>
            </a:endParaRPr>
          </a:p>
          <a:p>
            <a:pPr>
              <a:defRPr/>
            </a:pPr>
            <a:r>
              <a:rPr lang="en-US" altLang="zh-CN" dirty="0">
                <a:ea typeface="宋体" pitchFamily="2" charset="-122"/>
              </a:rPr>
              <a:t>Basic Graph Theory </a:t>
            </a:r>
          </a:p>
          <a:p>
            <a:pPr>
              <a:defRPr/>
            </a:pPr>
            <a:r>
              <a:rPr lang="en-US" altLang="zh-CN" dirty="0">
                <a:ea typeface="宋体" pitchFamily="2" charset="-122"/>
              </a:rPr>
              <a:t>General Network-Flow Problem</a:t>
            </a:r>
          </a:p>
          <a:p>
            <a:pPr>
              <a:defRPr/>
            </a:pPr>
            <a:r>
              <a:rPr lang="en-US" altLang="zh-CN" dirty="0">
                <a:ea typeface="宋体" pitchFamily="2" charset="-122"/>
              </a:rPr>
              <a:t>Special Network Models</a:t>
            </a:r>
          </a:p>
          <a:p>
            <a:pPr>
              <a:defRPr/>
            </a:pPr>
            <a:r>
              <a:rPr lang="en-US" altLang="zh-CN" dirty="0">
                <a:ea typeface="宋体" pitchFamily="2" charset="-122"/>
              </a:rPr>
              <a:t>Solution Methods</a:t>
            </a:r>
          </a:p>
          <a:p>
            <a:pPr>
              <a:defRPr/>
            </a:pPr>
            <a:r>
              <a:rPr lang="en-US" altLang="zh-CN" dirty="0">
                <a:ea typeface="宋体" pitchFamily="2" charset="-122"/>
              </a:rPr>
              <a:t>Application of Network Models</a:t>
            </a: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2120" y="1309221"/>
            <a:ext cx="9110663" cy="5472113"/>
          </a:xfrm>
        </p:spPr>
        <p:txBody>
          <a:bodyPr/>
          <a:lstStyle/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r>
              <a:rPr lang="en-US" altLang="zh-CN" dirty="0">
                <a:ea typeface="宋体" pitchFamily="2" charset="-122"/>
              </a:rPr>
              <a:t>    </a:t>
            </a: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r>
              <a:rPr lang="en-US" altLang="zh-CN" sz="4000" dirty="0">
                <a:ea typeface="宋体" pitchFamily="2" charset="-122"/>
              </a:rPr>
              <a:t>           Basic Graph Theory</a:t>
            </a:r>
          </a:p>
          <a:p>
            <a:pPr marL="0" indent="0">
              <a:buNone/>
              <a:defRPr/>
            </a:pPr>
            <a:endParaRPr lang="en-US" altLang="zh-CN" sz="4000" dirty="0"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423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Undirected Network</a:t>
            </a:r>
            <a:endParaRPr lang="en-GB" altLang="en-US"/>
          </a:p>
        </p:txBody>
      </p:sp>
      <p:sp>
        <p:nvSpPr>
          <p:cNvPr id="16387" name="Content Placeholder 2"/>
          <p:cNvSpPr>
            <a:spLocks noGrp="1"/>
          </p:cNvSpPr>
          <p:nvPr>
            <p:ph sz="quarter" idx="1"/>
          </p:nvPr>
        </p:nvSpPr>
        <p:spPr>
          <a:xfrm>
            <a:off x="106630" y="960437"/>
            <a:ext cx="8229600" cy="4937125"/>
          </a:xfrm>
        </p:spPr>
        <p:txBody>
          <a:bodyPr/>
          <a:lstStyle/>
          <a:p>
            <a:r>
              <a:rPr lang="en-US" altLang="en-US" dirty="0">
                <a:effectLst/>
              </a:rPr>
              <a:t>A network is denoted as G = (N, A), where N is the set of nodes and A is the set of undirected arcs.</a:t>
            </a:r>
            <a:endParaRPr lang="en-GB" altLang="en-US" dirty="0">
              <a:effectLst/>
            </a:endParaRPr>
          </a:p>
        </p:txBody>
      </p:sp>
      <p:sp>
        <p:nvSpPr>
          <p:cNvPr id="7" name="Oval 6"/>
          <p:cNvSpPr/>
          <p:nvPr/>
        </p:nvSpPr>
        <p:spPr>
          <a:xfrm>
            <a:off x="1214438" y="3500438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1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2643188" y="2428875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2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4500563" y="2428875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</a:rPr>
              <a:t>3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2928938" y="4643438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4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5143500" y="4786313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5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6429375" y="3429000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6</a:t>
            </a:r>
            <a:endParaRPr lang="en-GB">
              <a:solidFill>
                <a:srgbClr val="FFFFFF"/>
              </a:solidFill>
            </a:endParaRPr>
          </a:p>
        </p:txBody>
      </p:sp>
      <p:cxnSp>
        <p:nvCxnSpPr>
          <p:cNvPr id="23" name="Straight Connector 22"/>
          <p:cNvCxnSpPr>
            <a:stCxn id="7" idx="7"/>
            <a:endCxn id="8" idx="3"/>
          </p:cNvCxnSpPr>
          <p:nvPr/>
        </p:nvCxnSpPr>
        <p:spPr>
          <a:xfrm rot="5400000" flipH="1" flipV="1">
            <a:off x="1880394" y="2737644"/>
            <a:ext cx="668337" cy="1025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8" idx="6"/>
            <a:endCxn id="9" idx="2"/>
          </p:cNvCxnSpPr>
          <p:nvPr/>
        </p:nvCxnSpPr>
        <p:spPr>
          <a:xfrm>
            <a:off x="3214688" y="2714625"/>
            <a:ext cx="1285875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8" idx="4"/>
            <a:endCxn id="10" idx="0"/>
          </p:cNvCxnSpPr>
          <p:nvPr/>
        </p:nvCxnSpPr>
        <p:spPr>
          <a:xfrm rot="16200000" flipH="1">
            <a:off x="2250281" y="3679032"/>
            <a:ext cx="1643063" cy="2857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9" idx="3"/>
            <a:endCxn id="10" idx="7"/>
          </p:cNvCxnSpPr>
          <p:nvPr/>
        </p:nvCxnSpPr>
        <p:spPr>
          <a:xfrm rot="5400000">
            <a:off x="3094831" y="3237707"/>
            <a:ext cx="1811337" cy="1168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7" idx="6"/>
            <a:endCxn id="12" idx="2"/>
          </p:cNvCxnSpPr>
          <p:nvPr/>
        </p:nvCxnSpPr>
        <p:spPr>
          <a:xfrm flipV="1">
            <a:off x="1785938" y="3714750"/>
            <a:ext cx="4643437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0" idx="6"/>
            <a:endCxn id="11" idx="2"/>
          </p:cNvCxnSpPr>
          <p:nvPr/>
        </p:nvCxnSpPr>
        <p:spPr>
          <a:xfrm>
            <a:off x="3500438" y="4929188"/>
            <a:ext cx="1643062" cy="1428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9" idx="5"/>
            <a:endCxn id="11" idx="0"/>
          </p:cNvCxnSpPr>
          <p:nvPr/>
        </p:nvCxnSpPr>
        <p:spPr>
          <a:xfrm rot="16200000" flipH="1">
            <a:off x="4273550" y="3630613"/>
            <a:ext cx="1870075" cy="4413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11" idx="7"/>
            <a:endCxn id="12" idx="3"/>
          </p:cNvCxnSpPr>
          <p:nvPr/>
        </p:nvCxnSpPr>
        <p:spPr>
          <a:xfrm rot="5400000" flipH="1" flipV="1">
            <a:off x="5595144" y="3952082"/>
            <a:ext cx="954087" cy="8826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1365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Directed Network</a:t>
            </a:r>
            <a:endParaRPr lang="en-GB" altLang="en-US"/>
          </a:p>
        </p:txBody>
      </p:sp>
      <p:sp>
        <p:nvSpPr>
          <p:cNvPr id="15363" name="Content Placeholder 2"/>
          <p:cNvSpPr>
            <a:spLocks noGrp="1"/>
          </p:cNvSpPr>
          <p:nvPr>
            <p:ph sz="quarter" idx="1"/>
          </p:nvPr>
        </p:nvSpPr>
        <p:spPr>
          <a:xfrm>
            <a:off x="226194" y="1058863"/>
            <a:ext cx="8229600" cy="566738"/>
          </a:xfrm>
        </p:spPr>
        <p:txBody>
          <a:bodyPr/>
          <a:lstStyle/>
          <a:p>
            <a:r>
              <a:rPr lang="en-US" altLang="en-US" dirty="0">
                <a:effectLst/>
              </a:rPr>
              <a:t>A network whose arcs are all ordered pairs of distinct nodes.</a:t>
            </a:r>
            <a:endParaRPr lang="en-GB" altLang="en-US" dirty="0">
              <a:effectLst/>
            </a:endParaRPr>
          </a:p>
        </p:txBody>
      </p:sp>
      <p:sp>
        <p:nvSpPr>
          <p:cNvPr id="7" name="Oval 6"/>
          <p:cNvSpPr/>
          <p:nvPr/>
        </p:nvSpPr>
        <p:spPr>
          <a:xfrm>
            <a:off x="1214438" y="3500438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1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2643188" y="2428875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2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4500563" y="2428875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3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2928938" y="4643438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4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5143500" y="4786313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5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6429375" y="3429000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6</a:t>
            </a:r>
            <a:endParaRPr lang="en-GB">
              <a:solidFill>
                <a:srgbClr val="FFFFFF"/>
              </a:solidFill>
            </a:endParaRPr>
          </a:p>
        </p:txBody>
      </p:sp>
      <p:cxnSp>
        <p:nvCxnSpPr>
          <p:cNvPr id="14" name="Straight Arrow Connector 13"/>
          <p:cNvCxnSpPr>
            <a:stCxn id="7" idx="7"/>
          </p:cNvCxnSpPr>
          <p:nvPr/>
        </p:nvCxnSpPr>
        <p:spPr>
          <a:xfrm rot="5400000" flipH="1" flipV="1">
            <a:off x="1808956" y="2750344"/>
            <a:ext cx="727075" cy="9413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8" idx="6"/>
            <a:endCxn id="9" idx="2"/>
          </p:cNvCxnSpPr>
          <p:nvPr/>
        </p:nvCxnSpPr>
        <p:spPr>
          <a:xfrm>
            <a:off x="3214688" y="2714625"/>
            <a:ext cx="1285875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rot="16200000" flipH="1">
            <a:off x="2214562" y="3714751"/>
            <a:ext cx="1643063" cy="2143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7" idx="6"/>
          </p:cNvCxnSpPr>
          <p:nvPr/>
        </p:nvCxnSpPr>
        <p:spPr>
          <a:xfrm flipV="1">
            <a:off x="1785938" y="3714750"/>
            <a:ext cx="4572000" cy="71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10" idx="7"/>
          </p:cNvCxnSpPr>
          <p:nvPr/>
        </p:nvCxnSpPr>
        <p:spPr>
          <a:xfrm rot="5400000">
            <a:off x="3130550" y="3286125"/>
            <a:ext cx="1727200" cy="11557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0" idx="5"/>
          </p:cNvCxnSpPr>
          <p:nvPr/>
        </p:nvCxnSpPr>
        <p:spPr>
          <a:xfrm rot="16200000" flipH="1">
            <a:off x="4237832" y="4309268"/>
            <a:ext cx="12700" cy="165576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rot="16200000" flipH="1">
            <a:off x="4250532" y="3679031"/>
            <a:ext cx="1785938" cy="4286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1" idx="7"/>
            <a:endCxn id="12" idx="3"/>
          </p:cNvCxnSpPr>
          <p:nvPr/>
        </p:nvCxnSpPr>
        <p:spPr>
          <a:xfrm rot="5400000" flipH="1" flipV="1">
            <a:off x="5595144" y="3952082"/>
            <a:ext cx="954087" cy="8826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8" idx="6"/>
            <a:endCxn id="9" idx="2"/>
          </p:cNvCxnSpPr>
          <p:nvPr/>
        </p:nvCxnSpPr>
        <p:spPr>
          <a:xfrm>
            <a:off x="3214688" y="2714625"/>
            <a:ext cx="1285875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2081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Path</a:t>
            </a:r>
            <a:endParaRPr lang="en-GB" altLang="en-US"/>
          </a:p>
        </p:txBody>
      </p:sp>
      <p:sp>
        <p:nvSpPr>
          <p:cNvPr id="19459" name="Content Placeholder 2"/>
          <p:cNvSpPr>
            <a:spLocks noGrp="1"/>
          </p:cNvSpPr>
          <p:nvPr>
            <p:ph sz="quarter" idx="1"/>
          </p:nvPr>
        </p:nvSpPr>
        <p:spPr>
          <a:xfrm>
            <a:off x="99728" y="993775"/>
            <a:ext cx="8590247" cy="1000125"/>
          </a:xfrm>
        </p:spPr>
        <p:txBody>
          <a:bodyPr/>
          <a:lstStyle/>
          <a:p>
            <a:r>
              <a:rPr lang="en-US" altLang="en-US" dirty="0">
                <a:effectLst/>
              </a:rPr>
              <a:t>A </a:t>
            </a:r>
            <a:r>
              <a:rPr lang="en-US" altLang="en-US" b="1" i="1" dirty="0">
                <a:solidFill>
                  <a:srgbClr val="0070C0"/>
                </a:solidFill>
                <a:effectLst/>
              </a:rPr>
              <a:t>path</a:t>
            </a:r>
            <a:r>
              <a:rPr lang="en-US" altLang="en-US" dirty="0">
                <a:effectLst/>
              </a:rPr>
              <a:t> is a sequence of arcs which connect a sequence of distinct nodes. </a:t>
            </a:r>
            <a:r>
              <a:rPr lang="en-US" altLang="en-US" i="1" dirty="0">
                <a:solidFill>
                  <a:srgbClr val="0070C0"/>
                </a:solidFill>
                <a:effectLst/>
              </a:rPr>
              <a:t>Directed path </a:t>
            </a:r>
            <a:r>
              <a:rPr lang="en-US" altLang="en-US" dirty="0">
                <a:effectLst/>
              </a:rPr>
              <a:t>requires the arcs to be in the same direction </a:t>
            </a:r>
            <a:endParaRPr lang="en-GB" altLang="en-US" dirty="0">
              <a:effectLst/>
            </a:endParaRPr>
          </a:p>
        </p:txBody>
      </p:sp>
      <p:sp>
        <p:nvSpPr>
          <p:cNvPr id="7" name="Oval 6"/>
          <p:cNvSpPr/>
          <p:nvPr/>
        </p:nvSpPr>
        <p:spPr>
          <a:xfrm>
            <a:off x="1214438" y="3500438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1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2643188" y="2428875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2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4500563" y="2428875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3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2928938" y="4643438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4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5143500" y="4786313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5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6429375" y="3429000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6</a:t>
            </a:r>
            <a:endParaRPr lang="en-GB">
              <a:solidFill>
                <a:srgbClr val="FFFFFF"/>
              </a:solidFill>
            </a:endParaRPr>
          </a:p>
        </p:txBody>
      </p:sp>
      <p:cxnSp>
        <p:nvCxnSpPr>
          <p:cNvPr id="13" name="Straight Arrow Connector 12"/>
          <p:cNvCxnSpPr>
            <a:stCxn id="7" idx="7"/>
          </p:cNvCxnSpPr>
          <p:nvPr/>
        </p:nvCxnSpPr>
        <p:spPr>
          <a:xfrm rot="5400000" flipH="1" flipV="1">
            <a:off x="1808956" y="2750344"/>
            <a:ext cx="727075" cy="9413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8" idx="6"/>
            <a:endCxn id="9" idx="2"/>
          </p:cNvCxnSpPr>
          <p:nvPr/>
        </p:nvCxnSpPr>
        <p:spPr>
          <a:xfrm>
            <a:off x="3214688" y="2714625"/>
            <a:ext cx="1285875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rot="16200000" flipH="1">
            <a:off x="2214562" y="3714751"/>
            <a:ext cx="1643063" cy="2143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7" idx="6"/>
          </p:cNvCxnSpPr>
          <p:nvPr/>
        </p:nvCxnSpPr>
        <p:spPr>
          <a:xfrm flipV="1">
            <a:off x="1785938" y="3714750"/>
            <a:ext cx="4572000" cy="71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10" idx="7"/>
          </p:cNvCxnSpPr>
          <p:nvPr/>
        </p:nvCxnSpPr>
        <p:spPr>
          <a:xfrm rot="5400000">
            <a:off x="3130550" y="3286125"/>
            <a:ext cx="1727200" cy="11557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0" idx="5"/>
          </p:cNvCxnSpPr>
          <p:nvPr/>
        </p:nvCxnSpPr>
        <p:spPr>
          <a:xfrm rot="16200000" flipH="1">
            <a:off x="4237832" y="4309268"/>
            <a:ext cx="12700" cy="165576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rot="16200000" flipH="1">
            <a:off x="4250532" y="3679031"/>
            <a:ext cx="1785938" cy="4286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1" idx="7"/>
            <a:endCxn id="12" idx="3"/>
          </p:cNvCxnSpPr>
          <p:nvPr/>
        </p:nvCxnSpPr>
        <p:spPr>
          <a:xfrm rot="5400000" flipH="1" flipV="1">
            <a:off x="5595144" y="3952082"/>
            <a:ext cx="954087" cy="8826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1776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Cycle</a:t>
            </a:r>
            <a:endParaRPr lang="en-GB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48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28625" y="1214438"/>
                <a:ext cx="8229600" cy="4937125"/>
              </a:xfrm>
            </p:spPr>
            <p:txBody>
              <a:bodyPr/>
              <a:lstStyle/>
              <a:p>
                <a:r>
                  <a:rPr lang="en-US" altLang="en-US" dirty="0">
                    <a:effectLst/>
                  </a:rPr>
                  <a:t>A </a:t>
                </a:r>
                <a:r>
                  <a:rPr lang="en-US" altLang="en-US" b="1" i="1" dirty="0">
                    <a:solidFill>
                      <a:srgbClr val="0070C0"/>
                    </a:solidFill>
                    <a:effectLst/>
                  </a:rPr>
                  <a:t>cycle</a:t>
                </a:r>
                <a:r>
                  <a:rPr lang="en-US" altLang="en-US" dirty="0">
                    <a:effectLst/>
                  </a:rPr>
                  <a:t> is a path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US" altLang="zh-CN" sz="2800" b="1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(</m:t>
                        </m:r>
                        <m:r>
                          <a:rPr lang="en-US" altLang="zh-CN" sz="2800" b="1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𝒊</m:t>
                        </m:r>
                      </m:e>
                      <m:sub>
                        <m:r>
                          <a:rPr lang="en-US" altLang="zh-CN" sz="2800" b="1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𝟏</m:t>
                        </m:r>
                      </m:sub>
                    </m:sSub>
                    <m:r>
                      <a:rPr lang="en-US" altLang="zh-CN" sz="2800" b="1" i="1" dirty="0" smtClean="0">
                        <a:effectLst/>
                        <a:latin typeface="Cambria Math" panose="02040503050406030204" pitchFamily="18" charset="0"/>
                        <a:ea typeface="宋体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2800" b="1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US" altLang="zh-CN" sz="2800" b="1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𝒊</m:t>
                        </m:r>
                      </m:e>
                      <m:sub>
                        <m:r>
                          <a:rPr lang="en-US" altLang="zh-CN" sz="2800" b="1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𝟐</m:t>
                        </m:r>
                      </m:sub>
                    </m:sSub>
                    <m:r>
                      <a:rPr lang="en-US" altLang="zh-CN" sz="2800" b="1" i="1" dirty="0" smtClean="0">
                        <a:effectLst/>
                        <a:latin typeface="Cambria Math" panose="02040503050406030204" pitchFamily="18" charset="0"/>
                        <a:ea typeface="宋体" pitchFamily="2" charset="-122"/>
                      </a:rPr>
                      <m:t>),</m:t>
                    </m:r>
                    <m:sSub>
                      <m:sSubPr>
                        <m:ctrlPr>
                          <a:rPr lang="en-US" altLang="zh-CN" sz="280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(</m:t>
                        </m:r>
                        <m:r>
                          <a:rPr lang="en-US" altLang="zh-CN" sz="280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𝒊</m:t>
                        </m:r>
                      </m:e>
                      <m:sub>
                        <m:r>
                          <a:rPr lang="en-US" altLang="zh-CN" sz="2800" b="1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𝟐</m:t>
                        </m:r>
                      </m:sub>
                    </m:sSub>
                    <m:r>
                      <a:rPr lang="en-US" altLang="zh-CN" sz="2800" i="1" dirty="0">
                        <a:effectLst/>
                        <a:latin typeface="Cambria Math" panose="02040503050406030204" pitchFamily="18" charset="0"/>
                        <a:ea typeface="宋体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280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𝒊</m:t>
                        </m:r>
                      </m:e>
                      <m:sub>
                        <m:r>
                          <a:rPr lang="en-US" altLang="zh-CN" sz="2800" b="1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𝟑</m:t>
                        </m:r>
                      </m:sub>
                    </m:sSub>
                    <m:r>
                      <a:rPr lang="en-US" altLang="zh-CN" sz="2800" i="1" dirty="0">
                        <a:effectLst/>
                        <a:latin typeface="Cambria Math" panose="02040503050406030204" pitchFamily="18" charset="0"/>
                        <a:ea typeface="宋体" pitchFamily="2" charset="-122"/>
                      </a:rPr>
                      <m:t>)</m:t>
                    </m:r>
                    <m:r>
                      <a:rPr lang="en-US" altLang="zh-CN" sz="2800" b="1" i="1" dirty="0" smtClean="0">
                        <a:effectLst/>
                        <a:latin typeface="Cambria Math" panose="02040503050406030204" pitchFamily="18" charset="0"/>
                        <a:ea typeface="宋体" pitchFamily="2" charset="-122"/>
                      </a:rPr>
                      <m:t>,…,</m:t>
                    </m:r>
                    <m:sSub>
                      <m:sSubPr>
                        <m:ctrlPr>
                          <a:rPr lang="en-US" altLang="zh-CN" sz="280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(</m:t>
                        </m:r>
                        <m:r>
                          <a:rPr lang="en-US" altLang="zh-CN" sz="280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𝒊</m:t>
                        </m:r>
                      </m:e>
                      <m:sub>
                        <m:r>
                          <a:rPr lang="en-US" altLang="zh-CN" sz="2800" b="1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𝒏</m:t>
                        </m:r>
                        <m:r>
                          <a:rPr lang="en-US" altLang="zh-CN" sz="2800" b="1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−</m:t>
                        </m:r>
                        <m:r>
                          <a:rPr lang="en-US" altLang="zh-CN" sz="2800" b="1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𝟏</m:t>
                        </m:r>
                      </m:sub>
                    </m:sSub>
                    <m:r>
                      <a:rPr lang="en-US" altLang="zh-CN" sz="2800" i="1" dirty="0">
                        <a:effectLst/>
                        <a:latin typeface="Cambria Math" panose="02040503050406030204" pitchFamily="18" charset="0"/>
                        <a:ea typeface="宋体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280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𝒊</m:t>
                        </m:r>
                      </m:e>
                      <m:sub>
                        <m:r>
                          <a:rPr lang="en-US" altLang="zh-CN" sz="2800" b="1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𝒏</m:t>
                        </m:r>
                      </m:sub>
                    </m:sSub>
                    <m:r>
                      <a:rPr lang="en-US" altLang="zh-CN" sz="2800" i="1" dirty="0">
                        <a:effectLst/>
                        <a:latin typeface="Cambria Math" panose="02040503050406030204" pitchFamily="18" charset="0"/>
                        <a:ea typeface="宋体" pitchFamily="2" charset="-122"/>
                      </a:rPr>
                      <m:t>)</m:t>
                    </m:r>
                  </m:oMath>
                </a14:m>
                <a:r>
                  <a:rPr lang="en-US" altLang="en-US" dirty="0">
                    <a:effectLst/>
                  </a:rPr>
                  <a:t> together with the arc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(</m:t>
                        </m:r>
                        <m:r>
                          <a:rPr lang="en-US" altLang="zh-CN" sz="280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𝒊</m:t>
                        </m:r>
                      </m:e>
                      <m:sub>
                        <m:r>
                          <a:rPr lang="en-US" altLang="zh-CN" sz="2800" b="1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𝒏</m:t>
                        </m:r>
                      </m:sub>
                    </m:sSub>
                    <m:r>
                      <a:rPr lang="en-US" altLang="zh-CN" sz="2800" i="1" dirty="0">
                        <a:effectLst/>
                        <a:latin typeface="Cambria Math" panose="02040503050406030204" pitchFamily="18" charset="0"/>
                        <a:ea typeface="宋体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280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𝒊</m:t>
                        </m:r>
                      </m:e>
                      <m:sub>
                        <m:r>
                          <a:rPr lang="en-US" altLang="zh-CN" sz="2800" b="1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𝟏</m:t>
                        </m:r>
                      </m:sub>
                    </m:sSub>
                    <m:r>
                      <a:rPr lang="en-US" altLang="zh-CN" sz="2800" i="1" dirty="0">
                        <a:effectLst/>
                        <a:latin typeface="Cambria Math" panose="02040503050406030204" pitchFamily="18" charset="0"/>
                        <a:ea typeface="宋体" pitchFamily="2" charset="-122"/>
                      </a:rPr>
                      <m:t>)</m:t>
                    </m:r>
                  </m:oMath>
                </a14:m>
                <a:r>
                  <a:rPr lang="en-GB" altLang="en-US" sz="2800" dirty="0">
                    <a:effectLst/>
                  </a:rPr>
                  <a:t>.</a:t>
                </a:r>
              </a:p>
            </p:txBody>
          </p:sp>
        </mc:Choice>
        <mc:Fallback xmlns="">
          <p:sp>
            <p:nvSpPr>
              <p:cNvPr id="2048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28625" y="1214438"/>
                <a:ext cx="8229600" cy="4937125"/>
              </a:xfrm>
              <a:blipFill>
                <a:blip r:embed="rId2"/>
                <a:stretch>
                  <a:fillRect l="-1407" t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val 9"/>
          <p:cNvSpPr/>
          <p:nvPr/>
        </p:nvSpPr>
        <p:spPr>
          <a:xfrm>
            <a:off x="1214438" y="3929063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1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2643188" y="2857500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2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4500563" y="2857500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3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2928938" y="5072063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4</a:t>
            </a:r>
            <a:endParaRPr lang="en-GB">
              <a:solidFill>
                <a:srgbClr val="FFFFFF"/>
              </a:solidFill>
            </a:endParaRPr>
          </a:p>
        </p:txBody>
      </p:sp>
      <p:cxnSp>
        <p:nvCxnSpPr>
          <p:cNvPr id="16" name="Straight Arrow Connector 15"/>
          <p:cNvCxnSpPr>
            <a:stCxn id="10" idx="7"/>
            <a:endCxn id="11" idx="3"/>
          </p:cNvCxnSpPr>
          <p:nvPr/>
        </p:nvCxnSpPr>
        <p:spPr>
          <a:xfrm flipV="1">
            <a:off x="1702244" y="3345306"/>
            <a:ext cx="1024638" cy="667451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rot="16200000" flipH="1">
            <a:off x="2214562" y="4143376"/>
            <a:ext cx="1643063" cy="214312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0" idx="6"/>
            <a:endCxn id="12" idx="3"/>
          </p:cNvCxnSpPr>
          <p:nvPr/>
        </p:nvCxnSpPr>
        <p:spPr>
          <a:xfrm flipV="1">
            <a:off x="1785938" y="3345306"/>
            <a:ext cx="2798319" cy="869507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2" idx="4"/>
            <a:endCxn id="13" idx="7"/>
          </p:cNvCxnSpPr>
          <p:nvPr/>
        </p:nvCxnSpPr>
        <p:spPr>
          <a:xfrm flipH="1">
            <a:off x="3416744" y="3429000"/>
            <a:ext cx="1369569" cy="1726757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484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                 Acyclic network			</a:t>
            </a:r>
            <a:endParaRPr lang="en-GB" altLang="en-US" dirty="0"/>
          </a:p>
        </p:txBody>
      </p:sp>
      <p:sp>
        <p:nvSpPr>
          <p:cNvPr id="21507" name="Content Placeholder 2"/>
          <p:cNvSpPr>
            <a:spLocks noGrp="1"/>
          </p:cNvSpPr>
          <p:nvPr>
            <p:ph sz="quarter" idx="1"/>
          </p:nvPr>
        </p:nvSpPr>
        <p:spPr>
          <a:xfrm>
            <a:off x="428625" y="1214438"/>
            <a:ext cx="8229600" cy="857250"/>
          </a:xfrm>
        </p:spPr>
        <p:txBody>
          <a:bodyPr/>
          <a:lstStyle/>
          <a:p>
            <a:r>
              <a:rPr lang="en-US" altLang="en-US" dirty="0">
                <a:effectLst/>
              </a:rPr>
              <a:t>A (directed) graph is </a:t>
            </a:r>
            <a:r>
              <a:rPr lang="en-US" altLang="en-US" b="1" i="1" dirty="0">
                <a:solidFill>
                  <a:srgbClr val="0070C0"/>
                </a:solidFill>
                <a:effectLst/>
              </a:rPr>
              <a:t>acyclic</a:t>
            </a:r>
            <a:r>
              <a:rPr lang="en-US" altLang="en-US" dirty="0">
                <a:effectLst/>
              </a:rPr>
              <a:t> if it contains no (directed) cycle.</a:t>
            </a:r>
            <a:endParaRPr lang="en-GB" altLang="en-US" dirty="0">
              <a:effectLst/>
            </a:endParaRPr>
          </a:p>
        </p:txBody>
      </p:sp>
      <p:sp>
        <p:nvSpPr>
          <p:cNvPr id="7" name="Oval 6"/>
          <p:cNvSpPr/>
          <p:nvPr/>
        </p:nvSpPr>
        <p:spPr>
          <a:xfrm>
            <a:off x="1214438" y="3500438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1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2643188" y="2428875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2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4500563" y="2428875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3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2928938" y="4643438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4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5143500" y="4786313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5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6429375" y="3429000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6</a:t>
            </a:r>
            <a:endParaRPr lang="en-GB">
              <a:solidFill>
                <a:srgbClr val="FFFFFF"/>
              </a:solidFill>
            </a:endParaRPr>
          </a:p>
        </p:txBody>
      </p:sp>
      <p:cxnSp>
        <p:nvCxnSpPr>
          <p:cNvPr id="13" name="Straight Arrow Connector 12"/>
          <p:cNvCxnSpPr>
            <a:stCxn id="7" idx="7"/>
          </p:cNvCxnSpPr>
          <p:nvPr/>
        </p:nvCxnSpPr>
        <p:spPr>
          <a:xfrm rot="5400000" flipH="1" flipV="1">
            <a:off x="1808956" y="2750344"/>
            <a:ext cx="727075" cy="9413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8" idx="6"/>
            <a:endCxn id="9" idx="2"/>
          </p:cNvCxnSpPr>
          <p:nvPr/>
        </p:nvCxnSpPr>
        <p:spPr>
          <a:xfrm>
            <a:off x="3214688" y="2714625"/>
            <a:ext cx="1285875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rot="16200000" flipH="1">
            <a:off x="2214562" y="3714751"/>
            <a:ext cx="1643063" cy="2143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7" idx="6"/>
          </p:cNvCxnSpPr>
          <p:nvPr/>
        </p:nvCxnSpPr>
        <p:spPr>
          <a:xfrm flipV="1">
            <a:off x="1785938" y="3714750"/>
            <a:ext cx="4572000" cy="71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10" idx="7"/>
          </p:cNvCxnSpPr>
          <p:nvPr/>
        </p:nvCxnSpPr>
        <p:spPr>
          <a:xfrm rot="5400000">
            <a:off x="3130550" y="3286125"/>
            <a:ext cx="1727200" cy="11557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0" idx="5"/>
          </p:cNvCxnSpPr>
          <p:nvPr/>
        </p:nvCxnSpPr>
        <p:spPr>
          <a:xfrm rot="16200000" flipH="1">
            <a:off x="4237832" y="4309268"/>
            <a:ext cx="12700" cy="165576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rot="16200000" flipH="1">
            <a:off x="4250532" y="3679031"/>
            <a:ext cx="1785938" cy="4286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1" idx="7"/>
            <a:endCxn id="12" idx="3"/>
          </p:cNvCxnSpPr>
          <p:nvPr/>
        </p:nvCxnSpPr>
        <p:spPr>
          <a:xfrm rot="5400000" flipH="1" flipV="1">
            <a:off x="5595144" y="3952082"/>
            <a:ext cx="954087" cy="8826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846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Connectivity</a:t>
            </a:r>
            <a:endParaRPr lang="en-GB" altLang="en-US"/>
          </a:p>
        </p:txBody>
      </p:sp>
      <p:sp>
        <p:nvSpPr>
          <p:cNvPr id="22531" name="Content Placeholder 2"/>
          <p:cNvSpPr>
            <a:spLocks noGrp="1"/>
          </p:cNvSpPr>
          <p:nvPr>
            <p:ph sz="quarter" idx="1"/>
          </p:nvPr>
        </p:nvSpPr>
        <p:spPr>
          <a:xfrm>
            <a:off x="-91440" y="912813"/>
            <a:ext cx="9235440" cy="1138238"/>
          </a:xfrm>
        </p:spPr>
        <p:txBody>
          <a:bodyPr/>
          <a:lstStyle/>
          <a:p>
            <a:r>
              <a:rPr lang="en-US" altLang="en-US" dirty="0">
                <a:effectLst/>
              </a:rPr>
              <a:t>Two nodes </a:t>
            </a:r>
            <a:r>
              <a:rPr lang="en-US" altLang="en-US" i="1" dirty="0" err="1">
                <a:effectLst/>
              </a:rPr>
              <a:t>i</a:t>
            </a:r>
            <a:r>
              <a:rPr lang="en-US" altLang="en-US" dirty="0">
                <a:effectLst/>
              </a:rPr>
              <a:t> and </a:t>
            </a:r>
            <a:r>
              <a:rPr lang="en-US" altLang="en-US" i="1" dirty="0">
                <a:effectLst/>
              </a:rPr>
              <a:t>j</a:t>
            </a:r>
            <a:r>
              <a:rPr lang="en-US" altLang="en-US" dirty="0">
                <a:effectLst/>
              </a:rPr>
              <a:t> are </a:t>
            </a:r>
            <a:r>
              <a:rPr lang="en-US" altLang="en-US" b="1" i="1" dirty="0">
                <a:solidFill>
                  <a:srgbClr val="0070C0"/>
                </a:solidFill>
                <a:effectLst/>
              </a:rPr>
              <a:t>connected</a:t>
            </a:r>
            <a:r>
              <a:rPr lang="en-US" altLang="en-US" dirty="0">
                <a:effectLst/>
              </a:rPr>
              <a:t> if the graph contains at least one path from node </a:t>
            </a:r>
            <a:r>
              <a:rPr lang="en-US" altLang="en-US" i="1" dirty="0" err="1">
                <a:effectLst/>
              </a:rPr>
              <a:t>i</a:t>
            </a:r>
            <a:r>
              <a:rPr lang="en-US" altLang="en-US" i="1" dirty="0">
                <a:effectLst/>
              </a:rPr>
              <a:t> </a:t>
            </a:r>
            <a:r>
              <a:rPr lang="en-US" altLang="en-US" dirty="0">
                <a:effectLst/>
              </a:rPr>
              <a:t>to node </a:t>
            </a:r>
            <a:r>
              <a:rPr lang="en-US" altLang="en-US" i="1" dirty="0">
                <a:effectLst/>
              </a:rPr>
              <a:t>j</a:t>
            </a:r>
            <a:r>
              <a:rPr lang="en-US" altLang="en-US" dirty="0">
                <a:effectLst/>
              </a:rPr>
              <a:t>.</a:t>
            </a:r>
          </a:p>
          <a:p>
            <a:r>
              <a:rPr lang="en-US" altLang="en-US" dirty="0">
                <a:effectLst/>
              </a:rPr>
              <a:t>A graph is </a:t>
            </a:r>
            <a:r>
              <a:rPr lang="en-US" altLang="en-US" b="1" i="1" dirty="0">
                <a:solidFill>
                  <a:srgbClr val="0070C0"/>
                </a:solidFill>
                <a:effectLst/>
              </a:rPr>
              <a:t>connected</a:t>
            </a:r>
            <a:r>
              <a:rPr lang="en-US" altLang="en-US" dirty="0">
                <a:effectLst/>
              </a:rPr>
              <a:t> if every pair of its nodes is connected. Otherwise, the graph is </a:t>
            </a:r>
            <a:r>
              <a:rPr lang="en-US" altLang="en-US" b="1" i="1" dirty="0">
                <a:solidFill>
                  <a:srgbClr val="0070C0"/>
                </a:solidFill>
                <a:effectLst/>
              </a:rPr>
              <a:t>disconnected</a:t>
            </a:r>
            <a:r>
              <a:rPr lang="en-US" altLang="en-US" dirty="0">
                <a:effectLst/>
              </a:rPr>
              <a:t>.</a:t>
            </a:r>
            <a:endParaRPr lang="en-GB" altLang="en-US" dirty="0">
              <a:effectLst/>
            </a:endParaRPr>
          </a:p>
        </p:txBody>
      </p:sp>
      <p:sp>
        <p:nvSpPr>
          <p:cNvPr id="7" name="Oval 6"/>
          <p:cNvSpPr/>
          <p:nvPr/>
        </p:nvSpPr>
        <p:spPr>
          <a:xfrm>
            <a:off x="1214438" y="4286250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1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2643188" y="3214688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2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4500563" y="3214688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3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2928938" y="5429250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4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5143500" y="5572125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5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6429375" y="4214813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6</a:t>
            </a:r>
            <a:endParaRPr lang="en-GB">
              <a:solidFill>
                <a:srgbClr val="FFFFFF"/>
              </a:solidFill>
            </a:endParaRPr>
          </a:p>
        </p:txBody>
      </p:sp>
      <p:cxnSp>
        <p:nvCxnSpPr>
          <p:cNvPr id="13" name="Straight Arrow Connector 12"/>
          <p:cNvCxnSpPr>
            <a:stCxn id="7" idx="7"/>
          </p:cNvCxnSpPr>
          <p:nvPr/>
        </p:nvCxnSpPr>
        <p:spPr>
          <a:xfrm rot="5400000" flipH="1" flipV="1">
            <a:off x="1808956" y="3536157"/>
            <a:ext cx="727075" cy="941388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8" idx="6"/>
            <a:endCxn id="9" idx="2"/>
          </p:cNvCxnSpPr>
          <p:nvPr/>
        </p:nvCxnSpPr>
        <p:spPr>
          <a:xfrm>
            <a:off x="3214688" y="3500438"/>
            <a:ext cx="1285875" cy="1587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rot="16200000" flipH="1">
            <a:off x="2214563" y="4500563"/>
            <a:ext cx="1643062" cy="214312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7" idx="6"/>
          </p:cNvCxnSpPr>
          <p:nvPr/>
        </p:nvCxnSpPr>
        <p:spPr>
          <a:xfrm flipV="1">
            <a:off x="1785938" y="4500563"/>
            <a:ext cx="4572000" cy="71437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9" idx="3"/>
            <a:endCxn id="10" idx="7"/>
          </p:cNvCxnSpPr>
          <p:nvPr/>
        </p:nvCxnSpPr>
        <p:spPr>
          <a:xfrm flipH="1">
            <a:off x="3416744" y="3702494"/>
            <a:ext cx="1167513" cy="181045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0" idx="5"/>
          </p:cNvCxnSpPr>
          <p:nvPr/>
        </p:nvCxnSpPr>
        <p:spPr>
          <a:xfrm rot="16200000" flipH="1">
            <a:off x="4237832" y="5095081"/>
            <a:ext cx="12700" cy="1655763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rot="16200000" flipH="1">
            <a:off x="4250532" y="4464844"/>
            <a:ext cx="1785937" cy="428625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1" idx="7"/>
            <a:endCxn id="12" idx="3"/>
          </p:cNvCxnSpPr>
          <p:nvPr/>
        </p:nvCxnSpPr>
        <p:spPr>
          <a:xfrm rot="5400000" flipH="1" flipV="1">
            <a:off x="5595144" y="4737894"/>
            <a:ext cx="954088" cy="88265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6429375" y="3407846"/>
            <a:ext cx="265785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</a:rPr>
              <a:t>Connected components</a:t>
            </a:r>
            <a:endParaRPr lang="en-GB" altLang="en-US" dirty="0">
              <a:solidFill>
                <a:srgbClr val="0070C0"/>
              </a:solidFill>
            </a:endParaRPr>
          </a:p>
        </p:txBody>
      </p:sp>
      <p:cxnSp>
        <p:nvCxnSpPr>
          <p:cNvPr id="4" name="Straight Arrow Connector 3"/>
          <p:cNvCxnSpPr>
            <a:stCxn id="22" idx="2"/>
          </p:cNvCxnSpPr>
          <p:nvPr/>
        </p:nvCxnSpPr>
        <p:spPr bwMode="auto">
          <a:xfrm flipH="1">
            <a:off x="7000875" y="3777178"/>
            <a:ext cx="757426" cy="59321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33CC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" name="Straight Arrow Connector 5"/>
          <p:cNvCxnSpPr>
            <a:stCxn id="22" idx="1"/>
            <a:endCxn id="9" idx="6"/>
          </p:cNvCxnSpPr>
          <p:nvPr/>
        </p:nvCxnSpPr>
        <p:spPr bwMode="auto">
          <a:xfrm flipH="1" flipV="1">
            <a:off x="5072063" y="3500438"/>
            <a:ext cx="1357312" cy="9207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33CC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92807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5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Tree</a:t>
            </a:r>
            <a:endParaRPr lang="en-GB" altLang="en-US"/>
          </a:p>
        </p:txBody>
      </p:sp>
      <p:sp>
        <p:nvSpPr>
          <p:cNvPr id="24579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/>
          <a:lstStyle/>
          <a:p>
            <a:r>
              <a:rPr lang="en-US" altLang="en-US" dirty="0">
                <a:effectLst/>
              </a:rPr>
              <a:t>A </a:t>
            </a:r>
            <a:r>
              <a:rPr lang="en-US" altLang="en-US" b="1" i="1" dirty="0">
                <a:solidFill>
                  <a:srgbClr val="0070C0"/>
                </a:solidFill>
                <a:effectLst/>
              </a:rPr>
              <a:t>tree</a:t>
            </a:r>
            <a:r>
              <a:rPr lang="en-US" altLang="en-US" dirty="0">
                <a:effectLst/>
              </a:rPr>
              <a:t> is a connected graph that contains no cycles.</a:t>
            </a:r>
            <a:endParaRPr lang="en-GB" altLang="en-US" dirty="0">
              <a:effectLst/>
            </a:endParaRPr>
          </a:p>
        </p:txBody>
      </p:sp>
      <p:sp>
        <p:nvSpPr>
          <p:cNvPr id="7" name="Oval 6"/>
          <p:cNvSpPr/>
          <p:nvPr/>
        </p:nvSpPr>
        <p:spPr>
          <a:xfrm>
            <a:off x="1214438" y="3500438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1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2643188" y="2428875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2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4500563" y="2428875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3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2928938" y="4643438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4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5143500" y="4786313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5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6429375" y="3429000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6</a:t>
            </a:r>
            <a:endParaRPr lang="en-GB">
              <a:solidFill>
                <a:srgbClr val="FFFFFF"/>
              </a:solidFill>
            </a:endParaRPr>
          </a:p>
        </p:txBody>
      </p:sp>
      <p:cxnSp>
        <p:nvCxnSpPr>
          <p:cNvPr id="13" name="Straight Arrow Connector 12"/>
          <p:cNvCxnSpPr>
            <a:stCxn id="7" idx="7"/>
          </p:cNvCxnSpPr>
          <p:nvPr/>
        </p:nvCxnSpPr>
        <p:spPr>
          <a:xfrm rot="5400000" flipH="1" flipV="1">
            <a:off x="1808956" y="2750344"/>
            <a:ext cx="727075" cy="941388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8" idx="6"/>
            <a:endCxn id="9" idx="2"/>
          </p:cNvCxnSpPr>
          <p:nvPr/>
        </p:nvCxnSpPr>
        <p:spPr>
          <a:xfrm>
            <a:off x="3214688" y="2714625"/>
            <a:ext cx="1285875" cy="1588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rot="16200000" flipH="1">
            <a:off x="2214562" y="3714751"/>
            <a:ext cx="1643063" cy="214312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0" idx="5"/>
            <a:endCxn id="11" idx="2"/>
          </p:cNvCxnSpPr>
          <p:nvPr/>
        </p:nvCxnSpPr>
        <p:spPr>
          <a:xfrm flipV="1">
            <a:off x="3416744" y="5072063"/>
            <a:ext cx="1726756" cy="59181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1" idx="7"/>
            <a:endCxn id="12" idx="3"/>
          </p:cNvCxnSpPr>
          <p:nvPr/>
        </p:nvCxnSpPr>
        <p:spPr>
          <a:xfrm rot="5400000" flipH="1" flipV="1">
            <a:off x="5595144" y="3952082"/>
            <a:ext cx="954087" cy="88265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5"/>
            <a:endCxn id="11" idx="1"/>
          </p:cNvCxnSpPr>
          <p:nvPr/>
        </p:nvCxnSpPr>
        <p:spPr bwMode="auto">
          <a:xfrm>
            <a:off x="3130994" y="2916681"/>
            <a:ext cx="2096200" cy="1953326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17463" y="4365665"/>
            <a:ext cx="20864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parent</a:t>
            </a:r>
            <a:endParaRPr lang="en-GB" altLang="en-US" dirty="0"/>
          </a:p>
        </p:txBody>
      </p:sp>
      <p:cxnSp>
        <p:nvCxnSpPr>
          <p:cNvPr id="23" name="Straight Arrow Connector 22"/>
          <p:cNvCxnSpPr>
            <a:stCxn id="22" idx="0"/>
            <a:endCxn id="7" idx="3"/>
          </p:cNvCxnSpPr>
          <p:nvPr/>
        </p:nvCxnSpPr>
        <p:spPr bwMode="auto">
          <a:xfrm flipV="1">
            <a:off x="1060666" y="3988244"/>
            <a:ext cx="237466" cy="37742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33CC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4" name="Straight Arrow Connector 23"/>
          <p:cNvCxnSpPr>
            <a:endCxn id="8" idx="7"/>
          </p:cNvCxnSpPr>
          <p:nvPr/>
        </p:nvCxnSpPr>
        <p:spPr bwMode="auto">
          <a:xfrm flipH="1">
            <a:off x="3130994" y="2057070"/>
            <a:ext cx="726631" cy="45549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33CC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3214688" y="1773849"/>
            <a:ext cx="20864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child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601812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22" grpId="0"/>
      <p:bldP spid="2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Spanning Tree</a:t>
            </a:r>
            <a:endParaRPr lang="en-GB" altLang="en-US" dirty="0"/>
          </a:p>
        </p:txBody>
      </p:sp>
      <p:sp>
        <p:nvSpPr>
          <p:cNvPr id="24579" name="Content Placeholder 2"/>
          <p:cNvSpPr>
            <a:spLocks noGrp="1"/>
          </p:cNvSpPr>
          <p:nvPr>
            <p:ph sz="quarter" idx="1"/>
          </p:nvPr>
        </p:nvSpPr>
        <p:spPr>
          <a:xfrm>
            <a:off x="223838" y="1116013"/>
            <a:ext cx="8686800" cy="4937125"/>
          </a:xfrm>
        </p:spPr>
        <p:txBody>
          <a:bodyPr/>
          <a:lstStyle/>
          <a:p>
            <a:r>
              <a:rPr lang="en-US" altLang="en-US" dirty="0">
                <a:effectLst/>
              </a:rPr>
              <a:t>A </a:t>
            </a:r>
            <a:r>
              <a:rPr lang="en-US" altLang="en-US" b="1" i="1" dirty="0">
                <a:solidFill>
                  <a:srgbClr val="0070C0"/>
                </a:solidFill>
                <a:effectLst/>
              </a:rPr>
              <a:t>spanning tree</a:t>
            </a:r>
            <a:r>
              <a:rPr lang="en-US" altLang="en-US" dirty="0">
                <a:effectLst/>
              </a:rPr>
              <a:t> T of a connected graph G satisfies: T is a tree and T contains every node in G</a:t>
            </a:r>
            <a:endParaRPr lang="en-GB" altLang="en-US" dirty="0">
              <a:effectLst/>
            </a:endParaRPr>
          </a:p>
        </p:txBody>
      </p:sp>
      <p:sp>
        <p:nvSpPr>
          <p:cNvPr id="7" name="Oval 6"/>
          <p:cNvSpPr/>
          <p:nvPr/>
        </p:nvSpPr>
        <p:spPr>
          <a:xfrm>
            <a:off x="1214438" y="3500438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1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2643188" y="2428875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2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4500563" y="2428875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</a:rPr>
              <a:t>3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2928938" y="4643438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4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5143500" y="4786313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5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6429375" y="3429000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6</a:t>
            </a:r>
            <a:endParaRPr lang="en-GB">
              <a:solidFill>
                <a:srgbClr val="FFFFFF"/>
              </a:solidFill>
            </a:endParaRPr>
          </a:p>
        </p:txBody>
      </p:sp>
      <p:cxnSp>
        <p:nvCxnSpPr>
          <p:cNvPr id="13" name="Straight Arrow Connector 12"/>
          <p:cNvCxnSpPr>
            <a:stCxn id="7" idx="7"/>
          </p:cNvCxnSpPr>
          <p:nvPr/>
        </p:nvCxnSpPr>
        <p:spPr>
          <a:xfrm rot="5400000" flipH="1" flipV="1">
            <a:off x="1808956" y="2750344"/>
            <a:ext cx="727075" cy="941388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8" idx="6"/>
            <a:endCxn id="9" idx="2"/>
          </p:cNvCxnSpPr>
          <p:nvPr/>
        </p:nvCxnSpPr>
        <p:spPr>
          <a:xfrm>
            <a:off x="3214688" y="2714625"/>
            <a:ext cx="1285875" cy="1588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rot="16200000" flipH="1">
            <a:off x="2214562" y="3714751"/>
            <a:ext cx="1643063" cy="214312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7" idx="6"/>
            <a:endCxn id="12" idx="2"/>
          </p:cNvCxnSpPr>
          <p:nvPr/>
        </p:nvCxnSpPr>
        <p:spPr>
          <a:xfrm flipV="1">
            <a:off x="1785938" y="3714750"/>
            <a:ext cx="4643437" cy="71438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9" idx="3"/>
            <a:endCxn id="10" idx="7"/>
          </p:cNvCxnSpPr>
          <p:nvPr/>
        </p:nvCxnSpPr>
        <p:spPr>
          <a:xfrm flipH="1">
            <a:off x="3416744" y="2916681"/>
            <a:ext cx="1167513" cy="1810451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0" idx="5"/>
            <a:endCxn id="11" idx="2"/>
          </p:cNvCxnSpPr>
          <p:nvPr/>
        </p:nvCxnSpPr>
        <p:spPr>
          <a:xfrm flipV="1">
            <a:off x="3416744" y="5072063"/>
            <a:ext cx="1726756" cy="59181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rot="16200000" flipH="1">
            <a:off x="4250532" y="3679031"/>
            <a:ext cx="1785938" cy="428625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1" idx="7"/>
            <a:endCxn id="12" idx="3"/>
          </p:cNvCxnSpPr>
          <p:nvPr/>
        </p:nvCxnSpPr>
        <p:spPr>
          <a:xfrm rot="5400000" flipH="1" flipV="1">
            <a:off x="5595144" y="3952082"/>
            <a:ext cx="954087" cy="882650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5652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Properties of Spanning Tree</a:t>
            </a:r>
            <a:endParaRPr lang="en-GB" altLang="en-US" dirty="0"/>
          </a:p>
        </p:txBody>
      </p:sp>
      <p:sp>
        <p:nvSpPr>
          <p:cNvPr id="17411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/>
          <a:lstStyle/>
          <a:p>
            <a:r>
              <a:rPr lang="en-US" altLang="en-US" dirty="0">
                <a:effectLst/>
              </a:rPr>
              <a:t>There are exactly N – 1 arcs; it is acyclic; it connects all N nodes.</a:t>
            </a:r>
          </a:p>
          <a:p>
            <a:endParaRPr lang="en-US" altLang="en-US" dirty="0">
              <a:effectLst/>
            </a:endParaRPr>
          </a:p>
          <a:p>
            <a:r>
              <a:rPr lang="en-US" altLang="en-US" dirty="0">
                <a:effectLst/>
              </a:rPr>
              <a:t>Conversely, if a set of N – 1 arcs is connected to all N nodes, then it is a spanning tree.</a:t>
            </a:r>
          </a:p>
        </p:txBody>
      </p:sp>
    </p:spTree>
    <p:extLst>
      <p:ext uri="{BB962C8B-B14F-4D97-AF65-F5344CB8AC3E}">
        <p14:creationId xmlns:p14="http://schemas.microsoft.com/office/powerpoint/2010/main" val="4718070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Other Special Graphs: Bipartite Graph</a:t>
            </a:r>
            <a:endParaRPr lang="en-GB" altLang="en-US" dirty="0"/>
          </a:p>
        </p:txBody>
      </p:sp>
      <p:sp>
        <p:nvSpPr>
          <p:cNvPr id="20483" name="Content Placeholder 2"/>
          <p:cNvSpPr>
            <a:spLocks noGrp="1"/>
          </p:cNvSpPr>
          <p:nvPr>
            <p:ph sz="quarter" idx="1"/>
          </p:nvPr>
        </p:nvSpPr>
        <p:spPr>
          <a:xfrm>
            <a:off x="428625" y="1214438"/>
            <a:ext cx="8229600" cy="4937125"/>
          </a:xfrm>
        </p:spPr>
        <p:txBody>
          <a:bodyPr/>
          <a:lstStyle/>
          <a:p>
            <a:r>
              <a:rPr lang="en-US" altLang="en-US" dirty="0">
                <a:effectLst/>
              </a:rPr>
              <a:t>The node is separated into two sets: arcs only connect nodes in different sets.</a:t>
            </a:r>
            <a:endParaRPr lang="en-GB" altLang="en-US" dirty="0">
              <a:effectLst/>
            </a:endParaRPr>
          </a:p>
        </p:txBody>
      </p:sp>
      <p:sp>
        <p:nvSpPr>
          <p:cNvPr id="10" name="Oval 9"/>
          <p:cNvSpPr/>
          <p:nvPr/>
        </p:nvSpPr>
        <p:spPr>
          <a:xfrm>
            <a:off x="1244029" y="2857500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1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1244029" y="4081086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</a:rPr>
              <a:t>2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1244029" y="5336160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3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5653881" y="2857500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4</a:t>
            </a:r>
            <a:endParaRPr lang="en-GB">
              <a:solidFill>
                <a:srgbClr val="FFFFFF"/>
              </a:solidFill>
            </a:endParaRPr>
          </a:p>
        </p:txBody>
      </p:sp>
      <p:cxnSp>
        <p:nvCxnSpPr>
          <p:cNvPr id="16" name="Straight Arrow Connector 15"/>
          <p:cNvCxnSpPr>
            <a:stCxn id="10" idx="6"/>
            <a:endCxn id="13" idx="2"/>
          </p:cNvCxnSpPr>
          <p:nvPr/>
        </p:nvCxnSpPr>
        <p:spPr>
          <a:xfrm>
            <a:off x="1815529" y="3143250"/>
            <a:ext cx="3838352" cy="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3" idx="2"/>
            <a:endCxn id="11" idx="6"/>
          </p:cNvCxnSpPr>
          <p:nvPr/>
        </p:nvCxnSpPr>
        <p:spPr>
          <a:xfrm flipH="1">
            <a:off x="1815529" y="3143250"/>
            <a:ext cx="3838352" cy="1223586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0" idx="6"/>
            <a:endCxn id="22" idx="1"/>
          </p:cNvCxnSpPr>
          <p:nvPr/>
        </p:nvCxnSpPr>
        <p:spPr>
          <a:xfrm>
            <a:off x="1815529" y="3143250"/>
            <a:ext cx="3914552" cy="235011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2" idx="6"/>
            <a:endCxn id="22" idx="2"/>
          </p:cNvCxnSpPr>
          <p:nvPr/>
        </p:nvCxnSpPr>
        <p:spPr>
          <a:xfrm>
            <a:off x="1815529" y="5621910"/>
            <a:ext cx="3830858" cy="73506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5646387" y="5409666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</a:rPr>
              <a:t>5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5301059" y="3625413"/>
            <a:ext cx="378618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Every tree is a bipartite graph, but not vice versa.</a:t>
            </a:r>
            <a:endParaRPr lang="en-GB" altLang="en-US" dirty="0"/>
          </a:p>
        </p:txBody>
      </p:sp>
      <p:cxnSp>
        <p:nvCxnSpPr>
          <p:cNvPr id="32" name="Straight Arrow Connector 31"/>
          <p:cNvCxnSpPr>
            <a:stCxn id="12" idx="6"/>
            <a:endCxn id="13" idx="2"/>
          </p:cNvCxnSpPr>
          <p:nvPr/>
        </p:nvCxnSpPr>
        <p:spPr>
          <a:xfrm flipV="1">
            <a:off x="1815529" y="3143250"/>
            <a:ext cx="3838352" cy="2478660"/>
          </a:xfrm>
          <a:prstGeom prst="straightConnector1">
            <a:avLst/>
          </a:prstGeom>
          <a:ln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9895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Other Special Graphs: Complete Graph</a:t>
            </a:r>
            <a:endParaRPr lang="en-GB" altLang="en-US" dirty="0"/>
          </a:p>
        </p:txBody>
      </p:sp>
      <p:sp>
        <p:nvSpPr>
          <p:cNvPr id="20483" name="Content Placeholder 2"/>
          <p:cNvSpPr>
            <a:spLocks noGrp="1"/>
          </p:cNvSpPr>
          <p:nvPr>
            <p:ph sz="quarter" idx="1"/>
          </p:nvPr>
        </p:nvSpPr>
        <p:spPr>
          <a:xfrm>
            <a:off x="428625" y="1214438"/>
            <a:ext cx="8229600" cy="4937125"/>
          </a:xfrm>
        </p:spPr>
        <p:txBody>
          <a:bodyPr/>
          <a:lstStyle/>
          <a:p>
            <a:r>
              <a:rPr lang="en-US" altLang="en-US" dirty="0">
                <a:effectLst/>
              </a:rPr>
              <a:t>Every pair of node is connected by an arc.</a:t>
            </a:r>
            <a:endParaRPr lang="en-GB" altLang="en-US" dirty="0">
              <a:effectLst/>
            </a:endParaRPr>
          </a:p>
        </p:txBody>
      </p:sp>
      <p:sp>
        <p:nvSpPr>
          <p:cNvPr id="10" name="Oval 9"/>
          <p:cNvSpPr/>
          <p:nvPr/>
        </p:nvSpPr>
        <p:spPr>
          <a:xfrm>
            <a:off x="3539906" y="2720975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1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2075855" y="3678393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</a:rPr>
              <a:t>2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5098609" y="3678393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</a:rPr>
              <a:t>3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2750343" y="5235185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</a:rPr>
              <a:t>4</a:t>
            </a:r>
            <a:endParaRPr lang="en-GB" dirty="0">
              <a:solidFill>
                <a:srgbClr val="FFFFFF"/>
              </a:solidFill>
            </a:endParaRPr>
          </a:p>
        </p:txBody>
      </p:sp>
      <p:cxnSp>
        <p:nvCxnSpPr>
          <p:cNvPr id="16" name="Straight Arrow Connector 15"/>
          <p:cNvCxnSpPr>
            <a:stCxn id="11" idx="4"/>
            <a:endCxn id="13" idx="1"/>
          </p:cNvCxnSpPr>
          <p:nvPr/>
        </p:nvCxnSpPr>
        <p:spPr>
          <a:xfrm>
            <a:off x="2361605" y="4249893"/>
            <a:ext cx="472432" cy="1068986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0" idx="2"/>
            <a:endCxn id="11" idx="7"/>
          </p:cNvCxnSpPr>
          <p:nvPr/>
        </p:nvCxnSpPr>
        <p:spPr>
          <a:xfrm flipH="1">
            <a:off x="2563661" y="3006725"/>
            <a:ext cx="976245" cy="755362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0" idx="6"/>
            <a:endCxn id="12" idx="1"/>
          </p:cNvCxnSpPr>
          <p:nvPr/>
        </p:nvCxnSpPr>
        <p:spPr>
          <a:xfrm>
            <a:off x="4111406" y="3006725"/>
            <a:ext cx="1070897" cy="755362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21" idx="2"/>
            <a:endCxn id="13" idx="6"/>
          </p:cNvCxnSpPr>
          <p:nvPr/>
        </p:nvCxnSpPr>
        <p:spPr>
          <a:xfrm flipH="1" flipV="1">
            <a:off x="3321843" y="5520935"/>
            <a:ext cx="1053220" cy="1643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4375063" y="5236828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dirty="0">
                <a:solidFill>
                  <a:srgbClr val="FFFFFF"/>
                </a:solidFill>
              </a:rPr>
              <a:t>5</a:t>
            </a:r>
          </a:p>
        </p:txBody>
      </p:sp>
      <p:cxnSp>
        <p:nvCxnSpPr>
          <p:cNvPr id="32" name="Straight Arrow Connector 31"/>
          <p:cNvCxnSpPr>
            <a:stCxn id="12" idx="4"/>
            <a:endCxn id="21" idx="7"/>
          </p:cNvCxnSpPr>
          <p:nvPr/>
        </p:nvCxnSpPr>
        <p:spPr>
          <a:xfrm flipH="1">
            <a:off x="4862869" y="4249893"/>
            <a:ext cx="521490" cy="1070629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2" idx="2"/>
            <a:endCxn id="11" idx="6"/>
          </p:cNvCxnSpPr>
          <p:nvPr/>
        </p:nvCxnSpPr>
        <p:spPr>
          <a:xfrm flipH="1">
            <a:off x="2647355" y="3964143"/>
            <a:ext cx="2451254" cy="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21" idx="1"/>
            <a:endCxn id="11" idx="5"/>
          </p:cNvCxnSpPr>
          <p:nvPr/>
        </p:nvCxnSpPr>
        <p:spPr>
          <a:xfrm flipH="1" flipV="1">
            <a:off x="2563661" y="4166199"/>
            <a:ext cx="1895096" cy="1154323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13" idx="0"/>
          </p:cNvCxnSpPr>
          <p:nvPr/>
        </p:nvCxnSpPr>
        <p:spPr>
          <a:xfrm flipV="1">
            <a:off x="3036093" y="3212698"/>
            <a:ext cx="607867" cy="2022487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21" idx="0"/>
            <a:endCxn id="10" idx="5"/>
          </p:cNvCxnSpPr>
          <p:nvPr/>
        </p:nvCxnSpPr>
        <p:spPr>
          <a:xfrm flipH="1" flipV="1">
            <a:off x="4027712" y="3208781"/>
            <a:ext cx="633101" cy="2028047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12" idx="3"/>
            <a:endCxn id="13" idx="7"/>
          </p:cNvCxnSpPr>
          <p:nvPr/>
        </p:nvCxnSpPr>
        <p:spPr>
          <a:xfrm flipH="1">
            <a:off x="3238149" y="4166199"/>
            <a:ext cx="1944154" cy="115268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3709782" y="1883409"/>
            <a:ext cx="378618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How many arcs are in a complete graph with n nodes?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969317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Other Special Graphs: Complete Bipartite Graph</a:t>
            </a:r>
            <a:endParaRPr lang="en-GB" altLang="en-US" sz="2800" dirty="0"/>
          </a:p>
        </p:txBody>
      </p:sp>
      <p:sp>
        <p:nvSpPr>
          <p:cNvPr id="20483" name="Content Placeholder 2"/>
          <p:cNvSpPr>
            <a:spLocks noGrp="1"/>
          </p:cNvSpPr>
          <p:nvPr>
            <p:ph sz="quarter" idx="1"/>
          </p:nvPr>
        </p:nvSpPr>
        <p:spPr>
          <a:xfrm>
            <a:off x="428625" y="1214438"/>
            <a:ext cx="8229600" cy="4937125"/>
          </a:xfrm>
        </p:spPr>
        <p:txBody>
          <a:bodyPr/>
          <a:lstStyle/>
          <a:p>
            <a:r>
              <a:rPr lang="en-US" altLang="en-US" dirty="0">
                <a:effectLst/>
              </a:rPr>
              <a:t>Every node in one set is connected with every other node in the other set.</a:t>
            </a:r>
            <a:endParaRPr lang="en-GB" altLang="en-US" dirty="0">
              <a:effectLst/>
            </a:endParaRPr>
          </a:p>
        </p:txBody>
      </p:sp>
      <p:sp>
        <p:nvSpPr>
          <p:cNvPr id="10" name="Oval 9"/>
          <p:cNvSpPr/>
          <p:nvPr/>
        </p:nvSpPr>
        <p:spPr>
          <a:xfrm>
            <a:off x="1244029" y="2857500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</a:rPr>
              <a:t>1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1244029" y="4081086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</a:rPr>
              <a:t>2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1244029" y="5336160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3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5653881" y="2864078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4</a:t>
            </a:r>
            <a:endParaRPr lang="en-GB">
              <a:solidFill>
                <a:srgbClr val="FFFFFF"/>
              </a:solidFill>
            </a:endParaRPr>
          </a:p>
        </p:txBody>
      </p:sp>
      <p:cxnSp>
        <p:nvCxnSpPr>
          <p:cNvPr id="16" name="Straight Arrow Connector 15"/>
          <p:cNvCxnSpPr>
            <a:stCxn id="10" idx="6"/>
            <a:endCxn id="13" idx="2"/>
          </p:cNvCxnSpPr>
          <p:nvPr/>
        </p:nvCxnSpPr>
        <p:spPr>
          <a:xfrm>
            <a:off x="1815529" y="3143250"/>
            <a:ext cx="3838352" cy="6578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3" idx="3"/>
            <a:endCxn id="11" idx="6"/>
          </p:cNvCxnSpPr>
          <p:nvPr/>
        </p:nvCxnSpPr>
        <p:spPr>
          <a:xfrm flipH="1">
            <a:off x="1815529" y="3351884"/>
            <a:ext cx="3922046" cy="1014952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0" idx="6"/>
            <a:endCxn id="22" idx="1"/>
          </p:cNvCxnSpPr>
          <p:nvPr/>
        </p:nvCxnSpPr>
        <p:spPr>
          <a:xfrm>
            <a:off x="1815529" y="3143250"/>
            <a:ext cx="3914552" cy="235011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2" idx="6"/>
            <a:endCxn id="22" idx="2"/>
          </p:cNvCxnSpPr>
          <p:nvPr/>
        </p:nvCxnSpPr>
        <p:spPr>
          <a:xfrm>
            <a:off x="1815529" y="5621910"/>
            <a:ext cx="3830858" cy="73506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5646387" y="5409666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</a:rPr>
              <a:t>5</a:t>
            </a:r>
            <a:endParaRPr lang="en-GB" dirty="0">
              <a:solidFill>
                <a:srgbClr val="FFFFFF"/>
              </a:solidFill>
            </a:endParaRPr>
          </a:p>
        </p:txBody>
      </p:sp>
      <p:cxnSp>
        <p:nvCxnSpPr>
          <p:cNvPr id="32" name="Straight Arrow Connector 31"/>
          <p:cNvCxnSpPr>
            <a:stCxn id="12" idx="6"/>
            <a:endCxn id="13" idx="3"/>
          </p:cNvCxnSpPr>
          <p:nvPr/>
        </p:nvCxnSpPr>
        <p:spPr>
          <a:xfrm flipV="1">
            <a:off x="1815529" y="3351884"/>
            <a:ext cx="3922046" cy="2270026"/>
          </a:xfrm>
          <a:prstGeom prst="straightConnector1">
            <a:avLst/>
          </a:prstGeom>
          <a:ln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1" idx="6"/>
            <a:endCxn id="22" idx="1"/>
          </p:cNvCxnSpPr>
          <p:nvPr/>
        </p:nvCxnSpPr>
        <p:spPr>
          <a:xfrm>
            <a:off x="1815529" y="4366836"/>
            <a:ext cx="3914552" cy="1126524"/>
          </a:xfrm>
          <a:prstGeom prst="straightConnector1">
            <a:avLst/>
          </a:prstGeom>
          <a:ln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59226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r>
              <a:rPr lang="en-US" altLang="zh-CN" dirty="0">
                <a:ea typeface="宋体" pitchFamily="2" charset="-122"/>
              </a:rPr>
              <a:t>    </a:t>
            </a: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r>
              <a:rPr lang="en-US" altLang="zh-CN" dirty="0">
                <a:ea typeface="宋体" pitchFamily="2" charset="-122"/>
              </a:rPr>
              <a:t>      </a:t>
            </a:r>
            <a:r>
              <a:rPr lang="en-US" altLang="zh-CN" sz="4000" dirty="0">
                <a:ea typeface="宋体" pitchFamily="2" charset="-122"/>
              </a:rPr>
              <a:t>General Network-Flow Problem</a:t>
            </a:r>
          </a:p>
          <a:p>
            <a:pPr marL="0" indent="0">
              <a:buNone/>
              <a:defRPr/>
            </a:pPr>
            <a:endParaRPr lang="en-US" altLang="zh-CN" sz="4000" dirty="0"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6471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Minimum Cost Network Flow Problem</a:t>
            </a:r>
            <a:endParaRPr lang="en-US" altLang="zh-CN" dirty="0">
              <a:ea typeface="宋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57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6350" y="453105"/>
                <a:ext cx="9110663" cy="4980055"/>
              </a:xfrm>
            </p:spPr>
            <p:txBody>
              <a:bodyPr/>
              <a:lstStyle/>
              <a:p>
                <a:pPr>
                  <a:defRPr/>
                </a:pPr>
                <a:endParaRPr lang="en-US" altLang="zh-CN" dirty="0">
                  <a:ea typeface="宋体" pitchFamily="2" charset="-122"/>
                </a:endParaRPr>
              </a:p>
              <a:p>
                <a:pPr>
                  <a:defRPr/>
                </a:pPr>
                <a:r>
                  <a:rPr lang="en-US" altLang="zh-CN" sz="2400" dirty="0">
                    <a:effectLst/>
                    <a:ea typeface="宋体" pitchFamily="2" charset="-122"/>
                  </a:rPr>
                  <a:t>Let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effectLst/>
                        <a:latin typeface="Cambria Math" panose="02040503050406030204" pitchFamily="18" charset="0"/>
                        <a:ea typeface="宋体" pitchFamily="2" charset="-122"/>
                      </a:rPr>
                      <m:t>𝑮</m:t>
                    </m:r>
                    <m:r>
                      <a:rPr lang="en-US" altLang="zh-CN" sz="2400" i="1" dirty="0">
                        <a:effectLst/>
                        <a:latin typeface="Cambria Math" panose="02040503050406030204" pitchFamily="18" charset="0"/>
                        <a:ea typeface="宋体" pitchFamily="2" charset="-122"/>
                      </a:rPr>
                      <m:t>=(</m:t>
                    </m:r>
                    <m:r>
                      <a:rPr lang="en-US" altLang="zh-CN" sz="2400" i="1" dirty="0">
                        <a:effectLst/>
                        <a:latin typeface="Cambria Math" panose="02040503050406030204" pitchFamily="18" charset="0"/>
                        <a:ea typeface="宋体" pitchFamily="2" charset="-122"/>
                      </a:rPr>
                      <m:t>𝑵</m:t>
                    </m:r>
                    <m:r>
                      <a:rPr lang="en-US" altLang="zh-CN" sz="2400" i="1" dirty="0">
                        <a:effectLst/>
                        <a:latin typeface="Cambria Math" panose="02040503050406030204" pitchFamily="18" charset="0"/>
                        <a:ea typeface="宋体" pitchFamily="2" charset="-122"/>
                      </a:rPr>
                      <m:t>,</m:t>
                    </m:r>
                    <m:r>
                      <a:rPr lang="en-US" altLang="zh-CN" sz="2400" i="1" dirty="0">
                        <a:effectLst/>
                        <a:latin typeface="Cambria Math" panose="02040503050406030204" pitchFamily="18" charset="0"/>
                        <a:ea typeface="宋体" pitchFamily="2" charset="-122"/>
                      </a:rPr>
                      <m:t>𝑨</m:t>
                    </m:r>
                    <m:r>
                      <a:rPr lang="en-US" altLang="zh-CN" sz="2400" i="1" dirty="0">
                        <a:effectLst/>
                        <a:latin typeface="Cambria Math" panose="02040503050406030204" pitchFamily="18" charset="0"/>
                        <a:ea typeface="宋体" pitchFamily="2" charset="-122"/>
                      </a:rPr>
                      <m:t>) </m:t>
                    </m:r>
                  </m:oMath>
                </a14:m>
                <a:r>
                  <a:rPr lang="en-US" altLang="zh-CN" sz="2400" dirty="0">
                    <a:effectLst/>
                    <a:ea typeface="宋体" pitchFamily="2" charset="-122"/>
                  </a:rPr>
                  <a:t>be a directed network. For each arc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1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dPr>
                      <m:e>
                        <m:r>
                          <a:rPr lang="en-US" altLang="zh-CN" sz="2400" b="1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𝒊</m:t>
                        </m:r>
                        <m:r>
                          <a:rPr lang="en-US" altLang="zh-CN" sz="2400" b="1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,</m:t>
                        </m:r>
                        <m:r>
                          <a:rPr lang="en-US" altLang="zh-CN" sz="2400" b="1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𝒋</m:t>
                        </m:r>
                      </m:e>
                    </m:d>
                    <m:r>
                      <a:rPr lang="en-US" altLang="zh-CN" sz="2400" i="1" dirty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2400" b="1" i="1" dirty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altLang="zh-CN" sz="2400" dirty="0">
                    <a:effectLst/>
                    <a:ea typeface="宋体" pitchFamily="2" charset="-12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𝒄</m:t>
                        </m:r>
                      </m:e>
                      <m:sub>
                        <m:r>
                          <a:rPr lang="en-US" altLang="zh-CN" sz="2400" b="1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𝒊𝒋</m:t>
                        </m:r>
                      </m:sub>
                    </m:sSub>
                  </m:oMath>
                </a14:m>
                <a:r>
                  <a:rPr lang="en-US" altLang="zh-CN" sz="2400" dirty="0">
                    <a:effectLst/>
                    <a:ea typeface="宋体" pitchFamily="2" charset="-122"/>
                  </a:rPr>
                  <a:t> indicates the cost of sending a unit flow from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effectLst/>
                        <a:latin typeface="Cambria Math" panose="02040503050406030204" pitchFamily="18" charset="0"/>
                        <a:ea typeface="宋体" pitchFamily="2" charset="-122"/>
                      </a:rPr>
                      <m:t>𝒊</m:t>
                    </m:r>
                  </m:oMath>
                </a14:m>
                <a:r>
                  <a:rPr lang="en-US" altLang="zh-CN" sz="2400" dirty="0">
                    <a:effectLst/>
                    <a:ea typeface="宋体" pitchFamily="2" charset="-122"/>
                  </a:rPr>
                  <a:t> to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effectLst/>
                        <a:latin typeface="Cambria Math" panose="02040503050406030204" pitchFamily="18" charset="0"/>
                        <a:ea typeface="宋体" pitchFamily="2" charset="-122"/>
                      </a:rPr>
                      <m:t>𝒋</m:t>
                    </m:r>
                  </m:oMath>
                </a14:m>
                <a:r>
                  <a:rPr lang="en-US" altLang="zh-CN" sz="2400" dirty="0">
                    <a:effectLst/>
                    <a:ea typeface="宋体" pitchFamily="2" charset="-122"/>
                  </a:rPr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𝒖</m:t>
                        </m:r>
                      </m:e>
                      <m:sub>
                        <m:r>
                          <a:rPr lang="en-US" altLang="zh-CN" sz="240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𝒊𝒋</m:t>
                        </m:r>
                      </m:sub>
                    </m:sSub>
                  </m:oMath>
                </a14:m>
                <a:r>
                  <a:rPr lang="en-US" altLang="zh-CN" sz="2400" dirty="0">
                    <a:effectLst/>
                    <a:ea typeface="宋体" pitchFamily="2" charset="-122"/>
                  </a:rPr>
                  <a:t> is the capacity of flow on the arc.</a:t>
                </a:r>
              </a:p>
              <a:p>
                <a:pPr>
                  <a:defRPr/>
                </a:pPr>
                <a:r>
                  <a:rPr lang="en-US" altLang="zh-CN" sz="2400" dirty="0">
                    <a:effectLst/>
                    <a:ea typeface="宋体" pitchFamily="2" charset="-122"/>
                  </a:rPr>
                  <a:t>For each 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𝒊</m:t>
                    </m:r>
                    <m:r>
                      <a:rPr lang="en-US" altLang="zh-CN" sz="24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2400" b="1" i="1" dirty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altLang="zh-CN" sz="2400" dirty="0">
                    <a:effectLst/>
                    <a:ea typeface="宋体" pitchFamily="2" charset="-122"/>
                  </a:rPr>
                  <a:t>, we associate a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𝒃</m:t>
                        </m:r>
                      </m:e>
                      <m:sub>
                        <m:r>
                          <a:rPr lang="en-US" altLang="zh-CN" sz="240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CN" sz="2400" dirty="0">
                    <a:effectLst/>
                    <a:ea typeface="宋体" pitchFamily="2" charset="-122"/>
                  </a:rPr>
                  <a:t> with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CN" sz="2400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naryPr>
                      <m:sub>
                        <m:r>
                          <a:rPr lang="en-US" altLang="zh-CN" sz="240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𝒊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sz="2400" i="1" dirty="0"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dirty="0"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2400" i="1" dirty="0"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CN" sz="2400" b="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sz="2400" dirty="0">
                    <a:effectLst/>
                    <a:ea typeface="宋体" pitchFamily="2" charset="-122"/>
                  </a:rPr>
                  <a:t>:</a:t>
                </a:r>
              </a:p>
              <a:p>
                <a:pPr lvl="1">
                  <a:defRPr/>
                </a:pPr>
                <a:r>
                  <a:rPr lang="en-US" altLang="zh-CN" sz="2200" dirty="0">
                    <a:effectLst/>
                    <a:ea typeface="宋体" pitchFamily="2" charset="-122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𝒃</m:t>
                        </m:r>
                      </m:e>
                      <m:sub>
                        <m:r>
                          <a:rPr lang="en-US" altLang="zh-CN" sz="200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𝒊</m:t>
                        </m:r>
                      </m:sub>
                    </m:sSub>
                    <m:r>
                      <a:rPr lang="en-US" altLang="zh-CN" sz="2000" b="1" i="1" dirty="0" smtClean="0">
                        <a:effectLst/>
                        <a:latin typeface="Cambria Math" panose="02040503050406030204" pitchFamily="18" charset="0"/>
                        <a:ea typeface="宋体" pitchFamily="2" charset="-122"/>
                      </a:rPr>
                      <m:t>&gt;</m:t>
                    </m:r>
                    <m:r>
                      <a:rPr lang="en-US" altLang="zh-CN" sz="2000" b="1" i="1" dirty="0" smtClean="0">
                        <a:effectLst/>
                        <a:latin typeface="Cambria Math" panose="02040503050406030204" pitchFamily="18" charset="0"/>
                        <a:ea typeface="宋体" pitchFamily="2" charset="-122"/>
                      </a:rPr>
                      <m:t>𝟎</m:t>
                    </m:r>
                  </m:oMath>
                </a14:m>
                <a:r>
                  <a:rPr lang="en-US" altLang="zh-CN" sz="2200" dirty="0">
                    <a:effectLst/>
                    <a:ea typeface="宋体" pitchFamily="2" charset="-122"/>
                  </a:rPr>
                  <a:t>, the node is called a supply node;</a:t>
                </a:r>
              </a:p>
              <a:p>
                <a:pPr lvl="1">
                  <a:defRPr/>
                </a:pPr>
                <a:r>
                  <a:rPr lang="en-US" altLang="zh-CN" sz="2200" dirty="0">
                    <a:effectLst/>
                    <a:ea typeface="宋体" pitchFamily="2" charset="-122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𝒃</m:t>
                        </m:r>
                      </m:e>
                      <m:sub>
                        <m:r>
                          <a:rPr lang="en-US" altLang="zh-CN" sz="200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𝒊</m:t>
                        </m:r>
                      </m:sub>
                    </m:sSub>
                    <m:r>
                      <a:rPr lang="en-US" altLang="zh-CN" sz="2000" b="1" i="1" dirty="0" smtClean="0">
                        <a:effectLst/>
                        <a:latin typeface="Cambria Math" panose="02040503050406030204" pitchFamily="18" charset="0"/>
                        <a:ea typeface="宋体" pitchFamily="2" charset="-122"/>
                      </a:rPr>
                      <m:t>&lt;</m:t>
                    </m:r>
                    <m:r>
                      <a:rPr lang="en-US" altLang="zh-CN" sz="2000" i="1" dirty="0">
                        <a:effectLst/>
                        <a:latin typeface="Cambria Math" panose="02040503050406030204" pitchFamily="18" charset="0"/>
                        <a:ea typeface="宋体" pitchFamily="2" charset="-122"/>
                      </a:rPr>
                      <m:t>𝟎</m:t>
                    </m:r>
                  </m:oMath>
                </a14:m>
                <a:r>
                  <a:rPr lang="en-US" altLang="zh-CN" sz="2200" dirty="0">
                    <a:effectLst/>
                    <a:ea typeface="宋体" pitchFamily="2" charset="-122"/>
                  </a:rPr>
                  <a:t>, the node is called a demand node;</a:t>
                </a:r>
              </a:p>
              <a:p>
                <a:pPr lvl="1">
                  <a:defRPr/>
                </a:pPr>
                <a:r>
                  <a:rPr lang="en-US" altLang="zh-CN" sz="2200" dirty="0">
                    <a:effectLst/>
                    <a:ea typeface="宋体" pitchFamily="2" charset="-122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𝒃</m:t>
                        </m:r>
                      </m:e>
                      <m:sub>
                        <m:r>
                          <a:rPr lang="en-US" altLang="zh-CN" sz="200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𝒊</m:t>
                        </m:r>
                      </m:sub>
                    </m:sSub>
                    <m:r>
                      <a:rPr lang="en-US" altLang="zh-CN" sz="2000" b="1" i="1" dirty="0" smtClean="0">
                        <a:effectLst/>
                        <a:latin typeface="Cambria Math" panose="02040503050406030204" pitchFamily="18" charset="0"/>
                        <a:ea typeface="宋体" pitchFamily="2" charset="-122"/>
                      </a:rPr>
                      <m:t>=</m:t>
                    </m:r>
                    <m:r>
                      <a:rPr lang="en-US" altLang="zh-CN" sz="2000" i="1" dirty="0">
                        <a:effectLst/>
                        <a:latin typeface="Cambria Math" panose="02040503050406030204" pitchFamily="18" charset="0"/>
                        <a:ea typeface="宋体" pitchFamily="2" charset="-122"/>
                      </a:rPr>
                      <m:t>𝟎</m:t>
                    </m:r>
                  </m:oMath>
                </a14:m>
                <a:r>
                  <a:rPr lang="en-US" altLang="zh-CN" sz="2200" dirty="0">
                    <a:effectLst/>
                    <a:ea typeface="宋体" pitchFamily="2" charset="-122"/>
                  </a:rPr>
                  <a:t>, the node is called a transshipment node;</a:t>
                </a:r>
              </a:p>
              <a:p>
                <a:pPr lvl="1">
                  <a:defRPr/>
                </a:pPr>
                <a:endParaRPr lang="en-US" altLang="zh-CN" sz="2200" dirty="0">
                  <a:effectLst/>
                  <a:ea typeface="宋体" pitchFamily="2" charset="-122"/>
                </a:endParaRPr>
              </a:p>
            </p:txBody>
          </p:sp>
        </mc:Choice>
        <mc:Fallback xmlns="">
          <p:sp>
            <p:nvSpPr>
              <p:cNvPr id="10957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350" y="453105"/>
                <a:ext cx="9110663" cy="4980055"/>
              </a:xfrm>
              <a:blipFill rotWithShape="0">
                <a:blip r:embed="rId3"/>
                <a:stretch>
                  <a:fillRect l="-870" r="-46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542761" y="4916530"/>
            <a:ext cx="533400" cy="533400"/>
          </a:xfrm>
          <a:prstGeom prst="ellipse">
            <a:avLst/>
          </a:prstGeom>
          <a:solidFill>
            <a:schemeClr val="accent1"/>
          </a:solidFill>
          <a:ln>
            <a:solidFill>
              <a:srgbClr val="FF33CC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865918" y="4029708"/>
            <a:ext cx="533400" cy="533400"/>
          </a:xfrm>
          <a:prstGeom prst="ellipse">
            <a:avLst/>
          </a:prstGeom>
          <a:solidFill>
            <a:schemeClr val="accent1"/>
          </a:solidFill>
          <a:ln>
            <a:solidFill>
              <a:srgbClr val="FF33CC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865754" y="5831752"/>
            <a:ext cx="533400" cy="533400"/>
          </a:xfrm>
          <a:prstGeom prst="ellipse">
            <a:avLst/>
          </a:prstGeom>
          <a:solidFill>
            <a:schemeClr val="accent1"/>
          </a:solidFill>
          <a:ln>
            <a:solidFill>
              <a:srgbClr val="FF33CC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6181272" y="4013497"/>
            <a:ext cx="533400" cy="533400"/>
          </a:xfrm>
          <a:prstGeom prst="ellipse">
            <a:avLst/>
          </a:prstGeom>
          <a:solidFill>
            <a:schemeClr val="accent1"/>
          </a:solidFill>
          <a:ln>
            <a:solidFill>
              <a:srgbClr val="FF33CC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6182999" y="5833703"/>
            <a:ext cx="533400" cy="533400"/>
          </a:xfrm>
          <a:prstGeom prst="ellipse">
            <a:avLst/>
          </a:prstGeom>
          <a:solidFill>
            <a:schemeClr val="accent1"/>
          </a:solidFill>
          <a:ln>
            <a:solidFill>
              <a:srgbClr val="FF33CC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0" name="Straight Arrow Connector 9"/>
          <p:cNvCxnSpPr>
            <a:stCxn id="5" idx="7"/>
            <a:endCxn id="6" idx="3"/>
          </p:cNvCxnSpPr>
          <p:nvPr/>
        </p:nvCxnSpPr>
        <p:spPr>
          <a:xfrm flipV="1">
            <a:off x="1998046" y="4484993"/>
            <a:ext cx="945987" cy="509652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5" idx="5"/>
            <a:endCxn id="7" idx="1"/>
          </p:cNvCxnSpPr>
          <p:nvPr/>
        </p:nvCxnSpPr>
        <p:spPr>
          <a:xfrm>
            <a:off x="1998046" y="5371815"/>
            <a:ext cx="945823" cy="538052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6" idx="4"/>
            <a:endCxn id="7" idx="0"/>
          </p:cNvCxnSpPr>
          <p:nvPr/>
        </p:nvCxnSpPr>
        <p:spPr>
          <a:xfrm flipH="1">
            <a:off x="3132454" y="4563108"/>
            <a:ext cx="164" cy="1268644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6"/>
            <a:endCxn id="8" idx="2"/>
          </p:cNvCxnSpPr>
          <p:nvPr/>
        </p:nvCxnSpPr>
        <p:spPr>
          <a:xfrm flipV="1">
            <a:off x="3399318" y="4280197"/>
            <a:ext cx="2781954" cy="16211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8" idx="4"/>
            <a:endCxn id="9" idx="0"/>
          </p:cNvCxnSpPr>
          <p:nvPr/>
        </p:nvCxnSpPr>
        <p:spPr>
          <a:xfrm>
            <a:off x="6447972" y="4546897"/>
            <a:ext cx="1727" cy="1286806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6" idx="5"/>
            <a:endCxn id="9" idx="1"/>
          </p:cNvCxnSpPr>
          <p:nvPr/>
        </p:nvCxnSpPr>
        <p:spPr>
          <a:xfrm>
            <a:off x="3321203" y="4484993"/>
            <a:ext cx="2939911" cy="1426825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7" idx="7"/>
            <a:endCxn id="8" idx="3"/>
          </p:cNvCxnSpPr>
          <p:nvPr/>
        </p:nvCxnSpPr>
        <p:spPr>
          <a:xfrm flipV="1">
            <a:off x="3321039" y="4468782"/>
            <a:ext cx="2938348" cy="1441085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7" idx="7"/>
            <a:endCxn id="9" idx="1"/>
          </p:cNvCxnSpPr>
          <p:nvPr/>
        </p:nvCxnSpPr>
        <p:spPr>
          <a:xfrm>
            <a:off x="3321039" y="5909867"/>
            <a:ext cx="2940075" cy="1951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9" idx="3"/>
            <a:endCxn id="7" idx="5"/>
          </p:cNvCxnSpPr>
          <p:nvPr/>
        </p:nvCxnSpPr>
        <p:spPr>
          <a:xfrm flipH="1" flipV="1">
            <a:off x="3321039" y="6287037"/>
            <a:ext cx="2940075" cy="1951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1643332" y="5013952"/>
            <a:ext cx="33054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rgbClr val="033197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dirty="0">
                <a:solidFill>
                  <a:schemeClr val="bg1"/>
                </a:solidFill>
                <a:latin typeface="Verdana" panose="020B0604030504040204" pitchFamily="34" charset="0"/>
              </a:rPr>
              <a:t>1</a:t>
            </a: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2953649" y="4128561"/>
            <a:ext cx="33054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rgbClr val="033197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dirty="0">
                <a:solidFill>
                  <a:schemeClr val="bg1"/>
                </a:solidFill>
                <a:latin typeface="Verdana" panose="020B0604030504040204" pitchFamily="34" charset="0"/>
              </a:rPr>
              <a:t>2</a:t>
            </a:r>
          </a:p>
        </p:txBody>
      </p: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6265607" y="4103380"/>
            <a:ext cx="33054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rgbClr val="033197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dirty="0">
                <a:solidFill>
                  <a:schemeClr val="bg1"/>
                </a:solidFill>
                <a:latin typeface="Verdana" panose="020B0604030504040204" pitchFamily="34" charset="0"/>
              </a:rPr>
              <a:t>4</a:t>
            </a:r>
          </a:p>
        </p:txBody>
      </p:sp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6279726" y="5942535"/>
            <a:ext cx="33054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rgbClr val="033197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dirty="0">
                <a:solidFill>
                  <a:schemeClr val="bg1"/>
                </a:solidFill>
                <a:latin typeface="Verdana" panose="020B0604030504040204" pitchFamily="34" charset="0"/>
              </a:rPr>
              <a:t>5</a:t>
            </a:r>
          </a:p>
        </p:txBody>
      </p:sp>
      <p:sp>
        <p:nvSpPr>
          <p:cNvPr id="23" name="TextBox 22"/>
          <p:cNvSpPr txBox="1">
            <a:spLocks noChangeArrowheads="1"/>
          </p:cNvSpPr>
          <p:nvPr/>
        </p:nvSpPr>
        <p:spPr bwMode="auto">
          <a:xfrm>
            <a:off x="2967651" y="5930813"/>
            <a:ext cx="33054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rgbClr val="033197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dirty="0">
                <a:solidFill>
                  <a:schemeClr val="bg1"/>
                </a:solidFill>
                <a:latin typeface="Verdana" panose="020B0604030504040204" pitchFamily="34" charset="0"/>
              </a:rPr>
              <a:t>3</a:t>
            </a:r>
          </a:p>
        </p:txBody>
      </p:sp>
      <p:sp>
        <p:nvSpPr>
          <p:cNvPr id="24" name="TextBox 23"/>
          <p:cNvSpPr txBox="1">
            <a:spLocks noChangeArrowheads="1"/>
          </p:cNvSpPr>
          <p:nvPr/>
        </p:nvSpPr>
        <p:spPr bwMode="auto">
          <a:xfrm rot="19798530">
            <a:off x="1985510" y="4410230"/>
            <a:ext cx="7493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rgbClr val="033197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Verdana" panose="020B0604030504040204" pitchFamily="34" charset="0"/>
              </a:rPr>
              <a:t>(15, $4)</a:t>
            </a:r>
          </a:p>
        </p:txBody>
      </p:sp>
      <p:sp>
        <p:nvSpPr>
          <p:cNvPr id="25" name="TextBox 24"/>
          <p:cNvSpPr txBox="1">
            <a:spLocks noChangeArrowheads="1"/>
          </p:cNvSpPr>
          <p:nvPr/>
        </p:nvSpPr>
        <p:spPr bwMode="auto">
          <a:xfrm rot="1775197">
            <a:off x="2034979" y="5624016"/>
            <a:ext cx="6588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rgbClr val="033197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latin typeface="Verdana" panose="020B0604030504040204" pitchFamily="34" charset="0"/>
              </a:rPr>
              <a:t>(8, $4)</a:t>
            </a: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4390710" y="3937309"/>
            <a:ext cx="6572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rgbClr val="033197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latin typeface="Verdana" panose="020B0604030504040204" pitchFamily="34" charset="0"/>
              </a:rPr>
              <a:t>(4, $2)</a:t>
            </a:r>
          </a:p>
        </p:txBody>
      </p: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6418880" y="4930426"/>
            <a:ext cx="95250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rgbClr val="033197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latin typeface="Verdana" panose="020B0604030504040204" pitchFamily="34" charset="0"/>
              </a:rPr>
              <a:t>(∞, $2)</a:t>
            </a:r>
          </a:p>
        </p:txBody>
      </p:sp>
      <p:sp>
        <p:nvSpPr>
          <p:cNvPr id="28" name="TextBox 27"/>
          <p:cNvSpPr txBox="1">
            <a:spLocks noChangeArrowheads="1"/>
          </p:cNvSpPr>
          <p:nvPr/>
        </p:nvSpPr>
        <p:spPr bwMode="auto">
          <a:xfrm rot="19870575">
            <a:off x="3664267" y="5177845"/>
            <a:ext cx="747712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rgbClr val="033197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latin typeface="Verdana" panose="020B0604030504040204" pitchFamily="34" charset="0"/>
              </a:rPr>
              <a:t>(15, $1)</a:t>
            </a:r>
          </a:p>
        </p:txBody>
      </p:sp>
      <p:sp>
        <p:nvSpPr>
          <p:cNvPr id="29" name="TextBox 28"/>
          <p:cNvSpPr txBox="1">
            <a:spLocks noChangeArrowheads="1"/>
          </p:cNvSpPr>
          <p:nvPr/>
        </p:nvSpPr>
        <p:spPr bwMode="auto">
          <a:xfrm rot="1550249">
            <a:off x="3784158" y="4539048"/>
            <a:ext cx="7477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rgbClr val="033197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latin typeface="Verdana" panose="020B0604030504040204" pitchFamily="34" charset="0"/>
              </a:rPr>
              <a:t>(10, $6)</a:t>
            </a:r>
          </a:p>
        </p:txBody>
      </p: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4394492" y="5618103"/>
            <a:ext cx="6588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rgbClr val="033197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latin typeface="Verdana" panose="020B0604030504040204" pitchFamily="34" charset="0"/>
              </a:rPr>
              <a:t>(5, $3)</a:t>
            </a:r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4384872" y="5989091"/>
            <a:ext cx="6572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rgbClr val="033197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Verdana" panose="020B0604030504040204" pitchFamily="34" charset="0"/>
              </a:rPr>
              <a:t>(4, $1)</a:t>
            </a:r>
          </a:p>
        </p:txBody>
      </p:sp>
      <p:sp>
        <p:nvSpPr>
          <p:cNvPr id="32" name="TextBox 31"/>
          <p:cNvSpPr txBox="1">
            <a:spLocks noChangeArrowheads="1"/>
          </p:cNvSpPr>
          <p:nvPr/>
        </p:nvSpPr>
        <p:spPr bwMode="auto">
          <a:xfrm rot="16200000">
            <a:off x="2588990" y="4991331"/>
            <a:ext cx="7175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rgbClr val="033197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latin typeface="Verdana" panose="020B0604030504040204" pitchFamily="34" charset="0"/>
              </a:rPr>
              <a:t>(∞, $2)</a:t>
            </a:r>
          </a:p>
        </p:txBody>
      </p:sp>
      <p:sp>
        <p:nvSpPr>
          <p:cNvPr id="33" name="TextBox 32"/>
          <p:cNvSpPr txBox="1">
            <a:spLocks noChangeArrowheads="1"/>
          </p:cNvSpPr>
          <p:nvPr/>
        </p:nvSpPr>
        <p:spPr bwMode="auto">
          <a:xfrm>
            <a:off x="794883" y="5029341"/>
            <a:ext cx="63671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rgbClr val="033197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solidFill>
                  <a:srgbClr val="FF0000"/>
                </a:solidFill>
                <a:latin typeface="Verdana" panose="020B0604030504040204" pitchFamily="34" charset="0"/>
              </a:rPr>
              <a:t>(20)</a:t>
            </a:r>
          </a:p>
        </p:txBody>
      </p: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6580432" y="4120699"/>
            <a:ext cx="86318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rgbClr val="033197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solidFill>
                  <a:srgbClr val="0000FF"/>
                </a:solidFill>
                <a:latin typeface="Verdana" panose="020B0604030504040204" pitchFamily="34" charset="0"/>
              </a:rPr>
              <a:t>(-5)</a:t>
            </a:r>
          </a:p>
        </p:txBody>
      </p: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6680680" y="5951137"/>
            <a:ext cx="8128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rgbClr val="033197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solidFill>
                  <a:srgbClr val="0000FF"/>
                </a:solidFill>
                <a:latin typeface="Verdana" panose="020B0604030504040204" pitchFamily="34" charset="0"/>
              </a:rPr>
              <a:t>(-15)</a:t>
            </a:r>
          </a:p>
        </p:txBody>
      </p:sp>
    </p:spTree>
    <p:extLst>
      <p:ext uri="{BB962C8B-B14F-4D97-AF65-F5344CB8AC3E}">
        <p14:creationId xmlns:p14="http://schemas.microsoft.com/office/powerpoint/2010/main" val="25001776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Minimum Cost Network Flow Problem</a:t>
            </a:r>
            <a:endParaRPr lang="en-GB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-3112995" y="2138376"/>
                <a:ext cx="12357170" cy="29077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altLang="en-US" sz="28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en-US" sz="28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en-US" sz="2800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/>
                        </m:limLow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       </m:t>
                        </m:r>
                      </m:fName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altLang="en-US" sz="28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altLang="en-US" sz="28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en-US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en-US" sz="28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en-US" sz="28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en-US" sz="2800" b="0" i="1" smtClean="0">
                                <a:latin typeface="Cambria Math" panose="02040503050406030204" pitchFamily="18" charset="0"/>
                              </a:rPr>
                              <m:t>)∈</m:t>
                            </m:r>
                            <m:r>
                              <a:rPr lang="en-US" alt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alt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alt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sz="28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en-US" sz="2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en-US" sz="28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en-US" sz="280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en-US" sz="2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en-US" sz="28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en-US" sz="28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en-US" sz="28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</m:e>
                    </m:func>
                  </m:oMath>
                </a14:m>
                <a:r>
                  <a:rPr lang="en-US" altLang="en-US" sz="2800" dirty="0"/>
                  <a:t>  </a:t>
                </a:r>
              </a:p>
              <a:p>
                <a:pPr>
                  <a:defRPr/>
                </a:pPr>
                <a:r>
                  <a:rPr lang="en-US" altLang="en-US" sz="2800" dirty="0"/>
                  <a:t> </a:t>
                </a:r>
              </a:p>
              <a:p>
                <a:pPr>
                  <a:defRPr/>
                </a:pPr>
                <a:r>
                  <a:rPr lang="en-US" altLang="en-US" sz="2800" b="0" dirty="0"/>
                  <a:t>                               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2800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altLang="en-US" sz="2800" b="0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altLang="en-US" sz="2800" b="0" i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en-US" sz="2800" b="0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     </m:t>
                    </m:r>
                    <m:nary>
                      <m:naryPr>
                        <m:chr m:val="∑"/>
                        <m:supHide m:val="on"/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: </m:t>
                        </m:r>
                        <m:r>
                          <m:rPr>
                            <m:brk m:alnAt="7"/>
                          </m:rPr>
                          <a:rPr lang="en-US" altLang="en-US" sz="2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)∈</m:t>
                        </m:r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en-US" sz="2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en-US" sz="2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: </m:t>
                        </m:r>
                        <m:r>
                          <m:rPr>
                            <m:brk m:alnAt="7"/>
                          </m:rPr>
                          <a:rPr lang="en-US" altLang="en-US" sz="2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)∈</m:t>
                        </m:r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en-US" sz="28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en-US" sz="2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en-US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sz="2800" i="1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en-US" sz="2800" dirty="0"/>
                  <a:t> </a:t>
                </a:r>
              </a:p>
              <a:p>
                <a:pPr>
                  <a:defRPr/>
                </a:pPr>
                <a:endParaRPr lang="en-US" altLang="en-US" sz="2800" i="1" dirty="0">
                  <a:latin typeface="Cambria Math" panose="02040503050406030204" pitchFamily="18" charset="0"/>
                </a:endParaRPr>
              </a:p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en-US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en-US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en-US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altLang="en-US" sz="2800" dirty="0"/>
              </a:p>
              <a:p>
                <a:pPr>
                  <a:defRPr/>
                </a:pPr>
                <a:endParaRPr lang="en-US" altLang="en-US" sz="28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112995" y="2138376"/>
                <a:ext cx="12357170" cy="2907784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71713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Network Flow Problem: LP Tableau </a:t>
            </a:r>
            <a:endParaRPr lang="en-GB" alt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453" y="3412237"/>
            <a:ext cx="7151570" cy="315153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982" y="1186289"/>
            <a:ext cx="5373651" cy="1981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694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Network Flow Problem: Special Structure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571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defRPr/>
                </a:pPr>
                <a:endParaRPr lang="en-US" altLang="zh-CN" dirty="0">
                  <a:ea typeface="宋体" pitchFamily="2" charset="-122"/>
                </a:endParaRPr>
              </a:p>
              <a:p>
                <a:pPr>
                  <a:defRPr/>
                </a:pPr>
                <a:r>
                  <a:rPr lang="en-US" altLang="zh-CN" dirty="0">
                    <a:effectLst/>
                    <a:ea typeface="宋体" pitchFamily="2" charset="-122"/>
                  </a:rPr>
                  <a:t>The coefficients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US" altLang="zh-CN" b="1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𝒙</m:t>
                        </m:r>
                      </m:e>
                      <m:sub>
                        <m:r>
                          <a:rPr lang="en-US" altLang="zh-CN" b="1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𝒊𝒋</m:t>
                        </m:r>
                      </m:sub>
                    </m:sSub>
                    <m:r>
                      <a:rPr lang="en-US" altLang="zh-CN" i="1" dirty="0" smtClean="0">
                        <a:effectLst/>
                        <a:latin typeface="Cambria Math" panose="02040503050406030204" pitchFamily="18" charset="0"/>
                        <a:ea typeface="宋体" pitchFamily="2" charset="-122"/>
                      </a:rPr>
                      <m:t> </m:t>
                    </m:r>
                  </m:oMath>
                </a14:m>
                <a:r>
                  <a:rPr lang="en-US" altLang="zh-CN" dirty="0">
                    <a:effectLst/>
                    <a:ea typeface="宋体" pitchFamily="2" charset="-122"/>
                  </a:rPr>
                  <a:t> in the constraint matrix is either 0, +1 or -1.</a:t>
                </a:r>
              </a:p>
              <a:p>
                <a:pPr>
                  <a:defRPr/>
                </a:pPr>
                <a:r>
                  <a:rPr lang="en-US" altLang="zh-CN" dirty="0">
                    <a:effectLst/>
                    <a:ea typeface="宋体" pitchFamily="2" charset="-122"/>
                  </a:rPr>
                  <a:t>Each column in the constraint matrix has exactly 2 non-zero entries.</a:t>
                </a:r>
              </a:p>
              <a:p>
                <a:pPr>
                  <a:defRPr/>
                </a:pPr>
                <a:r>
                  <a:rPr lang="en-US" altLang="zh-CN" dirty="0">
                    <a:effectLst/>
                    <a:ea typeface="宋体" pitchFamily="2" charset="-122"/>
                  </a:rPr>
                  <a:t>The two non-zero entries are respectively +1 and -1 for all columns.</a:t>
                </a:r>
              </a:p>
            </p:txBody>
          </p:sp>
        </mc:Choice>
        <mc:Fallback xmlns="">
          <p:sp>
            <p:nvSpPr>
              <p:cNvPr id="10957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0">
                <a:blip r:embed="rId3"/>
                <a:stretch>
                  <a:fillRect l="-1271" r="-214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9260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r>
              <a:rPr lang="en-US" altLang="zh-CN" dirty="0">
                <a:ea typeface="宋体" pitchFamily="2" charset="-122"/>
              </a:rPr>
              <a:t>    </a:t>
            </a: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r>
              <a:rPr lang="en-US" altLang="zh-CN" sz="4000" dirty="0">
                <a:ea typeface="宋体" pitchFamily="2" charset="-122"/>
              </a:rPr>
              <a:t>           Special Network Models</a:t>
            </a:r>
          </a:p>
          <a:p>
            <a:pPr marL="0" indent="0">
              <a:buNone/>
              <a:defRPr/>
            </a:pPr>
            <a:endParaRPr lang="en-US" altLang="zh-CN" sz="4000" dirty="0"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1982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Transportation Problem </a:t>
            </a:r>
            <a:endParaRPr lang="en-GB" altLang="en-US" dirty="0"/>
          </a:p>
        </p:txBody>
      </p:sp>
      <p:sp>
        <p:nvSpPr>
          <p:cNvPr id="40963" name="Content Placeholder 2"/>
          <p:cNvSpPr>
            <a:spLocks noGrp="1"/>
          </p:cNvSpPr>
          <p:nvPr>
            <p:ph idx="1"/>
          </p:nvPr>
        </p:nvSpPr>
        <p:spPr>
          <a:xfrm>
            <a:off x="-256478" y="1005797"/>
            <a:ext cx="4395992" cy="4688342"/>
          </a:xfrm>
        </p:spPr>
        <p:txBody>
          <a:bodyPr/>
          <a:lstStyle/>
          <a:p>
            <a:pPr lvl="1"/>
            <a:r>
              <a:rPr lang="en-US" altLang="en-US" b="1" i="1" dirty="0">
                <a:solidFill>
                  <a:srgbClr val="0070C0"/>
                </a:solidFill>
                <a:effectLst/>
              </a:rPr>
              <a:t>m</a:t>
            </a:r>
            <a:r>
              <a:rPr lang="en-US" altLang="en-US" dirty="0">
                <a:effectLst/>
              </a:rPr>
              <a:t> plants, </a:t>
            </a:r>
            <a:r>
              <a:rPr lang="en-US" altLang="en-US" b="1" i="1" dirty="0">
                <a:solidFill>
                  <a:srgbClr val="0070C0"/>
                </a:solidFill>
                <a:effectLst/>
              </a:rPr>
              <a:t>n </a:t>
            </a:r>
            <a:r>
              <a:rPr lang="en-US" altLang="en-US" dirty="0">
                <a:effectLst/>
              </a:rPr>
              <a:t>distribution centers.</a:t>
            </a:r>
          </a:p>
          <a:p>
            <a:pPr lvl="1"/>
            <a:r>
              <a:rPr lang="en-US" altLang="en-US" i="1" dirty="0" err="1">
                <a:solidFill>
                  <a:srgbClr val="0070C0"/>
                </a:solidFill>
                <a:effectLst/>
              </a:rPr>
              <a:t>a</a:t>
            </a:r>
            <a:r>
              <a:rPr lang="en-US" altLang="en-US" sz="1200" b="1" i="1" dirty="0" err="1">
                <a:solidFill>
                  <a:srgbClr val="0070C0"/>
                </a:solidFill>
                <a:effectLst/>
              </a:rPr>
              <a:t>i</a:t>
            </a:r>
            <a:r>
              <a:rPr lang="en-US" altLang="en-US" sz="1200" b="1" i="1" dirty="0">
                <a:solidFill>
                  <a:srgbClr val="0070C0"/>
                </a:solidFill>
                <a:effectLst/>
              </a:rPr>
              <a:t>  </a:t>
            </a:r>
            <a:r>
              <a:rPr lang="en-US" altLang="en-US" dirty="0">
                <a:effectLst/>
              </a:rPr>
              <a:t>supply from plant </a:t>
            </a:r>
            <a:r>
              <a:rPr lang="en-US" altLang="en-US" b="1" i="1" dirty="0" err="1">
                <a:solidFill>
                  <a:srgbClr val="0070C0"/>
                </a:solidFill>
                <a:effectLst/>
              </a:rPr>
              <a:t>i</a:t>
            </a:r>
            <a:r>
              <a:rPr lang="en-US" altLang="en-US" dirty="0">
                <a:effectLst/>
              </a:rPr>
              <a:t>, </a:t>
            </a:r>
            <a:r>
              <a:rPr lang="en-US" altLang="en-US" i="1" dirty="0" err="1">
                <a:effectLst/>
              </a:rPr>
              <a:t>i</a:t>
            </a:r>
            <a:r>
              <a:rPr lang="en-US" altLang="en-US" i="1" dirty="0">
                <a:effectLst/>
              </a:rPr>
              <a:t>=1,2,…,m</a:t>
            </a:r>
          </a:p>
          <a:p>
            <a:pPr lvl="1"/>
            <a:r>
              <a:rPr lang="en-US" altLang="en-US" i="1" dirty="0" err="1">
                <a:solidFill>
                  <a:srgbClr val="0070C0"/>
                </a:solidFill>
                <a:effectLst/>
              </a:rPr>
              <a:t>b</a:t>
            </a:r>
            <a:r>
              <a:rPr lang="en-US" altLang="en-US" sz="1200" b="1" i="1" dirty="0" err="1">
                <a:solidFill>
                  <a:srgbClr val="0070C0"/>
                </a:solidFill>
                <a:effectLst/>
              </a:rPr>
              <a:t>j</a:t>
            </a:r>
            <a:r>
              <a:rPr lang="en-US" altLang="en-US" sz="1200" b="1" i="1" dirty="0">
                <a:solidFill>
                  <a:srgbClr val="0070C0"/>
                </a:solidFill>
                <a:effectLst/>
              </a:rPr>
              <a:t>  </a:t>
            </a:r>
            <a:r>
              <a:rPr lang="en-US" altLang="en-US" dirty="0">
                <a:effectLst/>
              </a:rPr>
              <a:t>demand of distribution center </a:t>
            </a:r>
            <a:r>
              <a:rPr lang="en-US" altLang="en-US" b="1" i="1" dirty="0">
                <a:solidFill>
                  <a:srgbClr val="0070C0"/>
                </a:solidFill>
                <a:effectLst/>
              </a:rPr>
              <a:t>j</a:t>
            </a:r>
            <a:r>
              <a:rPr lang="en-US" altLang="en-US" dirty="0">
                <a:effectLst/>
              </a:rPr>
              <a:t>, </a:t>
            </a:r>
            <a:r>
              <a:rPr lang="en-US" altLang="en-US" i="1" dirty="0">
                <a:effectLst/>
              </a:rPr>
              <a:t>j=1,2,…,n</a:t>
            </a:r>
          </a:p>
          <a:p>
            <a:pPr lvl="1"/>
            <a:r>
              <a:rPr lang="en-US" altLang="en-US" i="1" dirty="0" err="1">
                <a:solidFill>
                  <a:srgbClr val="0070C0"/>
                </a:solidFill>
                <a:effectLst/>
              </a:rPr>
              <a:t>c</a:t>
            </a:r>
            <a:r>
              <a:rPr lang="en-US" altLang="en-US" sz="1200" b="1" i="1" dirty="0" err="1">
                <a:solidFill>
                  <a:srgbClr val="0070C0"/>
                </a:solidFill>
                <a:effectLst/>
              </a:rPr>
              <a:t>ij</a:t>
            </a:r>
            <a:r>
              <a:rPr lang="en-US" altLang="en-US" sz="1200" b="1" i="1" dirty="0">
                <a:solidFill>
                  <a:srgbClr val="0070C0"/>
                </a:solidFill>
                <a:effectLst/>
              </a:rPr>
              <a:t>  </a:t>
            </a:r>
            <a:r>
              <a:rPr lang="en-US" altLang="en-US" dirty="0">
                <a:effectLst/>
              </a:rPr>
              <a:t>cost of transportation from </a:t>
            </a:r>
            <a:r>
              <a:rPr lang="en-US" altLang="en-US" i="1" dirty="0" err="1">
                <a:solidFill>
                  <a:srgbClr val="0070C0"/>
                </a:solidFill>
                <a:effectLst/>
              </a:rPr>
              <a:t>i</a:t>
            </a:r>
            <a:r>
              <a:rPr lang="en-US" altLang="en-US" i="1" dirty="0">
                <a:solidFill>
                  <a:srgbClr val="0070C0"/>
                </a:solidFill>
                <a:effectLst/>
              </a:rPr>
              <a:t> </a:t>
            </a:r>
            <a:r>
              <a:rPr lang="en-US" altLang="en-US" dirty="0">
                <a:effectLst/>
              </a:rPr>
              <a:t>to</a:t>
            </a:r>
            <a:r>
              <a:rPr lang="en-US" altLang="en-US" i="1" dirty="0">
                <a:solidFill>
                  <a:srgbClr val="0070C0"/>
                </a:solidFill>
                <a:effectLst/>
              </a:rPr>
              <a:t> j</a:t>
            </a:r>
            <a:endParaRPr lang="en-US" altLang="en-US" i="1" dirty="0">
              <a:effectLst/>
            </a:endParaRPr>
          </a:p>
          <a:p>
            <a:endParaRPr lang="en-GB" altLang="en-US" dirty="0"/>
          </a:p>
        </p:txBody>
      </p:sp>
      <p:pic>
        <p:nvPicPr>
          <p:cNvPr id="40964" name="Picture 2" descr="C:\Documents and Settings\s40712\Local Settings\Temporary Internet Files\Content.IE5\AB9QT5PI\MCj0280802000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2978" y="2454576"/>
            <a:ext cx="642938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5" name="Picture 2" descr="C:\Documents and Settings\s40712\Local Settings\Temporary Internet Files\Content.IE5\AB9QT5PI\MCj0280802000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2978" y="3472164"/>
            <a:ext cx="642938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6" name="Picture 2" descr="C:\Documents and Settings\s40712\Local Settings\Temporary Internet Files\Content.IE5\AB9QT5PI\MCj0280802000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2978" y="4543726"/>
            <a:ext cx="642938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7" name="Picture 3" descr="C:\Documents and Settings\s40712\Local Settings\Temporary Internet Files\Content.IE5\AB9QT5PI\MCj02335360000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0541" y="2043414"/>
            <a:ext cx="652462" cy="696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8" name="Picture 3" descr="C:\Documents and Settings\s40712\Local Settings\Temporary Internet Files\Content.IE5\AB9QT5PI\MCj02335360000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0541" y="2972101"/>
            <a:ext cx="652462" cy="69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9" name="Picture 3" descr="C:\Documents and Settings\s40712\Local Settings\Temporary Internet Files\Content.IE5\AB9QT5PI\MCj02335360000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0541" y="3954764"/>
            <a:ext cx="652462" cy="696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70" name="Picture 3" descr="C:\Documents and Settings\s40712\Local Settings\Temporary Internet Files\Content.IE5\AB9QT5PI\MCj02335360000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0541" y="4829476"/>
            <a:ext cx="652462" cy="69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0971" name="Straight Arrow Connector 14"/>
          <p:cNvCxnSpPr>
            <a:cxnSpLocks noChangeShapeType="1"/>
          </p:cNvCxnSpPr>
          <p:nvPr/>
        </p:nvCxnSpPr>
        <p:spPr bwMode="auto">
          <a:xfrm flipV="1">
            <a:off x="5015916" y="2391076"/>
            <a:ext cx="2714625" cy="341313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72" name="Straight Arrow Connector 16"/>
          <p:cNvCxnSpPr>
            <a:cxnSpLocks noChangeShapeType="1"/>
          </p:cNvCxnSpPr>
          <p:nvPr/>
        </p:nvCxnSpPr>
        <p:spPr bwMode="auto">
          <a:xfrm>
            <a:off x="5015916" y="2732389"/>
            <a:ext cx="2714625" cy="588962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73" name="Straight Arrow Connector 18"/>
          <p:cNvCxnSpPr>
            <a:cxnSpLocks noChangeShapeType="1"/>
          </p:cNvCxnSpPr>
          <p:nvPr/>
        </p:nvCxnSpPr>
        <p:spPr bwMode="auto">
          <a:xfrm>
            <a:off x="5015916" y="2732389"/>
            <a:ext cx="2643187" cy="1579562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74" name="Straight Arrow Connector 20"/>
          <p:cNvCxnSpPr>
            <a:cxnSpLocks noChangeShapeType="1"/>
          </p:cNvCxnSpPr>
          <p:nvPr/>
        </p:nvCxnSpPr>
        <p:spPr bwMode="auto">
          <a:xfrm>
            <a:off x="5015916" y="2732389"/>
            <a:ext cx="2714625" cy="2446337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75" name="Straight Arrow Connector 22"/>
          <p:cNvCxnSpPr>
            <a:cxnSpLocks noChangeShapeType="1"/>
          </p:cNvCxnSpPr>
          <p:nvPr/>
        </p:nvCxnSpPr>
        <p:spPr bwMode="auto">
          <a:xfrm flipV="1">
            <a:off x="5015916" y="2526014"/>
            <a:ext cx="2643187" cy="1222375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76" name="Straight Arrow Connector 24"/>
          <p:cNvCxnSpPr>
            <a:cxnSpLocks noChangeShapeType="1"/>
          </p:cNvCxnSpPr>
          <p:nvPr/>
        </p:nvCxnSpPr>
        <p:spPr bwMode="auto">
          <a:xfrm flipV="1">
            <a:off x="5015916" y="3321351"/>
            <a:ext cx="2714625" cy="427038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77" name="Straight Arrow Connector 26"/>
          <p:cNvCxnSpPr>
            <a:cxnSpLocks noChangeShapeType="1"/>
          </p:cNvCxnSpPr>
          <p:nvPr/>
        </p:nvCxnSpPr>
        <p:spPr bwMode="auto">
          <a:xfrm>
            <a:off x="5015916" y="3748389"/>
            <a:ext cx="2643187" cy="6350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78" name="Straight Arrow Connector 29"/>
          <p:cNvCxnSpPr>
            <a:cxnSpLocks noChangeShapeType="1"/>
          </p:cNvCxnSpPr>
          <p:nvPr/>
        </p:nvCxnSpPr>
        <p:spPr bwMode="auto">
          <a:xfrm>
            <a:off x="5015916" y="3748389"/>
            <a:ext cx="2714625" cy="1430337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79" name="Straight Arrow Connector 31"/>
          <p:cNvCxnSpPr>
            <a:cxnSpLocks noChangeShapeType="1"/>
          </p:cNvCxnSpPr>
          <p:nvPr/>
        </p:nvCxnSpPr>
        <p:spPr bwMode="auto">
          <a:xfrm flipV="1">
            <a:off x="5015916" y="2526014"/>
            <a:ext cx="2643187" cy="2293937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80" name="Straight Arrow Connector 33"/>
          <p:cNvCxnSpPr>
            <a:cxnSpLocks noChangeShapeType="1"/>
          </p:cNvCxnSpPr>
          <p:nvPr/>
        </p:nvCxnSpPr>
        <p:spPr bwMode="auto">
          <a:xfrm flipV="1">
            <a:off x="5015916" y="3321351"/>
            <a:ext cx="2714625" cy="14986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81" name="Straight Arrow Connector 35"/>
          <p:cNvCxnSpPr>
            <a:cxnSpLocks noChangeShapeType="1"/>
          </p:cNvCxnSpPr>
          <p:nvPr/>
        </p:nvCxnSpPr>
        <p:spPr bwMode="auto">
          <a:xfrm flipV="1">
            <a:off x="5015916" y="4454826"/>
            <a:ext cx="2643187" cy="365125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82" name="Straight Arrow Connector 37"/>
          <p:cNvCxnSpPr>
            <a:cxnSpLocks noChangeShapeType="1"/>
          </p:cNvCxnSpPr>
          <p:nvPr/>
        </p:nvCxnSpPr>
        <p:spPr bwMode="auto">
          <a:xfrm>
            <a:off x="5015916" y="4819951"/>
            <a:ext cx="2643187" cy="420688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97631" y="5660573"/>
            <a:ext cx="3786188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Transportation Problem is a special case of min-cost flow problem. (</a:t>
            </a:r>
            <a:r>
              <a:rPr lang="en-US" altLang="en-US" dirty="0">
                <a:solidFill>
                  <a:srgbClr val="FF0000"/>
                </a:solidFill>
              </a:rPr>
              <a:t>why?</a:t>
            </a:r>
            <a:r>
              <a:rPr lang="en-US" altLang="en-US" dirty="0"/>
              <a:t>)</a:t>
            </a:r>
            <a:endParaRPr lang="en-GB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4766241" y="5767688"/>
                <a:ext cx="3374385" cy="40395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ea typeface="宋体" pitchFamily="2" charset="-122"/>
                  </a:rPr>
                  <a:t>Assume balanced: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naryPr>
                      <m: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𝒊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宋体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ea typeface="宋体" pitchFamily="2" charset="-12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宋体" pitchFamily="2" charset="-122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naryPr>
                      <m: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𝒋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宋体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ea typeface="宋体" pitchFamily="2" charset="-122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ea typeface="宋体" pitchFamily="2" charset="-122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6241" y="5767688"/>
                <a:ext cx="3374385" cy="403957"/>
              </a:xfrm>
              <a:prstGeom prst="rect">
                <a:avLst/>
              </a:prstGeom>
              <a:blipFill rotWithShape="0">
                <a:blip r:embed="rId4"/>
                <a:stretch>
                  <a:fillRect l="-1266" t="-109091" r="-14105" b="-16363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142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Transportation Problem: Network Formulation</a:t>
            </a:r>
            <a:endParaRPr lang="en-GB" alt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52" y="1473296"/>
            <a:ext cx="8710863" cy="408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6078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Assignment Problem</a:t>
            </a:r>
            <a:endParaRPr lang="en-GB" altLang="en-US"/>
          </a:p>
        </p:txBody>
      </p:sp>
      <p:sp>
        <p:nvSpPr>
          <p:cNvPr id="39939" name="Content Placeholder 2"/>
          <p:cNvSpPr>
            <a:spLocks noGrp="1"/>
          </p:cNvSpPr>
          <p:nvPr>
            <p:ph sz="quarter" idx="1"/>
          </p:nvPr>
        </p:nvSpPr>
        <p:spPr>
          <a:xfrm>
            <a:off x="0" y="941388"/>
            <a:ext cx="8229600" cy="4937125"/>
          </a:xfrm>
        </p:spPr>
        <p:txBody>
          <a:bodyPr/>
          <a:lstStyle/>
          <a:p>
            <a:r>
              <a:rPr lang="en-US" altLang="en-US" dirty="0">
                <a:effectLst/>
              </a:rPr>
              <a:t>Determine the minimal cost of assigning elements of a set A to elements of another set B.</a:t>
            </a:r>
          </a:p>
          <a:p>
            <a:r>
              <a:rPr lang="en-US" altLang="en-US" dirty="0">
                <a:effectLst/>
              </a:rPr>
              <a:t> Applications</a:t>
            </a:r>
          </a:p>
          <a:p>
            <a:pPr lvl="1"/>
            <a:r>
              <a:rPr lang="en-US" altLang="en-US" dirty="0">
                <a:effectLst/>
              </a:rPr>
              <a:t>People to projects</a:t>
            </a:r>
          </a:p>
          <a:p>
            <a:pPr lvl="1"/>
            <a:r>
              <a:rPr lang="en-US" altLang="en-US" dirty="0">
                <a:effectLst/>
              </a:rPr>
              <a:t>Jobs to machines</a:t>
            </a:r>
          </a:p>
          <a:p>
            <a:pPr lvl="1"/>
            <a:r>
              <a:rPr lang="en-US" altLang="en-US" dirty="0">
                <a:effectLst/>
              </a:rPr>
              <a:t>Boarding gate to aircrafts</a:t>
            </a:r>
          </a:p>
          <a:p>
            <a:pPr lvl="1"/>
            <a:r>
              <a:rPr lang="en-US" altLang="en-US" dirty="0">
                <a:effectLst/>
              </a:rPr>
              <a:t>Graduates to internships</a:t>
            </a:r>
          </a:p>
          <a:p>
            <a:pPr lvl="1"/>
            <a:r>
              <a:rPr lang="en-US" altLang="en-US" dirty="0">
                <a:effectLst/>
              </a:rPr>
              <a:t>…</a:t>
            </a:r>
            <a:endParaRPr lang="en-GB" altLang="en-US" dirty="0">
              <a:effectLst/>
            </a:endParaRPr>
          </a:p>
        </p:txBody>
      </p:sp>
      <p:sp>
        <p:nvSpPr>
          <p:cNvPr id="9" name="Oval 8"/>
          <p:cNvSpPr/>
          <p:nvPr/>
        </p:nvSpPr>
        <p:spPr>
          <a:xfrm>
            <a:off x="5500688" y="3071813"/>
            <a:ext cx="142875" cy="1428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5500688" y="3929063"/>
            <a:ext cx="142875" cy="1428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5500688" y="4643438"/>
            <a:ext cx="142875" cy="1428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5500688" y="5429250"/>
            <a:ext cx="142875" cy="1428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7786688" y="3071813"/>
            <a:ext cx="142875" cy="142875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7786688" y="3929063"/>
            <a:ext cx="142875" cy="142875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7786688" y="4643438"/>
            <a:ext cx="142875" cy="142875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7786688" y="5429250"/>
            <a:ext cx="142875" cy="142875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cxnSp>
        <p:nvCxnSpPr>
          <p:cNvPr id="18" name="Straight Connector 17"/>
          <p:cNvCxnSpPr>
            <a:stCxn id="9" idx="6"/>
            <a:endCxn id="14" idx="2"/>
          </p:cNvCxnSpPr>
          <p:nvPr/>
        </p:nvCxnSpPr>
        <p:spPr>
          <a:xfrm>
            <a:off x="5643563" y="3143250"/>
            <a:ext cx="2143125" cy="8572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9" idx="5"/>
            <a:endCxn id="15" idx="2"/>
          </p:cNvCxnSpPr>
          <p:nvPr/>
        </p:nvCxnSpPr>
        <p:spPr>
          <a:xfrm>
            <a:off x="5622639" y="3193764"/>
            <a:ext cx="2164049" cy="15211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9" idx="6"/>
          </p:cNvCxnSpPr>
          <p:nvPr/>
        </p:nvCxnSpPr>
        <p:spPr>
          <a:xfrm>
            <a:off x="5643563" y="3143250"/>
            <a:ext cx="2071687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0" idx="6"/>
          </p:cNvCxnSpPr>
          <p:nvPr/>
        </p:nvCxnSpPr>
        <p:spPr>
          <a:xfrm flipV="1">
            <a:off x="5643563" y="3214688"/>
            <a:ext cx="2071687" cy="7858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0" idx="1"/>
            <a:endCxn id="16" idx="1"/>
          </p:cNvCxnSpPr>
          <p:nvPr/>
        </p:nvCxnSpPr>
        <p:spPr>
          <a:xfrm rot="16200000" flipH="1">
            <a:off x="5914231" y="3556794"/>
            <a:ext cx="1500188" cy="228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11" idx="6"/>
            <a:endCxn id="15" idx="3"/>
          </p:cNvCxnSpPr>
          <p:nvPr/>
        </p:nvCxnSpPr>
        <p:spPr>
          <a:xfrm>
            <a:off x="5643563" y="4714875"/>
            <a:ext cx="2163762" cy="50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11" idx="6"/>
            <a:endCxn id="14" idx="2"/>
          </p:cNvCxnSpPr>
          <p:nvPr/>
        </p:nvCxnSpPr>
        <p:spPr>
          <a:xfrm flipV="1">
            <a:off x="5643563" y="4000500"/>
            <a:ext cx="2143125" cy="7143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11" idx="6"/>
            <a:endCxn id="16" idx="2"/>
          </p:cNvCxnSpPr>
          <p:nvPr/>
        </p:nvCxnSpPr>
        <p:spPr>
          <a:xfrm>
            <a:off x="5643563" y="4714875"/>
            <a:ext cx="2143125" cy="7858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12" idx="6"/>
          </p:cNvCxnSpPr>
          <p:nvPr/>
        </p:nvCxnSpPr>
        <p:spPr>
          <a:xfrm flipV="1">
            <a:off x="5643563" y="3214688"/>
            <a:ext cx="2143125" cy="228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12" idx="6"/>
            <a:endCxn id="16" idx="3"/>
          </p:cNvCxnSpPr>
          <p:nvPr/>
        </p:nvCxnSpPr>
        <p:spPr>
          <a:xfrm>
            <a:off x="5643563" y="5500688"/>
            <a:ext cx="2163762" cy="50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9" idx="6"/>
            <a:endCxn id="14" idx="2"/>
          </p:cNvCxnSpPr>
          <p:nvPr/>
        </p:nvCxnSpPr>
        <p:spPr>
          <a:xfrm>
            <a:off x="5643563" y="3143250"/>
            <a:ext cx="2143125" cy="85725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10" idx="6"/>
          </p:cNvCxnSpPr>
          <p:nvPr/>
        </p:nvCxnSpPr>
        <p:spPr>
          <a:xfrm>
            <a:off x="5643563" y="4000500"/>
            <a:ext cx="2143125" cy="142875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12" idx="5"/>
            <a:endCxn id="13" idx="3"/>
          </p:cNvCxnSpPr>
          <p:nvPr/>
        </p:nvCxnSpPr>
        <p:spPr>
          <a:xfrm rot="5400000" flipH="1" flipV="1">
            <a:off x="5536406" y="3280569"/>
            <a:ext cx="2357438" cy="218440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11" idx="6"/>
            <a:endCxn id="15" idx="3"/>
          </p:cNvCxnSpPr>
          <p:nvPr/>
        </p:nvCxnSpPr>
        <p:spPr>
          <a:xfrm>
            <a:off x="5643563" y="4714875"/>
            <a:ext cx="2163762" cy="5080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9" idx="5"/>
            <a:endCxn id="16" idx="1"/>
          </p:cNvCxnSpPr>
          <p:nvPr/>
        </p:nvCxnSpPr>
        <p:spPr>
          <a:xfrm>
            <a:off x="5622639" y="3193764"/>
            <a:ext cx="2184973" cy="22564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5643563" y="4000500"/>
            <a:ext cx="20716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endCxn id="15" idx="2"/>
          </p:cNvCxnSpPr>
          <p:nvPr/>
        </p:nvCxnSpPr>
        <p:spPr>
          <a:xfrm>
            <a:off x="5643563" y="4000500"/>
            <a:ext cx="2143125" cy="7143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endCxn id="13" idx="2"/>
          </p:cNvCxnSpPr>
          <p:nvPr/>
        </p:nvCxnSpPr>
        <p:spPr>
          <a:xfrm flipV="1">
            <a:off x="5643563" y="3143251"/>
            <a:ext cx="2143125" cy="15716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12" idx="6"/>
          </p:cNvCxnSpPr>
          <p:nvPr/>
        </p:nvCxnSpPr>
        <p:spPr>
          <a:xfrm flipV="1">
            <a:off x="5643563" y="4000500"/>
            <a:ext cx="2143125" cy="15001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12" idx="6"/>
            <a:endCxn id="15" idx="4"/>
          </p:cNvCxnSpPr>
          <p:nvPr/>
        </p:nvCxnSpPr>
        <p:spPr>
          <a:xfrm flipV="1">
            <a:off x="5643563" y="4786313"/>
            <a:ext cx="2214563" cy="7143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6099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Assignment Problem: Network Formulation</a:t>
            </a:r>
            <a:endParaRPr lang="en-GB" alt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3" y="1733404"/>
            <a:ext cx="8826366" cy="3391191"/>
          </a:xfrm>
          <a:prstGeom prst="rect">
            <a:avLst/>
          </a:prstGeom>
        </p:spPr>
      </p:pic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114299" y="5731945"/>
            <a:ext cx="456295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What if the graph is not a complete graph?</a:t>
            </a:r>
            <a:endParaRPr lang="en-GB" alt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342" y="1888452"/>
            <a:ext cx="1273364" cy="404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004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Shortest Path Problem</a:t>
            </a:r>
            <a:endParaRPr lang="en-GB" altLang="en-US"/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>
          <a:xfrm>
            <a:off x="17463" y="1140960"/>
            <a:ext cx="8215312" cy="3805237"/>
          </a:xfrm>
        </p:spPr>
        <p:txBody>
          <a:bodyPr/>
          <a:lstStyle/>
          <a:p>
            <a:r>
              <a:rPr lang="en-US" altLang="en-US" sz="2800" dirty="0">
                <a:effectLst/>
              </a:rPr>
              <a:t>Identify the shortest path from a source node to a sink node through the given network.</a:t>
            </a:r>
          </a:p>
          <a:p>
            <a:pPr lvl="1"/>
            <a:r>
              <a:rPr lang="en-US" altLang="en-US" sz="2000" dirty="0">
                <a:effectLst/>
              </a:rPr>
              <a:t>Finding a path of minimum length</a:t>
            </a:r>
          </a:p>
          <a:p>
            <a:pPr lvl="1"/>
            <a:r>
              <a:rPr lang="en-US" altLang="en-US" sz="2000" dirty="0">
                <a:effectLst/>
              </a:rPr>
              <a:t>Finding a path taking minimum time</a:t>
            </a:r>
          </a:p>
          <a:p>
            <a:pPr lvl="1"/>
            <a:r>
              <a:rPr lang="en-US" altLang="en-US" sz="2000" dirty="0">
                <a:effectLst/>
              </a:rPr>
              <a:t>Finding a path of maximum reliability.</a:t>
            </a:r>
            <a:endParaRPr lang="en-GB" altLang="en-US" sz="2000" dirty="0">
              <a:effectLst/>
            </a:endParaRPr>
          </a:p>
        </p:txBody>
      </p:sp>
      <p:pic>
        <p:nvPicPr>
          <p:cNvPr id="819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563" y="3429000"/>
            <a:ext cx="4319587" cy="2570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647147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Shortest Path Problem: Network Formulation</a:t>
            </a:r>
            <a:endParaRPr lang="en-GB" alt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67" y="1996897"/>
            <a:ext cx="8816741" cy="305670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6106" y="5145350"/>
            <a:ext cx="1820783" cy="381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4387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Maximum Flow Problem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176" y="1163638"/>
            <a:ext cx="8215312" cy="3805238"/>
          </a:xfrm>
        </p:spPr>
        <p:txBody>
          <a:bodyPr/>
          <a:lstStyle/>
          <a:p>
            <a:r>
              <a:rPr lang="en-US" altLang="en-US" sz="2000" dirty="0">
                <a:effectLst/>
              </a:rPr>
              <a:t>Determine the maximum flow that can be sent from a given source node to a sink node in a capacitated network.</a:t>
            </a:r>
          </a:p>
          <a:p>
            <a:r>
              <a:rPr lang="en-US" altLang="en-US" sz="2000" dirty="0">
                <a:effectLst/>
              </a:rPr>
              <a:t>Determine maximum flow of</a:t>
            </a:r>
          </a:p>
          <a:p>
            <a:pPr lvl="1"/>
            <a:r>
              <a:rPr lang="en-US" altLang="en-US" sz="1600" dirty="0">
                <a:effectLst/>
              </a:rPr>
              <a:t>petroleum products in a pipeline network,</a:t>
            </a:r>
          </a:p>
          <a:p>
            <a:pPr lvl="1"/>
            <a:r>
              <a:rPr lang="en-US" altLang="en-US" sz="1600" dirty="0">
                <a:effectLst/>
              </a:rPr>
              <a:t>cars in a road network,</a:t>
            </a:r>
          </a:p>
          <a:p>
            <a:pPr lvl="1"/>
            <a:r>
              <a:rPr lang="en-US" altLang="en-US" sz="1600" dirty="0">
                <a:effectLst/>
              </a:rPr>
              <a:t>message in a telecommunication network,</a:t>
            </a:r>
          </a:p>
          <a:p>
            <a:pPr lvl="1"/>
            <a:r>
              <a:rPr lang="en-US" altLang="en-US" sz="1600" dirty="0">
                <a:effectLst/>
              </a:rPr>
              <a:t>electricity in an electrical network.</a:t>
            </a:r>
            <a:endParaRPr lang="en-GB" altLang="en-US" sz="1600" dirty="0">
              <a:effectLst/>
            </a:endParaRPr>
          </a:p>
        </p:txBody>
      </p:sp>
      <p:pic>
        <p:nvPicPr>
          <p:cNvPr id="829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0" y="3786188"/>
            <a:ext cx="3952875" cy="234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666349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Maximum Flow: Network Formulation</a:t>
            </a:r>
            <a:endParaRPr lang="en-GB" alt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30" y="1051340"/>
            <a:ext cx="8420216" cy="261850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30" y="4158669"/>
            <a:ext cx="7709835" cy="196732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0490" y="6036552"/>
            <a:ext cx="5728561" cy="354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6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r>
              <a:rPr lang="en-US" altLang="zh-CN" dirty="0">
                <a:ea typeface="宋体" pitchFamily="2" charset="-122"/>
              </a:rPr>
              <a:t>    </a:t>
            </a: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r>
              <a:rPr lang="en-US" altLang="zh-CN" sz="4000" dirty="0">
                <a:ea typeface="宋体" pitchFamily="2" charset="-122"/>
              </a:rPr>
              <a:t>                Solution Methods</a:t>
            </a:r>
          </a:p>
          <a:p>
            <a:pPr marL="0" indent="0">
              <a:buNone/>
              <a:defRPr/>
            </a:pPr>
            <a:endParaRPr lang="en-US" altLang="zh-CN" sz="4000" dirty="0"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5175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/>
              <a:t>Transportation Problem: Example</a:t>
            </a:r>
            <a:endParaRPr lang="en-US" altLang="zh-CN" sz="2800" dirty="0"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453" y="2058708"/>
            <a:ext cx="7895568" cy="267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616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Transportation Problem: Example</a:t>
            </a:r>
            <a:endParaRPr lang="en-GB" alt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227" y="1808378"/>
            <a:ext cx="6260022" cy="397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628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2800" dirty="0">
                <a:ea typeface="宋体" pitchFamily="2" charset="-122"/>
              </a:rPr>
              <a:t>Solving Transportation Problem (TP): Procedure 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altLang="zh-CN" dirty="0">
              <a:ea typeface="宋体" pitchFamily="2" charset="-122"/>
            </a:endParaRPr>
          </a:p>
          <a:p>
            <a:pPr>
              <a:defRPr/>
            </a:pPr>
            <a:r>
              <a:rPr lang="en-US" altLang="zh-CN" dirty="0">
                <a:effectLst/>
                <a:ea typeface="宋体" pitchFamily="2" charset="-122"/>
              </a:rPr>
              <a:t>Obtaining an initial solution;</a:t>
            </a:r>
          </a:p>
          <a:p>
            <a:pPr>
              <a:defRPr/>
            </a:pPr>
            <a:r>
              <a:rPr lang="en-US" altLang="zh-CN" dirty="0">
                <a:effectLst/>
                <a:ea typeface="宋体" pitchFamily="2" charset="-122"/>
              </a:rPr>
              <a:t>Checking optimality condition;</a:t>
            </a:r>
          </a:p>
          <a:p>
            <a:pPr>
              <a:defRPr/>
            </a:pPr>
            <a:r>
              <a:rPr lang="en-US" altLang="zh-CN" dirty="0">
                <a:effectLst/>
                <a:ea typeface="宋体" pitchFamily="2" charset="-122"/>
              </a:rPr>
              <a:t>Developing a procedure to improve the current solution if the optimality condition is not met</a:t>
            </a: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 bwMode="auto">
          <a:xfrm>
            <a:off x="325464" y="1591334"/>
            <a:ext cx="5176434" cy="526943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1339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2800" dirty="0">
                <a:ea typeface="宋体" pitchFamily="2" charset="-122"/>
              </a:rPr>
              <a:t>Solving TP: Finding Initial Solution </a:t>
            </a: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2170" y="2574132"/>
            <a:ext cx="5670136" cy="360396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622" y="1067307"/>
            <a:ext cx="4444374" cy="150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7857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2800" dirty="0">
                <a:ea typeface="宋体" pitchFamily="2" charset="-122"/>
              </a:rPr>
              <a:t>Finding Initial Solution : Myopic</a:t>
            </a: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267" y="1258238"/>
            <a:ext cx="7994883" cy="4846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5491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2800" dirty="0">
                <a:ea typeface="宋体" pitchFamily="2" charset="-122"/>
              </a:rPr>
              <a:t>Finding Initial Solution : Greedy Algorithm</a:t>
            </a: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14" y="1596696"/>
            <a:ext cx="3704988" cy="150682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0802" y="1269437"/>
            <a:ext cx="5085222" cy="4703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4628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2800" dirty="0">
                <a:ea typeface="宋体" pitchFamily="2" charset="-122"/>
              </a:rPr>
              <a:t>Properties of the Initial Solution 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altLang="zh-CN" dirty="0">
              <a:ea typeface="宋体" pitchFamily="2" charset="-122"/>
            </a:endParaRPr>
          </a:p>
          <a:p>
            <a:pPr>
              <a:defRPr/>
            </a:pPr>
            <a:r>
              <a:rPr lang="en-US" altLang="zh-CN" dirty="0">
                <a:effectLst/>
                <a:ea typeface="宋体" pitchFamily="2" charset="-122"/>
              </a:rPr>
              <a:t>In both methods, the solutions have exactly (m + n - 1) arcs;</a:t>
            </a:r>
          </a:p>
          <a:p>
            <a:pPr>
              <a:defRPr/>
            </a:pPr>
            <a:r>
              <a:rPr lang="en-US" altLang="zh-CN" dirty="0">
                <a:effectLst/>
                <a:ea typeface="宋体" pitchFamily="2" charset="-122"/>
              </a:rPr>
              <a:t>Every node in the network is connected through the solution;</a:t>
            </a:r>
          </a:p>
          <a:p>
            <a:pPr>
              <a:defRPr/>
            </a:pPr>
            <a:r>
              <a:rPr lang="en-US" altLang="zh-CN" dirty="0">
                <a:effectLst/>
                <a:ea typeface="宋体" pitchFamily="2" charset="-122"/>
              </a:rPr>
              <a:t>There is no cycle in the solution.</a:t>
            </a: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155082" y="4534017"/>
            <a:ext cx="6651055" cy="95410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dirty="0">
                <a:solidFill>
                  <a:srgbClr val="FF0000"/>
                </a:solidFill>
              </a:rPr>
              <a:t>With the above properties, what do we know about the solution?</a:t>
            </a:r>
            <a:endParaRPr lang="en-GB" alt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238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2800" dirty="0">
                <a:ea typeface="宋体" pitchFamily="2" charset="-122"/>
              </a:rPr>
              <a:t>Finding Initial Solution : Spanning Tree</a:t>
            </a: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166" y="1174932"/>
            <a:ext cx="8230144" cy="4887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7640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2800" dirty="0">
                <a:ea typeface="宋体" pitchFamily="2" charset="-122"/>
              </a:rPr>
              <a:t>Spanning Tree vs. BS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337" y="642781"/>
            <a:ext cx="9110663" cy="5149021"/>
          </a:xfrm>
        </p:spPr>
        <p:txBody>
          <a:bodyPr/>
          <a:lstStyle/>
          <a:p>
            <a:pPr>
              <a:defRPr/>
            </a:pPr>
            <a:endParaRPr lang="en-US" altLang="zh-CN" dirty="0">
              <a:ea typeface="宋体" pitchFamily="2" charset="-122"/>
            </a:endParaRPr>
          </a:p>
          <a:p>
            <a:pPr>
              <a:defRPr/>
            </a:pPr>
            <a:r>
              <a:rPr lang="en-US" altLang="zh-CN" dirty="0">
                <a:effectLst/>
                <a:ea typeface="宋体" pitchFamily="2" charset="-122"/>
              </a:rPr>
              <a:t>Is a solution generated by spanning tree a basic solution? </a:t>
            </a:r>
          </a:p>
          <a:p>
            <a:pPr lvl="1">
              <a:defRPr/>
            </a:pPr>
            <a:r>
              <a:rPr lang="en-US" altLang="zh-CN" dirty="0">
                <a:effectLst/>
                <a:ea typeface="宋体" pitchFamily="2" charset="-122"/>
              </a:rPr>
              <a:t>Is the solution unique?</a:t>
            </a:r>
          </a:p>
          <a:p>
            <a:pPr>
              <a:defRPr/>
            </a:pPr>
            <a:r>
              <a:rPr lang="en-US" altLang="zh-CN" dirty="0">
                <a:effectLst/>
                <a:ea typeface="宋体" pitchFamily="2" charset="-122"/>
              </a:rPr>
              <a:t>Is a basic solution a spanning tree?</a:t>
            </a:r>
          </a:p>
          <a:p>
            <a:pPr lvl="1">
              <a:defRPr/>
            </a:pPr>
            <a:r>
              <a:rPr lang="en-US" altLang="zh-CN" dirty="0">
                <a:effectLst/>
                <a:ea typeface="宋体" pitchFamily="2" charset="-122"/>
              </a:rPr>
              <a:t>How many basic variables do we have?</a:t>
            </a:r>
          </a:p>
          <a:p>
            <a:pPr lvl="1">
              <a:defRPr/>
            </a:pPr>
            <a:r>
              <a:rPr lang="en-US" altLang="zh-CN" dirty="0">
                <a:effectLst/>
                <a:ea typeface="宋体" pitchFamily="2" charset="-122"/>
              </a:rPr>
              <a:t>It cannot have a cycle (otherwise one can have more than one solution to the equation).</a:t>
            </a: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33337" y="4896510"/>
            <a:ext cx="868198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dirty="0"/>
              <a:t>In transportation problem, a vector (not necessarily feasible) is a basic solution if and only if it is generated by a spanning tree. </a:t>
            </a:r>
            <a:endParaRPr lang="en-GB" altLang="en-US" sz="2400" dirty="0"/>
          </a:p>
        </p:txBody>
      </p:sp>
      <p:sp>
        <p:nvSpPr>
          <p:cNvPr id="6" name="Rectangle 5"/>
          <p:cNvSpPr/>
          <p:nvPr/>
        </p:nvSpPr>
        <p:spPr bwMode="auto">
          <a:xfrm>
            <a:off x="81025" y="4771004"/>
            <a:ext cx="8650173" cy="1080000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5489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2800" dirty="0">
                <a:ea typeface="宋体" pitchFamily="2" charset="-122"/>
              </a:rPr>
              <a:t>Solving TP: Python Implementation</a:t>
            </a: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707" y="1035129"/>
            <a:ext cx="7895568" cy="267692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744" y="3629975"/>
            <a:ext cx="6176908" cy="289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1962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2800" dirty="0">
                <a:ea typeface="宋体" pitchFamily="2" charset="-122"/>
              </a:rPr>
              <a:t>Solving TP: Python Implementation</a:t>
            </a: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5" y="1554803"/>
            <a:ext cx="9156829" cy="3747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2235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2800" dirty="0">
                <a:ea typeface="宋体" pitchFamily="2" charset="-122"/>
              </a:rPr>
              <a:t>Solving TP: Python Implementation</a:t>
            </a: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795" y="1218828"/>
            <a:ext cx="9144000" cy="5115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8573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r>
              <a:rPr lang="en-US" altLang="zh-CN" dirty="0">
                <a:ea typeface="宋体" pitchFamily="2" charset="-122"/>
              </a:rPr>
              <a:t>    </a:t>
            </a: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r>
              <a:rPr lang="en-US" altLang="zh-CN" dirty="0">
                <a:ea typeface="宋体" pitchFamily="2" charset="-122"/>
              </a:rPr>
              <a:t>       </a:t>
            </a:r>
            <a:r>
              <a:rPr lang="en-US" altLang="zh-CN" sz="4000" dirty="0">
                <a:ea typeface="宋体" pitchFamily="2" charset="-122"/>
              </a:rPr>
              <a:t>Application of Network Models</a:t>
            </a:r>
          </a:p>
          <a:p>
            <a:pPr marL="0" indent="0">
              <a:buNone/>
              <a:defRPr/>
            </a:pPr>
            <a:endParaRPr lang="en-US" altLang="zh-CN" sz="4000" dirty="0"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9118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Container Repositioning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5395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26987" y="546539"/>
                <a:ext cx="9249200" cy="4572000"/>
              </a:xfrm>
            </p:spPr>
            <p:txBody>
              <a:bodyPr/>
              <a:lstStyle/>
              <a:p>
                <a:pPr marL="0" indent="0">
                  <a:buNone/>
                  <a:defRPr/>
                </a:pPr>
                <a:endParaRPr lang="en-US" altLang="zh-CN" sz="2600" dirty="0">
                  <a:ea typeface="宋体" pitchFamily="2" charset="-122"/>
                </a:endParaRPr>
              </a:p>
              <a:p>
                <a:pPr>
                  <a:defRPr/>
                </a:pPr>
                <a:r>
                  <a:rPr lang="en-US" sz="2400" dirty="0">
                    <a:effectLst/>
                  </a:rPr>
                  <a:t>A shipping company operates between three ports:</a:t>
                </a:r>
                <a:r>
                  <a:rPr lang="en-US" altLang="zh-CN" sz="2400" dirty="0">
                    <a:effectLst/>
                    <a:ea typeface="宋体" pitchFamily="2" charset="-122"/>
                  </a:rPr>
                  <a:t> Singapore, Ho Chi Minh, and Bangkok. The table below shows the number of containers at each port on Oct.1.</a:t>
                </a:r>
              </a:p>
              <a:p>
                <a:pPr lvl="1">
                  <a:defRPr/>
                </a:pPr>
                <a:endParaRPr lang="en-US" altLang="zh-CN" sz="2400" dirty="0">
                  <a:effectLst/>
                  <a:ea typeface="宋体" pitchFamily="2" charset="-122"/>
                </a:endParaRPr>
              </a:p>
              <a:p>
                <a:pPr marL="0" indent="0">
                  <a:buNone/>
                  <a:defRPr/>
                </a:pPr>
                <a:endParaRPr lang="en-US" altLang="zh-CN" sz="2600" dirty="0">
                  <a:effectLst/>
                  <a:ea typeface="宋体" pitchFamily="2" charset="-122"/>
                </a:endParaRPr>
              </a:p>
              <a:p>
                <a:pPr>
                  <a:defRPr/>
                </a:pPr>
                <a:r>
                  <a:rPr lang="en-US" altLang="zh-CN" sz="2400" dirty="0">
                    <a:effectLst/>
                  </a:rPr>
                  <a:t>The table below shows the shipping demand for the next 2 days on the following routes</a:t>
                </a:r>
                <a:r>
                  <a:rPr lang="en-US" altLang="zh-CN" sz="2400" dirty="0">
                    <a:effectLst/>
                    <a:ea typeface="宋体" pitchFamily="2" charset="-122"/>
                  </a:rPr>
                  <a:t>.</a:t>
                </a:r>
              </a:p>
              <a:p>
                <a:pPr>
                  <a:defRPr/>
                </a:pPr>
                <a:endParaRPr lang="en-US" altLang="zh-CN" sz="2400" dirty="0">
                  <a:effectLst/>
                  <a:ea typeface="宋体" pitchFamily="2" charset="-122"/>
                </a:endParaRPr>
              </a:p>
              <a:p>
                <a:pPr>
                  <a:defRPr/>
                </a:pPr>
                <a:endParaRPr lang="en-US" altLang="zh-CN" sz="2400" dirty="0">
                  <a:effectLst/>
                  <a:ea typeface="宋体" pitchFamily="2" charset="-122"/>
                </a:endParaRPr>
              </a:p>
              <a:p>
                <a:pPr>
                  <a:defRPr/>
                </a:pPr>
                <a:endParaRPr lang="en-US" altLang="zh-CN" sz="2400" dirty="0">
                  <a:effectLst/>
                  <a:ea typeface="宋体" pitchFamily="2" charset="-122"/>
                </a:endParaRPr>
              </a:p>
              <a:p>
                <a:pPr>
                  <a:defRPr/>
                </a:pPr>
                <a:endParaRPr lang="en-US" altLang="zh-CN" sz="2400" dirty="0">
                  <a:effectLst/>
                  <a:ea typeface="宋体" pitchFamily="2" charset="-122"/>
                </a:endParaRPr>
              </a:p>
              <a:p>
                <a:pPr lvl="1">
                  <a:defRPr/>
                </a:pPr>
                <a:r>
                  <a:rPr lang="en-US" altLang="zh-CN" sz="2200" dirty="0">
                    <a:effectLst/>
                    <a:ea typeface="宋体" pitchFamily="2" charset="-122"/>
                  </a:rPr>
                  <a:t>Shipping between each 2 ports takes 1 day and costs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US" altLang="zh-CN" sz="2200" b="1" i="1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𝒄</m:t>
                        </m:r>
                      </m:e>
                      <m:sub>
                        <m:r>
                          <a:rPr lang="en-US" altLang="zh-CN" sz="2200" b="1" i="1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𝒊𝒋</m:t>
                        </m:r>
                      </m:sub>
                    </m:sSub>
                  </m:oMath>
                </a14:m>
                <a:r>
                  <a:rPr lang="en-US" altLang="zh-CN" sz="2200" dirty="0">
                    <a:effectLst/>
                    <a:ea typeface="宋体" pitchFamily="2" charset="-122"/>
                  </a:rPr>
                  <a:t>.</a:t>
                </a:r>
              </a:p>
              <a:p>
                <a:pPr lvl="1">
                  <a:defRPr/>
                </a:pPr>
                <a:r>
                  <a:rPr lang="en-US" altLang="zh-CN" sz="2200" dirty="0">
                    <a:effectLst/>
                    <a:ea typeface="宋体" pitchFamily="2" charset="-122"/>
                  </a:rPr>
                  <a:t>All demands must be satisfied.</a:t>
                </a:r>
              </a:p>
              <a:p>
                <a:pPr marL="0" indent="0">
                  <a:buNone/>
                  <a:defRPr/>
                </a:pPr>
                <a:endParaRPr lang="en-US" altLang="zh-CN" sz="2600" dirty="0">
                  <a:ea typeface="宋体" pitchFamily="2" charset="-122"/>
                </a:endParaRPr>
              </a:p>
              <a:p>
                <a:pPr marL="0" indent="0">
                  <a:buNone/>
                  <a:defRPr/>
                </a:pPr>
                <a:endParaRPr lang="en-US" altLang="zh-CN" sz="2600" dirty="0">
                  <a:ea typeface="宋体" pitchFamily="2" charset="-122"/>
                </a:endParaRPr>
              </a:p>
            </p:txBody>
          </p:sp>
        </mc:Choice>
        <mc:Fallback>
          <p:sp>
            <p:nvSpPr>
              <p:cNvPr id="31539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26987" y="546539"/>
                <a:ext cx="9249200" cy="4572000"/>
              </a:xfrm>
              <a:blipFill>
                <a:blip r:embed="rId3"/>
                <a:stretch>
                  <a:fillRect l="-856" b="-3346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3516005"/>
              </p:ext>
            </p:extLst>
          </p:nvPr>
        </p:nvGraphicFramePr>
        <p:xfrm>
          <a:off x="2132615" y="2281711"/>
          <a:ext cx="4523880" cy="748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2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5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61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1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Singapore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Ho Chi Minh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Bangkok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1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5E7B41A-5E57-4579-B1DF-C017B07B87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3290844"/>
              </p:ext>
            </p:extLst>
          </p:nvPr>
        </p:nvGraphicFramePr>
        <p:xfrm>
          <a:off x="1439861" y="3927069"/>
          <a:ext cx="590938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388">
                  <a:extLst>
                    <a:ext uri="{9D8B030D-6E8A-4147-A177-3AD203B41FA5}">
                      <a16:colId xmlns:a16="http://schemas.microsoft.com/office/drawing/2014/main" val="408143162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0165085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2103357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Route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Oct.1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Oct.2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03699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S→H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5316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H→B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5495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B→S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5189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22384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Time-Expanded Network</a:t>
            </a:r>
            <a:endParaRPr lang="en-US" altLang="zh-CN" dirty="0">
              <a:ea typeface="宋体" pitchFamily="2" charset="-122"/>
            </a:endParaRP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449463"/>
            <a:ext cx="9110663" cy="4980055"/>
          </a:xfrm>
        </p:spPr>
        <p:txBody>
          <a:bodyPr/>
          <a:lstStyle/>
          <a:p>
            <a:pPr>
              <a:defRPr/>
            </a:pPr>
            <a:endParaRPr lang="en-US" altLang="zh-CN" dirty="0">
              <a:ea typeface="宋体" pitchFamily="2" charset="-122"/>
            </a:endParaRPr>
          </a:p>
          <a:p>
            <a:pPr marL="454025" lvl="1" indent="0">
              <a:buNone/>
              <a:defRPr/>
            </a:pPr>
            <a:endParaRPr lang="en-US" altLang="zh-CN" sz="2200" dirty="0">
              <a:effectLst/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336506" y="1843326"/>
            <a:ext cx="533400" cy="533400"/>
          </a:xfrm>
          <a:prstGeom prst="ellipse">
            <a:avLst/>
          </a:prstGeom>
          <a:solidFill>
            <a:schemeClr val="accent1"/>
          </a:solidFill>
          <a:ln>
            <a:solidFill>
              <a:srgbClr val="FF33CC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1336506" y="3456340"/>
            <a:ext cx="533400" cy="533400"/>
          </a:xfrm>
          <a:prstGeom prst="ellipse">
            <a:avLst/>
          </a:prstGeom>
          <a:solidFill>
            <a:schemeClr val="accent1"/>
          </a:solidFill>
          <a:ln>
            <a:solidFill>
              <a:srgbClr val="FF33CC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336506" y="5069354"/>
            <a:ext cx="533400" cy="533400"/>
          </a:xfrm>
          <a:prstGeom prst="ellipse">
            <a:avLst/>
          </a:prstGeom>
          <a:solidFill>
            <a:schemeClr val="accent1"/>
          </a:solidFill>
          <a:ln>
            <a:solidFill>
              <a:srgbClr val="FF33CC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0" name="Straight Arrow Connector 9"/>
          <p:cNvCxnSpPr>
            <a:cxnSpLocks/>
            <a:stCxn id="6" idx="6"/>
            <a:endCxn id="62" idx="2"/>
          </p:cNvCxnSpPr>
          <p:nvPr/>
        </p:nvCxnSpPr>
        <p:spPr>
          <a:xfrm>
            <a:off x="1869906" y="3723040"/>
            <a:ext cx="1587855" cy="1613014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cxnSpLocks/>
            <a:stCxn id="5" idx="6"/>
            <a:endCxn id="60" idx="2"/>
          </p:cNvCxnSpPr>
          <p:nvPr/>
        </p:nvCxnSpPr>
        <p:spPr>
          <a:xfrm>
            <a:off x="1869906" y="2110026"/>
            <a:ext cx="1587855" cy="0"/>
          </a:xfrm>
          <a:prstGeom prst="straightConnector1">
            <a:avLst/>
          </a:prstGeom>
          <a:ln w="28575">
            <a:solidFill>
              <a:schemeClr val="accent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cxnSpLocks/>
            <a:stCxn id="5" idx="6"/>
            <a:endCxn id="61" idx="2"/>
          </p:cNvCxnSpPr>
          <p:nvPr/>
        </p:nvCxnSpPr>
        <p:spPr>
          <a:xfrm>
            <a:off x="1869906" y="2110026"/>
            <a:ext cx="1587855" cy="1613014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cxnSpLocks/>
            <a:stCxn id="7" idx="6"/>
            <a:endCxn id="60" idx="2"/>
          </p:cNvCxnSpPr>
          <p:nvPr/>
        </p:nvCxnSpPr>
        <p:spPr>
          <a:xfrm flipV="1">
            <a:off x="1869906" y="2110026"/>
            <a:ext cx="1587855" cy="3226028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1437077" y="1940748"/>
            <a:ext cx="33054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rgbClr val="033197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dirty="0">
                <a:solidFill>
                  <a:schemeClr val="bg1"/>
                </a:solidFill>
                <a:latin typeface="Verdana" panose="020B0604030504040204" pitchFamily="34" charset="0"/>
              </a:rPr>
              <a:t>S</a:t>
            </a: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1414507" y="3569152"/>
            <a:ext cx="35618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rgbClr val="033197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dirty="0">
                <a:solidFill>
                  <a:schemeClr val="bg1"/>
                </a:solidFill>
                <a:latin typeface="Verdana" panose="020B0604030504040204" pitchFamily="34" charset="0"/>
              </a:rPr>
              <a:t>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>
                <a:spLocks noChangeArrowheads="1"/>
              </p:cNvSpPr>
              <p:nvPr/>
            </p:nvSpPr>
            <p:spPr bwMode="auto">
              <a:xfrm>
                <a:off x="1791905" y="2170150"/>
                <a:ext cx="1036887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p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>
                    <a:solidFill>
                      <a:srgbClr val="033197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p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400" b="1" dirty="0">
                    <a:latin typeface="Verdana" panose="020B0604030504040204" pitchFamily="34" charset="0"/>
                  </a:rPr>
                  <a:t>(3, $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4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400" b="1" i="1" dirty="0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altLang="en-US" sz="1400" b="1" i="1" dirty="0" smtClean="0">
                            <a:latin typeface="Cambria Math" panose="02040503050406030204" pitchFamily="18" charset="0"/>
                          </a:rPr>
                          <m:t>𝑺𝑯</m:t>
                        </m:r>
                      </m:sub>
                    </m:sSub>
                  </m:oMath>
                </a14:m>
                <a:r>
                  <a:rPr lang="en-US" altLang="en-US" sz="1400" b="1" dirty="0">
                    <a:latin typeface="Verdana" panose="020B0604030504040204" pitchFamily="34" charset="0"/>
                  </a:rPr>
                  <a:t>)</a:t>
                </a:r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91905" y="2170150"/>
                <a:ext cx="1036887" cy="307777"/>
              </a:xfrm>
              <a:prstGeom prst="rect">
                <a:avLst/>
              </a:prstGeom>
              <a:blipFill>
                <a:blip r:embed="rId3"/>
                <a:stretch>
                  <a:fillRect l="-1765" t="-4000" r="-1176" b="-200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/>
          <p:cNvSpPr txBox="1">
            <a:spLocks noChangeArrowheads="1"/>
          </p:cNvSpPr>
          <p:nvPr/>
        </p:nvSpPr>
        <p:spPr bwMode="auto">
          <a:xfrm>
            <a:off x="692124" y="5188404"/>
            <a:ext cx="50847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rgbClr val="033197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solidFill>
                  <a:srgbClr val="FF0000"/>
                </a:solidFill>
                <a:latin typeface="Verdana" panose="020B0604030504040204" pitchFamily="34" charset="0"/>
              </a:rPr>
              <a:t>(2)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F24B6BE-8963-41E6-A143-121E9DAAFD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3699" y="5175178"/>
            <a:ext cx="34176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rgbClr val="033197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dirty="0">
                <a:solidFill>
                  <a:schemeClr val="bg1"/>
                </a:solidFill>
                <a:latin typeface="Verdana" panose="020B0604030504040204" pitchFamily="34" charset="0"/>
              </a:rPr>
              <a:t>B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48C8CD8-88C0-4AFC-BEA2-867F917C99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625" y="3580051"/>
            <a:ext cx="50847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rgbClr val="033197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solidFill>
                  <a:srgbClr val="FF0000"/>
                </a:solidFill>
                <a:latin typeface="Verdana" panose="020B0604030504040204" pitchFamily="34" charset="0"/>
              </a:rPr>
              <a:t>(3)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9FA2DEC-05B5-40CB-8727-21DC1F240D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717" y="1952942"/>
            <a:ext cx="50847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rgbClr val="033197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solidFill>
                  <a:srgbClr val="FF0000"/>
                </a:solidFill>
                <a:latin typeface="Verdana" panose="020B0604030504040204" pitchFamily="34" charset="0"/>
              </a:rPr>
              <a:t>(5)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50D88F2E-272C-4629-94B8-31F77F053A30}"/>
              </a:ext>
            </a:extLst>
          </p:cNvPr>
          <p:cNvSpPr/>
          <p:nvPr/>
        </p:nvSpPr>
        <p:spPr>
          <a:xfrm>
            <a:off x="3457761" y="1843326"/>
            <a:ext cx="533400" cy="533400"/>
          </a:xfrm>
          <a:prstGeom prst="ellipse">
            <a:avLst/>
          </a:prstGeom>
          <a:solidFill>
            <a:schemeClr val="accent1"/>
          </a:solidFill>
          <a:ln>
            <a:solidFill>
              <a:srgbClr val="FF33CC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DD881B94-DCBB-408A-93CA-CBE861B3ADB5}"/>
              </a:ext>
            </a:extLst>
          </p:cNvPr>
          <p:cNvSpPr/>
          <p:nvPr/>
        </p:nvSpPr>
        <p:spPr>
          <a:xfrm>
            <a:off x="3457761" y="3456340"/>
            <a:ext cx="533400" cy="533400"/>
          </a:xfrm>
          <a:prstGeom prst="ellipse">
            <a:avLst/>
          </a:prstGeom>
          <a:solidFill>
            <a:schemeClr val="accent1"/>
          </a:solidFill>
          <a:ln>
            <a:solidFill>
              <a:srgbClr val="FF33CC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B25571BF-B728-4310-8C66-9329429B9F7C}"/>
              </a:ext>
            </a:extLst>
          </p:cNvPr>
          <p:cNvSpPr/>
          <p:nvPr/>
        </p:nvSpPr>
        <p:spPr>
          <a:xfrm>
            <a:off x="3457761" y="5069354"/>
            <a:ext cx="533400" cy="533400"/>
          </a:xfrm>
          <a:prstGeom prst="ellipse">
            <a:avLst/>
          </a:prstGeom>
          <a:solidFill>
            <a:schemeClr val="accent1"/>
          </a:solidFill>
          <a:ln>
            <a:solidFill>
              <a:srgbClr val="FF33CC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8C24A2A-9EB6-416B-A663-7C357BBF4C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8332" y="1940748"/>
            <a:ext cx="33054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rgbClr val="033197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dirty="0">
                <a:solidFill>
                  <a:schemeClr val="bg1"/>
                </a:solidFill>
                <a:latin typeface="Verdana" panose="020B0604030504040204" pitchFamily="34" charset="0"/>
              </a:rPr>
              <a:t>S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E4F41B2-766F-4F54-81D3-A266BD2686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5762" y="3569152"/>
            <a:ext cx="35618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rgbClr val="033197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dirty="0">
                <a:solidFill>
                  <a:schemeClr val="bg1"/>
                </a:solidFill>
                <a:latin typeface="Verdana" panose="020B0604030504040204" pitchFamily="34" charset="0"/>
              </a:rPr>
              <a:t>H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1DF3DBA-A18A-4B17-A735-96E1A64FFE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4954" y="5175178"/>
            <a:ext cx="34176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rgbClr val="033197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dirty="0">
                <a:solidFill>
                  <a:schemeClr val="bg1"/>
                </a:solidFill>
                <a:latin typeface="Verdana" panose="020B0604030504040204" pitchFamily="34" charset="0"/>
              </a:rPr>
              <a:t>B</a:t>
            </a:r>
          </a:p>
        </p:txBody>
      </p:sp>
      <p:sp>
        <p:nvSpPr>
          <p:cNvPr id="66" name="TextBox 37">
            <a:extLst>
              <a:ext uri="{FF2B5EF4-FFF2-40B4-BE49-F238E27FC236}">
                <a16:creationId xmlns:a16="http://schemas.microsoft.com/office/drawing/2014/main" id="{AD2C2CB2-AFB7-49E2-B8A2-08746C7C47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0953" y="1178975"/>
            <a:ext cx="1289074" cy="369332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Oct.1</a:t>
            </a:r>
            <a:endParaRPr lang="en-GB" altLang="en-US" dirty="0"/>
          </a:p>
        </p:txBody>
      </p:sp>
      <p:sp>
        <p:nvSpPr>
          <p:cNvPr id="67" name="TextBox 37">
            <a:extLst>
              <a:ext uri="{FF2B5EF4-FFF2-40B4-BE49-F238E27FC236}">
                <a16:creationId xmlns:a16="http://schemas.microsoft.com/office/drawing/2014/main" id="{B9B66262-A567-447B-8874-BA4D939164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2892" y="1183759"/>
            <a:ext cx="1289074" cy="369332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Oct.2</a:t>
            </a:r>
            <a:endParaRPr lang="en-GB" altLang="en-US" dirty="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C8B2D06B-5183-4274-96A4-B74854CA87AE}"/>
              </a:ext>
            </a:extLst>
          </p:cNvPr>
          <p:cNvSpPr/>
          <p:nvPr/>
        </p:nvSpPr>
        <p:spPr>
          <a:xfrm>
            <a:off x="7627774" y="3461922"/>
            <a:ext cx="533400" cy="533400"/>
          </a:xfrm>
          <a:prstGeom prst="ellipse">
            <a:avLst/>
          </a:prstGeom>
          <a:solidFill>
            <a:schemeClr val="accent1"/>
          </a:solidFill>
          <a:ln>
            <a:solidFill>
              <a:srgbClr val="FF33CC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F1A8CB4-A56C-4AB4-9574-6CC72845FF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9750" y="3569522"/>
            <a:ext cx="33054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rgbClr val="033197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dirty="0">
                <a:solidFill>
                  <a:schemeClr val="bg1"/>
                </a:solidFill>
                <a:latin typeface="Verdana" panose="020B0604030504040204" pitchFamily="34" charset="0"/>
              </a:rPr>
              <a:t>t</a:t>
            </a:r>
          </a:p>
        </p:txBody>
      </p:sp>
      <p:sp>
        <p:nvSpPr>
          <p:cNvPr id="76" name="TextBox 37">
            <a:extLst>
              <a:ext uri="{FF2B5EF4-FFF2-40B4-BE49-F238E27FC236}">
                <a16:creationId xmlns:a16="http://schemas.microsoft.com/office/drawing/2014/main" id="{3117A36C-1A1D-4E2E-A308-759BD74F46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4832" y="1197132"/>
            <a:ext cx="1289074" cy="369332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Oct.3</a:t>
            </a:r>
            <a:endParaRPr lang="en-GB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7727D194-A178-430B-94B3-00334512C7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58685" y="3729337"/>
                <a:ext cx="1057725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p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>
                    <a:solidFill>
                      <a:srgbClr val="033197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p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400" b="1" dirty="0">
                    <a:latin typeface="Verdana" panose="020B0604030504040204" pitchFamily="34" charset="0"/>
                  </a:rPr>
                  <a:t>(2, $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4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400" b="1" i="1" dirty="0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altLang="en-US" sz="1400" b="1" i="1" dirty="0" smtClean="0">
                            <a:latin typeface="Cambria Math" panose="02040503050406030204" pitchFamily="18" charset="0"/>
                          </a:rPr>
                          <m:t>𝑯𝑩</m:t>
                        </m:r>
                      </m:sub>
                    </m:sSub>
                  </m:oMath>
                </a14:m>
                <a:r>
                  <a:rPr lang="en-US" altLang="en-US" sz="1400" b="1" dirty="0">
                    <a:latin typeface="Verdana" panose="020B0604030504040204" pitchFamily="34" charset="0"/>
                  </a:rPr>
                  <a:t>)</a:t>
                </a:r>
              </a:p>
            </p:txBody>
          </p:sp>
        </mc:Choice>
        <mc:Fallback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7727D194-A178-430B-94B3-00334512C7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58685" y="3729337"/>
                <a:ext cx="1057725" cy="307777"/>
              </a:xfrm>
              <a:prstGeom prst="rect">
                <a:avLst/>
              </a:prstGeom>
              <a:blipFill>
                <a:blip r:embed="rId4"/>
                <a:stretch>
                  <a:fillRect l="-1149" t="-4000" r="-1149" b="-200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624C86F7-1175-4D80-A84A-9DB04439A3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72236" y="4783187"/>
                <a:ext cx="1028871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p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>
                    <a:solidFill>
                      <a:srgbClr val="033197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p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400" b="1" dirty="0">
                    <a:latin typeface="Verdana" panose="020B0604030504040204" pitchFamily="34" charset="0"/>
                  </a:rPr>
                  <a:t>(1, $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4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400" b="1" i="1" dirty="0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altLang="en-US" sz="1400" b="1" i="1" dirty="0" smtClean="0">
                            <a:latin typeface="Cambria Math" panose="02040503050406030204" pitchFamily="18" charset="0"/>
                          </a:rPr>
                          <m:t>𝑩𝑺</m:t>
                        </m:r>
                      </m:sub>
                    </m:sSub>
                  </m:oMath>
                </a14:m>
                <a:r>
                  <a:rPr lang="en-US" altLang="en-US" sz="1400" b="1" dirty="0">
                    <a:latin typeface="Verdana" panose="020B0604030504040204" pitchFamily="34" charset="0"/>
                  </a:rPr>
                  <a:t>)</a:t>
                </a:r>
              </a:p>
            </p:txBody>
          </p:sp>
        </mc:Choice>
        <mc:Fallback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624C86F7-1175-4D80-A84A-9DB04439A3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72236" y="4783187"/>
                <a:ext cx="1028871" cy="307777"/>
              </a:xfrm>
              <a:prstGeom prst="rect">
                <a:avLst/>
              </a:prstGeom>
              <a:blipFill>
                <a:blip r:embed="rId5"/>
                <a:stretch>
                  <a:fillRect l="-1183" t="-4000" r="-1183" b="-200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7A501E9B-CF4E-48E9-B2FD-5D5F7D7F5D9D}"/>
              </a:ext>
            </a:extLst>
          </p:cNvPr>
          <p:cNvCxnSpPr>
            <a:cxnSpLocks/>
            <a:endCxn id="62" idx="2"/>
          </p:cNvCxnSpPr>
          <p:nvPr/>
        </p:nvCxnSpPr>
        <p:spPr>
          <a:xfrm>
            <a:off x="1878838" y="2127711"/>
            <a:ext cx="1578923" cy="3208343"/>
          </a:xfrm>
          <a:prstGeom prst="straightConnector1">
            <a:avLst/>
          </a:prstGeom>
          <a:ln w="28575">
            <a:solidFill>
              <a:schemeClr val="accent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CB4D02D4-882D-44F2-880F-79FEF3697510}"/>
              </a:ext>
            </a:extLst>
          </p:cNvPr>
          <p:cNvCxnSpPr>
            <a:cxnSpLocks/>
            <a:endCxn id="61" idx="2"/>
          </p:cNvCxnSpPr>
          <p:nvPr/>
        </p:nvCxnSpPr>
        <p:spPr>
          <a:xfrm>
            <a:off x="1878838" y="3723040"/>
            <a:ext cx="1578923" cy="0"/>
          </a:xfrm>
          <a:prstGeom prst="straightConnector1">
            <a:avLst/>
          </a:prstGeom>
          <a:ln w="28575">
            <a:solidFill>
              <a:schemeClr val="accent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7125EF04-FC21-4470-BEAA-9A7575C9457D}"/>
              </a:ext>
            </a:extLst>
          </p:cNvPr>
          <p:cNvCxnSpPr>
            <a:cxnSpLocks/>
            <a:endCxn id="60" idx="2"/>
          </p:cNvCxnSpPr>
          <p:nvPr/>
        </p:nvCxnSpPr>
        <p:spPr>
          <a:xfrm flipV="1">
            <a:off x="1878838" y="2110026"/>
            <a:ext cx="1578923" cy="1613014"/>
          </a:xfrm>
          <a:prstGeom prst="straightConnector1">
            <a:avLst/>
          </a:prstGeom>
          <a:ln w="28575">
            <a:solidFill>
              <a:schemeClr val="accent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B6740B00-4C17-4B99-869A-3F7DD1B6F505}"/>
              </a:ext>
            </a:extLst>
          </p:cNvPr>
          <p:cNvCxnSpPr>
            <a:cxnSpLocks/>
            <a:endCxn id="62" idx="2"/>
          </p:cNvCxnSpPr>
          <p:nvPr/>
        </p:nvCxnSpPr>
        <p:spPr>
          <a:xfrm>
            <a:off x="1791905" y="5336054"/>
            <a:ext cx="1665856" cy="0"/>
          </a:xfrm>
          <a:prstGeom prst="straightConnector1">
            <a:avLst/>
          </a:prstGeom>
          <a:ln w="28575">
            <a:solidFill>
              <a:schemeClr val="accent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FB7A17B5-30A8-48FD-B94B-E54B801910BE}"/>
              </a:ext>
            </a:extLst>
          </p:cNvPr>
          <p:cNvCxnSpPr>
            <a:cxnSpLocks/>
            <a:endCxn id="61" idx="2"/>
          </p:cNvCxnSpPr>
          <p:nvPr/>
        </p:nvCxnSpPr>
        <p:spPr>
          <a:xfrm flipV="1">
            <a:off x="1878838" y="3723040"/>
            <a:ext cx="1578923" cy="1613014"/>
          </a:xfrm>
          <a:prstGeom prst="straightConnector1">
            <a:avLst/>
          </a:prstGeom>
          <a:ln w="28575">
            <a:solidFill>
              <a:schemeClr val="accent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DAC278F0-3845-435D-BE49-FFAA7BB358A0}"/>
              </a:ext>
            </a:extLst>
          </p:cNvPr>
          <p:cNvCxnSpPr>
            <a:cxnSpLocks/>
            <a:endCxn id="121" idx="2"/>
          </p:cNvCxnSpPr>
          <p:nvPr/>
        </p:nvCxnSpPr>
        <p:spPr>
          <a:xfrm>
            <a:off x="3996072" y="3719780"/>
            <a:ext cx="1587855" cy="1613014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BE5519C9-D17F-4569-8066-25B2B352F17D}"/>
              </a:ext>
            </a:extLst>
          </p:cNvPr>
          <p:cNvCxnSpPr>
            <a:cxnSpLocks/>
            <a:endCxn id="119" idx="2"/>
          </p:cNvCxnSpPr>
          <p:nvPr/>
        </p:nvCxnSpPr>
        <p:spPr>
          <a:xfrm>
            <a:off x="3996072" y="2106766"/>
            <a:ext cx="1587855" cy="0"/>
          </a:xfrm>
          <a:prstGeom prst="straightConnector1">
            <a:avLst/>
          </a:prstGeom>
          <a:ln w="28575">
            <a:solidFill>
              <a:schemeClr val="accent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CB27922F-81E6-4B0D-8D6E-DE9C22DD0B2D}"/>
              </a:ext>
            </a:extLst>
          </p:cNvPr>
          <p:cNvCxnSpPr>
            <a:cxnSpLocks/>
            <a:endCxn id="120" idx="2"/>
          </p:cNvCxnSpPr>
          <p:nvPr/>
        </p:nvCxnSpPr>
        <p:spPr>
          <a:xfrm>
            <a:off x="3996072" y="2106766"/>
            <a:ext cx="1587855" cy="1613014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271AE2ED-6539-4E0F-AB1C-8FD8AA680F0C}"/>
              </a:ext>
            </a:extLst>
          </p:cNvPr>
          <p:cNvCxnSpPr>
            <a:cxnSpLocks/>
            <a:endCxn id="119" idx="2"/>
          </p:cNvCxnSpPr>
          <p:nvPr/>
        </p:nvCxnSpPr>
        <p:spPr>
          <a:xfrm flipV="1">
            <a:off x="3996072" y="2106766"/>
            <a:ext cx="1587855" cy="3226028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3ED84E6E-EBF8-46FB-AEE9-56BCC11CB6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18071" y="2166890"/>
                <a:ext cx="1036887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p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>
                    <a:solidFill>
                      <a:srgbClr val="033197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p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400" b="1" dirty="0">
                    <a:latin typeface="Verdana" panose="020B0604030504040204" pitchFamily="34" charset="0"/>
                  </a:rPr>
                  <a:t>(1, $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4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400" b="1" i="1" dirty="0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altLang="en-US" sz="1400" b="1" i="1" dirty="0" smtClean="0">
                            <a:latin typeface="Cambria Math" panose="02040503050406030204" pitchFamily="18" charset="0"/>
                          </a:rPr>
                          <m:t>𝑺𝑯</m:t>
                        </m:r>
                      </m:sub>
                    </m:sSub>
                  </m:oMath>
                </a14:m>
                <a:r>
                  <a:rPr lang="en-US" altLang="en-US" sz="1400" b="1" dirty="0">
                    <a:latin typeface="Verdana" panose="020B0604030504040204" pitchFamily="34" charset="0"/>
                  </a:rPr>
                  <a:t>)</a:t>
                </a:r>
              </a:p>
            </p:txBody>
          </p:sp>
        </mc:Choice>
        <mc:Fallback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3ED84E6E-EBF8-46FB-AEE9-56BCC11CB6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18071" y="2166890"/>
                <a:ext cx="1036887" cy="307777"/>
              </a:xfrm>
              <a:prstGeom prst="rect">
                <a:avLst/>
              </a:prstGeom>
              <a:blipFill>
                <a:blip r:embed="rId6"/>
                <a:stretch>
                  <a:fillRect l="-1765" t="-1961" r="-1176" b="-1960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9" name="Oval 118">
            <a:extLst>
              <a:ext uri="{FF2B5EF4-FFF2-40B4-BE49-F238E27FC236}">
                <a16:creationId xmlns:a16="http://schemas.microsoft.com/office/drawing/2014/main" id="{B0369674-33DC-4FE4-AC72-980865C4C782}"/>
              </a:ext>
            </a:extLst>
          </p:cNvPr>
          <p:cNvSpPr/>
          <p:nvPr/>
        </p:nvSpPr>
        <p:spPr>
          <a:xfrm>
            <a:off x="5583927" y="1840066"/>
            <a:ext cx="533400" cy="533400"/>
          </a:xfrm>
          <a:prstGeom prst="ellipse">
            <a:avLst/>
          </a:prstGeom>
          <a:solidFill>
            <a:schemeClr val="accent1"/>
          </a:solidFill>
          <a:ln>
            <a:solidFill>
              <a:srgbClr val="FF33CC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423A4CE8-73C7-40F3-9DE8-7A9095F401FB}"/>
              </a:ext>
            </a:extLst>
          </p:cNvPr>
          <p:cNvSpPr/>
          <p:nvPr/>
        </p:nvSpPr>
        <p:spPr>
          <a:xfrm>
            <a:off x="5583927" y="3453080"/>
            <a:ext cx="533400" cy="533400"/>
          </a:xfrm>
          <a:prstGeom prst="ellipse">
            <a:avLst/>
          </a:prstGeom>
          <a:solidFill>
            <a:schemeClr val="accent1"/>
          </a:solidFill>
          <a:ln>
            <a:solidFill>
              <a:srgbClr val="FF33CC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2F2F4BC9-B814-4666-AE96-D73B72DEAAD4}"/>
              </a:ext>
            </a:extLst>
          </p:cNvPr>
          <p:cNvSpPr/>
          <p:nvPr/>
        </p:nvSpPr>
        <p:spPr>
          <a:xfrm>
            <a:off x="5583927" y="5066094"/>
            <a:ext cx="533400" cy="533400"/>
          </a:xfrm>
          <a:prstGeom prst="ellipse">
            <a:avLst/>
          </a:prstGeom>
          <a:solidFill>
            <a:schemeClr val="accent1"/>
          </a:solidFill>
          <a:ln>
            <a:solidFill>
              <a:srgbClr val="FF33CC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8C804CCD-F297-4F8C-9CBB-E0D8DB6031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4498" y="1937488"/>
            <a:ext cx="33054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rgbClr val="033197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dirty="0">
                <a:solidFill>
                  <a:schemeClr val="bg1"/>
                </a:solidFill>
                <a:latin typeface="Verdana" panose="020B0604030504040204" pitchFamily="34" charset="0"/>
              </a:rPr>
              <a:t>S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E5B99C51-45BC-4920-BC8D-DEF4F56B34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1928" y="3565892"/>
            <a:ext cx="35618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rgbClr val="033197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dirty="0">
                <a:solidFill>
                  <a:schemeClr val="bg1"/>
                </a:solidFill>
                <a:latin typeface="Verdana" panose="020B0604030504040204" pitchFamily="34" charset="0"/>
              </a:rPr>
              <a:t>H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9B2C85DE-C7AA-407F-81C1-A20BAA0837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1120" y="5171918"/>
            <a:ext cx="34176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rgbClr val="033197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dirty="0">
                <a:solidFill>
                  <a:schemeClr val="bg1"/>
                </a:solidFill>
                <a:latin typeface="Verdana" panose="020B0604030504040204" pitchFamily="34" charset="0"/>
              </a:rPr>
              <a:t>B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714C0ACA-592A-4B11-BAC7-A1D0EC8B76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84851" y="3726077"/>
                <a:ext cx="1057725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p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>
                    <a:solidFill>
                      <a:srgbClr val="033197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p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400" b="1" dirty="0">
                    <a:latin typeface="Verdana" panose="020B0604030504040204" pitchFamily="34" charset="0"/>
                  </a:rPr>
                  <a:t>(5, $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4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400" b="1" i="1" dirty="0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altLang="en-US" sz="1400" b="1" i="1" dirty="0" smtClean="0">
                            <a:latin typeface="Cambria Math" panose="02040503050406030204" pitchFamily="18" charset="0"/>
                          </a:rPr>
                          <m:t>𝑯𝑩</m:t>
                        </m:r>
                      </m:sub>
                    </m:sSub>
                  </m:oMath>
                </a14:m>
                <a:r>
                  <a:rPr lang="en-US" altLang="en-US" sz="1400" b="1" dirty="0">
                    <a:latin typeface="Verdana" panose="020B0604030504040204" pitchFamily="34" charset="0"/>
                  </a:rPr>
                  <a:t>)</a:t>
                </a:r>
              </a:p>
            </p:txBody>
          </p:sp>
        </mc:Choice>
        <mc:Fallback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714C0ACA-592A-4B11-BAC7-A1D0EC8B76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84851" y="3726077"/>
                <a:ext cx="1057725" cy="307777"/>
              </a:xfrm>
              <a:prstGeom prst="rect">
                <a:avLst/>
              </a:prstGeom>
              <a:blipFill>
                <a:blip r:embed="rId7"/>
                <a:stretch>
                  <a:fillRect l="-1724" t="-3922" r="-575" b="-1960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DFEBA755-AE5E-40D1-B1FA-65DC217455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53286" y="4778379"/>
                <a:ext cx="1028871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p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>
                    <a:solidFill>
                      <a:srgbClr val="033197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p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400" b="1" dirty="0">
                    <a:latin typeface="Verdana" panose="020B0604030504040204" pitchFamily="34" charset="0"/>
                  </a:rPr>
                  <a:t>(2, $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4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400" b="1" i="1" dirty="0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altLang="en-US" sz="1400" b="1" i="1" dirty="0" smtClean="0">
                            <a:latin typeface="Cambria Math" panose="02040503050406030204" pitchFamily="18" charset="0"/>
                          </a:rPr>
                          <m:t>𝑩𝑺</m:t>
                        </m:r>
                      </m:sub>
                    </m:sSub>
                  </m:oMath>
                </a14:m>
                <a:r>
                  <a:rPr lang="en-US" altLang="en-US" sz="1400" b="1" dirty="0">
                    <a:latin typeface="Verdana" panose="020B0604030504040204" pitchFamily="34" charset="0"/>
                  </a:rPr>
                  <a:t>)</a:t>
                </a:r>
              </a:p>
            </p:txBody>
          </p:sp>
        </mc:Choice>
        <mc:Fallback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DFEBA755-AE5E-40D1-B1FA-65DC217455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53286" y="4778379"/>
                <a:ext cx="1028871" cy="307777"/>
              </a:xfrm>
              <a:prstGeom prst="rect">
                <a:avLst/>
              </a:prstGeom>
              <a:blipFill>
                <a:blip r:embed="rId8"/>
                <a:stretch>
                  <a:fillRect l="-1190" t="-4000" r="-1786" b="-200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E48D03D5-6FF1-4634-A3A9-65363BF58AF6}"/>
              </a:ext>
            </a:extLst>
          </p:cNvPr>
          <p:cNvCxnSpPr>
            <a:cxnSpLocks/>
            <a:endCxn id="121" idx="2"/>
          </p:cNvCxnSpPr>
          <p:nvPr/>
        </p:nvCxnSpPr>
        <p:spPr>
          <a:xfrm>
            <a:off x="4005004" y="2124451"/>
            <a:ext cx="1578923" cy="3208343"/>
          </a:xfrm>
          <a:prstGeom prst="straightConnector1">
            <a:avLst/>
          </a:prstGeom>
          <a:ln w="28575">
            <a:solidFill>
              <a:schemeClr val="accent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D7848C52-83B8-40EF-A169-BEECB1F452B8}"/>
              </a:ext>
            </a:extLst>
          </p:cNvPr>
          <p:cNvCxnSpPr>
            <a:cxnSpLocks/>
            <a:endCxn id="120" idx="2"/>
          </p:cNvCxnSpPr>
          <p:nvPr/>
        </p:nvCxnSpPr>
        <p:spPr>
          <a:xfrm>
            <a:off x="4005004" y="3719780"/>
            <a:ext cx="1578923" cy="0"/>
          </a:xfrm>
          <a:prstGeom prst="straightConnector1">
            <a:avLst/>
          </a:prstGeom>
          <a:ln w="28575">
            <a:solidFill>
              <a:schemeClr val="accent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12AAC5EC-10B1-43AB-B0E7-1E7DB5596675}"/>
              </a:ext>
            </a:extLst>
          </p:cNvPr>
          <p:cNvCxnSpPr>
            <a:cxnSpLocks/>
            <a:endCxn id="119" idx="2"/>
          </p:cNvCxnSpPr>
          <p:nvPr/>
        </p:nvCxnSpPr>
        <p:spPr>
          <a:xfrm flipV="1">
            <a:off x="4005004" y="2106766"/>
            <a:ext cx="1578923" cy="1613014"/>
          </a:xfrm>
          <a:prstGeom prst="straightConnector1">
            <a:avLst/>
          </a:prstGeom>
          <a:ln w="28575">
            <a:solidFill>
              <a:schemeClr val="accent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20E9FA23-B74A-44B1-9964-76EA0401ABCF}"/>
              </a:ext>
            </a:extLst>
          </p:cNvPr>
          <p:cNvCxnSpPr>
            <a:cxnSpLocks/>
            <a:endCxn id="121" idx="2"/>
          </p:cNvCxnSpPr>
          <p:nvPr/>
        </p:nvCxnSpPr>
        <p:spPr>
          <a:xfrm>
            <a:off x="3918071" y="5332794"/>
            <a:ext cx="1665856" cy="0"/>
          </a:xfrm>
          <a:prstGeom prst="straightConnector1">
            <a:avLst/>
          </a:prstGeom>
          <a:ln w="28575">
            <a:solidFill>
              <a:schemeClr val="accent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61073296-D663-4AE5-959D-09A555BE2F61}"/>
              </a:ext>
            </a:extLst>
          </p:cNvPr>
          <p:cNvCxnSpPr>
            <a:cxnSpLocks/>
            <a:endCxn id="120" idx="2"/>
          </p:cNvCxnSpPr>
          <p:nvPr/>
        </p:nvCxnSpPr>
        <p:spPr>
          <a:xfrm flipV="1">
            <a:off x="4005004" y="3719780"/>
            <a:ext cx="1578923" cy="1613014"/>
          </a:xfrm>
          <a:prstGeom prst="straightConnector1">
            <a:avLst/>
          </a:prstGeom>
          <a:ln w="28575">
            <a:solidFill>
              <a:schemeClr val="accent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CB1BA781-B56D-4935-B40B-5661AB5220E8}"/>
              </a:ext>
            </a:extLst>
          </p:cNvPr>
          <p:cNvCxnSpPr>
            <a:cxnSpLocks/>
            <a:stCxn id="119" idx="6"/>
            <a:endCxn id="74" idx="1"/>
          </p:cNvCxnSpPr>
          <p:nvPr/>
        </p:nvCxnSpPr>
        <p:spPr>
          <a:xfrm>
            <a:off x="6117327" y="2106766"/>
            <a:ext cx="1588562" cy="1433271"/>
          </a:xfrm>
          <a:prstGeom prst="straightConnector1">
            <a:avLst/>
          </a:prstGeom>
          <a:ln w="28575">
            <a:solidFill>
              <a:schemeClr val="accent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FFAC603F-E6CC-45BE-A85B-98A2EADEB496}"/>
              </a:ext>
            </a:extLst>
          </p:cNvPr>
          <p:cNvCxnSpPr>
            <a:cxnSpLocks/>
            <a:stCxn id="120" idx="6"/>
            <a:endCxn id="74" idx="2"/>
          </p:cNvCxnSpPr>
          <p:nvPr/>
        </p:nvCxnSpPr>
        <p:spPr>
          <a:xfrm>
            <a:off x="6117327" y="3719780"/>
            <a:ext cx="1510447" cy="8842"/>
          </a:xfrm>
          <a:prstGeom prst="straightConnector1">
            <a:avLst/>
          </a:prstGeom>
          <a:ln w="28575">
            <a:solidFill>
              <a:schemeClr val="accent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80158E87-1AE7-411E-A30E-7F404F780B50}"/>
              </a:ext>
            </a:extLst>
          </p:cNvPr>
          <p:cNvCxnSpPr>
            <a:cxnSpLocks/>
            <a:stCxn id="121" idx="6"/>
            <a:endCxn id="74" idx="3"/>
          </p:cNvCxnSpPr>
          <p:nvPr/>
        </p:nvCxnSpPr>
        <p:spPr>
          <a:xfrm flipV="1">
            <a:off x="6117327" y="3917207"/>
            <a:ext cx="1588562" cy="1415587"/>
          </a:xfrm>
          <a:prstGeom prst="straightConnector1">
            <a:avLst/>
          </a:prstGeom>
          <a:ln w="28575">
            <a:solidFill>
              <a:schemeClr val="accent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093AD279-C9E3-422C-B536-E49ED9DFC7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0290" y="3290843"/>
            <a:ext cx="8128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rgbClr val="033197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solidFill>
                  <a:srgbClr val="0000FF"/>
                </a:solidFill>
                <a:latin typeface="Verdana" panose="020B0604030504040204" pitchFamily="34" charset="0"/>
              </a:rPr>
              <a:t>(-10)</a:t>
            </a:r>
          </a:p>
        </p:txBody>
      </p:sp>
    </p:spTree>
    <p:extLst>
      <p:ext uri="{BB962C8B-B14F-4D97-AF65-F5344CB8AC3E}">
        <p14:creationId xmlns:p14="http://schemas.microsoft.com/office/powerpoint/2010/main" val="32280407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2800" dirty="0">
                <a:ea typeface="宋体" pitchFamily="2" charset="-122"/>
              </a:rPr>
              <a:t>Project Management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-67427" y="1031574"/>
            <a:ext cx="9269329" cy="5472113"/>
          </a:xfrm>
        </p:spPr>
        <p:txBody>
          <a:bodyPr/>
          <a:lstStyle/>
          <a:p>
            <a:pPr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13" y="1537374"/>
            <a:ext cx="9019010" cy="3731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9755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2800" dirty="0">
                <a:ea typeface="宋体" pitchFamily="2" charset="-122"/>
              </a:rPr>
              <a:t>Project Management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-67427" y="1031574"/>
            <a:ext cx="9269329" cy="5472113"/>
          </a:xfrm>
        </p:spPr>
        <p:txBody>
          <a:bodyPr/>
          <a:lstStyle/>
          <a:p>
            <a:pPr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3513071"/>
              </p:ext>
            </p:extLst>
          </p:nvPr>
        </p:nvGraphicFramePr>
        <p:xfrm>
          <a:off x="651209" y="1031574"/>
          <a:ext cx="7832056" cy="46881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46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00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66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06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978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Activity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Description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Immediate Predecessors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Estimated Duration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78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Wait until last 3 weeks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---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 weeks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78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Looking for topic and data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 week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78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Looking for reference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 week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78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Cleaning</a:t>
                      </a:r>
                      <a:r>
                        <a:rPr lang="en-US" baseline="0" dirty="0"/>
                        <a:t> data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 week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78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Building model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 week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78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Coding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4,</a:t>
                      </a:r>
                      <a:r>
                        <a:rPr lang="en-US" baseline="0" dirty="0"/>
                        <a:t> 5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 weeks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978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Writing</a:t>
                      </a:r>
                      <a:r>
                        <a:rPr lang="en-US" baseline="0" dirty="0"/>
                        <a:t> motivation/model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 weeks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978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Analyzing results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 week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978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Finalizing report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7,</a:t>
                      </a:r>
                      <a:r>
                        <a:rPr lang="en-US" baseline="0" dirty="0"/>
                        <a:t> 8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 week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5481113"/>
              </p:ext>
            </p:extLst>
          </p:nvPr>
        </p:nvGraphicFramePr>
        <p:xfrm>
          <a:off x="651209" y="5972813"/>
          <a:ext cx="2769965" cy="459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9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95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Deadline: 7 weeks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2461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Activity-on-node (AON) Project Network</a:t>
            </a:r>
            <a:endParaRPr lang="en-GB" altLang="en-US" dirty="0"/>
          </a:p>
        </p:txBody>
      </p:sp>
      <p:sp>
        <p:nvSpPr>
          <p:cNvPr id="7" name="Oval 6"/>
          <p:cNvSpPr/>
          <p:nvPr/>
        </p:nvSpPr>
        <p:spPr>
          <a:xfrm>
            <a:off x="3681343" y="1058862"/>
            <a:ext cx="571500" cy="5618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</a:rPr>
              <a:t>1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3681343" y="1857375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</a:rPr>
              <a:t>2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4832100" y="2428874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</a:rPr>
              <a:t>4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2662281" y="2428875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</a:rPr>
              <a:t>3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2662281" y="3428556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</a:rPr>
              <a:t>5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3765116" y="4132891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</a:rPr>
              <a:t>6</a:t>
            </a:r>
            <a:endParaRPr lang="en-GB" dirty="0">
              <a:solidFill>
                <a:srgbClr val="FFFFFF"/>
              </a:solidFill>
            </a:endParaRPr>
          </a:p>
        </p:txBody>
      </p:sp>
      <p:cxnSp>
        <p:nvCxnSpPr>
          <p:cNvPr id="14" name="Straight Arrow Connector 13"/>
          <p:cNvCxnSpPr>
            <a:stCxn id="8" idx="6"/>
            <a:endCxn id="9" idx="1"/>
          </p:cNvCxnSpPr>
          <p:nvPr/>
        </p:nvCxnSpPr>
        <p:spPr>
          <a:xfrm>
            <a:off x="4252843" y="2143125"/>
            <a:ext cx="662951" cy="36944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7" idx="4"/>
            <a:endCxn id="8" idx="0"/>
          </p:cNvCxnSpPr>
          <p:nvPr/>
        </p:nvCxnSpPr>
        <p:spPr>
          <a:xfrm>
            <a:off x="3967093" y="1620758"/>
            <a:ext cx="0" cy="23661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8" idx="2"/>
            <a:endCxn id="10" idx="7"/>
          </p:cNvCxnSpPr>
          <p:nvPr/>
        </p:nvCxnSpPr>
        <p:spPr>
          <a:xfrm flipH="1">
            <a:off x="3150087" y="2143125"/>
            <a:ext cx="531256" cy="36944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0" idx="4"/>
            <a:endCxn id="11" idx="0"/>
          </p:cNvCxnSpPr>
          <p:nvPr/>
        </p:nvCxnSpPr>
        <p:spPr>
          <a:xfrm>
            <a:off x="2948031" y="3000375"/>
            <a:ext cx="0" cy="42818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1" idx="6"/>
            <a:endCxn id="12" idx="1"/>
          </p:cNvCxnSpPr>
          <p:nvPr/>
        </p:nvCxnSpPr>
        <p:spPr>
          <a:xfrm>
            <a:off x="3233781" y="3714306"/>
            <a:ext cx="615029" cy="50227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9" idx="3"/>
            <a:endCxn id="12" idx="7"/>
          </p:cNvCxnSpPr>
          <p:nvPr/>
        </p:nvCxnSpPr>
        <p:spPr>
          <a:xfrm flipH="1">
            <a:off x="4252922" y="2916680"/>
            <a:ext cx="662872" cy="12999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1617409" y="4154271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</a:rPr>
              <a:t>7</a:t>
            </a:r>
            <a:endParaRPr lang="en-GB" dirty="0">
              <a:solidFill>
                <a:srgbClr val="FFFFFF"/>
              </a:solidFill>
            </a:endParaRPr>
          </a:p>
        </p:txBody>
      </p:sp>
      <p:cxnSp>
        <p:nvCxnSpPr>
          <p:cNvPr id="51" name="Straight Arrow Connector 50"/>
          <p:cNvCxnSpPr>
            <a:stCxn id="11" idx="2"/>
            <a:endCxn id="50" idx="7"/>
          </p:cNvCxnSpPr>
          <p:nvPr/>
        </p:nvCxnSpPr>
        <p:spPr>
          <a:xfrm flipH="1">
            <a:off x="2105215" y="3714306"/>
            <a:ext cx="557066" cy="52365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4832100" y="4786895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</a:rPr>
              <a:t>8</a:t>
            </a:r>
            <a:endParaRPr lang="en-GB" dirty="0">
              <a:solidFill>
                <a:srgbClr val="FFFFFF"/>
              </a:solidFill>
            </a:endParaRPr>
          </a:p>
        </p:txBody>
      </p:sp>
      <p:cxnSp>
        <p:nvCxnSpPr>
          <p:cNvPr id="55" name="Straight Arrow Connector 54"/>
          <p:cNvCxnSpPr>
            <a:stCxn id="12" idx="6"/>
            <a:endCxn id="54" idx="1"/>
          </p:cNvCxnSpPr>
          <p:nvPr/>
        </p:nvCxnSpPr>
        <p:spPr>
          <a:xfrm>
            <a:off x="4336616" y="4418641"/>
            <a:ext cx="579178" cy="4519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2662281" y="5358395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</a:rPr>
              <a:t>9</a:t>
            </a:r>
            <a:endParaRPr lang="en-GB" dirty="0">
              <a:solidFill>
                <a:srgbClr val="FFFFFF"/>
              </a:solidFill>
            </a:endParaRPr>
          </a:p>
        </p:txBody>
      </p:sp>
      <p:cxnSp>
        <p:nvCxnSpPr>
          <p:cNvPr id="59" name="Straight Arrow Connector 58"/>
          <p:cNvCxnSpPr>
            <a:stCxn id="50" idx="5"/>
            <a:endCxn id="58" idx="1"/>
          </p:cNvCxnSpPr>
          <p:nvPr/>
        </p:nvCxnSpPr>
        <p:spPr>
          <a:xfrm>
            <a:off x="2105215" y="4642077"/>
            <a:ext cx="640760" cy="8000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54" idx="2"/>
            <a:endCxn id="58" idx="7"/>
          </p:cNvCxnSpPr>
          <p:nvPr/>
        </p:nvCxnSpPr>
        <p:spPr>
          <a:xfrm flipH="1">
            <a:off x="3150087" y="5072645"/>
            <a:ext cx="1682013" cy="36944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4306609" y="1000625"/>
            <a:ext cx="24165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x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4</a:t>
            </a:r>
            <a:endParaRPr lang="en-GB" altLang="en-US" dirty="0"/>
          </a:p>
        </p:txBody>
      </p:sp>
      <p:sp>
        <p:nvSpPr>
          <p:cNvPr id="67" name="TextBox 37"/>
          <p:cNvSpPr txBox="1">
            <a:spLocks noChangeArrowheads="1"/>
          </p:cNvSpPr>
          <p:nvPr/>
        </p:nvSpPr>
        <p:spPr bwMode="auto">
          <a:xfrm>
            <a:off x="5499613" y="4602229"/>
            <a:ext cx="24165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x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1</a:t>
            </a:r>
            <a:endParaRPr lang="en-GB" altLang="en-US" dirty="0"/>
          </a:p>
        </p:txBody>
      </p:sp>
      <p:sp>
        <p:nvSpPr>
          <p:cNvPr id="68" name="TextBox 37"/>
          <p:cNvSpPr txBox="1">
            <a:spLocks noChangeArrowheads="1"/>
          </p:cNvSpPr>
          <p:nvPr/>
        </p:nvSpPr>
        <p:spPr bwMode="auto">
          <a:xfrm>
            <a:off x="4463491" y="4042106"/>
            <a:ext cx="24165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x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2</a:t>
            </a:r>
            <a:endParaRPr lang="en-GB" altLang="en-US" dirty="0"/>
          </a:p>
        </p:txBody>
      </p:sp>
      <p:sp>
        <p:nvSpPr>
          <p:cNvPr id="69" name="TextBox 37"/>
          <p:cNvSpPr txBox="1">
            <a:spLocks noChangeArrowheads="1"/>
          </p:cNvSpPr>
          <p:nvPr/>
        </p:nvSpPr>
        <p:spPr bwMode="auto">
          <a:xfrm>
            <a:off x="3299641" y="3243890"/>
            <a:ext cx="24165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x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1</a:t>
            </a:r>
            <a:endParaRPr lang="en-GB" altLang="en-US" dirty="0"/>
          </a:p>
        </p:txBody>
      </p:sp>
      <p:sp>
        <p:nvSpPr>
          <p:cNvPr id="70" name="TextBox 37"/>
          <p:cNvSpPr txBox="1">
            <a:spLocks noChangeArrowheads="1"/>
          </p:cNvSpPr>
          <p:nvPr/>
        </p:nvSpPr>
        <p:spPr bwMode="auto">
          <a:xfrm>
            <a:off x="2366309" y="2328965"/>
            <a:ext cx="24165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x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1</a:t>
            </a:r>
            <a:endParaRPr lang="en-GB" altLang="en-US" dirty="0"/>
          </a:p>
        </p:txBody>
      </p:sp>
      <p:sp>
        <p:nvSpPr>
          <p:cNvPr id="71" name="TextBox 37"/>
          <p:cNvSpPr txBox="1">
            <a:spLocks noChangeArrowheads="1"/>
          </p:cNvSpPr>
          <p:nvPr/>
        </p:nvSpPr>
        <p:spPr bwMode="auto">
          <a:xfrm>
            <a:off x="5452475" y="2327846"/>
            <a:ext cx="24165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x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1</a:t>
            </a:r>
            <a:endParaRPr lang="en-GB" altLang="en-US" dirty="0"/>
          </a:p>
        </p:txBody>
      </p:sp>
      <p:sp>
        <p:nvSpPr>
          <p:cNvPr id="72" name="TextBox 37"/>
          <p:cNvSpPr txBox="1">
            <a:spLocks noChangeArrowheads="1"/>
          </p:cNvSpPr>
          <p:nvPr/>
        </p:nvSpPr>
        <p:spPr bwMode="auto">
          <a:xfrm>
            <a:off x="4295270" y="1707658"/>
            <a:ext cx="24165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x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1</a:t>
            </a:r>
            <a:endParaRPr lang="en-GB" altLang="en-US" dirty="0"/>
          </a:p>
        </p:txBody>
      </p:sp>
      <p:sp>
        <p:nvSpPr>
          <p:cNvPr id="73" name="TextBox 37"/>
          <p:cNvSpPr txBox="1">
            <a:spLocks noChangeArrowheads="1"/>
          </p:cNvSpPr>
          <p:nvPr/>
        </p:nvSpPr>
        <p:spPr bwMode="auto">
          <a:xfrm>
            <a:off x="1270471" y="4049309"/>
            <a:ext cx="24165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x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2</a:t>
            </a:r>
            <a:endParaRPr lang="en-GB" altLang="en-US" dirty="0"/>
          </a:p>
        </p:txBody>
      </p:sp>
      <p:sp>
        <p:nvSpPr>
          <p:cNvPr id="74" name="TextBox 37"/>
          <p:cNvSpPr txBox="1">
            <a:spLocks noChangeArrowheads="1"/>
          </p:cNvSpPr>
          <p:nvPr/>
        </p:nvSpPr>
        <p:spPr bwMode="auto">
          <a:xfrm>
            <a:off x="2366309" y="5501326"/>
            <a:ext cx="24165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x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1</a:t>
            </a:r>
            <a:endParaRPr lang="en-GB" altLang="en-US" dirty="0"/>
          </a:p>
        </p:txBody>
      </p:sp>
      <p:sp>
        <p:nvSpPr>
          <p:cNvPr id="19481" name="Rectangle 19480"/>
          <p:cNvSpPr/>
          <p:nvPr/>
        </p:nvSpPr>
        <p:spPr bwMode="auto">
          <a:xfrm>
            <a:off x="6447712" y="5501326"/>
            <a:ext cx="800219" cy="369332"/>
          </a:xfrm>
          <a:prstGeom prst="rect">
            <a:avLst/>
          </a:prstGeom>
          <a:solidFill>
            <a:schemeClr val="accent1"/>
          </a:solidFill>
          <a:ln w="28575" cap="flat" cmpd="sng" algn="ctr">
            <a:solidFill>
              <a:srgbClr val="0033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</a:rPr>
              <a:t>Finish</a:t>
            </a:r>
            <a:endParaRPr kumimoji="0" lang="en-SG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</a:endParaRPr>
          </a:p>
        </p:txBody>
      </p:sp>
      <p:cxnSp>
        <p:nvCxnSpPr>
          <p:cNvPr id="79" name="Straight Arrow Connector 78"/>
          <p:cNvCxnSpPr>
            <a:stCxn id="58" idx="6"/>
            <a:endCxn id="19481" idx="1"/>
          </p:cNvCxnSpPr>
          <p:nvPr/>
        </p:nvCxnSpPr>
        <p:spPr>
          <a:xfrm>
            <a:off x="3233781" y="5644145"/>
            <a:ext cx="3213931" cy="4184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763136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2800" dirty="0">
                <a:ea typeface="宋体" pitchFamily="2" charset="-122"/>
              </a:rPr>
              <a:t>Crashing Projects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-67427" y="1031574"/>
            <a:ext cx="9269329" cy="5472113"/>
          </a:xfrm>
        </p:spPr>
        <p:txBody>
          <a:bodyPr/>
          <a:lstStyle/>
          <a:p>
            <a:pPr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8679866"/>
              </p:ext>
            </p:extLst>
          </p:nvPr>
        </p:nvGraphicFramePr>
        <p:xfrm>
          <a:off x="651209" y="1031574"/>
          <a:ext cx="7832056" cy="46881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46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00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66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06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978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Activity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Description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Maximum Reduction Time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Crash Cost per Week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78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Wait until last 3 weeks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 weeks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78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Looking for topic and data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 week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78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Looking for reference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 week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78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Cleaning</a:t>
                      </a:r>
                      <a:r>
                        <a:rPr lang="en-US" baseline="0" dirty="0"/>
                        <a:t> data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½ week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78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Building model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½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week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78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Coding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 week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978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Writing</a:t>
                      </a:r>
                      <a:r>
                        <a:rPr lang="en-US" baseline="0" dirty="0"/>
                        <a:t> motivation/model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½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week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978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Analyzing results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 week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978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Finalizing report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½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week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017097"/>
              </p:ext>
            </p:extLst>
          </p:nvPr>
        </p:nvGraphicFramePr>
        <p:xfrm>
          <a:off x="651208" y="5972813"/>
          <a:ext cx="7479716" cy="459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797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95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Objective: Minimizing  the crash cost while</a:t>
                      </a:r>
                      <a:r>
                        <a:rPr lang="en-US" baseline="0" dirty="0"/>
                        <a:t> meeting the deadline.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325997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Programming Formulation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1022721"/>
                <a:ext cx="9051010" cy="5695794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Decision variables: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US" altLang="zh-CN" sz="2800" b="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800" b="0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effectLst/>
                  </a:rPr>
                  <a:t>: reduction in activity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effectLst/>
                        <a:latin typeface="Cambria Math" panose="02040503050406030204" pitchFamily="18" charset="0"/>
                        <a:ea typeface="宋体" pitchFamily="2" charset="-122"/>
                      </a:rPr>
                      <m:t>𝒊</m:t>
                    </m:r>
                  </m:oMath>
                </a14:m>
                <a:r>
                  <a:rPr lang="en-US" sz="2800" dirty="0">
                    <a:effectLst/>
                  </a:rPr>
                  <a:t> through crashing.</a:t>
                </a:r>
              </a:p>
              <a:p>
                <a:pPr lvl="1"/>
                <a:endParaRPr lang="en-US" dirty="0">
                  <a:effectLst/>
                </a:endParaRPr>
              </a:p>
              <a:p>
                <a:pPr marL="800100" lvl="1" indent="-342900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US" altLang="zh-CN" sz="2800" b="0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𝑦</m:t>
                        </m:r>
                      </m:e>
                      <m:sub>
                        <m:r>
                          <a:rPr lang="en-US" altLang="zh-CN" sz="2800" b="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effectLst/>
                  </a:rPr>
                  <a:t>: staring time of activity </a:t>
                </a:r>
                <a14:m>
                  <m:oMath xmlns:m="http://schemas.openxmlformats.org/officeDocument/2006/math">
                    <m:r>
                      <a:rPr lang="en-US" altLang="zh-CN" dirty="0">
                        <a:effectLst/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dirty="0">
                    <a:effectLst/>
                  </a:rPr>
                  <a:t>.</a:t>
                </a:r>
              </a:p>
              <a:p>
                <a:pPr marL="800100" lvl="1" indent="-342900"/>
                <a:endParaRPr lang="en-US" dirty="0">
                  <a:effectLst/>
                </a:endParaRPr>
              </a:p>
              <a:p>
                <a:pPr marL="800100" lvl="1" indent="-342900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US" altLang="zh-CN" sz="2800" b="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𝑦</m:t>
                        </m:r>
                      </m:e>
                      <m:sub>
                        <m:r>
                          <a:rPr lang="en-US" altLang="zh-CN" sz="2800" b="0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𝐹𝑖𝑛𝑖𝑠h</m:t>
                        </m:r>
                      </m:sub>
                    </m:sSub>
                  </m:oMath>
                </a14:m>
                <a:r>
                  <a:rPr lang="en-US" dirty="0">
                    <a:effectLst/>
                  </a:rPr>
                  <a:t>: project duration or starting time of the finish node</a:t>
                </a:r>
              </a:p>
              <a:p>
                <a:pPr marL="403225" indent="-342900"/>
                <a:endParaRPr lang="en-US" dirty="0"/>
              </a:p>
              <a:p>
                <a:pPr marL="403225" indent="-342900"/>
                <a:r>
                  <a:rPr lang="en-US" dirty="0"/>
                  <a:t>Objective:</a:t>
                </a:r>
              </a:p>
              <a:p>
                <a:pPr marL="800100" lvl="1" indent="-342900"/>
                <a:r>
                  <a:rPr lang="en-US" dirty="0">
                    <a:effectLst/>
                  </a:rPr>
                  <a:t>Minimize: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CN" sz="2800" b="1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sz="2800" b="1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𝒊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sz="2800" b="0" i="1" dirty="0"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altLang="zh-CN" sz="2800" b="0" i="1" dirty="0">
                                    <a:effectLst/>
                                    <a:latin typeface="Cambria Math" panose="02040503050406030204" pitchFamily="18" charset="0"/>
                                    <a:ea typeface="宋体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 dirty="0" smtClean="0">
                                    <a:effectLst/>
                                    <a:latin typeface="Cambria Math" panose="02040503050406030204" pitchFamily="18" charset="0"/>
                                    <a:ea typeface="宋体" pitchFamily="2" charset="-122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zh-CN" sz="2800" b="0" i="1" dirty="0" smtClean="0">
                                    <a:effectLst/>
                                    <a:latin typeface="Cambria Math" panose="02040503050406030204" pitchFamily="18" charset="0"/>
                                    <a:ea typeface="宋体" pitchFamily="2" charset="-122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2800" b="0" i="1" dirty="0"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 b="0" i="1" dirty="0" smtClean="0"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dirty="0">
                  <a:effectLst/>
                </a:endParaRPr>
              </a:p>
              <a:p>
                <a:pPr marL="403225" indent="-342900"/>
                <a:endParaRPr lang="en-US" dirty="0"/>
              </a:p>
              <a:p>
                <a:pPr marL="403225" indent="-342900"/>
                <a:r>
                  <a:rPr lang="en-US" dirty="0"/>
                  <a:t>Constraints:</a:t>
                </a:r>
              </a:p>
              <a:p>
                <a:pPr marL="800100" lvl="1" indent="-342900"/>
                <a:r>
                  <a:rPr lang="en-US" sz="2600" dirty="0">
                    <a:effectLst/>
                  </a:rPr>
                  <a:t>Maximum reduction time constraint: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b="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US" altLang="zh-CN" sz="2600" b="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600" b="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𝑖</m:t>
                        </m:r>
                      </m:sub>
                    </m:sSub>
                    <m:r>
                      <a:rPr lang="en-US" altLang="zh-CN" sz="2600" b="0" i="1" dirty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2600" b="0" i="1" dirty="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b="0" i="1" dirty="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600" b="0" i="1" dirty="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600" dirty="0">
                    <a:effectLst/>
                  </a:rPr>
                  <a:t> 	</a:t>
                </a:r>
              </a:p>
              <a:p>
                <a:pPr marL="800100" lvl="1" indent="-342900">
                  <a:buNone/>
                </a:pPr>
                <a:endParaRPr lang="en-US" sz="2600" dirty="0">
                  <a:effectLst/>
                </a:endParaRPr>
              </a:p>
              <a:p>
                <a:pPr marL="800100" lvl="1" indent="-342900"/>
                <a:r>
                  <a:rPr lang="en-US" sz="2600" dirty="0">
                    <a:effectLst/>
                  </a:rPr>
                  <a:t>Precedence constraints, e.g.  </a:t>
                </a:r>
              </a:p>
              <a:p>
                <a:pPr marL="457200" lvl="1" indent="0">
                  <a:buNone/>
                </a:pPr>
                <a:r>
                  <a:rPr lang="en-US" altLang="zh-CN" sz="2600" b="0" dirty="0">
                    <a:effectLst/>
                    <a:ea typeface="宋体" pitchFamily="2" charset="-122"/>
                  </a:rPr>
                  <a:t>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b="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US" altLang="zh-CN" sz="2600" b="0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𝑦</m:t>
                        </m:r>
                      </m:e>
                      <m:sub>
                        <m:r>
                          <a:rPr lang="en-US" altLang="zh-CN" sz="2600" b="0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6</m:t>
                        </m:r>
                      </m:sub>
                    </m:sSub>
                    <m:r>
                      <a:rPr lang="en-US" altLang="zh-CN" sz="2600" b="0" i="1" dirty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zh-CN" sz="2600" b="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b="0" i="1" dirty="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600" b="0" i="1" dirty="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sz="2600" b="0" i="1" dirty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+1−</m:t>
                    </m:r>
                    <m:sSub>
                      <m:sSubPr>
                        <m:ctrlPr>
                          <a:rPr lang="en-US" altLang="zh-CN" sz="2600" b="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US" altLang="zh-CN" sz="2600" b="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600" b="0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2600" dirty="0">
                    <a:effectLst/>
                  </a:rPr>
                  <a:t>;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b="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US" altLang="zh-CN" sz="2600" b="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𝑦</m:t>
                        </m:r>
                      </m:e>
                      <m:sub>
                        <m:r>
                          <a:rPr lang="en-US" altLang="zh-CN" sz="2600" b="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6</m:t>
                        </m:r>
                      </m:sub>
                    </m:sSub>
                    <m:r>
                      <a:rPr lang="en-US" altLang="zh-CN" sz="2600" b="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zh-CN" sz="2600" b="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b="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600" b="0" i="1" dirty="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altLang="zh-CN" sz="2600" b="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+1−</m:t>
                    </m:r>
                    <m:sSub>
                      <m:sSubPr>
                        <m:ctrlPr>
                          <a:rPr lang="en-US" altLang="zh-CN" sz="2600" b="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US" altLang="zh-CN" sz="2600" b="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600" b="0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sz="2600" dirty="0">
                    <a:effectLst/>
                  </a:rPr>
                  <a:t>;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b="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US" altLang="zh-CN" sz="2600" b="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𝑦</m:t>
                        </m:r>
                      </m:e>
                      <m:sub>
                        <m:r>
                          <a:rPr lang="en-US" altLang="zh-CN" sz="2600" b="0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𝐹𝑖𝑛𝑖𝑠h</m:t>
                        </m:r>
                      </m:sub>
                    </m:sSub>
                    <m:r>
                      <a:rPr lang="en-US" altLang="zh-CN" sz="2600" b="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zh-CN" sz="2600" b="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b="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600" b="0" i="1" dirty="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a:rPr lang="en-US" altLang="zh-CN" sz="2600" b="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+1−</m:t>
                    </m:r>
                    <m:sSub>
                      <m:sSubPr>
                        <m:ctrlPr>
                          <a:rPr lang="en-US" altLang="zh-CN" sz="2600" b="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US" altLang="zh-CN" sz="2600" b="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600" b="0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9</m:t>
                        </m:r>
                      </m:sub>
                    </m:sSub>
                  </m:oMath>
                </a14:m>
                <a:endParaRPr lang="en-US" sz="2600" dirty="0">
                  <a:solidFill>
                    <a:srgbClr val="C00000"/>
                  </a:solidFill>
                  <a:effectLst/>
                </a:endParaRPr>
              </a:p>
              <a:p>
                <a:pPr marL="914400" lvl="1" indent="-457200"/>
                <a:endParaRPr lang="en-US" sz="2600" dirty="0">
                  <a:effectLst/>
                </a:endParaRPr>
              </a:p>
              <a:p>
                <a:pPr marL="914400" lvl="1" indent="-457200"/>
                <a:r>
                  <a:rPr lang="en-US" sz="2600" dirty="0">
                    <a:effectLst/>
                  </a:rPr>
                  <a:t>Deadline constraint: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b="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US" altLang="zh-CN" sz="2600" b="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𝑦</m:t>
                        </m:r>
                      </m:e>
                      <m:sub>
                        <m:r>
                          <a:rPr lang="en-US" altLang="zh-CN" sz="2600" b="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𝐹𝑖𝑛𝑖𝑠h</m:t>
                        </m:r>
                      </m:sub>
                    </m:sSub>
                    <m:r>
                      <a:rPr lang="en-US" altLang="zh-CN" sz="2600" b="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600" b="0" i="1" dirty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</m:t>
                    </m:r>
                  </m:oMath>
                </a14:m>
                <a:endParaRPr lang="en-US" sz="2600" dirty="0">
                  <a:effectLst/>
                </a:endParaRPr>
              </a:p>
              <a:p>
                <a:pPr marL="914400" lvl="1" indent="-457200"/>
                <a:endParaRPr lang="en-US" sz="2600" dirty="0">
                  <a:effectLst/>
                </a:endParaRPr>
              </a:p>
              <a:p>
                <a:pPr marL="914400" lvl="1" indent="-457200"/>
                <a:r>
                  <a:rPr lang="en-US" sz="2600" dirty="0">
                    <a:effectLst/>
                  </a:rPr>
                  <a:t>Non-negativity constraint: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b="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US" altLang="zh-CN" sz="2600" b="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600" b="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𝑖</m:t>
                        </m:r>
                      </m:sub>
                    </m:sSub>
                    <m:r>
                      <a:rPr lang="en-US" altLang="zh-CN" sz="2600" b="0" i="1" dirty="0" smtClean="0">
                        <a:effectLst/>
                        <a:latin typeface="Cambria Math" panose="02040503050406030204" pitchFamily="18" charset="0"/>
                        <a:ea typeface="宋体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2600" b="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US" altLang="zh-CN" sz="2600" b="0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𝑦</m:t>
                        </m:r>
                      </m:e>
                      <m:sub>
                        <m:r>
                          <a:rPr lang="en-US" altLang="zh-CN" sz="2600" b="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𝑖</m:t>
                        </m:r>
                      </m:sub>
                    </m:sSub>
                    <m:r>
                      <a:rPr lang="en-US" altLang="zh-CN" sz="2600" b="0" i="1" dirty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endParaRPr lang="en-US" sz="2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022721"/>
                <a:ext cx="9051010" cy="5695794"/>
              </a:xfrm>
              <a:blipFill rotWithShape="0">
                <a:blip r:embed="rId3"/>
                <a:stretch>
                  <a:fillRect l="-673" t="-171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728979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2800" dirty="0">
                <a:ea typeface="宋体" pitchFamily="2" charset="-122"/>
              </a:rPr>
              <a:t>Application: Manufacturing of Complex Machine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30235" y="5728220"/>
            <a:ext cx="3556086" cy="2201037"/>
          </a:xfrm>
        </p:spPr>
        <p:txBody>
          <a:bodyPr/>
          <a:lstStyle/>
          <a:p>
            <a:pPr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4098" name="Picture 2" descr="https://upload.wikimedia.org/wikipedia/commons/8/80/Oil_Rig_NT8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3636" y="1012009"/>
            <a:ext cx="4503457" cy="5482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15535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2800" dirty="0">
                <a:ea typeface="宋体" pitchFamily="2" charset="-122"/>
              </a:rPr>
              <a:t>Application: Manufacturing of Complex Machine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30235" y="5728220"/>
            <a:ext cx="3556086" cy="2201037"/>
          </a:xfrm>
        </p:spPr>
        <p:txBody>
          <a:bodyPr/>
          <a:lstStyle/>
          <a:p>
            <a:pPr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8" name="Rectangle 53"/>
          <p:cNvSpPr>
            <a:spLocks noChangeArrowheads="1"/>
          </p:cNvSpPr>
          <p:nvPr/>
        </p:nvSpPr>
        <p:spPr bwMode="auto">
          <a:xfrm>
            <a:off x="-81214" y="6172429"/>
            <a:ext cx="899496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1200" b="1" dirty="0">
                <a:solidFill>
                  <a:srgbClr val="FF3333"/>
                </a:solidFill>
              </a:rPr>
              <a:t> </a:t>
            </a:r>
            <a:r>
              <a:rPr lang="en-US" altLang="en-US" sz="1200" b="1" dirty="0">
                <a:solidFill>
                  <a:schemeClr val="tx1"/>
                </a:solidFill>
              </a:rPr>
              <a:t>Source: Chen Changhua, Goh </a:t>
            </a:r>
            <a:r>
              <a:rPr lang="en-US" altLang="en-US" sz="1200" b="1" dirty="0" err="1">
                <a:solidFill>
                  <a:schemeClr val="tx1"/>
                </a:solidFill>
              </a:rPr>
              <a:t>Zhi</a:t>
            </a:r>
            <a:r>
              <a:rPr lang="en-US" altLang="en-US" sz="1200" b="1" dirty="0">
                <a:solidFill>
                  <a:schemeClr val="tx1"/>
                </a:solidFill>
              </a:rPr>
              <a:t> Wen, </a:t>
            </a:r>
            <a:r>
              <a:rPr lang="en-US" altLang="en-US" sz="1200" b="1" dirty="0" err="1">
                <a:solidFill>
                  <a:schemeClr val="tx1"/>
                </a:solidFill>
              </a:rPr>
              <a:t>Chuah</a:t>
            </a:r>
            <a:r>
              <a:rPr lang="en-US" altLang="en-US" sz="1200" b="1" dirty="0">
                <a:solidFill>
                  <a:schemeClr val="tx1"/>
                </a:solidFill>
              </a:rPr>
              <a:t> Sim </a:t>
            </a:r>
            <a:r>
              <a:rPr lang="en-US" altLang="en-US" sz="1200" b="1" dirty="0" err="1">
                <a:solidFill>
                  <a:schemeClr val="tx1"/>
                </a:solidFill>
              </a:rPr>
              <a:t>Teng</a:t>
            </a:r>
            <a:r>
              <a:rPr lang="en-US" altLang="en-US" sz="1200" b="1" dirty="0">
                <a:solidFill>
                  <a:schemeClr val="tx1"/>
                </a:solidFill>
              </a:rPr>
              <a:t>, Ng </a:t>
            </a:r>
            <a:r>
              <a:rPr lang="en-US" altLang="en-US" sz="1200" b="1" dirty="0" err="1">
                <a:solidFill>
                  <a:schemeClr val="tx1"/>
                </a:solidFill>
              </a:rPr>
              <a:t>Changwei</a:t>
            </a:r>
            <a:r>
              <a:rPr lang="en-US" altLang="en-US" sz="1200" b="1" dirty="0">
                <a:solidFill>
                  <a:schemeClr val="tx1"/>
                </a:solidFill>
              </a:rPr>
              <a:t> and Yang </a:t>
            </a:r>
            <a:r>
              <a:rPr lang="en-US" altLang="en-US" sz="1200" b="1" dirty="0" err="1">
                <a:solidFill>
                  <a:schemeClr val="tx1"/>
                </a:solidFill>
              </a:rPr>
              <a:t>Kan</a:t>
            </a:r>
            <a:r>
              <a:rPr lang="en-US" altLang="en-US" sz="1200" b="1" dirty="0">
                <a:solidFill>
                  <a:schemeClr val="tx1"/>
                </a:solidFill>
              </a:rPr>
              <a:t>, “Optimizing Expediting Cost for Complex Product Delivery”, Term Paper, 2017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961" y="1094164"/>
            <a:ext cx="8308794" cy="4477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86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2800" dirty="0">
                <a:ea typeface="宋体" pitchFamily="2" charset="-122"/>
              </a:rPr>
              <a:t>Application: Manufacturing of Complex Machine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30235" y="5728220"/>
            <a:ext cx="3556086" cy="2201037"/>
          </a:xfrm>
        </p:spPr>
        <p:txBody>
          <a:bodyPr/>
          <a:lstStyle/>
          <a:p>
            <a:pPr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 bwMode="auto">
          <a:xfrm>
            <a:off x="0" y="1022721"/>
            <a:ext cx="9051010" cy="5695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11" tIns="45324" rIns="92111" bIns="45324" numCol="1" anchor="t" anchorCtr="0" compatLnSpc="1">
            <a:prstTxWarp prst="textNoShape">
              <a:avLst/>
            </a:prstTxWarp>
            <a:normAutofit/>
          </a:bodyPr>
          <a:lstStyle>
            <a:lvl1pPr marL="341313" indent="-341313" algn="l" defTabSz="909638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90015"/>
              </a:buClr>
              <a:buSzPct val="100000"/>
              <a:buChar char="•"/>
              <a:defRPr sz="2900" b="1">
                <a:solidFill>
                  <a:srgbClr val="790015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38188" indent="-284163" algn="l" defTabSz="909638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Char char="­"/>
              <a:defRPr sz="2700" b="1">
                <a:solidFill>
                  <a:srgbClr val="00279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2pPr>
            <a:lvl3pPr marL="1138238" indent="-228600" algn="l" defTabSz="909638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100000"/>
              <a:buChar char="·"/>
              <a:defRPr sz="2400" i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3pPr>
            <a:lvl4pPr marL="1473200" indent="-209550" algn="l" defTabSz="909638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rgbClr val="0033CC"/>
                </a:solidFill>
                <a:latin typeface="+mn-lt"/>
              </a:defRPr>
            </a:lvl4pPr>
            <a:lvl5pPr marL="1895475" indent="-211138" algn="l" defTabSz="909638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352675" indent="-211138" algn="l" defTabSz="909638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809875" indent="-211138" algn="l" defTabSz="909638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267075" indent="-211138" algn="l" defTabSz="909638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724275" indent="-211138" algn="l" defTabSz="909638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 kern="0" dirty="0">
                <a:effectLst/>
              </a:rPr>
              <a:t>The real business problem:</a:t>
            </a:r>
          </a:p>
          <a:p>
            <a:pPr lvl="1"/>
            <a:r>
              <a:rPr lang="en-US" sz="1800" kern="0" dirty="0">
                <a:effectLst/>
              </a:rPr>
              <a:t>6 levels.</a:t>
            </a:r>
          </a:p>
          <a:p>
            <a:pPr lvl="1"/>
            <a:r>
              <a:rPr lang="en-US" sz="1800" kern="0" dirty="0">
                <a:effectLst/>
              </a:rPr>
              <a:t>1307 nodes.</a:t>
            </a:r>
          </a:p>
          <a:p>
            <a:pPr lvl="1"/>
            <a:endParaRPr lang="en-US" sz="2000" kern="0" dirty="0">
              <a:effectLst/>
            </a:endParaRPr>
          </a:p>
          <a:p>
            <a:pPr marL="403225" indent="-342900"/>
            <a:r>
              <a:rPr lang="en-US" sz="2000" kern="0" dirty="0">
                <a:effectLst/>
              </a:rPr>
              <a:t>Decisions:</a:t>
            </a:r>
          </a:p>
          <a:p>
            <a:pPr marL="800100" lvl="1" indent="-342900"/>
            <a:r>
              <a:rPr lang="en-US" sz="1800" kern="0" dirty="0">
                <a:effectLst/>
              </a:rPr>
              <a:t>Expediting decisions </a:t>
            </a:r>
          </a:p>
          <a:p>
            <a:pPr marL="800100" lvl="1" indent="-342900"/>
            <a:r>
              <a:rPr lang="en-US" sz="1800" kern="0" dirty="0">
                <a:effectLst/>
              </a:rPr>
              <a:t>Outsourcing decisions </a:t>
            </a:r>
          </a:p>
          <a:p>
            <a:pPr marL="800100" lvl="1" indent="-342900"/>
            <a:endParaRPr lang="en-US" sz="2000" kern="0" dirty="0">
              <a:effectLst/>
            </a:endParaRPr>
          </a:p>
          <a:p>
            <a:pPr marL="403225" indent="-342900"/>
            <a:r>
              <a:rPr lang="en-US" sz="2000" kern="0" dirty="0">
                <a:effectLst/>
              </a:rPr>
              <a:t>Objective: </a:t>
            </a:r>
          </a:p>
          <a:p>
            <a:pPr marL="800100" lvl="1" indent="-342900"/>
            <a:r>
              <a:rPr lang="en-US" sz="1800" kern="0" dirty="0">
                <a:effectLst/>
              </a:rPr>
              <a:t>Minimize expediting cost + outsourcing cost</a:t>
            </a:r>
          </a:p>
          <a:p>
            <a:pPr marL="800100" lvl="1" indent="-342900"/>
            <a:r>
              <a:rPr lang="en-US" sz="1800" kern="0" dirty="0">
                <a:effectLst/>
              </a:rPr>
              <a:t>Meeting the final product delivery time</a:t>
            </a:r>
          </a:p>
          <a:p>
            <a:pPr marL="457200" lvl="1" indent="0">
              <a:buNone/>
            </a:pPr>
            <a:endParaRPr lang="en-US" sz="1800" kern="0" dirty="0">
              <a:effectLst/>
            </a:endParaRPr>
          </a:p>
          <a:p>
            <a:pPr marL="403225" indent="-342900"/>
            <a:r>
              <a:rPr lang="en-US" sz="2000" kern="0" dirty="0">
                <a:effectLst/>
              </a:rPr>
              <a:t>Other considerations:</a:t>
            </a:r>
          </a:p>
          <a:p>
            <a:pPr marL="800100" lvl="1" indent="-342900"/>
            <a:r>
              <a:rPr lang="en-US" sz="1800" kern="0" dirty="0">
                <a:effectLst/>
              </a:rPr>
              <a:t>Random lead time</a:t>
            </a:r>
          </a:p>
          <a:p>
            <a:pPr marL="800100" lvl="1" indent="-342900"/>
            <a:r>
              <a:rPr lang="en-US" sz="1800" kern="0" dirty="0">
                <a:effectLst/>
              </a:rPr>
              <a:t>Multiple suppliers to outsource from</a:t>
            </a:r>
          </a:p>
          <a:p>
            <a:pPr marL="403225" indent="-342900"/>
            <a:endParaRPr lang="en-US" kern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3738043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Process Flexibility: Dedicated System</a:t>
            </a:r>
            <a:endParaRPr lang="en-GB" altLang="en-US" dirty="0"/>
          </a:p>
        </p:txBody>
      </p:sp>
      <p:pic>
        <p:nvPicPr>
          <p:cNvPr id="40964" name="Picture 2" descr="C:\Documents and Settings\s40712\Local Settings\Temporary Internet Files\Content.IE5\AB9QT5PI\MCj0280802000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099" y="1524068"/>
            <a:ext cx="834404" cy="719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5" name="Picture 2" descr="C:\Documents and Settings\s40712\Local Settings\Temporary Internet Files\Content.IE5\AB9QT5PI\MCj0280802000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099" y="3217822"/>
            <a:ext cx="855192" cy="736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6" name="Picture 2" descr="C:\Documents and Settings\s40712\Local Settings\Temporary Internet Files\Content.IE5\AB9QT5PI\MCj0280802000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099" y="4972351"/>
            <a:ext cx="834404" cy="719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0971" name="Straight Arrow Connector 14"/>
          <p:cNvCxnSpPr>
            <a:cxnSpLocks noChangeShapeType="1"/>
            <a:stCxn id="40964" idx="3"/>
            <a:endCxn id="5" idx="1"/>
          </p:cNvCxnSpPr>
          <p:nvPr/>
        </p:nvCxnSpPr>
        <p:spPr bwMode="auto">
          <a:xfrm>
            <a:off x="2543503" y="1883583"/>
            <a:ext cx="3397730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174" y="3224679"/>
            <a:ext cx="1285875" cy="77467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1233" y="1494495"/>
            <a:ext cx="1259306" cy="778176"/>
          </a:xfrm>
          <a:prstGeom prst="rect">
            <a:avLst/>
          </a:prstGeom>
        </p:spPr>
      </p:pic>
      <p:cxnSp>
        <p:nvCxnSpPr>
          <p:cNvPr id="32" name="Straight Arrow Connector 14"/>
          <p:cNvCxnSpPr>
            <a:cxnSpLocks noChangeShapeType="1"/>
            <a:stCxn id="40966" idx="3"/>
            <a:endCxn id="11" idx="1"/>
          </p:cNvCxnSpPr>
          <p:nvPr/>
        </p:nvCxnSpPr>
        <p:spPr bwMode="auto">
          <a:xfrm>
            <a:off x="2543503" y="5331866"/>
            <a:ext cx="3397730" cy="2102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" name="Straight Arrow Connector 14"/>
          <p:cNvCxnSpPr>
            <a:cxnSpLocks noChangeShapeType="1"/>
            <a:stCxn id="40965" idx="3"/>
            <a:endCxn id="4" idx="1"/>
          </p:cNvCxnSpPr>
          <p:nvPr/>
        </p:nvCxnSpPr>
        <p:spPr bwMode="auto">
          <a:xfrm>
            <a:off x="2564291" y="3586293"/>
            <a:ext cx="3360883" cy="25722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1233" y="4939258"/>
            <a:ext cx="1371141" cy="827255"/>
          </a:xfrm>
          <a:prstGeom prst="rect">
            <a:avLst/>
          </a:prstGeom>
        </p:spPr>
      </p:pic>
      <p:sp>
        <p:nvSpPr>
          <p:cNvPr id="35" name="Rectangle 53"/>
          <p:cNvSpPr>
            <a:spLocks noChangeArrowheads="1"/>
          </p:cNvSpPr>
          <p:nvPr/>
        </p:nvSpPr>
        <p:spPr bwMode="auto">
          <a:xfrm>
            <a:off x="336223" y="3510675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100</a:t>
            </a:r>
          </a:p>
        </p:txBody>
      </p:sp>
      <p:sp>
        <p:nvSpPr>
          <p:cNvPr id="36" name="Rectangle 53"/>
          <p:cNvSpPr>
            <a:spLocks noChangeArrowheads="1"/>
          </p:cNvSpPr>
          <p:nvPr/>
        </p:nvSpPr>
        <p:spPr bwMode="auto">
          <a:xfrm>
            <a:off x="7312374" y="1748754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37" name="Rectangle 53"/>
          <p:cNvSpPr>
            <a:spLocks noChangeArrowheads="1"/>
          </p:cNvSpPr>
          <p:nvPr/>
        </p:nvSpPr>
        <p:spPr bwMode="auto">
          <a:xfrm>
            <a:off x="336222" y="5177976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100</a:t>
            </a:r>
          </a:p>
        </p:txBody>
      </p:sp>
      <p:sp>
        <p:nvSpPr>
          <p:cNvPr id="38" name="Rectangle 53"/>
          <p:cNvSpPr>
            <a:spLocks noChangeArrowheads="1"/>
          </p:cNvSpPr>
          <p:nvPr/>
        </p:nvSpPr>
        <p:spPr bwMode="auto">
          <a:xfrm>
            <a:off x="336222" y="1862935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100</a:t>
            </a:r>
          </a:p>
        </p:txBody>
      </p:sp>
      <p:sp>
        <p:nvSpPr>
          <p:cNvPr id="39" name="Rectangle 53"/>
          <p:cNvSpPr>
            <a:spLocks noChangeArrowheads="1"/>
          </p:cNvSpPr>
          <p:nvPr/>
        </p:nvSpPr>
        <p:spPr bwMode="auto">
          <a:xfrm>
            <a:off x="7312374" y="3523233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140</a:t>
            </a:r>
          </a:p>
        </p:txBody>
      </p:sp>
      <p:sp>
        <p:nvSpPr>
          <p:cNvPr id="40" name="Rectangle 53"/>
          <p:cNvSpPr>
            <a:spLocks noChangeArrowheads="1"/>
          </p:cNvSpPr>
          <p:nvPr/>
        </p:nvSpPr>
        <p:spPr bwMode="auto">
          <a:xfrm>
            <a:off x="7312373" y="5269943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140</a:t>
            </a:r>
          </a:p>
        </p:txBody>
      </p:sp>
    </p:spTree>
    <p:extLst>
      <p:ext uri="{BB962C8B-B14F-4D97-AF65-F5344CB8AC3E}">
        <p14:creationId xmlns:p14="http://schemas.microsoft.com/office/powerpoint/2010/main" val="113183518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Full Flexible System</a:t>
            </a:r>
            <a:endParaRPr lang="en-GB" altLang="en-US" dirty="0"/>
          </a:p>
        </p:txBody>
      </p:sp>
      <p:sp>
        <p:nvSpPr>
          <p:cNvPr id="40963" name="Content Placeholder 2"/>
          <p:cNvSpPr>
            <a:spLocks noGrp="1"/>
          </p:cNvSpPr>
          <p:nvPr>
            <p:ph idx="1"/>
          </p:nvPr>
        </p:nvSpPr>
        <p:spPr>
          <a:xfrm>
            <a:off x="-1018731" y="833160"/>
            <a:ext cx="1142590" cy="1069483"/>
          </a:xfrm>
        </p:spPr>
        <p:txBody>
          <a:bodyPr/>
          <a:lstStyle/>
          <a:p>
            <a:endParaRPr lang="en-GB" altLang="en-US" dirty="0"/>
          </a:p>
        </p:txBody>
      </p:sp>
      <p:pic>
        <p:nvPicPr>
          <p:cNvPr id="40964" name="Picture 2" descr="C:\Documents and Settings\s40712\Local Settings\Temporary Internet Files\Content.IE5\AB9QT5PI\MCj0280802000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099" y="1524068"/>
            <a:ext cx="834404" cy="719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5" name="Picture 2" descr="C:\Documents and Settings\s40712\Local Settings\Temporary Internet Files\Content.IE5\AB9QT5PI\MCj0280802000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099" y="3217822"/>
            <a:ext cx="855192" cy="736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6" name="Picture 2" descr="C:\Documents and Settings\s40712\Local Settings\Temporary Internet Files\Content.IE5\AB9QT5PI\MCj0280802000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099" y="4972351"/>
            <a:ext cx="834404" cy="719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0971" name="Straight Arrow Connector 14"/>
          <p:cNvCxnSpPr>
            <a:cxnSpLocks noChangeShapeType="1"/>
            <a:stCxn id="40964" idx="3"/>
            <a:endCxn id="5" idx="1"/>
          </p:cNvCxnSpPr>
          <p:nvPr/>
        </p:nvCxnSpPr>
        <p:spPr bwMode="auto">
          <a:xfrm>
            <a:off x="2543503" y="1883583"/>
            <a:ext cx="3397730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5684" y="3245699"/>
            <a:ext cx="1285875" cy="77467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1233" y="1494495"/>
            <a:ext cx="1259306" cy="778176"/>
          </a:xfrm>
          <a:prstGeom prst="rect">
            <a:avLst/>
          </a:prstGeom>
        </p:spPr>
      </p:pic>
      <p:cxnSp>
        <p:nvCxnSpPr>
          <p:cNvPr id="32" name="Straight Arrow Connector 14"/>
          <p:cNvCxnSpPr>
            <a:cxnSpLocks noChangeShapeType="1"/>
            <a:stCxn id="40966" idx="3"/>
            <a:endCxn id="11" idx="1"/>
          </p:cNvCxnSpPr>
          <p:nvPr/>
        </p:nvCxnSpPr>
        <p:spPr bwMode="auto">
          <a:xfrm>
            <a:off x="2543503" y="5331866"/>
            <a:ext cx="3429260" cy="2102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" name="Straight Arrow Connector 14"/>
          <p:cNvCxnSpPr>
            <a:cxnSpLocks noChangeShapeType="1"/>
            <a:stCxn id="40965" idx="3"/>
            <a:endCxn id="4" idx="1"/>
          </p:cNvCxnSpPr>
          <p:nvPr/>
        </p:nvCxnSpPr>
        <p:spPr bwMode="auto">
          <a:xfrm>
            <a:off x="2564291" y="3586293"/>
            <a:ext cx="3371393" cy="46742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2763" y="4939258"/>
            <a:ext cx="1371141" cy="827255"/>
          </a:xfrm>
          <a:prstGeom prst="rect">
            <a:avLst/>
          </a:prstGeom>
        </p:spPr>
      </p:pic>
      <p:sp>
        <p:nvSpPr>
          <p:cNvPr id="35" name="Rectangle 53"/>
          <p:cNvSpPr>
            <a:spLocks noChangeArrowheads="1"/>
          </p:cNvSpPr>
          <p:nvPr/>
        </p:nvSpPr>
        <p:spPr bwMode="auto">
          <a:xfrm>
            <a:off x="336223" y="3510675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100</a:t>
            </a:r>
          </a:p>
        </p:txBody>
      </p:sp>
      <p:sp>
        <p:nvSpPr>
          <p:cNvPr id="36" name="Rectangle 53"/>
          <p:cNvSpPr>
            <a:spLocks noChangeArrowheads="1"/>
          </p:cNvSpPr>
          <p:nvPr/>
        </p:nvSpPr>
        <p:spPr bwMode="auto">
          <a:xfrm>
            <a:off x="7312374" y="1748754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37" name="Rectangle 53"/>
          <p:cNvSpPr>
            <a:spLocks noChangeArrowheads="1"/>
          </p:cNvSpPr>
          <p:nvPr/>
        </p:nvSpPr>
        <p:spPr bwMode="auto">
          <a:xfrm>
            <a:off x="336222" y="5177976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100</a:t>
            </a:r>
          </a:p>
        </p:txBody>
      </p:sp>
      <p:sp>
        <p:nvSpPr>
          <p:cNvPr id="38" name="Rectangle 53"/>
          <p:cNvSpPr>
            <a:spLocks noChangeArrowheads="1"/>
          </p:cNvSpPr>
          <p:nvPr/>
        </p:nvSpPr>
        <p:spPr bwMode="auto">
          <a:xfrm>
            <a:off x="336222" y="1862935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100</a:t>
            </a:r>
          </a:p>
        </p:txBody>
      </p:sp>
      <p:sp>
        <p:nvSpPr>
          <p:cNvPr id="39" name="Rectangle 53"/>
          <p:cNvSpPr>
            <a:spLocks noChangeArrowheads="1"/>
          </p:cNvSpPr>
          <p:nvPr/>
        </p:nvSpPr>
        <p:spPr bwMode="auto">
          <a:xfrm>
            <a:off x="7312374" y="3586293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140</a:t>
            </a:r>
          </a:p>
        </p:txBody>
      </p:sp>
      <p:sp>
        <p:nvSpPr>
          <p:cNvPr id="40" name="Rectangle 53"/>
          <p:cNvSpPr>
            <a:spLocks noChangeArrowheads="1"/>
          </p:cNvSpPr>
          <p:nvPr/>
        </p:nvSpPr>
        <p:spPr bwMode="auto">
          <a:xfrm>
            <a:off x="7312373" y="5269943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140</a:t>
            </a:r>
          </a:p>
        </p:txBody>
      </p:sp>
      <p:cxnSp>
        <p:nvCxnSpPr>
          <p:cNvPr id="19" name="Straight Arrow Connector 14"/>
          <p:cNvCxnSpPr>
            <a:cxnSpLocks noChangeShapeType="1"/>
            <a:stCxn id="40964" idx="3"/>
            <a:endCxn id="4" idx="1"/>
          </p:cNvCxnSpPr>
          <p:nvPr/>
        </p:nvCxnSpPr>
        <p:spPr bwMode="auto">
          <a:xfrm>
            <a:off x="2543503" y="1883583"/>
            <a:ext cx="3392181" cy="1749452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Straight Arrow Connector 14"/>
          <p:cNvCxnSpPr>
            <a:cxnSpLocks noChangeShapeType="1"/>
            <a:stCxn id="40964" idx="3"/>
            <a:endCxn id="11" idx="1"/>
          </p:cNvCxnSpPr>
          <p:nvPr/>
        </p:nvCxnSpPr>
        <p:spPr bwMode="auto">
          <a:xfrm>
            <a:off x="2543503" y="1883583"/>
            <a:ext cx="3429260" cy="3469303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" name="Straight Arrow Connector 14"/>
          <p:cNvCxnSpPr>
            <a:cxnSpLocks noChangeShapeType="1"/>
            <a:stCxn id="40965" idx="3"/>
            <a:endCxn id="5" idx="1"/>
          </p:cNvCxnSpPr>
          <p:nvPr/>
        </p:nvCxnSpPr>
        <p:spPr bwMode="auto">
          <a:xfrm flipV="1">
            <a:off x="2564291" y="1883583"/>
            <a:ext cx="3376942" cy="170271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" name="Straight Arrow Connector 14"/>
          <p:cNvCxnSpPr>
            <a:cxnSpLocks noChangeShapeType="1"/>
            <a:stCxn id="40965" idx="3"/>
            <a:endCxn id="11" idx="1"/>
          </p:cNvCxnSpPr>
          <p:nvPr/>
        </p:nvCxnSpPr>
        <p:spPr bwMode="auto">
          <a:xfrm>
            <a:off x="2564291" y="3586293"/>
            <a:ext cx="3408472" cy="1766593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" name="Straight Arrow Connector 14"/>
          <p:cNvCxnSpPr>
            <a:cxnSpLocks noChangeShapeType="1"/>
            <a:stCxn id="40966" idx="3"/>
            <a:endCxn id="5" idx="1"/>
          </p:cNvCxnSpPr>
          <p:nvPr/>
        </p:nvCxnSpPr>
        <p:spPr bwMode="auto">
          <a:xfrm flipV="1">
            <a:off x="2543503" y="1883583"/>
            <a:ext cx="3397730" cy="3448283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" name="Straight Arrow Connector 14"/>
          <p:cNvCxnSpPr>
            <a:cxnSpLocks noChangeShapeType="1"/>
            <a:stCxn id="40966" idx="3"/>
            <a:endCxn id="4" idx="1"/>
          </p:cNvCxnSpPr>
          <p:nvPr/>
        </p:nvCxnSpPr>
        <p:spPr bwMode="auto">
          <a:xfrm flipV="1">
            <a:off x="2543503" y="3633035"/>
            <a:ext cx="3392181" cy="1698831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80390642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How to Compute the Maximum Sales?</a:t>
            </a:r>
            <a:endParaRPr lang="en-GB" altLang="en-US" dirty="0"/>
          </a:p>
        </p:txBody>
      </p:sp>
      <p:sp>
        <p:nvSpPr>
          <p:cNvPr id="40963" name="Content Placeholder 2"/>
          <p:cNvSpPr>
            <a:spLocks noGrp="1"/>
          </p:cNvSpPr>
          <p:nvPr>
            <p:ph idx="1"/>
          </p:nvPr>
        </p:nvSpPr>
        <p:spPr>
          <a:xfrm>
            <a:off x="-1018731" y="833160"/>
            <a:ext cx="1142590" cy="1069483"/>
          </a:xfrm>
        </p:spPr>
        <p:txBody>
          <a:bodyPr/>
          <a:lstStyle/>
          <a:p>
            <a:endParaRPr lang="en-GB" altLang="en-US" dirty="0"/>
          </a:p>
        </p:txBody>
      </p:sp>
      <p:pic>
        <p:nvPicPr>
          <p:cNvPr id="40964" name="Picture 2" descr="C:\Documents and Settings\s40712\Local Settings\Temporary Internet Files\Content.IE5\AB9QT5PI\MCj0280802000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099" y="1524068"/>
            <a:ext cx="834404" cy="719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5" name="Picture 2" descr="C:\Documents and Settings\s40712\Local Settings\Temporary Internet Files\Content.IE5\AB9QT5PI\MCj0280802000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099" y="3217822"/>
            <a:ext cx="855192" cy="736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6" name="Picture 2" descr="C:\Documents and Settings\s40712\Local Settings\Temporary Internet Files\Content.IE5\AB9QT5PI\MCj0280802000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099" y="4972351"/>
            <a:ext cx="834404" cy="719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0971" name="Straight Arrow Connector 14"/>
          <p:cNvCxnSpPr>
            <a:cxnSpLocks noChangeShapeType="1"/>
            <a:stCxn id="40964" idx="3"/>
            <a:endCxn id="5" idx="1"/>
          </p:cNvCxnSpPr>
          <p:nvPr/>
        </p:nvCxnSpPr>
        <p:spPr bwMode="auto">
          <a:xfrm>
            <a:off x="2543503" y="1883583"/>
            <a:ext cx="3397730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5684" y="3245699"/>
            <a:ext cx="1285875" cy="77467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1233" y="1494495"/>
            <a:ext cx="1259306" cy="778176"/>
          </a:xfrm>
          <a:prstGeom prst="rect">
            <a:avLst/>
          </a:prstGeom>
        </p:spPr>
      </p:pic>
      <p:cxnSp>
        <p:nvCxnSpPr>
          <p:cNvPr id="32" name="Straight Arrow Connector 14"/>
          <p:cNvCxnSpPr>
            <a:cxnSpLocks noChangeShapeType="1"/>
            <a:stCxn id="40966" idx="3"/>
            <a:endCxn id="11" idx="1"/>
          </p:cNvCxnSpPr>
          <p:nvPr/>
        </p:nvCxnSpPr>
        <p:spPr bwMode="auto">
          <a:xfrm>
            <a:off x="2543503" y="5331866"/>
            <a:ext cx="3429260" cy="2102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" name="Straight Arrow Connector 14"/>
          <p:cNvCxnSpPr>
            <a:cxnSpLocks noChangeShapeType="1"/>
            <a:stCxn id="40965" idx="3"/>
            <a:endCxn id="4" idx="1"/>
          </p:cNvCxnSpPr>
          <p:nvPr/>
        </p:nvCxnSpPr>
        <p:spPr bwMode="auto">
          <a:xfrm>
            <a:off x="2564291" y="3586293"/>
            <a:ext cx="3371393" cy="46742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2763" y="4939258"/>
            <a:ext cx="1371141" cy="827255"/>
          </a:xfrm>
          <a:prstGeom prst="rect">
            <a:avLst/>
          </a:prstGeom>
        </p:spPr>
      </p:pic>
      <p:sp>
        <p:nvSpPr>
          <p:cNvPr id="35" name="Rectangle 53"/>
          <p:cNvSpPr>
            <a:spLocks noChangeArrowheads="1"/>
          </p:cNvSpPr>
          <p:nvPr/>
        </p:nvSpPr>
        <p:spPr bwMode="auto">
          <a:xfrm>
            <a:off x="336223" y="3510675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100</a:t>
            </a:r>
          </a:p>
        </p:txBody>
      </p:sp>
      <p:sp>
        <p:nvSpPr>
          <p:cNvPr id="36" name="Rectangle 53"/>
          <p:cNvSpPr>
            <a:spLocks noChangeArrowheads="1"/>
          </p:cNvSpPr>
          <p:nvPr/>
        </p:nvSpPr>
        <p:spPr bwMode="auto">
          <a:xfrm>
            <a:off x="7308022" y="2668458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80</a:t>
            </a:r>
          </a:p>
        </p:txBody>
      </p:sp>
      <p:sp>
        <p:nvSpPr>
          <p:cNvPr id="37" name="Rectangle 53"/>
          <p:cNvSpPr>
            <a:spLocks noChangeArrowheads="1"/>
          </p:cNvSpPr>
          <p:nvPr/>
        </p:nvSpPr>
        <p:spPr bwMode="auto">
          <a:xfrm>
            <a:off x="336222" y="5177976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100</a:t>
            </a:r>
          </a:p>
        </p:txBody>
      </p:sp>
      <p:sp>
        <p:nvSpPr>
          <p:cNvPr id="38" name="Rectangle 53"/>
          <p:cNvSpPr>
            <a:spLocks noChangeArrowheads="1"/>
          </p:cNvSpPr>
          <p:nvPr/>
        </p:nvSpPr>
        <p:spPr bwMode="auto">
          <a:xfrm>
            <a:off x="336222" y="2703374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100</a:t>
            </a:r>
          </a:p>
        </p:txBody>
      </p:sp>
      <p:sp>
        <p:nvSpPr>
          <p:cNvPr id="39" name="Rectangle 53"/>
          <p:cNvSpPr>
            <a:spLocks noChangeArrowheads="1"/>
          </p:cNvSpPr>
          <p:nvPr/>
        </p:nvSpPr>
        <p:spPr bwMode="auto">
          <a:xfrm>
            <a:off x="7312374" y="3586293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140</a:t>
            </a:r>
          </a:p>
        </p:txBody>
      </p:sp>
      <p:sp>
        <p:nvSpPr>
          <p:cNvPr id="40" name="Rectangle 53"/>
          <p:cNvSpPr>
            <a:spLocks noChangeArrowheads="1"/>
          </p:cNvSpPr>
          <p:nvPr/>
        </p:nvSpPr>
        <p:spPr bwMode="auto">
          <a:xfrm>
            <a:off x="7287961" y="5257017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140</a:t>
            </a:r>
          </a:p>
        </p:txBody>
      </p:sp>
      <p:cxnSp>
        <p:nvCxnSpPr>
          <p:cNvPr id="19" name="Straight Arrow Connector 14"/>
          <p:cNvCxnSpPr>
            <a:cxnSpLocks noChangeShapeType="1"/>
            <a:stCxn id="40964" idx="3"/>
            <a:endCxn id="4" idx="1"/>
          </p:cNvCxnSpPr>
          <p:nvPr/>
        </p:nvCxnSpPr>
        <p:spPr bwMode="auto">
          <a:xfrm>
            <a:off x="2543503" y="1883583"/>
            <a:ext cx="3392181" cy="1749452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Straight Arrow Connector 14"/>
          <p:cNvCxnSpPr>
            <a:cxnSpLocks noChangeShapeType="1"/>
            <a:stCxn id="40964" idx="3"/>
            <a:endCxn id="11" idx="1"/>
          </p:cNvCxnSpPr>
          <p:nvPr/>
        </p:nvCxnSpPr>
        <p:spPr bwMode="auto">
          <a:xfrm>
            <a:off x="2543503" y="1883583"/>
            <a:ext cx="3429260" cy="3469303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" name="Straight Arrow Connector 14"/>
          <p:cNvCxnSpPr>
            <a:cxnSpLocks noChangeShapeType="1"/>
            <a:stCxn id="40965" idx="3"/>
            <a:endCxn id="5" idx="1"/>
          </p:cNvCxnSpPr>
          <p:nvPr/>
        </p:nvCxnSpPr>
        <p:spPr bwMode="auto">
          <a:xfrm flipV="1">
            <a:off x="2564291" y="1883583"/>
            <a:ext cx="3376942" cy="170271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" name="Straight Arrow Connector 14"/>
          <p:cNvCxnSpPr>
            <a:cxnSpLocks noChangeShapeType="1"/>
            <a:stCxn id="40965" idx="3"/>
            <a:endCxn id="11" idx="1"/>
          </p:cNvCxnSpPr>
          <p:nvPr/>
        </p:nvCxnSpPr>
        <p:spPr bwMode="auto">
          <a:xfrm>
            <a:off x="2564291" y="3586293"/>
            <a:ext cx="3408472" cy="1766593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" name="Straight Arrow Connector 14"/>
          <p:cNvCxnSpPr>
            <a:cxnSpLocks noChangeShapeType="1"/>
            <a:stCxn id="40966" idx="3"/>
            <a:endCxn id="5" idx="1"/>
          </p:cNvCxnSpPr>
          <p:nvPr/>
        </p:nvCxnSpPr>
        <p:spPr bwMode="auto">
          <a:xfrm flipV="1">
            <a:off x="2543503" y="1883583"/>
            <a:ext cx="3397730" cy="3448283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" name="Straight Arrow Connector 14"/>
          <p:cNvCxnSpPr>
            <a:cxnSpLocks noChangeShapeType="1"/>
            <a:stCxn id="40966" idx="3"/>
            <a:endCxn id="4" idx="1"/>
          </p:cNvCxnSpPr>
          <p:nvPr/>
        </p:nvCxnSpPr>
        <p:spPr bwMode="auto">
          <a:xfrm flipV="1">
            <a:off x="2543503" y="3633035"/>
            <a:ext cx="3392181" cy="1698831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5" name="Picture 2" descr="C:\Documents and Settings\s40712\Local Settings\Temporary Internet Files\Content.IE5\AB9QT5PI\MCj0280802000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8357" y="2358186"/>
            <a:ext cx="834404" cy="719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2" descr="C:\Documents and Settings\s40712\Local Settings\Temporary Internet Files\Content.IE5\AB9QT5PI\MCj0280802000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9493" y="4093363"/>
            <a:ext cx="834404" cy="719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2" descr="C:\Documents and Settings\s40712\Local Settings\Temporary Internet Files\Content.IE5\AB9QT5PI\MCj0280802000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099" y="5829980"/>
            <a:ext cx="834404" cy="719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3811" y="2288349"/>
            <a:ext cx="1434150" cy="92383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2324" y="4095059"/>
            <a:ext cx="1283231" cy="71733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15742" y="5776702"/>
            <a:ext cx="1410319" cy="801492"/>
          </a:xfrm>
          <a:prstGeom prst="rect">
            <a:avLst/>
          </a:prstGeom>
        </p:spPr>
      </p:pic>
      <p:sp>
        <p:nvSpPr>
          <p:cNvPr id="31" name="Rectangle 53"/>
          <p:cNvSpPr>
            <a:spLocks noChangeArrowheads="1"/>
          </p:cNvSpPr>
          <p:nvPr/>
        </p:nvSpPr>
        <p:spPr bwMode="auto">
          <a:xfrm>
            <a:off x="7297485" y="6081891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120</a:t>
            </a:r>
          </a:p>
        </p:txBody>
      </p:sp>
      <p:sp>
        <p:nvSpPr>
          <p:cNvPr id="34" name="Rectangle 53"/>
          <p:cNvSpPr>
            <a:spLocks noChangeArrowheads="1"/>
          </p:cNvSpPr>
          <p:nvPr/>
        </p:nvSpPr>
        <p:spPr bwMode="auto">
          <a:xfrm>
            <a:off x="7308022" y="4395528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100</a:t>
            </a:r>
          </a:p>
        </p:txBody>
      </p:sp>
      <p:sp>
        <p:nvSpPr>
          <p:cNvPr id="44" name="Rectangle 53"/>
          <p:cNvSpPr>
            <a:spLocks noChangeArrowheads="1"/>
          </p:cNvSpPr>
          <p:nvPr/>
        </p:nvSpPr>
        <p:spPr bwMode="auto">
          <a:xfrm>
            <a:off x="7312374" y="1748754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45" name="Rectangle 53"/>
          <p:cNvSpPr>
            <a:spLocks noChangeArrowheads="1"/>
          </p:cNvSpPr>
          <p:nvPr/>
        </p:nvSpPr>
        <p:spPr bwMode="auto">
          <a:xfrm>
            <a:off x="336222" y="4361876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100</a:t>
            </a:r>
          </a:p>
        </p:txBody>
      </p:sp>
      <p:sp>
        <p:nvSpPr>
          <p:cNvPr id="47" name="Rectangle 53"/>
          <p:cNvSpPr>
            <a:spLocks noChangeArrowheads="1"/>
          </p:cNvSpPr>
          <p:nvPr/>
        </p:nvSpPr>
        <p:spPr bwMode="auto">
          <a:xfrm>
            <a:off x="336222" y="1862935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100</a:t>
            </a:r>
          </a:p>
        </p:txBody>
      </p:sp>
      <p:sp>
        <p:nvSpPr>
          <p:cNvPr id="48" name="Rectangle 53"/>
          <p:cNvSpPr>
            <a:spLocks noChangeArrowheads="1"/>
          </p:cNvSpPr>
          <p:nvPr/>
        </p:nvSpPr>
        <p:spPr bwMode="auto">
          <a:xfrm>
            <a:off x="336221" y="6035606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100</a:t>
            </a:r>
          </a:p>
        </p:txBody>
      </p:sp>
      <p:cxnSp>
        <p:nvCxnSpPr>
          <p:cNvPr id="49" name="Straight Arrow Connector 14"/>
          <p:cNvCxnSpPr>
            <a:cxnSpLocks noChangeShapeType="1"/>
          </p:cNvCxnSpPr>
          <p:nvPr/>
        </p:nvCxnSpPr>
        <p:spPr bwMode="auto">
          <a:xfrm>
            <a:off x="2534594" y="2883470"/>
            <a:ext cx="3397730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" name="Straight Arrow Connector 14"/>
          <p:cNvCxnSpPr>
            <a:cxnSpLocks noChangeShapeType="1"/>
          </p:cNvCxnSpPr>
          <p:nvPr/>
        </p:nvCxnSpPr>
        <p:spPr bwMode="auto">
          <a:xfrm>
            <a:off x="2575033" y="4549416"/>
            <a:ext cx="3397730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" name="Straight Arrow Connector 14"/>
          <p:cNvCxnSpPr>
            <a:cxnSpLocks noChangeShapeType="1"/>
          </p:cNvCxnSpPr>
          <p:nvPr/>
        </p:nvCxnSpPr>
        <p:spPr bwMode="auto">
          <a:xfrm>
            <a:off x="2564291" y="6189494"/>
            <a:ext cx="3397730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" name="Straight Arrow Connector 14"/>
          <p:cNvCxnSpPr>
            <a:cxnSpLocks noChangeShapeType="1"/>
            <a:endCxn id="6" idx="1"/>
          </p:cNvCxnSpPr>
          <p:nvPr/>
        </p:nvCxnSpPr>
        <p:spPr bwMode="auto">
          <a:xfrm>
            <a:off x="2575033" y="4549416"/>
            <a:ext cx="3340709" cy="1628032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" name="Straight Arrow Connector 14"/>
          <p:cNvCxnSpPr>
            <a:cxnSpLocks noChangeShapeType="1"/>
            <a:stCxn id="27" idx="3"/>
          </p:cNvCxnSpPr>
          <p:nvPr/>
        </p:nvCxnSpPr>
        <p:spPr bwMode="auto">
          <a:xfrm flipV="1">
            <a:off x="2543503" y="4603880"/>
            <a:ext cx="3403769" cy="1585615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24160070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Programming Formulation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1022721"/>
                <a:ext cx="9051010" cy="5695794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Decision variables: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US" altLang="zh-CN" sz="2800" b="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800" b="0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>
                    <a:effectLst/>
                  </a:rPr>
                  <a:t>: amount of product </a:t>
                </a:r>
                <a14:m>
                  <m:oMath xmlns:m="http://schemas.openxmlformats.org/officeDocument/2006/math">
                    <m:r>
                      <a:rPr lang="en-US" altLang="zh-CN" sz="2600" b="1" i="1" dirty="0" smtClean="0">
                        <a:effectLst/>
                        <a:latin typeface="Cambria Math" panose="02040503050406030204" pitchFamily="18" charset="0"/>
                        <a:ea typeface="宋体" pitchFamily="2" charset="-122"/>
                      </a:rPr>
                      <m:t>𝒋</m:t>
                    </m:r>
                  </m:oMath>
                </a14:m>
                <a:r>
                  <a:rPr lang="en-US" dirty="0">
                    <a:effectLst/>
                  </a:rPr>
                  <a:t> produced at plant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effectLst/>
                        <a:latin typeface="Cambria Math" panose="02040503050406030204" pitchFamily="18" charset="0"/>
                        <a:ea typeface="宋体" pitchFamily="2" charset="-122"/>
                      </a:rPr>
                      <m:t>𝒊</m:t>
                    </m:r>
                  </m:oMath>
                </a14:m>
                <a:r>
                  <a:rPr lang="en-US" sz="2800" dirty="0">
                    <a:effectLst/>
                  </a:rPr>
                  <a:t>.</a:t>
                </a:r>
              </a:p>
              <a:p>
                <a:pPr marL="60325" indent="0">
                  <a:buNone/>
                </a:pPr>
                <a:endParaRPr lang="en-US" dirty="0"/>
              </a:p>
              <a:p>
                <a:pPr marL="403225" indent="-342900"/>
                <a:r>
                  <a:rPr lang="en-US" dirty="0"/>
                  <a:t>Objective:</a:t>
                </a:r>
              </a:p>
              <a:p>
                <a:pPr marL="800100" lvl="1" indent="-342900"/>
                <a:r>
                  <a:rPr lang="en-US" dirty="0">
                    <a:effectLst/>
                  </a:rPr>
                  <a:t>Maximize: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CN" sz="2800" b="1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sz="2800" b="0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(</m:t>
                        </m:r>
                        <m:r>
                          <a:rPr lang="en-US" altLang="zh-CN" sz="2800" b="0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𝑖</m:t>
                        </m:r>
                        <m:r>
                          <a:rPr lang="en-US" altLang="zh-CN" sz="2800" b="0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,</m:t>
                        </m:r>
                        <m:r>
                          <a:rPr lang="en-US" altLang="zh-CN" sz="2800" b="0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𝑗</m:t>
                        </m:r>
                        <m:r>
                          <a:rPr lang="en-US" altLang="zh-CN" sz="2800" b="0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)∈</m:t>
                        </m:r>
                        <m:r>
                          <a:rPr lang="en-US" altLang="zh-CN" sz="2800" b="0" i="1" dirty="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sz="2800" b="0" i="1" dirty="0"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800" b="0" i="1" dirty="0"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 b="0" i="1" dirty="0" smtClean="0"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</a:rPr>
                              <m:t>𝑖𝑗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  <a:p>
                <a:pPr marL="403225" indent="-342900"/>
                <a:endParaRPr lang="en-US" dirty="0"/>
              </a:p>
              <a:p>
                <a:pPr marL="403225" indent="-342900"/>
                <a:r>
                  <a:rPr lang="en-US" dirty="0"/>
                  <a:t>Constraints:</a:t>
                </a:r>
              </a:p>
              <a:p>
                <a:pPr marL="800100" lvl="1" indent="-342900"/>
                <a:r>
                  <a:rPr lang="en-US" sz="2600" dirty="0">
                    <a:effectLst/>
                  </a:rPr>
                  <a:t>Capacity constraint at plant</a:t>
                </a:r>
                <a:r>
                  <a:rPr lang="en-US" altLang="zh-CN" sz="2400" dirty="0">
                    <a:effectLst/>
                    <a:ea typeface="宋体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effectLst/>
                        <a:latin typeface="Cambria Math" panose="02040503050406030204" pitchFamily="18" charset="0"/>
                        <a:ea typeface="宋体" pitchFamily="2" charset="-122"/>
                      </a:rPr>
                      <m:t>𝒊</m:t>
                    </m:r>
                  </m:oMath>
                </a14:m>
                <a:r>
                  <a:rPr lang="en-US" sz="2400" dirty="0">
                    <a:effectLst/>
                  </a:rPr>
                  <a:t> </a:t>
                </a:r>
                <a:r>
                  <a:rPr lang="en-US" sz="2600" dirty="0">
                    <a:effectLst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CN" sz="280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naryPr>
                      <m:sub>
                        <m:r>
                          <a:rPr lang="en-US" altLang="zh-CN" sz="2800" b="0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𝑗</m:t>
                        </m:r>
                        <m:r>
                          <a:rPr lang="en-US" altLang="zh-CN" sz="2800" b="1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, </m:t>
                        </m:r>
                        <m:r>
                          <m:rPr>
                            <m:brk m:alnAt="7"/>
                          </m:rPr>
                          <a:rPr lang="en-US" altLang="zh-CN" sz="280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(</m:t>
                        </m:r>
                        <m:r>
                          <a:rPr lang="en-US" altLang="zh-CN" sz="280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𝑖</m:t>
                        </m:r>
                        <m:r>
                          <a:rPr lang="en-US" altLang="zh-CN" sz="280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,</m:t>
                        </m:r>
                        <m:r>
                          <a:rPr lang="en-US" altLang="zh-CN" sz="280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𝑗</m:t>
                        </m:r>
                        <m:r>
                          <a:rPr lang="en-US" altLang="zh-CN" sz="280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)∈</m:t>
                        </m:r>
                        <m:r>
                          <a:rPr lang="en-US" altLang="zh-CN" sz="280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𝐴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sz="2800" i="1" dirty="0"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800" i="1" dirty="0"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 i="1" dirty="0"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</a:rPr>
                              <m:t>𝑖𝑗</m:t>
                            </m:r>
                          </m:sub>
                        </m:sSub>
                      </m:e>
                    </m:nary>
                    <m:r>
                      <a:rPr lang="en-US" altLang="zh-CN" sz="2800" i="1" dirty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800" b="0" i="1" dirty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 sz="2600" dirty="0">
                    <a:effectLst/>
                  </a:rPr>
                  <a:t>	</a:t>
                </a:r>
              </a:p>
              <a:p>
                <a:pPr marL="800100" lvl="1" indent="-342900">
                  <a:buNone/>
                </a:pPr>
                <a:endParaRPr lang="en-US" sz="2600" dirty="0">
                  <a:effectLst/>
                </a:endParaRPr>
              </a:p>
              <a:p>
                <a:pPr marL="800100" lvl="1" indent="-342900"/>
                <a:r>
                  <a:rPr lang="en-US" sz="2600" dirty="0">
                    <a:effectLst/>
                  </a:rPr>
                  <a:t>Demand constraint for product</a:t>
                </a:r>
                <a:r>
                  <a:rPr lang="en-US" altLang="zh-CN" sz="2600" dirty="0">
                    <a:effectLst/>
                    <a:ea typeface="宋体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600" b="1" i="1" dirty="0" smtClean="0">
                        <a:effectLst/>
                        <a:latin typeface="Cambria Math" panose="02040503050406030204" pitchFamily="18" charset="0"/>
                        <a:ea typeface="宋体" pitchFamily="2" charset="-122"/>
                      </a:rPr>
                      <m:t>𝒋</m:t>
                    </m:r>
                  </m:oMath>
                </a14:m>
                <a:r>
                  <a:rPr lang="en-US" sz="2600" dirty="0">
                    <a:effectLst/>
                  </a:rPr>
                  <a:t> 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CN" sz="260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naryPr>
                      <m:sub>
                        <m:r>
                          <a:rPr lang="en-US" altLang="zh-CN" sz="2600" b="0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𝑖</m:t>
                        </m:r>
                        <m:r>
                          <a:rPr lang="en-US" altLang="zh-CN" sz="260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, </m:t>
                        </m:r>
                        <m:r>
                          <m:rPr>
                            <m:brk m:alnAt="7"/>
                          </m:rPr>
                          <a:rPr lang="en-US" altLang="zh-CN" sz="260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(</m:t>
                        </m:r>
                        <m:r>
                          <a:rPr lang="en-US" altLang="zh-CN" sz="260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𝑖</m:t>
                        </m:r>
                        <m:r>
                          <a:rPr lang="en-US" altLang="zh-CN" sz="260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,</m:t>
                        </m:r>
                        <m:r>
                          <a:rPr lang="en-US" altLang="zh-CN" sz="260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𝑗</m:t>
                        </m:r>
                        <m:r>
                          <a:rPr lang="en-US" altLang="zh-CN" sz="260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)∈</m:t>
                        </m:r>
                        <m:r>
                          <a:rPr lang="en-US" altLang="zh-CN" sz="260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𝐴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sz="2600" i="1" dirty="0"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600" i="1" dirty="0"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600" i="1" dirty="0"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</a:rPr>
                              <m:t>𝑖𝑗</m:t>
                            </m:r>
                          </m:sub>
                        </m:sSub>
                      </m:e>
                    </m:nary>
                    <m:r>
                      <a:rPr lang="en-US" altLang="zh-CN" sz="26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2600" b="0" i="1" dirty="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b="0" i="1" dirty="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2600" b="0" i="1" dirty="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altLang="zh-CN" sz="2600" b="0" dirty="0">
                  <a:effectLst/>
                  <a:ea typeface="Cambria Math" panose="02040503050406030204" pitchFamily="18" charset="0"/>
                </a:endParaRPr>
              </a:p>
              <a:p>
                <a:pPr marL="800100" lvl="1" indent="-342900"/>
                <a:endParaRPr lang="en-US" sz="2600" dirty="0">
                  <a:effectLst/>
                </a:endParaRPr>
              </a:p>
              <a:p>
                <a:pPr marL="800100" lvl="1" indent="-342900"/>
                <a:r>
                  <a:rPr lang="en-US" sz="2600" dirty="0">
                    <a:effectLst/>
                  </a:rPr>
                  <a:t>Non-negativity constraint: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b="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US" altLang="zh-CN" sz="2600" b="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600" b="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𝑖</m:t>
                        </m:r>
                        <m:r>
                          <a:rPr lang="en-US" altLang="zh-CN" sz="2600" b="0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𝑗</m:t>
                        </m:r>
                      </m:sub>
                    </m:sSub>
                    <m:r>
                      <a:rPr lang="en-US" altLang="zh-CN" sz="2600" b="0" i="1" dirty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endParaRPr lang="en-US" sz="2600" dirty="0">
                  <a:effectLst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022721"/>
                <a:ext cx="9051010" cy="5695794"/>
              </a:xfrm>
              <a:blipFill rotWithShape="0">
                <a:blip r:embed="rId3"/>
                <a:stretch>
                  <a:fillRect l="-1212" t="-182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235920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If demand is random…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57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0" y="941388"/>
                <a:ext cx="9110663" cy="5472113"/>
              </a:xfrm>
            </p:spPr>
            <p:txBody>
              <a:bodyPr/>
              <a:lstStyle/>
              <a:p>
                <a:pPr marL="0" indent="0">
                  <a:buNone/>
                  <a:defRPr/>
                </a:pPr>
                <a:endParaRPr lang="en-US" altLang="zh-CN" dirty="0">
                  <a:ea typeface="宋体" pitchFamily="2" charset="-122"/>
                </a:endParaRPr>
              </a:p>
              <a:p>
                <a:pPr>
                  <a:defRPr/>
                </a:pPr>
                <a:r>
                  <a:rPr lang="en-US" altLang="zh-CN" dirty="0">
                    <a:effectLst/>
                    <a:ea typeface="宋体" pitchFamily="2" charset="-122"/>
                  </a:rPr>
                  <a:t>Suppose demands of products are independent and demand for </a:t>
                </a:r>
                <a:r>
                  <a:rPr lang="en-US" dirty="0">
                    <a:effectLst/>
                  </a:rPr>
                  <a:t>product </a:t>
                </a:r>
                <a14:m>
                  <m:oMath xmlns:m="http://schemas.openxmlformats.org/officeDocument/2006/math">
                    <m:r>
                      <a:rPr lang="en-US" altLang="zh-CN" sz="2600" i="1" dirty="0">
                        <a:effectLst/>
                        <a:latin typeface="Cambria Math" panose="02040503050406030204" pitchFamily="18" charset="0"/>
                        <a:ea typeface="宋体" pitchFamily="2" charset="-122"/>
                      </a:rPr>
                      <m:t>𝒋</m:t>
                    </m:r>
                  </m:oMath>
                </a14:m>
                <a:r>
                  <a:rPr lang="en-US" dirty="0">
                    <a:effectLst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𝐷</m:t>
                        </m:r>
                      </m:e>
                      <m:sub>
                        <m:r>
                          <a:rPr lang="en-US" altLang="zh-CN" sz="3200" b="0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𝑗</m:t>
                        </m:r>
                      </m:sub>
                    </m:sSub>
                    <m:r>
                      <a:rPr lang="en-US" altLang="zh-CN" sz="3200" b="0" i="1" dirty="0" smtClean="0">
                        <a:effectLst/>
                        <a:latin typeface="Cambria Math" panose="02040503050406030204" pitchFamily="18" charset="0"/>
                        <a:ea typeface="宋体" pitchFamily="2" charset="-122"/>
                      </a:rPr>
                      <m:t>=</m:t>
                    </m:r>
                    <m:r>
                      <a:rPr lang="en-US" altLang="zh-CN" sz="3200" b="0" i="1" dirty="0" smtClean="0">
                        <a:effectLst/>
                        <a:latin typeface="Cambria Math" panose="02040503050406030204" pitchFamily="18" charset="0"/>
                        <a:ea typeface="宋体" pitchFamily="2" charset="-122"/>
                      </a:rPr>
                      <m:t>𝑚𝑎𝑥</m:t>
                    </m:r>
                    <m:r>
                      <a:rPr lang="en-US" altLang="zh-CN" sz="3200" b="0" i="1" dirty="0" smtClean="0">
                        <a:effectLst/>
                        <a:latin typeface="Cambria Math" panose="02040503050406030204" pitchFamily="18" charset="0"/>
                        <a:ea typeface="宋体" pitchFamily="2" charset="-122"/>
                      </a:rPr>
                      <m:t>{</m:t>
                    </m:r>
                    <m:sSub>
                      <m:sSubPr>
                        <m:ctrlPr>
                          <a:rPr lang="en-US" altLang="zh-CN" sz="3200" b="0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3200" b="0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𝑗</m:t>
                        </m:r>
                      </m:sub>
                    </m:sSub>
                    <m:r>
                      <a:rPr lang="en-US" altLang="zh-CN" sz="3200" b="0" i="1" dirty="0" smtClean="0">
                        <a:effectLst/>
                        <a:latin typeface="Cambria Math" panose="02040503050406030204" pitchFamily="18" charset="0"/>
                        <a:ea typeface="宋体" pitchFamily="2" charset="-122"/>
                      </a:rPr>
                      <m:t>,0}</m:t>
                    </m:r>
                  </m:oMath>
                </a14:m>
                <a:endParaRPr lang="en-US" altLang="zh-CN" b="0" dirty="0">
                  <a:effectLst/>
                  <a:ea typeface="宋体" pitchFamily="2" charset="-122"/>
                </a:endParaRPr>
              </a:p>
              <a:p>
                <a:pPr lvl="1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US" altLang="zh-CN" sz="2800" b="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2800" b="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dirty="0">
                    <a:effectLst/>
                    <a:ea typeface="宋体" pitchFamily="2" charset="-122"/>
                  </a:rPr>
                  <a:t> follows</a:t>
                </a:r>
                <a:r>
                  <a:rPr lang="en-US" altLang="zh-CN" sz="2400" b="0" dirty="0">
                    <a:effectLst/>
                    <a:ea typeface="宋体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1" dirty="0">
                        <a:effectLst/>
                        <a:latin typeface="Cambria Math" panose="02040503050406030204" pitchFamily="18" charset="0"/>
                        <a:ea typeface="宋体" pitchFamily="2" charset="-122"/>
                      </a:rPr>
                      <m:t>𝑁</m:t>
                    </m:r>
                    <m:r>
                      <a:rPr lang="en-US" altLang="zh-CN" sz="2800" b="0" i="1" dirty="0">
                        <a:effectLst/>
                        <a:latin typeface="Cambria Math" panose="02040503050406030204" pitchFamily="18" charset="0"/>
                        <a:ea typeface="宋体" pitchFamily="2" charset="-122"/>
                      </a:rPr>
                      <m:t>(</m:t>
                    </m:r>
                    <m:sSub>
                      <m:sSubPr>
                        <m:ctrlPr>
                          <a:rPr lang="en-US" altLang="zh-CN" sz="2800" b="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zh-CN" altLang="en-US" sz="2800" b="0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𝜇</m:t>
                        </m:r>
                      </m:e>
                      <m:sub>
                        <m:r>
                          <a:rPr lang="en-US" altLang="zh-CN" sz="2800" b="0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𝑗</m:t>
                        </m:r>
                      </m:sub>
                    </m:sSub>
                    <m:r>
                      <a:rPr lang="en-US" altLang="zh-CN" sz="2800" b="0" i="1" dirty="0">
                        <a:effectLst/>
                        <a:latin typeface="Cambria Math" panose="02040503050406030204" pitchFamily="18" charset="0"/>
                        <a:ea typeface="宋体" pitchFamily="2" charset="-122"/>
                      </a:rPr>
                      <m:t>,</m:t>
                    </m:r>
                    <m:sSubSup>
                      <m:sSubSupPr>
                        <m:ctrlPr>
                          <a:rPr lang="en-US" altLang="zh-CN" sz="2800" b="0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SupPr>
                      <m:e>
                        <m:r>
                          <a:rPr lang="zh-CN" altLang="en-US" sz="2800" b="0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𝜎</m:t>
                        </m:r>
                      </m:e>
                      <m:sub>
                        <m:r>
                          <a:rPr lang="en-US" altLang="zh-CN" sz="2800" b="0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𝑗</m:t>
                        </m:r>
                      </m:sub>
                      <m:sup>
                        <m:r>
                          <a:rPr lang="en-US" altLang="zh-CN" sz="2800" b="0" i="1" dirty="0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2</m:t>
                        </m:r>
                      </m:sup>
                    </m:sSubSup>
                    <m:r>
                      <a:rPr lang="en-US" altLang="zh-CN" sz="2800" b="0" i="1" dirty="0">
                        <a:effectLst/>
                        <a:latin typeface="Cambria Math" panose="02040503050406030204" pitchFamily="18" charset="0"/>
                        <a:ea typeface="宋体" pitchFamily="2" charset="-122"/>
                      </a:rPr>
                      <m:t>)</m:t>
                    </m:r>
                  </m:oMath>
                </a14:m>
                <a:endParaRPr lang="en-US" altLang="zh-CN" sz="2800" b="0" i="1" dirty="0">
                  <a:effectLst/>
                  <a:latin typeface="Cambria Math" panose="02040503050406030204" pitchFamily="18" charset="0"/>
                  <a:ea typeface="宋体" pitchFamily="2" charset="-122"/>
                </a:endParaRPr>
              </a:p>
              <a:p>
                <a:pPr>
                  <a:defRPr/>
                </a:pPr>
                <a:r>
                  <a:rPr lang="en-US" altLang="zh-CN" dirty="0">
                    <a:effectLst/>
                    <a:ea typeface="宋体" pitchFamily="2" charset="-122"/>
                  </a:rPr>
                  <a:t>Given a design (N, A), how do we evaluate its performance?</a:t>
                </a:r>
              </a:p>
              <a:p>
                <a:pPr lvl="1">
                  <a:defRPr/>
                </a:pPr>
                <a:r>
                  <a:rPr lang="en-US" altLang="zh-CN" dirty="0">
                    <a:effectLst/>
                    <a:ea typeface="宋体" pitchFamily="2" charset="-122"/>
                  </a:rPr>
                  <a:t>Draw M samples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US" altLang="zh-CN" b="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𝐷</m:t>
                        </m:r>
                      </m:e>
                      <m:sub>
                        <m:r>
                          <a:rPr lang="en-US" altLang="zh-CN" b="0" i="1" dirty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𝑗</m:t>
                        </m:r>
                      </m:sub>
                    </m:sSub>
                  </m:oMath>
                </a14:m>
                <a:endParaRPr lang="en-US" altLang="zh-CN" dirty="0">
                  <a:effectLst/>
                  <a:ea typeface="宋体" pitchFamily="2" charset="-122"/>
                </a:endParaRPr>
              </a:p>
              <a:p>
                <a:pPr lvl="1">
                  <a:defRPr/>
                </a:pPr>
                <a:r>
                  <a:rPr lang="en-US" altLang="zh-CN" dirty="0">
                    <a:effectLst/>
                    <a:ea typeface="宋体" pitchFamily="2" charset="-122"/>
                  </a:rPr>
                  <a:t>Solve the network flow problem M times</a:t>
                </a:r>
              </a:p>
              <a:p>
                <a:pPr lvl="1">
                  <a:defRPr/>
                </a:pPr>
                <a:r>
                  <a:rPr lang="en-US" altLang="zh-CN" dirty="0">
                    <a:effectLst/>
                    <a:ea typeface="宋体" pitchFamily="2" charset="-122"/>
                  </a:rPr>
                  <a:t>Take the average of the objective values</a:t>
                </a:r>
              </a:p>
            </p:txBody>
          </p:sp>
        </mc:Choice>
        <mc:Fallback xmlns="">
          <p:sp>
            <p:nvSpPr>
              <p:cNvPr id="10957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0" y="941388"/>
                <a:ext cx="9110663" cy="5472113"/>
              </a:xfrm>
              <a:blipFill rotWithShape="0">
                <a:blip r:embed="rId3"/>
                <a:stretch>
                  <a:fillRect l="-127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74606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How to improve upon the dedicated system?</a:t>
            </a:r>
            <a:endParaRPr lang="en-GB" altLang="en-US" dirty="0"/>
          </a:p>
        </p:txBody>
      </p:sp>
      <p:sp>
        <p:nvSpPr>
          <p:cNvPr id="40963" name="Content Placeholder 2"/>
          <p:cNvSpPr>
            <a:spLocks noGrp="1"/>
          </p:cNvSpPr>
          <p:nvPr>
            <p:ph idx="1"/>
          </p:nvPr>
        </p:nvSpPr>
        <p:spPr>
          <a:xfrm>
            <a:off x="-1018731" y="833160"/>
            <a:ext cx="1142590" cy="1069483"/>
          </a:xfrm>
        </p:spPr>
        <p:txBody>
          <a:bodyPr/>
          <a:lstStyle/>
          <a:p>
            <a:endParaRPr lang="en-GB" altLang="en-US" dirty="0"/>
          </a:p>
        </p:txBody>
      </p:sp>
      <p:pic>
        <p:nvPicPr>
          <p:cNvPr id="40964" name="Picture 2" descr="C:\Documents and Settings\s40712\Local Settings\Temporary Internet Files\Content.IE5\AB9QT5PI\MCj0280802000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099" y="1524068"/>
            <a:ext cx="834404" cy="719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5" name="Picture 2" descr="C:\Documents and Settings\s40712\Local Settings\Temporary Internet Files\Content.IE5\AB9QT5PI\MCj0280802000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099" y="3217822"/>
            <a:ext cx="855192" cy="736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6" name="Picture 2" descr="C:\Documents and Settings\s40712\Local Settings\Temporary Internet Files\Content.IE5\AB9QT5PI\MCj0280802000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099" y="4972351"/>
            <a:ext cx="834404" cy="719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0971" name="Straight Arrow Connector 14"/>
          <p:cNvCxnSpPr>
            <a:cxnSpLocks noChangeShapeType="1"/>
            <a:stCxn id="40964" idx="3"/>
            <a:endCxn id="5" idx="1"/>
          </p:cNvCxnSpPr>
          <p:nvPr/>
        </p:nvCxnSpPr>
        <p:spPr bwMode="auto">
          <a:xfrm>
            <a:off x="2543503" y="1883583"/>
            <a:ext cx="3397730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5684" y="3245699"/>
            <a:ext cx="1285875" cy="77467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1233" y="1494495"/>
            <a:ext cx="1259306" cy="778176"/>
          </a:xfrm>
          <a:prstGeom prst="rect">
            <a:avLst/>
          </a:prstGeom>
        </p:spPr>
      </p:pic>
      <p:cxnSp>
        <p:nvCxnSpPr>
          <p:cNvPr id="32" name="Straight Arrow Connector 14"/>
          <p:cNvCxnSpPr>
            <a:cxnSpLocks noChangeShapeType="1"/>
            <a:stCxn id="40966" idx="3"/>
            <a:endCxn id="11" idx="1"/>
          </p:cNvCxnSpPr>
          <p:nvPr/>
        </p:nvCxnSpPr>
        <p:spPr bwMode="auto">
          <a:xfrm>
            <a:off x="2543503" y="5331866"/>
            <a:ext cx="3429260" cy="2102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" name="Straight Arrow Connector 14"/>
          <p:cNvCxnSpPr>
            <a:cxnSpLocks noChangeShapeType="1"/>
            <a:stCxn id="40965" idx="3"/>
            <a:endCxn id="4" idx="1"/>
          </p:cNvCxnSpPr>
          <p:nvPr/>
        </p:nvCxnSpPr>
        <p:spPr bwMode="auto">
          <a:xfrm>
            <a:off x="2564291" y="3586293"/>
            <a:ext cx="3371393" cy="46742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2763" y="4939258"/>
            <a:ext cx="1371141" cy="827255"/>
          </a:xfrm>
          <a:prstGeom prst="rect">
            <a:avLst/>
          </a:prstGeom>
        </p:spPr>
      </p:pic>
      <p:sp>
        <p:nvSpPr>
          <p:cNvPr id="35" name="Rectangle 53"/>
          <p:cNvSpPr>
            <a:spLocks noChangeArrowheads="1"/>
          </p:cNvSpPr>
          <p:nvPr/>
        </p:nvSpPr>
        <p:spPr bwMode="auto">
          <a:xfrm>
            <a:off x="336223" y="3510675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100</a:t>
            </a:r>
          </a:p>
        </p:txBody>
      </p:sp>
      <p:sp>
        <p:nvSpPr>
          <p:cNvPr id="36" name="Rectangle 53"/>
          <p:cNvSpPr>
            <a:spLocks noChangeArrowheads="1"/>
          </p:cNvSpPr>
          <p:nvPr/>
        </p:nvSpPr>
        <p:spPr bwMode="auto">
          <a:xfrm>
            <a:off x="7308022" y="2668458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80</a:t>
            </a:r>
          </a:p>
        </p:txBody>
      </p:sp>
      <p:sp>
        <p:nvSpPr>
          <p:cNvPr id="37" name="Rectangle 53"/>
          <p:cNvSpPr>
            <a:spLocks noChangeArrowheads="1"/>
          </p:cNvSpPr>
          <p:nvPr/>
        </p:nvSpPr>
        <p:spPr bwMode="auto">
          <a:xfrm>
            <a:off x="336222" y="5177976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100</a:t>
            </a:r>
          </a:p>
        </p:txBody>
      </p:sp>
      <p:sp>
        <p:nvSpPr>
          <p:cNvPr id="38" name="Rectangle 53"/>
          <p:cNvSpPr>
            <a:spLocks noChangeArrowheads="1"/>
          </p:cNvSpPr>
          <p:nvPr/>
        </p:nvSpPr>
        <p:spPr bwMode="auto">
          <a:xfrm>
            <a:off x="336222" y="2703374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100</a:t>
            </a:r>
          </a:p>
        </p:txBody>
      </p:sp>
      <p:sp>
        <p:nvSpPr>
          <p:cNvPr id="39" name="Rectangle 53"/>
          <p:cNvSpPr>
            <a:spLocks noChangeArrowheads="1"/>
          </p:cNvSpPr>
          <p:nvPr/>
        </p:nvSpPr>
        <p:spPr bwMode="auto">
          <a:xfrm>
            <a:off x="7312374" y="3586293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140</a:t>
            </a:r>
          </a:p>
        </p:txBody>
      </p:sp>
      <p:sp>
        <p:nvSpPr>
          <p:cNvPr id="40" name="Rectangle 53"/>
          <p:cNvSpPr>
            <a:spLocks noChangeArrowheads="1"/>
          </p:cNvSpPr>
          <p:nvPr/>
        </p:nvSpPr>
        <p:spPr bwMode="auto">
          <a:xfrm>
            <a:off x="7287961" y="5257017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140</a:t>
            </a:r>
          </a:p>
        </p:txBody>
      </p:sp>
      <p:cxnSp>
        <p:nvCxnSpPr>
          <p:cNvPr id="42" name="Straight Arrow Connector 14"/>
          <p:cNvCxnSpPr>
            <a:cxnSpLocks noChangeShapeType="1"/>
            <a:endCxn id="2" idx="1"/>
          </p:cNvCxnSpPr>
          <p:nvPr/>
        </p:nvCxnSpPr>
        <p:spPr bwMode="auto">
          <a:xfrm>
            <a:off x="2551301" y="1890558"/>
            <a:ext cx="3302510" cy="859711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5" name="Picture 2" descr="C:\Documents and Settings\s40712\Local Settings\Temporary Internet Files\Content.IE5\AB9QT5PI\MCj0280802000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8357" y="2358186"/>
            <a:ext cx="834404" cy="719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2" descr="C:\Documents and Settings\s40712\Local Settings\Temporary Internet Files\Content.IE5\AB9QT5PI\MCj0280802000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9493" y="4093363"/>
            <a:ext cx="834404" cy="719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2" descr="C:\Documents and Settings\s40712\Local Settings\Temporary Internet Files\Content.IE5\AB9QT5PI\MCj0280802000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099" y="5829980"/>
            <a:ext cx="834404" cy="719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3811" y="2288349"/>
            <a:ext cx="1434150" cy="92383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2324" y="4095059"/>
            <a:ext cx="1283231" cy="71733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15742" y="5776702"/>
            <a:ext cx="1410319" cy="801492"/>
          </a:xfrm>
          <a:prstGeom prst="rect">
            <a:avLst/>
          </a:prstGeom>
        </p:spPr>
      </p:pic>
      <p:sp>
        <p:nvSpPr>
          <p:cNvPr id="31" name="Rectangle 53"/>
          <p:cNvSpPr>
            <a:spLocks noChangeArrowheads="1"/>
          </p:cNvSpPr>
          <p:nvPr/>
        </p:nvSpPr>
        <p:spPr bwMode="auto">
          <a:xfrm>
            <a:off x="7297485" y="6081891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120</a:t>
            </a:r>
          </a:p>
        </p:txBody>
      </p:sp>
      <p:sp>
        <p:nvSpPr>
          <p:cNvPr id="34" name="Rectangle 53"/>
          <p:cNvSpPr>
            <a:spLocks noChangeArrowheads="1"/>
          </p:cNvSpPr>
          <p:nvPr/>
        </p:nvSpPr>
        <p:spPr bwMode="auto">
          <a:xfrm>
            <a:off x="7308022" y="4395528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100</a:t>
            </a:r>
          </a:p>
        </p:txBody>
      </p:sp>
      <p:sp>
        <p:nvSpPr>
          <p:cNvPr id="44" name="Rectangle 53"/>
          <p:cNvSpPr>
            <a:spLocks noChangeArrowheads="1"/>
          </p:cNvSpPr>
          <p:nvPr/>
        </p:nvSpPr>
        <p:spPr bwMode="auto">
          <a:xfrm>
            <a:off x="7312374" y="1748754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45" name="Rectangle 53"/>
          <p:cNvSpPr>
            <a:spLocks noChangeArrowheads="1"/>
          </p:cNvSpPr>
          <p:nvPr/>
        </p:nvSpPr>
        <p:spPr bwMode="auto">
          <a:xfrm>
            <a:off x="336222" y="4361876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100</a:t>
            </a:r>
          </a:p>
        </p:txBody>
      </p:sp>
      <p:sp>
        <p:nvSpPr>
          <p:cNvPr id="47" name="Rectangle 53"/>
          <p:cNvSpPr>
            <a:spLocks noChangeArrowheads="1"/>
          </p:cNvSpPr>
          <p:nvPr/>
        </p:nvSpPr>
        <p:spPr bwMode="auto">
          <a:xfrm>
            <a:off x="336222" y="1862935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100</a:t>
            </a:r>
          </a:p>
        </p:txBody>
      </p:sp>
      <p:sp>
        <p:nvSpPr>
          <p:cNvPr id="48" name="Rectangle 53"/>
          <p:cNvSpPr>
            <a:spLocks noChangeArrowheads="1"/>
          </p:cNvSpPr>
          <p:nvPr/>
        </p:nvSpPr>
        <p:spPr bwMode="auto">
          <a:xfrm>
            <a:off x="336221" y="6035606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100</a:t>
            </a:r>
          </a:p>
        </p:txBody>
      </p:sp>
      <p:cxnSp>
        <p:nvCxnSpPr>
          <p:cNvPr id="49" name="Straight Arrow Connector 14"/>
          <p:cNvCxnSpPr>
            <a:cxnSpLocks noChangeShapeType="1"/>
          </p:cNvCxnSpPr>
          <p:nvPr/>
        </p:nvCxnSpPr>
        <p:spPr bwMode="auto">
          <a:xfrm>
            <a:off x="2534594" y="2883470"/>
            <a:ext cx="3397730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" name="Straight Arrow Connector 14"/>
          <p:cNvCxnSpPr>
            <a:cxnSpLocks noChangeShapeType="1"/>
          </p:cNvCxnSpPr>
          <p:nvPr/>
        </p:nvCxnSpPr>
        <p:spPr bwMode="auto">
          <a:xfrm>
            <a:off x="2575033" y="4549416"/>
            <a:ext cx="3397730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" name="Straight Arrow Connector 14"/>
          <p:cNvCxnSpPr>
            <a:cxnSpLocks noChangeShapeType="1"/>
          </p:cNvCxnSpPr>
          <p:nvPr/>
        </p:nvCxnSpPr>
        <p:spPr bwMode="auto">
          <a:xfrm>
            <a:off x="2564291" y="6189494"/>
            <a:ext cx="3397730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5569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Open Chain</a:t>
            </a:r>
            <a:endParaRPr lang="en-GB" altLang="en-US" dirty="0"/>
          </a:p>
        </p:txBody>
      </p:sp>
      <p:sp>
        <p:nvSpPr>
          <p:cNvPr id="40963" name="Content Placeholder 2"/>
          <p:cNvSpPr>
            <a:spLocks noGrp="1"/>
          </p:cNvSpPr>
          <p:nvPr>
            <p:ph idx="1"/>
          </p:nvPr>
        </p:nvSpPr>
        <p:spPr>
          <a:xfrm>
            <a:off x="-1018731" y="833160"/>
            <a:ext cx="1142590" cy="1069483"/>
          </a:xfrm>
        </p:spPr>
        <p:txBody>
          <a:bodyPr/>
          <a:lstStyle/>
          <a:p>
            <a:endParaRPr lang="en-GB" altLang="en-US" dirty="0"/>
          </a:p>
        </p:txBody>
      </p:sp>
      <p:pic>
        <p:nvPicPr>
          <p:cNvPr id="40964" name="Picture 2" descr="C:\Documents and Settings\s40712\Local Settings\Temporary Internet Files\Content.IE5\AB9QT5PI\MCj0280802000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099" y="1524068"/>
            <a:ext cx="834404" cy="719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5" name="Picture 2" descr="C:\Documents and Settings\s40712\Local Settings\Temporary Internet Files\Content.IE5\AB9QT5PI\MCj0280802000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099" y="3217822"/>
            <a:ext cx="855192" cy="736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6" name="Picture 2" descr="C:\Documents and Settings\s40712\Local Settings\Temporary Internet Files\Content.IE5\AB9QT5PI\MCj0280802000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099" y="4972351"/>
            <a:ext cx="834404" cy="719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0971" name="Straight Arrow Connector 14"/>
          <p:cNvCxnSpPr>
            <a:cxnSpLocks noChangeShapeType="1"/>
            <a:stCxn id="40964" idx="3"/>
            <a:endCxn id="5" idx="1"/>
          </p:cNvCxnSpPr>
          <p:nvPr/>
        </p:nvCxnSpPr>
        <p:spPr bwMode="auto">
          <a:xfrm>
            <a:off x="2543503" y="1883583"/>
            <a:ext cx="3397730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5684" y="3245699"/>
            <a:ext cx="1285875" cy="77467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1233" y="1494495"/>
            <a:ext cx="1259306" cy="778176"/>
          </a:xfrm>
          <a:prstGeom prst="rect">
            <a:avLst/>
          </a:prstGeom>
        </p:spPr>
      </p:pic>
      <p:cxnSp>
        <p:nvCxnSpPr>
          <p:cNvPr id="32" name="Straight Arrow Connector 14"/>
          <p:cNvCxnSpPr>
            <a:cxnSpLocks noChangeShapeType="1"/>
            <a:stCxn id="40966" idx="3"/>
            <a:endCxn id="11" idx="1"/>
          </p:cNvCxnSpPr>
          <p:nvPr/>
        </p:nvCxnSpPr>
        <p:spPr bwMode="auto">
          <a:xfrm>
            <a:off x="2543503" y="5331866"/>
            <a:ext cx="3431918" cy="19098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" name="Straight Arrow Connector 14"/>
          <p:cNvCxnSpPr>
            <a:cxnSpLocks noChangeShapeType="1"/>
            <a:stCxn id="40965" idx="3"/>
            <a:endCxn id="4" idx="1"/>
          </p:cNvCxnSpPr>
          <p:nvPr/>
        </p:nvCxnSpPr>
        <p:spPr bwMode="auto">
          <a:xfrm>
            <a:off x="2564291" y="3586293"/>
            <a:ext cx="3371393" cy="46742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5421" y="4937336"/>
            <a:ext cx="1371141" cy="827255"/>
          </a:xfrm>
          <a:prstGeom prst="rect">
            <a:avLst/>
          </a:prstGeom>
        </p:spPr>
      </p:pic>
      <p:sp>
        <p:nvSpPr>
          <p:cNvPr id="35" name="Rectangle 53"/>
          <p:cNvSpPr>
            <a:spLocks noChangeArrowheads="1"/>
          </p:cNvSpPr>
          <p:nvPr/>
        </p:nvSpPr>
        <p:spPr bwMode="auto">
          <a:xfrm>
            <a:off x="336223" y="3510675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100</a:t>
            </a:r>
          </a:p>
        </p:txBody>
      </p:sp>
      <p:sp>
        <p:nvSpPr>
          <p:cNvPr id="36" name="Rectangle 53"/>
          <p:cNvSpPr>
            <a:spLocks noChangeArrowheads="1"/>
          </p:cNvSpPr>
          <p:nvPr/>
        </p:nvSpPr>
        <p:spPr bwMode="auto">
          <a:xfrm>
            <a:off x="7308022" y="2668458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80</a:t>
            </a:r>
          </a:p>
        </p:txBody>
      </p:sp>
      <p:sp>
        <p:nvSpPr>
          <p:cNvPr id="37" name="Rectangle 53"/>
          <p:cNvSpPr>
            <a:spLocks noChangeArrowheads="1"/>
          </p:cNvSpPr>
          <p:nvPr/>
        </p:nvSpPr>
        <p:spPr bwMode="auto">
          <a:xfrm>
            <a:off x="336222" y="5177976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100</a:t>
            </a:r>
          </a:p>
        </p:txBody>
      </p:sp>
      <p:sp>
        <p:nvSpPr>
          <p:cNvPr id="38" name="Rectangle 53"/>
          <p:cNvSpPr>
            <a:spLocks noChangeArrowheads="1"/>
          </p:cNvSpPr>
          <p:nvPr/>
        </p:nvSpPr>
        <p:spPr bwMode="auto">
          <a:xfrm>
            <a:off x="336222" y="2703374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100</a:t>
            </a:r>
          </a:p>
        </p:txBody>
      </p:sp>
      <p:sp>
        <p:nvSpPr>
          <p:cNvPr id="39" name="Rectangle 53"/>
          <p:cNvSpPr>
            <a:spLocks noChangeArrowheads="1"/>
          </p:cNvSpPr>
          <p:nvPr/>
        </p:nvSpPr>
        <p:spPr bwMode="auto">
          <a:xfrm>
            <a:off x="7312374" y="3586293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140</a:t>
            </a:r>
          </a:p>
        </p:txBody>
      </p:sp>
      <p:sp>
        <p:nvSpPr>
          <p:cNvPr id="40" name="Rectangle 53"/>
          <p:cNvSpPr>
            <a:spLocks noChangeArrowheads="1"/>
          </p:cNvSpPr>
          <p:nvPr/>
        </p:nvSpPr>
        <p:spPr bwMode="auto">
          <a:xfrm>
            <a:off x="7287961" y="5257017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140</a:t>
            </a:r>
          </a:p>
        </p:txBody>
      </p:sp>
      <p:cxnSp>
        <p:nvCxnSpPr>
          <p:cNvPr id="42" name="Straight Arrow Connector 14"/>
          <p:cNvCxnSpPr>
            <a:cxnSpLocks noChangeShapeType="1"/>
          </p:cNvCxnSpPr>
          <p:nvPr/>
        </p:nvCxnSpPr>
        <p:spPr bwMode="auto">
          <a:xfrm>
            <a:off x="2551301" y="1890558"/>
            <a:ext cx="3364441" cy="988769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5" name="Picture 2" descr="C:\Documents and Settings\s40712\Local Settings\Temporary Internet Files\Content.IE5\AB9QT5PI\MCj0280802000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8357" y="2358186"/>
            <a:ext cx="834404" cy="719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2" descr="C:\Documents and Settings\s40712\Local Settings\Temporary Internet Files\Content.IE5\AB9QT5PI\MCj0280802000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9493" y="4093363"/>
            <a:ext cx="834404" cy="719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2" descr="C:\Documents and Settings\s40712\Local Settings\Temporary Internet Files\Content.IE5\AB9QT5PI\MCj0280802000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099" y="5829980"/>
            <a:ext cx="834404" cy="719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3811" y="2288349"/>
            <a:ext cx="1434150" cy="92383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2324" y="4095059"/>
            <a:ext cx="1283231" cy="71733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15742" y="5776702"/>
            <a:ext cx="1410319" cy="801492"/>
          </a:xfrm>
          <a:prstGeom prst="rect">
            <a:avLst/>
          </a:prstGeom>
        </p:spPr>
      </p:pic>
      <p:sp>
        <p:nvSpPr>
          <p:cNvPr id="31" name="Rectangle 53"/>
          <p:cNvSpPr>
            <a:spLocks noChangeArrowheads="1"/>
          </p:cNvSpPr>
          <p:nvPr/>
        </p:nvSpPr>
        <p:spPr bwMode="auto">
          <a:xfrm>
            <a:off x="7297485" y="6081891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120</a:t>
            </a:r>
          </a:p>
        </p:txBody>
      </p:sp>
      <p:sp>
        <p:nvSpPr>
          <p:cNvPr id="34" name="Rectangle 53"/>
          <p:cNvSpPr>
            <a:spLocks noChangeArrowheads="1"/>
          </p:cNvSpPr>
          <p:nvPr/>
        </p:nvSpPr>
        <p:spPr bwMode="auto">
          <a:xfrm>
            <a:off x="7308022" y="4395528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100</a:t>
            </a:r>
          </a:p>
        </p:txBody>
      </p:sp>
      <p:sp>
        <p:nvSpPr>
          <p:cNvPr id="44" name="Rectangle 53"/>
          <p:cNvSpPr>
            <a:spLocks noChangeArrowheads="1"/>
          </p:cNvSpPr>
          <p:nvPr/>
        </p:nvSpPr>
        <p:spPr bwMode="auto">
          <a:xfrm>
            <a:off x="7312374" y="1748754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45" name="Rectangle 53"/>
          <p:cNvSpPr>
            <a:spLocks noChangeArrowheads="1"/>
          </p:cNvSpPr>
          <p:nvPr/>
        </p:nvSpPr>
        <p:spPr bwMode="auto">
          <a:xfrm>
            <a:off x="336222" y="4361876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100</a:t>
            </a:r>
          </a:p>
        </p:txBody>
      </p:sp>
      <p:sp>
        <p:nvSpPr>
          <p:cNvPr id="47" name="Rectangle 53"/>
          <p:cNvSpPr>
            <a:spLocks noChangeArrowheads="1"/>
          </p:cNvSpPr>
          <p:nvPr/>
        </p:nvSpPr>
        <p:spPr bwMode="auto">
          <a:xfrm>
            <a:off x="336222" y="1862935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100</a:t>
            </a:r>
          </a:p>
        </p:txBody>
      </p:sp>
      <p:sp>
        <p:nvSpPr>
          <p:cNvPr id="48" name="Rectangle 53"/>
          <p:cNvSpPr>
            <a:spLocks noChangeArrowheads="1"/>
          </p:cNvSpPr>
          <p:nvPr/>
        </p:nvSpPr>
        <p:spPr bwMode="auto">
          <a:xfrm>
            <a:off x="336221" y="6035606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100</a:t>
            </a:r>
          </a:p>
        </p:txBody>
      </p:sp>
      <p:cxnSp>
        <p:nvCxnSpPr>
          <p:cNvPr id="49" name="Straight Arrow Connector 14"/>
          <p:cNvCxnSpPr>
            <a:cxnSpLocks noChangeShapeType="1"/>
          </p:cNvCxnSpPr>
          <p:nvPr/>
        </p:nvCxnSpPr>
        <p:spPr bwMode="auto">
          <a:xfrm>
            <a:off x="2534594" y="2883470"/>
            <a:ext cx="3397730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" name="Straight Arrow Connector 14"/>
          <p:cNvCxnSpPr>
            <a:cxnSpLocks noChangeShapeType="1"/>
          </p:cNvCxnSpPr>
          <p:nvPr/>
        </p:nvCxnSpPr>
        <p:spPr bwMode="auto">
          <a:xfrm>
            <a:off x="2575033" y="4549416"/>
            <a:ext cx="3397730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" name="Straight Arrow Connector 14"/>
          <p:cNvCxnSpPr>
            <a:cxnSpLocks noChangeShapeType="1"/>
          </p:cNvCxnSpPr>
          <p:nvPr/>
        </p:nvCxnSpPr>
        <p:spPr bwMode="auto">
          <a:xfrm>
            <a:off x="2564291" y="6189494"/>
            <a:ext cx="3397730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" name="Straight Arrow Connector 14"/>
          <p:cNvCxnSpPr>
            <a:cxnSpLocks noChangeShapeType="1"/>
            <a:endCxn id="4" idx="1"/>
          </p:cNvCxnSpPr>
          <p:nvPr/>
        </p:nvCxnSpPr>
        <p:spPr bwMode="auto">
          <a:xfrm>
            <a:off x="2557796" y="2903745"/>
            <a:ext cx="3377888" cy="72929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" name="Straight Arrow Connector 14"/>
          <p:cNvCxnSpPr>
            <a:cxnSpLocks noChangeShapeType="1"/>
          </p:cNvCxnSpPr>
          <p:nvPr/>
        </p:nvCxnSpPr>
        <p:spPr bwMode="auto">
          <a:xfrm>
            <a:off x="2570786" y="3623996"/>
            <a:ext cx="3340402" cy="935153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" name="Straight Arrow Connector 14"/>
          <p:cNvCxnSpPr>
            <a:cxnSpLocks noChangeShapeType="1"/>
            <a:endCxn id="11" idx="1"/>
          </p:cNvCxnSpPr>
          <p:nvPr/>
        </p:nvCxnSpPr>
        <p:spPr bwMode="auto">
          <a:xfrm>
            <a:off x="2557796" y="4559149"/>
            <a:ext cx="3417625" cy="791815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" name="Straight Arrow Connector 14"/>
          <p:cNvCxnSpPr>
            <a:cxnSpLocks noChangeShapeType="1"/>
            <a:endCxn id="6" idx="1"/>
          </p:cNvCxnSpPr>
          <p:nvPr/>
        </p:nvCxnSpPr>
        <p:spPr bwMode="auto">
          <a:xfrm>
            <a:off x="2551301" y="5340374"/>
            <a:ext cx="3364441" cy="837074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68632243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Long Chain</a:t>
            </a:r>
            <a:endParaRPr lang="en-GB" altLang="en-US" dirty="0"/>
          </a:p>
        </p:txBody>
      </p:sp>
      <p:sp>
        <p:nvSpPr>
          <p:cNvPr id="40963" name="Content Placeholder 2"/>
          <p:cNvSpPr>
            <a:spLocks noGrp="1"/>
          </p:cNvSpPr>
          <p:nvPr>
            <p:ph idx="1"/>
          </p:nvPr>
        </p:nvSpPr>
        <p:spPr>
          <a:xfrm>
            <a:off x="-1018731" y="833160"/>
            <a:ext cx="1142590" cy="1069483"/>
          </a:xfrm>
        </p:spPr>
        <p:txBody>
          <a:bodyPr/>
          <a:lstStyle/>
          <a:p>
            <a:endParaRPr lang="en-GB" altLang="en-US" dirty="0"/>
          </a:p>
        </p:txBody>
      </p:sp>
      <p:pic>
        <p:nvPicPr>
          <p:cNvPr id="40964" name="Picture 2" descr="C:\Documents and Settings\s40712\Local Settings\Temporary Internet Files\Content.IE5\AB9QT5PI\MCj0280802000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099" y="1524068"/>
            <a:ext cx="834404" cy="719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5" name="Picture 2" descr="C:\Documents and Settings\s40712\Local Settings\Temporary Internet Files\Content.IE5\AB9QT5PI\MCj0280802000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099" y="3217822"/>
            <a:ext cx="855192" cy="736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6" name="Picture 2" descr="C:\Documents and Settings\s40712\Local Settings\Temporary Internet Files\Content.IE5\AB9QT5PI\MCj0280802000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099" y="4972351"/>
            <a:ext cx="834404" cy="719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0971" name="Straight Arrow Connector 14"/>
          <p:cNvCxnSpPr>
            <a:cxnSpLocks noChangeShapeType="1"/>
            <a:stCxn id="40964" idx="3"/>
            <a:endCxn id="5" idx="1"/>
          </p:cNvCxnSpPr>
          <p:nvPr/>
        </p:nvCxnSpPr>
        <p:spPr bwMode="auto">
          <a:xfrm>
            <a:off x="2543503" y="1883583"/>
            <a:ext cx="3397730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5684" y="3245699"/>
            <a:ext cx="1285875" cy="77467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1233" y="1494495"/>
            <a:ext cx="1259306" cy="778176"/>
          </a:xfrm>
          <a:prstGeom prst="rect">
            <a:avLst/>
          </a:prstGeom>
        </p:spPr>
      </p:pic>
      <p:cxnSp>
        <p:nvCxnSpPr>
          <p:cNvPr id="32" name="Straight Arrow Connector 14"/>
          <p:cNvCxnSpPr>
            <a:cxnSpLocks noChangeShapeType="1"/>
            <a:stCxn id="40966" idx="3"/>
            <a:endCxn id="11" idx="1"/>
          </p:cNvCxnSpPr>
          <p:nvPr/>
        </p:nvCxnSpPr>
        <p:spPr bwMode="auto">
          <a:xfrm>
            <a:off x="2543503" y="5331866"/>
            <a:ext cx="3431918" cy="19098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" name="Straight Arrow Connector 14"/>
          <p:cNvCxnSpPr>
            <a:cxnSpLocks noChangeShapeType="1"/>
            <a:stCxn id="40965" idx="3"/>
            <a:endCxn id="4" idx="1"/>
          </p:cNvCxnSpPr>
          <p:nvPr/>
        </p:nvCxnSpPr>
        <p:spPr bwMode="auto">
          <a:xfrm>
            <a:off x="2564291" y="3586293"/>
            <a:ext cx="3371393" cy="46742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5421" y="4937336"/>
            <a:ext cx="1371141" cy="827255"/>
          </a:xfrm>
          <a:prstGeom prst="rect">
            <a:avLst/>
          </a:prstGeom>
        </p:spPr>
      </p:pic>
      <p:sp>
        <p:nvSpPr>
          <p:cNvPr id="35" name="Rectangle 53"/>
          <p:cNvSpPr>
            <a:spLocks noChangeArrowheads="1"/>
          </p:cNvSpPr>
          <p:nvPr/>
        </p:nvSpPr>
        <p:spPr bwMode="auto">
          <a:xfrm>
            <a:off x="336223" y="3510675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100</a:t>
            </a:r>
          </a:p>
        </p:txBody>
      </p:sp>
      <p:sp>
        <p:nvSpPr>
          <p:cNvPr id="36" name="Rectangle 53"/>
          <p:cNvSpPr>
            <a:spLocks noChangeArrowheads="1"/>
          </p:cNvSpPr>
          <p:nvPr/>
        </p:nvSpPr>
        <p:spPr bwMode="auto">
          <a:xfrm>
            <a:off x="7308022" y="2668458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80</a:t>
            </a:r>
          </a:p>
        </p:txBody>
      </p:sp>
      <p:sp>
        <p:nvSpPr>
          <p:cNvPr id="37" name="Rectangle 53"/>
          <p:cNvSpPr>
            <a:spLocks noChangeArrowheads="1"/>
          </p:cNvSpPr>
          <p:nvPr/>
        </p:nvSpPr>
        <p:spPr bwMode="auto">
          <a:xfrm>
            <a:off x="336222" y="5177976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100</a:t>
            </a:r>
          </a:p>
        </p:txBody>
      </p:sp>
      <p:sp>
        <p:nvSpPr>
          <p:cNvPr id="38" name="Rectangle 53"/>
          <p:cNvSpPr>
            <a:spLocks noChangeArrowheads="1"/>
          </p:cNvSpPr>
          <p:nvPr/>
        </p:nvSpPr>
        <p:spPr bwMode="auto">
          <a:xfrm>
            <a:off x="336222" y="2703374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100</a:t>
            </a:r>
          </a:p>
        </p:txBody>
      </p:sp>
      <p:sp>
        <p:nvSpPr>
          <p:cNvPr id="39" name="Rectangle 53"/>
          <p:cNvSpPr>
            <a:spLocks noChangeArrowheads="1"/>
          </p:cNvSpPr>
          <p:nvPr/>
        </p:nvSpPr>
        <p:spPr bwMode="auto">
          <a:xfrm>
            <a:off x="7312374" y="3586293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140</a:t>
            </a:r>
          </a:p>
        </p:txBody>
      </p:sp>
      <p:sp>
        <p:nvSpPr>
          <p:cNvPr id="40" name="Rectangle 53"/>
          <p:cNvSpPr>
            <a:spLocks noChangeArrowheads="1"/>
          </p:cNvSpPr>
          <p:nvPr/>
        </p:nvSpPr>
        <p:spPr bwMode="auto">
          <a:xfrm>
            <a:off x="7287961" y="5257017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140</a:t>
            </a:r>
          </a:p>
        </p:txBody>
      </p:sp>
      <p:cxnSp>
        <p:nvCxnSpPr>
          <p:cNvPr id="42" name="Straight Arrow Connector 14"/>
          <p:cNvCxnSpPr>
            <a:cxnSpLocks noChangeShapeType="1"/>
          </p:cNvCxnSpPr>
          <p:nvPr/>
        </p:nvCxnSpPr>
        <p:spPr bwMode="auto">
          <a:xfrm>
            <a:off x="2551301" y="1890558"/>
            <a:ext cx="3364441" cy="988769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5" name="Picture 2" descr="C:\Documents and Settings\s40712\Local Settings\Temporary Internet Files\Content.IE5\AB9QT5PI\MCj0280802000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8357" y="2358186"/>
            <a:ext cx="834404" cy="719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2" descr="C:\Documents and Settings\s40712\Local Settings\Temporary Internet Files\Content.IE5\AB9QT5PI\MCj0280802000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9493" y="4093363"/>
            <a:ext cx="834404" cy="719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2" descr="C:\Documents and Settings\s40712\Local Settings\Temporary Internet Files\Content.IE5\AB9QT5PI\MCj0280802000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099" y="5829980"/>
            <a:ext cx="834404" cy="719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3811" y="2288349"/>
            <a:ext cx="1434150" cy="92383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2324" y="4095059"/>
            <a:ext cx="1283231" cy="71733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15742" y="5776702"/>
            <a:ext cx="1410319" cy="801492"/>
          </a:xfrm>
          <a:prstGeom prst="rect">
            <a:avLst/>
          </a:prstGeom>
        </p:spPr>
      </p:pic>
      <p:sp>
        <p:nvSpPr>
          <p:cNvPr id="31" name="Rectangle 53"/>
          <p:cNvSpPr>
            <a:spLocks noChangeArrowheads="1"/>
          </p:cNvSpPr>
          <p:nvPr/>
        </p:nvSpPr>
        <p:spPr bwMode="auto">
          <a:xfrm>
            <a:off x="7297485" y="6081891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120</a:t>
            </a:r>
          </a:p>
        </p:txBody>
      </p:sp>
      <p:sp>
        <p:nvSpPr>
          <p:cNvPr id="34" name="Rectangle 53"/>
          <p:cNvSpPr>
            <a:spLocks noChangeArrowheads="1"/>
          </p:cNvSpPr>
          <p:nvPr/>
        </p:nvSpPr>
        <p:spPr bwMode="auto">
          <a:xfrm>
            <a:off x="7308022" y="4395528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100</a:t>
            </a:r>
          </a:p>
        </p:txBody>
      </p:sp>
      <p:sp>
        <p:nvSpPr>
          <p:cNvPr id="44" name="Rectangle 53"/>
          <p:cNvSpPr>
            <a:spLocks noChangeArrowheads="1"/>
          </p:cNvSpPr>
          <p:nvPr/>
        </p:nvSpPr>
        <p:spPr bwMode="auto">
          <a:xfrm>
            <a:off x="7312374" y="1748754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45" name="Rectangle 53"/>
          <p:cNvSpPr>
            <a:spLocks noChangeArrowheads="1"/>
          </p:cNvSpPr>
          <p:nvPr/>
        </p:nvSpPr>
        <p:spPr bwMode="auto">
          <a:xfrm>
            <a:off x="336222" y="4361876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100</a:t>
            </a:r>
          </a:p>
        </p:txBody>
      </p:sp>
      <p:sp>
        <p:nvSpPr>
          <p:cNvPr id="47" name="Rectangle 53"/>
          <p:cNvSpPr>
            <a:spLocks noChangeArrowheads="1"/>
          </p:cNvSpPr>
          <p:nvPr/>
        </p:nvSpPr>
        <p:spPr bwMode="auto">
          <a:xfrm>
            <a:off x="336222" y="1862935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100</a:t>
            </a:r>
          </a:p>
        </p:txBody>
      </p:sp>
      <p:sp>
        <p:nvSpPr>
          <p:cNvPr id="48" name="Rectangle 53"/>
          <p:cNvSpPr>
            <a:spLocks noChangeArrowheads="1"/>
          </p:cNvSpPr>
          <p:nvPr/>
        </p:nvSpPr>
        <p:spPr bwMode="auto">
          <a:xfrm>
            <a:off x="336221" y="6035606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100</a:t>
            </a:r>
          </a:p>
        </p:txBody>
      </p:sp>
      <p:cxnSp>
        <p:nvCxnSpPr>
          <p:cNvPr id="49" name="Straight Arrow Connector 14"/>
          <p:cNvCxnSpPr>
            <a:cxnSpLocks noChangeShapeType="1"/>
          </p:cNvCxnSpPr>
          <p:nvPr/>
        </p:nvCxnSpPr>
        <p:spPr bwMode="auto">
          <a:xfrm>
            <a:off x="2534594" y="2883470"/>
            <a:ext cx="3397730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" name="Straight Arrow Connector 14"/>
          <p:cNvCxnSpPr>
            <a:cxnSpLocks noChangeShapeType="1"/>
          </p:cNvCxnSpPr>
          <p:nvPr/>
        </p:nvCxnSpPr>
        <p:spPr bwMode="auto">
          <a:xfrm>
            <a:off x="2575033" y="4549416"/>
            <a:ext cx="3397730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" name="Straight Arrow Connector 14"/>
          <p:cNvCxnSpPr>
            <a:cxnSpLocks noChangeShapeType="1"/>
          </p:cNvCxnSpPr>
          <p:nvPr/>
        </p:nvCxnSpPr>
        <p:spPr bwMode="auto">
          <a:xfrm>
            <a:off x="2564291" y="6189494"/>
            <a:ext cx="3397730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" name="Straight Arrow Connector 14"/>
          <p:cNvCxnSpPr>
            <a:cxnSpLocks noChangeShapeType="1"/>
            <a:endCxn id="4" idx="1"/>
          </p:cNvCxnSpPr>
          <p:nvPr/>
        </p:nvCxnSpPr>
        <p:spPr bwMode="auto">
          <a:xfrm>
            <a:off x="2557796" y="2903745"/>
            <a:ext cx="3377888" cy="72929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" name="Straight Arrow Connector 14"/>
          <p:cNvCxnSpPr>
            <a:cxnSpLocks noChangeShapeType="1"/>
          </p:cNvCxnSpPr>
          <p:nvPr/>
        </p:nvCxnSpPr>
        <p:spPr bwMode="auto">
          <a:xfrm>
            <a:off x="2570786" y="3623996"/>
            <a:ext cx="3340402" cy="935153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" name="Straight Arrow Connector 14"/>
          <p:cNvCxnSpPr>
            <a:cxnSpLocks noChangeShapeType="1"/>
            <a:endCxn id="11" idx="1"/>
          </p:cNvCxnSpPr>
          <p:nvPr/>
        </p:nvCxnSpPr>
        <p:spPr bwMode="auto">
          <a:xfrm>
            <a:off x="2557796" y="4559149"/>
            <a:ext cx="3417625" cy="791815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" name="Straight Arrow Connector 14"/>
          <p:cNvCxnSpPr>
            <a:cxnSpLocks noChangeShapeType="1"/>
            <a:endCxn id="6" idx="1"/>
          </p:cNvCxnSpPr>
          <p:nvPr/>
        </p:nvCxnSpPr>
        <p:spPr bwMode="auto">
          <a:xfrm>
            <a:off x="2551301" y="5340374"/>
            <a:ext cx="3364441" cy="837074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" name="Straight Arrow Connector 14"/>
          <p:cNvCxnSpPr>
            <a:cxnSpLocks noChangeShapeType="1"/>
            <a:stCxn id="27" idx="3"/>
            <a:endCxn id="5" idx="1"/>
          </p:cNvCxnSpPr>
          <p:nvPr/>
        </p:nvCxnSpPr>
        <p:spPr bwMode="auto">
          <a:xfrm flipV="1">
            <a:off x="2543503" y="1883583"/>
            <a:ext cx="3397730" cy="4305912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7207697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INIT" val=""/>
  <p:tag name="USEAMSFONTS" val="True"/>
  <p:tag name="EMBEDFONTS" val="True"/>
  <p:tag name="USEBOLDAMS" val="False"/>
  <p:tag name="DEFAULTDISPLAYSOURCE" val="\documentclass{slides}\pagestyle{empty}&#10;\begin{document}&#10;&#10;\end{document}&#10;"/>
  <p:tag name="TEX2PS" val="latex $(base).tex; dvips -D $(res) -E -o $(base).ps $(base).dvi"/>
  <p:tag name="EXTERNALEDITCOMMAND" val="notepad %"/>
  <p:tag name="GHOSTSCRIPTCOMMAND" val="gswin32c"/>
  <p:tag name="DEFAULTBITMAP" val="pngmono"/>
  <p:tag name="DEFAULTBLEND" val="False"/>
  <p:tag name="DEFAULTTRANSPARENT" val="False"/>
  <p:tag name="DEFAULTWORKAROUNDTRANSPARENCYBUG" val="False"/>
  <p:tag name="DEFAULTRESOLUTION" val="300"/>
  <p:tag name="DEFAULTMAGNIFICATION" val="1.5"/>
  <p:tag name="DEFAULTFONTSIZE" val="10"/>
  <p:tag name="DEFAULTWIDTH" val="394"/>
  <p:tag name="DEFAULTHEIGHT" val="338"/>
  <p:tag name="FIRSTXINCHEN@SUSY3254AVWXY596" val="2652"/>
  <p:tag name="FIRSTXIN20CHEN@ELDXLB0FUVWYY57I" val="3665"/>
</p:tagLst>
</file>

<file path=ppt/theme/theme1.xml><?xml version="1.0" encoding="utf-8"?>
<a:theme xmlns:a="http://schemas.openxmlformats.org/drawingml/2006/main" name="Lectures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Lecture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rgbClr val="0033CC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rgbClr val="0033CC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Lectures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s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s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s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s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s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C:\WINDOWS\Application Data\Microsoft\Templates\Lectures.pot</Template>
  <TotalTime>40859</TotalTime>
  <Words>1917</Words>
  <Application>Microsoft Office PowerPoint</Application>
  <PresentationFormat>On-screen Show (4:3)</PresentationFormat>
  <Paragraphs>539</Paragraphs>
  <Slides>61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8" baseType="lpstr">
      <vt:lpstr>MS PGothic</vt:lpstr>
      <vt:lpstr>Arial</vt:lpstr>
      <vt:lpstr>宋体</vt:lpstr>
      <vt:lpstr>Cambria Math</vt:lpstr>
      <vt:lpstr>Verdana</vt:lpstr>
      <vt:lpstr>Times New Roman</vt:lpstr>
      <vt:lpstr>Lectures</vt:lpstr>
      <vt:lpstr>DBA5103</vt:lpstr>
      <vt:lpstr>Network Flow Models</vt:lpstr>
      <vt:lpstr>PowerPoint Presentation</vt:lpstr>
      <vt:lpstr>Undirected Network</vt:lpstr>
      <vt:lpstr>Directed Network</vt:lpstr>
      <vt:lpstr>Path</vt:lpstr>
      <vt:lpstr>Cycle</vt:lpstr>
      <vt:lpstr>                 Acyclic network   </vt:lpstr>
      <vt:lpstr>Connectivity</vt:lpstr>
      <vt:lpstr>Tree</vt:lpstr>
      <vt:lpstr>Spanning Tree</vt:lpstr>
      <vt:lpstr>Properties of Spanning Tree</vt:lpstr>
      <vt:lpstr>Other Special Graphs: Bipartite Graph</vt:lpstr>
      <vt:lpstr>Other Special Graphs: Complete Graph</vt:lpstr>
      <vt:lpstr>Other Special Graphs: Complete Bipartite Graph</vt:lpstr>
      <vt:lpstr>PowerPoint Presentation</vt:lpstr>
      <vt:lpstr>Minimum Cost Network Flow Problem</vt:lpstr>
      <vt:lpstr>Minimum Cost Network Flow Problem</vt:lpstr>
      <vt:lpstr>Network Flow Problem: LP Tableau </vt:lpstr>
      <vt:lpstr>Network Flow Problem: Special Structure</vt:lpstr>
      <vt:lpstr>PowerPoint Presentation</vt:lpstr>
      <vt:lpstr>Transportation Problem </vt:lpstr>
      <vt:lpstr>Transportation Problem: Network Formulation</vt:lpstr>
      <vt:lpstr>Assignment Problem</vt:lpstr>
      <vt:lpstr>Assignment Problem: Network Formulation</vt:lpstr>
      <vt:lpstr>Shortest Path Problem</vt:lpstr>
      <vt:lpstr>Shortest Path Problem: Network Formulation</vt:lpstr>
      <vt:lpstr>Maximum Flow Problem</vt:lpstr>
      <vt:lpstr>Maximum Flow: Network Formulation</vt:lpstr>
      <vt:lpstr>PowerPoint Presentation</vt:lpstr>
      <vt:lpstr>Transportation Problem: Example</vt:lpstr>
      <vt:lpstr>Transportation Problem: Example</vt:lpstr>
      <vt:lpstr>Solving Transportation Problem (TP): Procedure </vt:lpstr>
      <vt:lpstr>Solving TP: Finding Initial Solution </vt:lpstr>
      <vt:lpstr>Finding Initial Solution : Myopic</vt:lpstr>
      <vt:lpstr>Finding Initial Solution : Greedy Algorithm</vt:lpstr>
      <vt:lpstr>Properties of the Initial Solution </vt:lpstr>
      <vt:lpstr>Finding Initial Solution : Spanning Tree</vt:lpstr>
      <vt:lpstr>Spanning Tree vs. BS</vt:lpstr>
      <vt:lpstr>Solving TP: Python Implementation</vt:lpstr>
      <vt:lpstr>Solving TP: Python Implementation</vt:lpstr>
      <vt:lpstr>Solving TP: Python Implementation</vt:lpstr>
      <vt:lpstr>PowerPoint Presentation</vt:lpstr>
      <vt:lpstr>Container Repositioning</vt:lpstr>
      <vt:lpstr>Time-Expanded Network</vt:lpstr>
      <vt:lpstr>Project Management</vt:lpstr>
      <vt:lpstr>Project Management</vt:lpstr>
      <vt:lpstr>Activity-on-node (AON) Project Network</vt:lpstr>
      <vt:lpstr>Crashing Projects</vt:lpstr>
      <vt:lpstr>Linear Programming Formulation</vt:lpstr>
      <vt:lpstr>Application: Manufacturing of Complex Machine</vt:lpstr>
      <vt:lpstr>Application: Manufacturing of Complex Machine</vt:lpstr>
      <vt:lpstr>Application: Manufacturing of Complex Machine</vt:lpstr>
      <vt:lpstr>Process Flexibility: Dedicated System</vt:lpstr>
      <vt:lpstr>Full Flexible System</vt:lpstr>
      <vt:lpstr>How to Compute the Maximum Sales?</vt:lpstr>
      <vt:lpstr>Linear Programming Formulation</vt:lpstr>
      <vt:lpstr>If demand is random…</vt:lpstr>
      <vt:lpstr>How to improve upon the dedicated system?</vt:lpstr>
      <vt:lpstr>Open Chain</vt:lpstr>
      <vt:lpstr>Long Chain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 to LP</dc:title>
  <dc:creator>Xin Chen</dc:creator>
  <cp:lastModifiedBy>Hu Zhenyu</cp:lastModifiedBy>
  <cp:revision>517</cp:revision>
  <dcterms:created xsi:type="dcterms:W3CDTF">2002-09-09T04:16:02Z</dcterms:created>
  <dcterms:modified xsi:type="dcterms:W3CDTF">2026-09-29T02:45:12Z</dcterms:modified>
</cp:coreProperties>
</file>