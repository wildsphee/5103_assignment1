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9" r:id="rId1"/>
  </p:sldMasterIdLst>
  <p:notesMasterIdLst>
    <p:notesMasterId r:id="rId45"/>
  </p:notesMasterIdLst>
  <p:handoutMasterIdLst>
    <p:handoutMasterId r:id="rId46"/>
  </p:handoutMasterIdLst>
  <p:sldIdLst>
    <p:sldId id="363" r:id="rId2"/>
    <p:sldId id="257" r:id="rId3"/>
    <p:sldId id="444" r:id="rId4"/>
    <p:sldId id="364" r:id="rId5"/>
    <p:sldId id="436" r:id="rId6"/>
    <p:sldId id="443" r:id="rId7"/>
    <p:sldId id="409" r:id="rId8"/>
    <p:sldId id="410" r:id="rId9"/>
    <p:sldId id="441" r:id="rId10"/>
    <p:sldId id="368" r:id="rId11"/>
    <p:sldId id="369" r:id="rId12"/>
    <p:sldId id="432" r:id="rId13"/>
    <p:sldId id="411" r:id="rId14"/>
    <p:sldId id="437" r:id="rId15"/>
    <p:sldId id="438" r:id="rId16"/>
    <p:sldId id="412" r:id="rId17"/>
    <p:sldId id="417" r:id="rId18"/>
    <p:sldId id="418" r:id="rId19"/>
    <p:sldId id="419" r:id="rId20"/>
    <p:sldId id="420" r:id="rId21"/>
    <p:sldId id="421" r:id="rId22"/>
    <p:sldId id="440" r:id="rId23"/>
    <p:sldId id="422" r:id="rId24"/>
    <p:sldId id="401" r:id="rId25"/>
    <p:sldId id="402" r:id="rId26"/>
    <p:sldId id="413" r:id="rId27"/>
    <p:sldId id="416" r:id="rId28"/>
    <p:sldId id="435" r:id="rId29"/>
    <p:sldId id="423" r:id="rId30"/>
    <p:sldId id="414" r:id="rId31"/>
    <p:sldId id="424" r:id="rId32"/>
    <p:sldId id="425" r:id="rId33"/>
    <p:sldId id="426" r:id="rId34"/>
    <p:sldId id="427" r:id="rId35"/>
    <p:sldId id="370" r:id="rId36"/>
    <p:sldId id="371" r:id="rId37"/>
    <p:sldId id="373" r:id="rId38"/>
    <p:sldId id="428" r:id="rId39"/>
    <p:sldId id="429" r:id="rId40"/>
    <p:sldId id="430" r:id="rId41"/>
    <p:sldId id="431" r:id="rId42"/>
    <p:sldId id="433" r:id="rId43"/>
    <p:sldId id="434" r:id="rId44"/>
  </p:sldIdLst>
  <p:sldSz cx="9144000" cy="6858000" type="screen4x3"/>
  <p:notesSz cx="6858000" cy="9144000"/>
  <p:embeddedFontLst>
    <p:embeddedFont>
      <p:font typeface="宋体" panose="02010600030101010101" pitchFamily="2" charset="-122"/>
      <p:regular r:id="rId47"/>
    </p:embeddedFont>
    <p:embeddedFont>
      <p:font typeface="Cambria Math" panose="02040503050406030204" pitchFamily="18" charset="0"/>
      <p:regular r:id="rId48"/>
    </p:embeddedFont>
    <p:embeddedFont>
      <p:font typeface="MS PGothic" panose="020B0600070205080204" pitchFamily="34" charset="-128"/>
      <p:regular r:id="rId49"/>
    </p:embeddedFont>
  </p:embeddedFontLst>
  <p:custDataLst>
    <p:tags r:id="rId50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0000"/>
    <a:srgbClr val="0033CC"/>
    <a:srgbClr val="2C129C"/>
    <a:srgbClr val="C6D6FE"/>
    <a:srgbClr val="BACDFE"/>
    <a:srgbClr val="E9EFFF"/>
    <a:srgbClr val="FF33CC"/>
    <a:srgbClr val="A8C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6" autoAdjust="0"/>
    <p:restoredTop sz="94704" autoAdjust="0"/>
  </p:normalViewPr>
  <p:slideViewPr>
    <p:cSldViewPr snapToGrid="0">
      <p:cViewPr varScale="1">
        <p:scale>
          <a:sx n="116" d="100"/>
          <a:sy n="116" d="100"/>
        </p:scale>
        <p:origin x="135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B1C7EBB-BE00-44DC-AAA2-1213A86712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46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2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5696EE8-B9BB-4DC7-BDD3-AEC2C65202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658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56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63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143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13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701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99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99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927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135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06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738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117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419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157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912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0260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960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645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3537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589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71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787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0242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58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1967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7634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0590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5625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322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6119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399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0175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0580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3501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0261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09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8673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56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1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903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30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0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3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602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54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1650" y="9525"/>
            <a:ext cx="2278063" cy="6523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463" y="9525"/>
            <a:ext cx="6681787" cy="6523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15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3" y="9525"/>
            <a:ext cx="9099550" cy="9318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187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7938" y="-1588"/>
            <a:ext cx="9129712" cy="976313"/>
          </a:xfrm>
          <a:prstGeom prst="rect">
            <a:avLst/>
          </a:prstGeom>
          <a:solidFill>
            <a:srgbClr val="0033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463" y="9525"/>
            <a:ext cx="909955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Title: Cap All Words, Bold, Helvetica 32, White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" y="1060450"/>
            <a:ext cx="9110663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Level one: int. cap, bold, helvetica 30, maroon</a:t>
            </a:r>
          </a:p>
          <a:p>
            <a:pPr lvl="1"/>
            <a:r>
              <a:rPr lang="en-US" altLang="zh-CN"/>
              <a:t>Level two: initial cap, bold, helvetica 27, blue</a:t>
            </a:r>
          </a:p>
          <a:p>
            <a:pPr lvl="2"/>
            <a:r>
              <a:rPr lang="en-US" altLang="zh-CN"/>
              <a:t>Level three: initial cap, italics, helvetica 24, blue</a:t>
            </a:r>
          </a:p>
          <a:p>
            <a:pPr lvl="3"/>
            <a:r>
              <a:rPr lang="en-US" altLang="zh-CN"/>
              <a:t>Level four: 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0" y="6592888"/>
            <a:ext cx="8874125" cy="6350"/>
          </a:xfrm>
          <a:prstGeom prst="line">
            <a:avLst/>
          </a:prstGeom>
          <a:noFill/>
          <a:ln w="25400">
            <a:solidFill>
              <a:srgbClr val="00279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341313" indent="-341313" algn="l" defTabSz="909638" rtl="0" eaLnBrk="0" fontAlgn="base" hangingPunct="0">
        <a:spcBef>
          <a:spcPct val="20000"/>
        </a:spcBef>
        <a:spcAft>
          <a:spcPct val="0"/>
        </a:spcAft>
        <a:buClr>
          <a:srgbClr val="790015"/>
        </a:buClr>
        <a:buSzPct val="100000"/>
        <a:buChar char="•"/>
        <a:defRPr sz="2900" b="1">
          <a:solidFill>
            <a:srgbClr val="790015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38188" indent="-284163" algn="l" defTabSz="909638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100000"/>
        <a:buChar char="­"/>
        <a:defRPr sz="2700" b="1">
          <a:solidFill>
            <a:srgbClr val="00279F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38238" indent="-228600" algn="l" defTabSz="909638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100000"/>
        <a:buChar char="·"/>
        <a:defRPr sz="2400" i="1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473200" indent="-209550" algn="l" defTabSz="909638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33CC"/>
          </a:solidFill>
          <a:latin typeface="+mn-lt"/>
        </a:defRPr>
      </a:lvl4pPr>
      <a:lvl5pPr marL="18954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5pPr>
      <a:lvl6pPr marL="23526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6pPr>
      <a:lvl7pPr marL="28098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7pPr>
      <a:lvl8pPr marL="32670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8pPr>
      <a:lvl9pPr marL="37242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zhenyuhu/hom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e0773599@u.nus.edu" TargetMode="External"/><Relationship Id="rId4" Type="http://schemas.openxmlformats.org/officeDocument/2006/relationships/hyperlink" Target="mailto:e1521284@u.nus.edu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1lL-hXO27Q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mpl.com/pricin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DBA5103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3200" dirty="0">
                <a:ea typeface="宋体" pitchFamily="2" charset="-122"/>
              </a:rPr>
              <a:t>Operations Research and Analytics</a:t>
            </a:r>
          </a:p>
          <a:p>
            <a:pPr marL="0" indent="0" algn="ctr">
              <a:buNone/>
              <a:defRPr/>
            </a:pPr>
            <a:endParaRPr lang="en-US" altLang="zh-CN" sz="3200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Zhenyu Hu</a:t>
            </a: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Semester I, 2026/2027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481" y="4101713"/>
            <a:ext cx="29718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04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Course Information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7" y="1073192"/>
            <a:ext cx="9110663" cy="5846589"/>
          </a:xfrm>
        </p:spPr>
        <p:txBody>
          <a:bodyPr/>
          <a:lstStyle/>
          <a:p>
            <a:pPr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Lecture hours: </a:t>
            </a:r>
          </a:p>
          <a:p>
            <a:pPr lvl="1"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Wednesday 15:00–18:00, BIZ2-0509; </a:t>
            </a:r>
          </a:p>
          <a:p>
            <a:pPr lvl="1"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Friday 12:00-15:00, BIZ2-0509;</a:t>
            </a:r>
          </a:p>
          <a:p>
            <a:pPr lvl="1"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Friday 18:30-21:30, BIZ2-0509.</a:t>
            </a:r>
          </a:p>
          <a:p>
            <a:pPr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Instructor: Hu Zhenyu</a:t>
            </a:r>
          </a:p>
          <a:p>
            <a:pPr lvl="1"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Email: </a:t>
            </a:r>
            <a:r>
              <a:rPr lang="en-US" altLang="zh-CN" sz="2100" dirty="0">
                <a:solidFill>
                  <a:srgbClr val="FF0000"/>
                </a:solidFill>
                <a:effectLst/>
                <a:ea typeface="宋体" pitchFamily="2" charset="-122"/>
              </a:rPr>
              <a:t>bizhuz@nus.edu.sg</a:t>
            </a:r>
            <a:r>
              <a:rPr lang="en-US" altLang="zh-CN" sz="2100" dirty="0">
                <a:effectLst/>
                <a:ea typeface="宋体" pitchFamily="2" charset="-122"/>
              </a:rPr>
              <a:t>  </a:t>
            </a:r>
          </a:p>
          <a:p>
            <a:pPr lvl="1"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Personal website: </a:t>
            </a:r>
            <a:r>
              <a:rPr lang="en-US" altLang="zh-CN" sz="2100" dirty="0">
                <a:effectLst/>
                <a:ea typeface="宋体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https://sites.google.com/view/zhenyuhu/home</a:t>
            </a:r>
            <a:r>
              <a:rPr lang="en-US" altLang="zh-CN" sz="2100" dirty="0">
                <a:effectLst/>
                <a:ea typeface="宋体" pitchFamily="2" charset="-122"/>
              </a:rPr>
              <a:t>  </a:t>
            </a:r>
          </a:p>
          <a:p>
            <a:pPr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Office hour: BIZ1 8-62, by appointment</a:t>
            </a:r>
          </a:p>
          <a:p>
            <a:pPr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TA: Zhao Yipeng, </a:t>
            </a:r>
            <a:r>
              <a:rPr lang="en-US" sz="2100" u="sng" dirty="0">
                <a:solidFill>
                  <a:srgbClr val="FF0000"/>
                </a:solidFill>
                <a:effectLst/>
                <a:hlinkClick r:id="rId4"/>
              </a:rPr>
              <a:t>e1521284@u.nus.edu</a:t>
            </a:r>
            <a:endParaRPr lang="en-US" sz="2100" u="sng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  <a:defRPr/>
            </a:pPr>
            <a:r>
              <a:rPr lang="en-US" sz="2100" dirty="0">
                <a:effectLst/>
                <a:ea typeface="宋体" pitchFamily="2" charset="-122"/>
              </a:rPr>
              <a:t>            Zhang Guoyun,</a:t>
            </a:r>
            <a:r>
              <a:rPr lang="en-US" sz="2100" u="sng" dirty="0">
                <a:solidFill>
                  <a:srgbClr val="FF0000"/>
                </a:solidFill>
                <a:effectLst/>
              </a:rPr>
              <a:t> </a:t>
            </a:r>
            <a:r>
              <a:rPr lang="en-US" sz="2100" u="sng" dirty="0">
                <a:solidFill>
                  <a:srgbClr val="FF0000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e0773599@u.nus.edu</a:t>
            </a:r>
            <a:endParaRPr lang="en-SG" sz="2100" u="sng" dirty="0">
              <a:solidFill>
                <a:srgbClr val="FF0000"/>
              </a:solidFill>
              <a:effectLst/>
            </a:endParaRPr>
          </a:p>
          <a:p>
            <a:pPr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Website: Canvas</a:t>
            </a:r>
          </a:p>
          <a:p>
            <a:pPr lvl="1"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Lecture materials</a:t>
            </a:r>
          </a:p>
          <a:p>
            <a:pPr lvl="1">
              <a:defRPr/>
            </a:pPr>
            <a:r>
              <a:rPr lang="en-US" altLang="zh-CN" sz="2100" dirty="0">
                <a:effectLst/>
                <a:ea typeface="宋体" pitchFamily="2" charset="-122"/>
              </a:rPr>
              <a:t>Assignments and final project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 bit more about myself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8269"/>
            <a:ext cx="9110663" cy="6029731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B.S. in Mathematics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Ph.D. in Industrial Engineering 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NUS Business School since 2015.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On research: </a:t>
            </a:r>
          </a:p>
          <a:p>
            <a:pPr lvl="1">
              <a:defRPr/>
            </a:pPr>
            <a:r>
              <a:rPr lang="en-US" altLang="zh-CN" sz="2500" dirty="0">
                <a:solidFill>
                  <a:srgbClr val="00279F"/>
                </a:solidFill>
                <a:effectLst/>
                <a:ea typeface="宋体" pitchFamily="2" charset="-122"/>
              </a:rPr>
              <a:t>Dynamic Programming</a:t>
            </a:r>
            <a:endParaRPr lang="en-US" altLang="zh-CN" sz="2500" dirty="0">
              <a:effectLst/>
              <a:ea typeface="宋体" pitchFamily="2" charset="-122"/>
            </a:endParaRPr>
          </a:p>
          <a:p>
            <a:pPr lvl="1">
              <a:defRPr/>
            </a:pPr>
            <a:r>
              <a:rPr lang="en-US" altLang="zh-CN" sz="2500" dirty="0">
                <a:solidFill>
                  <a:srgbClr val="00279F"/>
                </a:solidFill>
                <a:effectLst/>
                <a:ea typeface="宋体" pitchFamily="2" charset="-122"/>
              </a:rPr>
              <a:t>Game Theory and Mechanism Design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On education: </a:t>
            </a:r>
          </a:p>
          <a:p>
            <a:pPr lvl="1">
              <a:defRPr/>
            </a:pPr>
            <a:r>
              <a:rPr lang="en-US" u="sng" dirty="0">
                <a:effectLst/>
                <a:hlinkClick r:id="rId3"/>
              </a:rPr>
              <a:t>https://www.youtube.com/watch?v=Q1lL-hXO27Q</a:t>
            </a:r>
            <a:r>
              <a:rPr lang="en-US" dirty="0">
                <a:effectLst/>
              </a:rPr>
              <a:t> </a:t>
            </a:r>
            <a:endParaRPr lang="en-US" altLang="zh-CN" dirty="0">
              <a:effectLst/>
              <a:ea typeface="宋体" pitchFamily="2" charset="-122"/>
            </a:endParaRPr>
          </a:p>
          <a:p>
            <a:pPr lvl="1">
              <a:defRPr/>
            </a:pPr>
            <a:endParaRPr lang="en-US" altLang="zh-CN" sz="2500" dirty="0">
              <a:solidFill>
                <a:srgbClr val="00279F"/>
              </a:solidFill>
              <a:effectLst/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Textbook and Reference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88839"/>
            <a:ext cx="9110663" cy="6029731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Text: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Introduction to Operations Research, Hillier and Lieberman (2015)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Applied Mathematical Programming, Bradley, </a:t>
            </a:r>
            <a:r>
              <a:rPr lang="en-US" altLang="zh-CN" dirty="0" err="1">
                <a:effectLst/>
                <a:ea typeface="宋体" pitchFamily="2" charset="-122"/>
              </a:rPr>
              <a:t>Hax</a:t>
            </a:r>
            <a:r>
              <a:rPr lang="en-US" altLang="zh-CN" dirty="0">
                <a:effectLst/>
                <a:ea typeface="宋体" pitchFamily="2" charset="-122"/>
              </a:rPr>
              <a:t> and </a:t>
            </a:r>
            <a:r>
              <a:rPr lang="en-US" altLang="zh-CN" dirty="0" err="1">
                <a:effectLst/>
                <a:ea typeface="宋体" pitchFamily="2" charset="-122"/>
              </a:rPr>
              <a:t>Magnanti</a:t>
            </a:r>
            <a:r>
              <a:rPr lang="en-US" altLang="zh-CN" dirty="0">
                <a:effectLst/>
                <a:ea typeface="宋体" pitchFamily="2" charset="-122"/>
              </a:rPr>
              <a:t> (1977)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Introduction to Linear Optimization, Bertsimas and </a:t>
            </a:r>
            <a:r>
              <a:rPr lang="en-US" altLang="zh-CN" dirty="0" err="1">
                <a:effectLst/>
                <a:ea typeface="宋体" pitchFamily="2" charset="-122"/>
              </a:rPr>
              <a:t>Tsitsiklis</a:t>
            </a:r>
            <a:r>
              <a:rPr lang="en-US" altLang="zh-CN" dirty="0">
                <a:effectLst/>
                <a:ea typeface="宋体" pitchFamily="2" charset="-122"/>
              </a:rPr>
              <a:t> (1997)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Mostly, lecture notes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Software: </a:t>
            </a:r>
          </a:p>
          <a:p>
            <a:pPr lvl="1">
              <a:defRPr/>
            </a:pPr>
            <a:r>
              <a:rPr lang="en-US" altLang="zh-CN" sz="2500" dirty="0">
                <a:solidFill>
                  <a:srgbClr val="00279F"/>
                </a:solidFill>
                <a:effectLst/>
                <a:ea typeface="宋体" pitchFamily="2" charset="-122"/>
              </a:rPr>
              <a:t>Python (Anaconda) and </a:t>
            </a:r>
            <a:r>
              <a:rPr lang="en-US" altLang="zh-CN" sz="2500" dirty="0" err="1">
                <a:solidFill>
                  <a:srgbClr val="00279F"/>
                </a:solidFill>
                <a:effectLst/>
                <a:ea typeface="宋体" pitchFamily="2" charset="-122"/>
              </a:rPr>
              <a:t>Gurobi</a:t>
            </a:r>
            <a:endParaRPr lang="en-US" altLang="zh-CN" sz="2500" dirty="0">
              <a:effectLst/>
              <a:ea typeface="宋体" pitchFamily="2" charset="-122"/>
            </a:endParaRPr>
          </a:p>
          <a:p>
            <a:pPr lvl="1">
              <a:defRPr/>
            </a:pPr>
            <a:r>
              <a:rPr lang="en-US" altLang="zh-CN" sz="2700" dirty="0">
                <a:solidFill>
                  <a:srgbClr val="00279F"/>
                </a:solidFill>
                <a:effectLst/>
                <a:ea typeface="宋体" pitchFamily="2" charset="-122"/>
              </a:rPr>
              <a:t>Excel Solver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80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Software</a:t>
            </a:r>
            <a:endParaRPr lang="en-S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00643"/>
            <a:ext cx="9155862" cy="48861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2243846" y="1880680"/>
            <a:ext cx="395591" cy="155643"/>
          </a:xfrm>
          <a:prstGeom prst="rect">
            <a:avLst/>
          </a:prstGeom>
          <a:solidFill>
            <a:srgbClr val="FFFF00">
              <a:alpha val="4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907276" y="2480552"/>
            <a:ext cx="463686" cy="158886"/>
          </a:xfrm>
          <a:prstGeom prst="rect">
            <a:avLst/>
          </a:prstGeom>
          <a:solidFill>
            <a:srgbClr val="FFFF00">
              <a:alpha val="40000"/>
            </a:srgbClr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21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Software</a:t>
            </a:r>
            <a:endParaRPr lang="en-SG" dirty="0"/>
          </a:p>
        </p:txBody>
      </p:sp>
      <p:sp>
        <p:nvSpPr>
          <p:cNvPr id="8" name="Rectangle 7"/>
          <p:cNvSpPr/>
          <p:nvPr/>
        </p:nvSpPr>
        <p:spPr>
          <a:xfrm>
            <a:off x="-1268627" y="6184595"/>
            <a:ext cx="5968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https://ampl.com/pricing/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DD7D3-7EA4-4BF8-BA9F-73C720B7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681" y="993953"/>
            <a:ext cx="5151053" cy="519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35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What You Should Expect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4296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Mathematical Thinking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Understand the basic logic behind algorithms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Understand the general principles in optimization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Judgement on the difficulty of a problem; be able to assess the quality of a solution</a:t>
            </a:r>
          </a:p>
          <a:p>
            <a:pPr lvl="1"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Analytics Skills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Building up models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Picking the right tools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Implementing in Software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What I Expect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Prerequisite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Linear algebra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Basic probability theory</a:t>
            </a:r>
          </a:p>
          <a:p>
            <a:pPr lvl="1"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Assessment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Team Term Paper                                 	   30%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Individual Assignments                               30%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In-Class Quiz         	                                30%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Class Participation                                       10%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61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Homework 0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Download and install python (Anaconda distribution) and </a:t>
            </a:r>
            <a:r>
              <a:rPr lang="en-US" altLang="zh-CN" dirty="0" err="1">
                <a:effectLst/>
                <a:ea typeface="宋体" pitchFamily="2" charset="-122"/>
              </a:rPr>
              <a:t>gurobi</a:t>
            </a:r>
            <a:r>
              <a:rPr lang="en-US" altLang="zh-CN" dirty="0">
                <a:effectLst/>
                <a:ea typeface="宋体" pitchFamily="2" charset="-122"/>
              </a:rPr>
              <a:t> (academic license)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Contact TA for help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Form a team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5-6 students per team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Deadline: recess week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35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Course Content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Theory and application of linear programming</a:t>
            </a:r>
          </a:p>
          <a:p>
            <a:pPr marL="0" indent="0">
              <a:buNone/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Network flow models</a:t>
            </a:r>
          </a:p>
          <a:p>
            <a:pPr marL="0" indent="0">
              <a:buNone/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Integer programming </a:t>
            </a:r>
          </a:p>
          <a:p>
            <a:pPr marL="0" indent="0">
              <a:buNone/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Dynamic programming*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1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Operations Research in Practice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3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In a Nutshell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Decision</a:t>
            </a:r>
          </a:p>
          <a:p>
            <a:pPr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Maximize/Minimize …</a:t>
            </a:r>
          </a:p>
          <a:p>
            <a:pPr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Subject to …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09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Areas of Operations Research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Manufacturing 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Transportation 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Airline, Hotel and Retail</a:t>
            </a:r>
          </a:p>
          <a:p>
            <a:pPr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ffectLst/>
                <a:ea typeface="宋体" pitchFamily="2" charset="-122"/>
              </a:rPr>
              <a:t>Synonyms and overlaps: </a:t>
            </a:r>
            <a:r>
              <a:rPr lang="en-US" altLang="zh-CN" sz="2800" dirty="0">
                <a:solidFill>
                  <a:srgbClr val="FF0000"/>
                </a:solidFill>
                <a:effectLst/>
                <a:ea typeface="宋体" pitchFamily="2" charset="-122"/>
              </a:rPr>
              <a:t>Management Science, Decision Science, Industrial Engineering, Operations Management, Economics, Computer Science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8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Areas of Operations Research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575" y="1012930"/>
            <a:ext cx="6329463" cy="5523161"/>
          </a:xfrm>
          <a:prstGeom prst="rect">
            <a:avLst/>
          </a:prstGeom>
        </p:spPr>
      </p:pic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46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Areas of Operations Research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B4E171-6A7B-4F69-8125-8E990264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659" y="1004207"/>
            <a:ext cx="5709648" cy="544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19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Rise of Analytics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69" y="1258926"/>
            <a:ext cx="7767938" cy="4566365"/>
          </a:xfrm>
          <a:prstGeom prst="rect">
            <a:avLst/>
          </a:prstGeom>
        </p:spPr>
      </p:pic>
      <p:sp>
        <p:nvSpPr>
          <p:cNvPr id="7" name="Rectangle 53"/>
          <p:cNvSpPr>
            <a:spLocks noChangeArrowheads="1"/>
          </p:cNvSpPr>
          <p:nvPr/>
        </p:nvSpPr>
        <p:spPr bwMode="auto">
          <a:xfrm>
            <a:off x="589893" y="6027063"/>
            <a:ext cx="758255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Robert Rose, “Defining analytics: a conceptual framework”, 2016, </a:t>
            </a:r>
            <a:r>
              <a:rPr lang="en-US" altLang="en-US" sz="1200" b="1" i="1" dirty="0">
                <a:solidFill>
                  <a:schemeClr val="tx1"/>
                </a:solidFill>
              </a:rPr>
              <a:t>OR/MS Today, </a:t>
            </a:r>
            <a:r>
              <a:rPr lang="en-US" altLang="en-US" sz="1200" b="1" dirty="0">
                <a:solidFill>
                  <a:schemeClr val="tx1"/>
                </a:solidFill>
              </a:rPr>
              <a:t>Vol. 43, No.3</a:t>
            </a:r>
          </a:p>
        </p:txBody>
      </p:sp>
    </p:spTree>
    <p:extLst>
      <p:ext uri="{BB962C8B-B14F-4D97-AF65-F5344CB8AC3E}">
        <p14:creationId xmlns:p14="http://schemas.microsoft.com/office/powerpoint/2010/main" val="940083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Ford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" y="1412655"/>
            <a:ext cx="9133491" cy="43301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453958" y="4033736"/>
            <a:ext cx="5428034" cy="1203647"/>
          </a:xfrm>
          <a:prstGeom prst="rect">
            <a:avLst/>
          </a:prstGeom>
          <a:solidFill>
            <a:srgbClr val="FFFF00">
              <a:alpha val="30196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19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Flexible Manufacturing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471" t="-1265" r="67008" b="1715"/>
          <a:stretch/>
        </p:blipFill>
        <p:spPr>
          <a:xfrm>
            <a:off x="121919" y="989326"/>
            <a:ext cx="1503681" cy="15721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b="83204"/>
          <a:stretch/>
        </p:blipFill>
        <p:spPr>
          <a:xfrm>
            <a:off x="0" y="2930619"/>
            <a:ext cx="7143510" cy="6863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49944" r="33609"/>
          <a:stretch/>
        </p:blipFill>
        <p:spPr>
          <a:xfrm>
            <a:off x="3832527" y="982224"/>
            <a:ext cx="1496908" cy="1579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66631" r="16847"/>
          <a:stretch/>
        </p:blipFill>
        <p:spPr>
          <a:xfrm>
            <a:off x="7536363" y="969106"/>
            <a:ext cx="1503680" cy="15792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t="50449" b="33473"/>
          <a:stretch/>
        </p:blipFill>
        <p:spPr>
          <a:xfrm>
            <a:off x="0" y="4222201"/>
            <a:ext cx="7143510" cy="6570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t="83667"/>
          <a:stretch/>
        </p:blipFill>
        <p:spPr>
          <a:xfrm>
            <a:off x="17463" y="5606191"/>
            <a:ext cx="7143510" cy="66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11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Traditional Dedicated System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74" y="322467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39773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60883" cy="2572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233" y="4939258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2323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312373" y="526994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</p:spTree>
    <p:extLst>
      <p:ext uri="{BB962C8B-B14F-4D97-AF65-F5344CB8AC3E}">
        <p14:creationId xmlns:p14="http://schemas.microsoft.com/office/powerpoint/2010/main" val="85529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Full Flexible System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84" y="324569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42926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71393" cy="467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763" y="4939258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8629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312373" y="526994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cxnSp>
        <p:nvCxnSpPr>
          <p:cNvPr id="19" name="Straight Arrow Connector 14"/>
          <p:cNvCxnSpPr>
            <a:cxnSpLocks noChangeShapeType="1"/>
            <a:stCxn id="40964" idx="3"/>
            <a:endCxn id="4" idx="1"/>
          </p:cNvCxnSpPr>
          <p:nvPr/>
        </p:nvCxnSpPr>
        <p:spPr bwMode="auto">
          <a:xfrm>
            <a:off x="2543503" y="1883583"/>
            <a:ext cx="3392181" cy="174945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" name="Straight Arrow Connector 14"/>
          <p:cNvCxnSpPr>
            <a:cxnSpLocks noChangeShapeType="1"/>
            <a:stCxn id="40964" idx="3"/>
            <a:endCxn id="11" idx="1"/>
          </p:cNvCxnSpPr>
          <p:nvPr/>
        </p:nvCxnSpPr>
        <p:spPr bwMode="auto">
          <a:xfrm>
            <a:off x="2543503" y="1883583"/>
            <a:ext cx="3429260" cy="346930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1" name="Straight Arrow Connector 14"/>
          <p:cNvCxnSpPr>
            <a:cxnSpLocks noChangeShapeType="1"/>
            <a:stCxn id="40965" idx="3"/>
            <a:endCxn id="5" idx="1"/>
          </p:cNvCxnSpPr>
          <p:nvPr/>
        </p:nvCxnSpPr>
        <p:spPr bwMode="auto">
          <a:xfrm flipV="1">
            <a:off x="2564291" y="1883583"/>
            <a:ext cx="3376942" cy="170271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2" name="Straight Arrow Connector 14"/>
          <p:cNvCxnSpPr>
            <a:cxnSpLocks noChangeShapeType="1"/>
            <a:stCxn id="40965" idx="3"/>
            <a:endCxn id="11" idx="1"/>
          </p:cNvCxnSpPr>
          <p:nvPr/>
        </p:nvCxnSpPr>
        <p:spPr bwMode="auto">
          <a:xfrm>
            <a:off x="2564291" y="3586293"/>
            <a:ext cx="3408472" cy="176659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3" name="Straight Arrow Connector 14"/>
          <p:cNvCxnSpPr>
            <a:cxnSpLocks noChangeShapeType="1"/>
            <a:stCxn id="40966" idx="3"/>
            <a:endCxn id="5" idx="1"/>
          </p:cNvCxnSpPr>
          <p:nvPr/>
        </p:nvCxnSpPr>
        <p:spPr bwMode="auto">
          <a:xfrm flipV="1">
            <a:off x="2543503" y="1883583"/>
            <a:ext cx="3397730" cy="34482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6" name="Straight Arrow Connector 14"/>
          <p:cNvCxnSpPr>
            <a:cxnSpLocks noChangeShapeType="1"/>
            <a:stCxn id="40966" idx="3"/>
            <a:endCxn id="4" idx="1"/>
          </p:cNvCxnSpPr>
          <p:nvPr/>
        </p:nvCxnSpPr>
        <p:spPr bwMode="auto">
          <a:xfrm flipV="1">
            <a:off x="2543503" y="3633035"/>
            <a:ext cx="3392181" cy="169883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822935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If we know demand…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84" y="324569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42926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71393" cy="467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763" y="4939258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8629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312373" y="526994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cxnSp>
        <p:nvCxnSpPr>
          <p:cNvPr id="19" name="Straight Arrow Connector 14"/>
          <p:cNvCxnSpPr>
            <a:cxnSpLocks noChangeShapeType="1"/>
            <a:stCxn id="40964" idx="3"/>
            <a:endCxn id="4" idx="1"/>
          </p:cNvCxnSpPr>
          <p:nvPr/>
        </p:nvCxnSpPr>
        <p:spPr bwMode="auto">
          <a:xfrm>
            <a:off x="2543503" y="1883583"/>
            <a:ext cx="3392181" cy="174945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" name="Straight Arrow Connector 14"/>
          <p:cNvCxnSpPr>
            <a:cxnSpLocks noChangeShapeType="1"/>
            <a:stCxn id="40964" idx="3"/>
            <a:endCxn id="11" idx="1"/>
          </p:cNvCxnSpPr>
          <p:nvPr/>
        </p:nvCxnSpPr>
        <p:spPr bwMode="auto">
          <a:xfrm>
            <a:off x="2543503" y="1883583"/>
            <a:ext cx="3429260" cy="346930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46069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Compute the Maximum Sales?</a:t>
            </a:r>
            <a:endParaRPr lang="en-GB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-1018731" y="833160"/>
            <a:ext cx="1142590" cy="1069483"/>
          </a:xfrm>
        </p:spPr>
        <p:txBody>
          <a:bodyPr/>
          <a:lstStyle/>
          <a:p>
            <a:endParaRPr lang="en-GB" altLang="en-US" dirty="0"/>
          </a:p>
        </p:txBody>
      </p:sp>
      <p:pic>
        <p:nvPicPr>
          <p:cNvPr id="40964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1524068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3217822"/>
            <a:ext cx="855192" cy="73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4972351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71" name="Straight Arrow Connector 14"/>
          <p:cNvCxnSpPr>
            <a:cxnSpLocks noChangeShapeType="1"/>
            <a:stCxn id="40964" idx="3"/>
            <a:endCxn id="5" idx="1"/>
          </p:cNvCxnSpPr>
          <p:nvPr/>
        </p:nvCxnSpPr>
        <p:spPr bwMode="auto">
          <a:xfrm>
            <a:off x="2543503" y="1883583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684" y="3245699"/>
            <a:ext cx="1285875" cy="774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233" y="1494495"/>
            <a:ext cx="1259306" cy="778176"/>
          </a:xfrm>
          <a:prstGeom prst="rect">
            <a:avLst/>
          </a:prstGeom>
        </p:spPr>
      </p:pic>
      <p:cxnSp>
        <p:nvCxnSpPr>
          <p:cNvPr id="32" name="Straight Arrow Connector 14"/>
          <p:cNvCxnSpPr>
            <a:cxnSpLocks noChangeShapeType="1"/>
            <a:stCxn id="40966" idx="3"/>
            <a:endCxn id="11" idx="1"/>
          </p:cNvCxnSpPr>
          <p:nvPr/>
        </p:nvCxnSpPr>
        <p:spPr bwMode="auto">
          <a:xfrm>
            <a:off x="2543503" y="5331866"/>
            <a:ext cx="3429260" cy="2102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4"/>
          <p:cNvCxnSpPr>
            <a:cxnSpLocks noChangeShapeType="1"/>
            <a:stCxn id="40965" idx="3"/>
            <a:endCxn id="4" idx="1"/>
          </p:cNvCxnSpPr>
          <p:nvPr/>
        </p:nvCxnSpPr>
        <p:spPr bwMode="auto">
          <a:xfrm>
            <a:off x="2564291" y="3586293"/>
            <a:ext cx="3371393" cy="4674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763" y="4939258"/>
            <a:ext cx="1371141" cy="827255"/>
          </a:xfrm>
          <a:prstGeom prst="rect">
            <a:avLst/>
          </a:prstGeom>
        </p:spPr>
      </p:pic>
      <p:sp>
        <p:nvSpPr>
          <p:cNvPr id="35" name="Rectangle 53"/>
          <p:cNvSpPr>
            <a:spLocks noChangeArrowheads="1"/>
          </p:cNvSpPr>
          <p:nvPr/>
        </p:nvSpPr>
        <p:spPr bwMode="auto">
          <a:xfrm>
            <a:off x="336223" y="351067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6" name="Rectangle 53"/>
          <p:cNvSpPr>
            <a:spLocks noChangeArrowheads="1"/>
          </p:cNvSpPr>
          <p:nvPr/>
        </p:nvSpPr>
        <p:spPr bwMode="auto">
          <a:xfrm>
            <a:off x="7308022" y="266845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336222" y="51779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336222" y="270337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7312374" y="3586293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287961" y="5257017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140</a:t>
            </a:r>
          </a:p>
        </p:txBody>
      </p:sp>
      <p:cxnSp>
        <p:nvCxnSpPr>
          <p:cNvPr id="19" name="Straight Arrow Connector 14"/>
          <p:cNvCxnSpPr>
            <a:cxnSpLocks noChangeShapeType="1"/>
            <a:stCxn id="40964" idx="3"/>
            <a:endCxn id="4" idx="1"/>
          </p:cNvCxnSpPr>
          <p:nvPr/>
        </p:nvCxnSpPr>
        <p:spPr bwMode="auto">
          <a:xfrm>
            <a:off x="2543503" y="1883583"/>
            <a:ext cx="3392181" cy="174945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14"/>
          <p:cNvCxnSpPr>
            <a:cxnSpLocks noChangeShapeType="1"/>
            <a:stCxn id="40964" idx="3"/>
            <a:endCxn id="11" idx="1"/>
          </p:cNvCxnSpPr>
          <p:nvPr/>
        </p:nvCxnSpPr>
        <p:spPr bwMode="auto">
          <a:xfrm>
            <a:off x="2543503" y="1883583"/>
            <a:ext cx="3429260" cy="346930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14"/>
          <p:cNvCxnSpPr>
            <a:cxnSpLocks noChangeShapeType="1"/>
            <a:stCxn id="40965" idx="3"/>
            <a:endCxn id="5" idx="1"/>
          </p:cNvCxnSpPr>
          <p:nvPr/>
        </p:nvCxnSpPr>
        <p:spPr bwMode="auto">
          <a:xfrm flipV="1">
            <a:off x="2564291" y="1883583"/>
            <a:ext cx="3376942" cy="170271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14"/>
          <p:cNvCxnSpPr>
            <a:cxnSpLocks noChangeShapeType="1"/>
            <a:stCxn id="40965" idx="3"/>
            <a:endCxn id="11" idx="1"/>
          </p:cNvCxnSpPr>
          <p:nvPr/>
        </p:nvCxnSpPr>
        <p:spPr bwMode="auto">
          <a:xfrm>
            <a:off x="2564291" y="3586293"/>
            <a:ext cx="3408472" cy="176659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14"/>
          <p:cNvCxnSpPr>
            <a:cxnSpLocks noChangeShapeType="1"/>
            <a:stCxn id="40966" idx="3"/>
            <a:endCxn id="5" idx="1"/>
          </p:cNvCxnSpPr>
          <p:nvPr/>
        </p:nvCxnSpPr>
        <p:spPr bwMode="auto">
          <a:xfrm flipV="1">
            <a:off x="2543503" y="1883583"/>
            <a:ext cx="3397730" cy="344828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14"/>
          <p:cNvCxnSpPr>
            <a:cxnSpLocks noChangeShapeType="1"/>
            <a:stCxn id="40966" idx="3"/>
            <a:endCxn id="4" idx="1"/>
          </p:cNvCxnSpPr>
          <p:nvPr/>
        </p:nvCxnSpPr>
        <p:spPr bwMode="auto">
          <a:xfrm flipV="1">
            <a:off x="2543503" y="3633035"/>
            <a:ext cx="3392181" cy="169883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357" y="2358186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493" y="4093363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 descr="C:\Documents and Settings\s40712\Local Settings\Temporary Internet Files\Content.IE5\AB9QT5PI\MCj0280802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99" y="5829980"/>
            <a:ext cx="834404" cy="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811" y="2288349"/>
            <a:ext cx="1434150" cy="9238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324" y="4095059"/>
            <a:ext cx="1283231" cy="717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742" y="5776702"/>
            <a:ext cx="1410319" cy="801492"/>
          </a:xfrm>
          <a:prstGeom prst="rect">
            <a:avLst/>
          </a:prstGeom>
        </p:spPr>
      </p:pic>
      <p:sp>
        <p:nvSpPr>
          <p:cNvPr id="31" name="Rectangle 53"/>
          <p:cNvSpPr>
            <a:spLocks noChangeArrowheads="1"/>
          </p:cNvSpPr>
          <p:nvPr/>
        </p:nvSpPr>
        <p:spPr bwMode="auto">
          <a:xfrm>
            <a:off x="7297485" y="6081891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34" name="Rectangle 53"/>
          <p:cNvSpPr>
            <a:spLocks noChangeArrowheads="1"/>
          </p:cNvSpPr>
          <p:nvPr/>
        </p:nvSpPr>
        <p:spPr bwMode="auto">
          <a:xfrm>
            <a:off x="7308022" y="4395528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4" name="Rectangle 53"/>
          <p:cNvSpPr>
            <a:spLocks noChangeArrowheads="1"/>
          </p:cNvSpPr>
          <p:nvPr/>
        </p:nvSpPr>
        <p:spPr bwMode="auto">
          <a:xfrm>
            <a:off x="7312374" y="1748754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36222" y="436187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36222" y="1862935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48" name="Rectangle 53"/>
          <p:cNvSpPr>
            <a:spLocks noChangeArrowheads="1"/>
          </p:cNvSpPr>
          <p:nvPr/>
        </p:nvSpPr>
        <p:spPr bwMode="auto">
          <a:xfrm>
            <a:off x="336221" y="6035606"/>
            <a:ext cx="1175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100</a:t>
            </a:r>
          </a:p>
        </p:txBody>
      </p:sp>
      <p:cxnSp>
        <p:nvCxnSpPr>
          <p:cNvPr id="49" name="Straight Arrow Connector 14"/>
          <p:cNvCxnSpPr>
            <a:cxnSpLocks noChangeShapeType="1"/>
          </p:cNvCxnSpPr>
          <p:nvPr/>
        </p:nvCxnSpPr>
        <p:spPr bwMode="auto">
          <a:xfrm>
            <a:off x="2534594" y="2883470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Arrow Connector 14"/>
          <p:cNvCxnSpPr>
            <a:cxnSpLocks noChangeShapeType="1"/>
          </p:cNvCxnSpPr>
          <p:nvPr/>
        </p:nvCxnSpPr>
        <p:spPr bwMode="auto">
          <a:xfrm>
            <a:off x="2575033" y="4549416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Arrow Connector 14"/>
          <p:cNvCxnSpPr>
            <a:cxnSpLocks noChangeShapeType="1"/>
          </p:cNvCxnSpPr>
          <p:nvPr/>
        </p:nvCxnSpPr>
        <p:spPr bwMode="auto">
          <a:xfrm>
            <a:off x="2564291" y="6189494"/>
            <a:ext cx="339773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Arrow Connector 14"/>
          <p:cNvCxnSpPr>
            <a:cxnSpLocks noChangeShapeType="1"/>
            <a:endCxn id="6" idx="1"/>
          </p:cNvCxnSpPr>
          <p:nvPr/>
        </p:nvCxnSpPr>
        <p:spPr bwMode="auto">
          <a:xfrm>
            <a:off x="2575033" y="4549416"/>
            <a:ext cx="3340709" cy="162803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Arrow Connector 14"/>
          <p:cNvCxnSpPr>
            <a:cxnSpLocks noChangeShapeType="1"/>
            <a:stCxn id="27" idx="3"/>
          </p:cNvCxnSpPr>
          <p:nvPr/>
        </p:nvCxnSpPr>
        <p:spPr bwMode="auto">
          <a:xfrm flipV="1">
            <a:off x="2543503" y="4603880"/>
            <a:ext cx="3403769" cy="158561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617842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Operations Research Tools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Given a design, how do we evaluate its performance?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Linear programming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Maximum flow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Simulation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58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Uber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7" y="1018602"/>
            <a:ext cx="7651861" cy="55558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403" y="3716657"/>
            <a:ext cx="5219765" cy="28368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07" y="983236"/>
            <a:ext cx="3444539" cy="34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7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Uber/Grab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What does Uber/Grab offer?</a:t>
            </a:r>
          </a:p>
          <a:p>
            <a:pPr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Matching Algorithms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Dispatch system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Surge pricing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Uber POOL/Grab Share</a:t>
            </a:r>
          </a:p>
          <a:p>
            <a:pPr lvl="1"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3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Dispatch System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759" y="1060450"/>
            <a:ext cx="6039627" cy="5088386"/>
          </a:xfrm>
          <a:prstGeom prst="rect">
            <a:avLst/>
          </a:prstGeom>
        </p:spPr>
      </p:pic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2290054" y="6241588"/>
            <a:ext cx="6466114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http://www.wired.com/2011/04/app-stars-uber/</a:t>
            </a:r>
          </a:p>
        </p:txBody>
      </p:sp>
    </p:spTree>
    <p:extLst>
      <p:ext uri="{BB962C8B-B14F-4D97-AF65-F5344CB8AC3E}">
        <p14:creationId xmlns:p14="http://schemas.microsoft.com/office/powerpoint/2010/main" val="2316399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Greedy Approach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977462" y="6404269"/>
            <a:ext cx="740315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https://newsroom.uber.com/semi-automated-science-using-an-ai-simulation-framework/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049" y="1000919"/>
            <a:ext cx="6324765" cy="53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Is Greedy Good?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09" y="1999716"/>
            <a:ext cx="567883" cy="5678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13" y="1997641"/>
            <a:ext cx="567883" cy="5678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070" y="3364062"/>
            <a:ext cx="334162" cy="4324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850" y="4359065"/>
            <a:ext cx="319184" cy="432444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 bwMode="auto">
          <a:xfrm>
            <a:off x="2807151" y="2567599"/>
            <a:ext cx="0" cy="79646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Rectangle 53"/>
          <p:cNvSpPr>
            <a:spLocks noChangeArrowheads="1"/>
          </p:cNvSpPr>
          <p:nvPr/>
        </p:nvSpPr>
        <p:spPr bwMode="auto">
          <a:xfrm>
            <a:off x="2588391" y="2866973"/>
            <a:ext cx="117541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2 min</a:t>
            </a:r>
          </a:p>
        </p:txBody>
      </p:sp>
      <p:cxnSp>
        <p:nvCxnSpPr>
          <p:cNvPr id="16" name="Straight Arrow Connector 15"/>
          <p:cNvCxnSpPr>
            <a:stCxn id="10" idx="2"/>
            <a:endCxn id="7" idx="1"/>
          </p:cNvCxnSpPr>
          <p:nvPr/>
        </p:nvCxnSpPr>
        <p:spPr bwMode="auto">
          <a:xfrm>
            <a:off x="1063855" y="2565524"/>
            <a:ext cx="1576215" cy="10147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Rectangle 53"/>
          <p:cNvSpPr>
            <a:spLocks noChangeArrowheads="1"/>
          </p:cNvSpPr>
          <p:nvPr/>
        </p:nvSpPr>
        <p:spPr bwMode="auto">
          <a:xfrm>
            <a:off x="1347796" y="2684586"/>
            <a:ext cx="117541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3 min</a:t>
            </a:r>
          </a:p>
        </p:txBody>
      </p:sp>
      <p:cxnSp>
        <p:nvCxnSpPr>
          <p:cNvPr id="20" name="Straight Arrow Connector 19"/>
          <p:cNvCxnSpPr>
            <a:stCxn id="6" idx="3"/>
            <a:endCxn id="8" idx="1"/>
          </p:cNvCxnSpPr>
          <p:nvPr/>
        </p:nvCxnSpPr>
        <p:spPr bwMode="auto">
          <a:xfrm>
            <a:off x="3091092" y="2283658"/>
            <a:ext cx="2277758" cy="22916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Rectangle 53"/>
          <p:cNvSpPr>
            <a:spLocks noChangeArrowheads="1"/>
          </p:cNvSpPr>
          <p:nvPr/>
        </p:nvSpPr>
        <p:spPr bwMode="auto">
          <a:xfrm>
            <a:off x="3913701" y="3138329"/>
            <a:ext cx="117541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10 min</a:t>
            </a:r>
          </a:p>
        </p:txBody>
      </p:sp>
      <p:cxnSp>
        <p:nvCxnSpPr>
          <p:cNvPr id="21" name="Elbow Connector 20"/>
          <p:cNvCxnSpPr>
            <a:stCxn id="10" idx="2"/>
            <a:endCxn id="8" idx="1"/>
          </p:cNvCxnSpPr>
          <p:nvPr/>
        </p:nvCxnSpPr>
        <p:spPr bwMode="auto">
          <a:xfrm rot="16200000" flipH="1">
            <a:off x="2211471" y="1417907"/>
            <a:ext cx="2009763" cy="4304995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Rectangle 53"/>
          <p:cNvSpPr>
            <a:spLocks noChangeArrowheads="1"/>
          </p:cNvSpPr>
          <p:nvPr/>
        </p:nvSpPr>
        <p:spPr bwMode="auto">
          <a:xfrm>
            <a:off x="2295012" y="4613008"/>
            <a:ext cx="117541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20 min</a:t>
            </a:r>
          </a:p>
        </p:txBody>
      </p:sp>
    </p:spTree>
    <p:extLst>
      <p:ext uri="{BB962C8B-B14F-4D97-AF65-F5344CB8AC3E}">
        <p14:creationId xmlns:p14="http://schemas.microsoft.com/office/powerpoint/2010/main" val="3672899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Operations Research Tools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Linear programming.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Shortest Path.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Assignment Problem.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49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Surge Pricing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236" y="1015051"/>
            <a:ext cx="4286003" cy="536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Why?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Profit Maximization?</a:t>
            </a:r>
          </a:p>
          <a:p>
            <a:pPr lvl="1">
              <a:defRPr/>
            </a:pPr>
            <a:r>
              <a:rPr lang="en-US" altLang="zh-CN" sz="2400" dirty="0">
                <a:ea typeface="宋体" pitchFamily="2" charset="-122"/>
              </a:rPr>
              <a:t>Compare to airline industry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19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ECON 1001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48" y="1075830"/>
            <a:ext cx="7157979" cy="5090119"/>
          </a:xfrm>
          <a:prstGeom prst="rect">
            <a:avLst/>
          </a:prstGeom>
        </p:spPr>
      </p:pic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1145628" y="6300391"/>
            <a:ext cx="740315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https://newsroom.uber.com/guest-post-a-deeper-look-at-ubers-dynamic-pricing-model/</a:t>
            </a:r>
          </a:p>
        </p:txBody>
      </p:sp>
    </p:spTree>
    <p:extLst>
      <p:ext uri="{BB962C8B-B14F-4D97-AF65-F5344CB8AC3E}">
        <p14:creationId xmlns:p14="http://schemas.microsoft.com/office/powerpoint/2010/main" val="494964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Model for Supply and Demand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3245" y="1370122"/>
                <a:ext cx="7417266" cy="4500563"/>
              </a:xfrm>
            </p:spPr>
            <p:txBody>
              <a:bodyPr/>
              <a:lstStyle/>
              <a:p>
                <a:r>
                  <a:rPr lang="en-US" altLang="en-US" b="1" i="1" dirty="0">
                    <a:solidFill>
                      <a:srgbClr val="0070C0"/>
                    </a:solidFill>
                    <a:effectLst/>
                  </a:rPr>
                  <a:t>n </a:t>
                </a:r>
                <a:r>
                  <a:rPr lang="en-US" altLang="en-US" dirty="0">
                    <a:effectLst/>
                  </a:rPr>
                  <a:t>locations.</a:t>
                </a:r>
              </a:p>
              <a:p>
                <a:r>
                  <a:rPr lang="en-US" altLang="en-US" dirty="0">
                    <a:effectLst/>
                  </a:rPr>
                  <a:t>Demand at location </a:t>
                </a:r>
                <a:r>
                  <a:rPr lang="en-US" altLang="en-US" i="1" dirty="0">
                    <a:solidFill>
                      <a:srgbClr val="0070C0"/>
                    </a:solidFill>
                    <a:effectLst/>
                  </a:rPr>
                  <a:t>i</a:t>
                </a:r>
                <a:r>
                  <a:rPr lang="en-US" altLang="en-US" i="1" dirty="0">
                    <a:solidFill>
                      <a:schemeClr val="tx1"/>
                    </a:solidFill>
                    <a:effectLst/>
                  </a:rPr>
                  <a:t>:</a:t>
                </a:r>
                <a:r>
                  <a:rPr lang="en-US" altLang="en-US" i="1" dirty="0">
                    <a:solidFill>
                      <a:srgbClr val="0070C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en-US" sz="3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𝒂</m:t>
                        </m:r>
                      </m:e>
                      <m:sub>
                        <m:r>
                          <a:rPr lang="en-US" altLang="en-US" sz="3200" i="1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</m:sSub>
                    <m:r>
                      <a:rPr lang="en-US" altLang="en-US" sz="3200" b="1" i="1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en-US" sz="3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en-US" sz="3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𝒃</m:t>
                        </m:r>
                      </m:e>
                      <m:sub>
                        <m:r>
                          <a:rPr lang="en-US" altLang="en-US" sz="3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altLang="en-US" sz="3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en-US" sz="3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𝒑</m:t>
                        </m:r>
                      </m:e>
                      <m:sub>
                        <m:r>
                          <a:rPr lang="en-US" altLang="en-US" sz="32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</m:sSub>
                  </m:oMath>
                </a14:m>
                <a:endParaRPr lang="en-US" altLang="en-US" i="1" dirty="0">
                  <a:effectLst/>
                </a:endParaRPr>
              </a:p>
              <a:p>
                <a:r>
                  <a:rPr lang="en-US" altLang="en-US" dirty="0">
                    <a:effectLst/>
                  </a:rPr>
                  <a:t>Supply at location </a:t>
                </a:r>
                <a:r>
                  <a:rPr lang="en-US" altLang="en-US" i="1" dirty="0">
                    <a:solidFill>
                      <a:srgbClr val="0070C0"/>
                    </a:solidFill>
                    <a:effectLst/>
                  </a:rPr>
                  <a:t>i</a:t>
                </a:r>
                <a:r>
                  <a:rPr lang="en-US" altLang="en-US" i="1" dirty="0">
                    <a:solidFill>
                      <a:schemeClr val="tx1"/>
                    </a:solidFill>
                    <a:effectLst/>
                  </a:rPr>
                  <a:t>:</a:t>
                </a:r>
                <a:r>
                  <a:rPr lang="en-US" altLang="en-US" i="1" dirty="0">
                    <a:solidFill>
                      <a:srgbClr val="0070C0"/>
                    </a:solidFill>
                    <a:effectLst/>
                  </a:rPr>
                  <a:t> </a:t>
                </a:r>
                <a:endParaRPr lang="en-US" altLang="en-US" sz="3200" i="1" dirty="0">
                  <a:effectLst/>
                  <a:latin typeface="Cambria Math" panose="02040503050406030204" pitchFamily="18" charset="0"/>
                  <a:ea typeface="宋体" pitchFamily="2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200" b="1" i="1" smtClean="0">
                          <a:effectLst/>
                          <a:latin typeface="Cambria Math" panose="02040503050406030204" pitchFamily="18" charset="0"/>
                          <a:ea typeface="宋体" pitchFamily="2" charset="-122"/>
                        </a:rPr>
                        <m:t>                 </m:t>
                      </m:r>
                      <m:sSub>
                        <m:sSubPr>
                          <m:ctrlP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𝒄</m:t>
                          </m:r>
                        </m:e>
                        <m:sub>
                          <m: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𝒊</m:t>
                          </m:r>
                        </m:sub>
                      </m:sSub>
                      <m:r>
                        <a:rPr lang="en-US" altLang="en-US" sz="3200" b="1" i="1" smtClean="0">
                          <a:effectLst/>
                          <a:latin typeface="Cambria Math" panose="02040503050406030204" pitchFamily="18" charset="0"/>
                          <a:ea typeface="宋体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𝒅</m:t>
                          </m:r>
                        </m:e>
                        <m:sub>
                          <m: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sSubPr>
                        <m:e>
                          <m: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US" altLang="en-US" sz="32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𝒊</m:t>
                          </m:r>
                        </m:sub>
                      </m:sSub>
                      <m:r>
                        <a:rPr lang="en-US" altLang="en-US" sz="3200" b="1" i="1" smtClean="0">
                          <a:effectLst/>
                          <a:latin typeface="Cambria Math" panose="02040503050406030204" pitchFamily="18" charset="0"/>
                          <a:ea typeface="宋体" pitchFamily="2" charset="-122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</a:rPr>
                            <m:t>𝒋</m:t>
                          </m:r>
                          <m: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3200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en-US" sz="32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en-US" i="1" dirty="0"/>
              </a:p>
              <a:p>
                <a:endParaRPr lang="en-GB" altLang="en-US" dirty="0"/>
              </a:p>
            </p:txBody>
          </p:sp>
        </mc:Choice>
        <mc:Fallback xmlns="">
          <p:sp>
            <p:nvSpPr>
              <p:cNvPr id="4096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245" y="1370122"/>
                <a:ext cx="7417266" cy="4500563"/>
              </a:xfrm>
              <a:blipFill rotWithShape="0">
                <a:blip r:embed="rId2"/>
                <a:stretch>
                  <a:fillRect l="-1561" t="-13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275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Optimization Problem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Non-profit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Linear programming (in fact, linear algebra)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Profit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Nonlinear programming</a:t>
            </a:r>
          </a:p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15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>
                <a:ea typeface="宋体" pitchFamily="2" charset="-122"/>
              </a:rPr>
              <a:t>UberPOOL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18434" name="Picture 2" descr="https://newsroom.uber.com/wp-content/uploads/2015/02/uberpool-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" y="1217205"/>
            <a:ext cx="9106163" cy="49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Traveling Salesman Problem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7444" y="4497573"/>
            <a:ext cx="1720334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Pick up passenger 1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778" y="3124938"/>
            <a:ext cx="172033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Pick up passenger 2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155723" y="3463944"/>
            <a:ext cx="172033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Pick up passenger 3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482533" y="4865910"/>
            <a:ext cx="1759318" cy="368337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Drop off passenger 1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1584" y="4669300"/>
            <a:ext cx="1748524" cy="36833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Drop off passenger 2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740434" y="1848994"/>
            <a:ext cx="1831484" cy="36833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hangingPunct="1">
              <a:buClrTx/>
              <a:buFontTx/>
              <a:buNone/>
            </a:pPr>
            <a:r>
              <a:rPr lang="en-US" altLang="en-US" sz="1200" b="1" dirty="0"/>
              <a:t> Drop off passenger 3</a:t>
            </a:r>
          </a:p>
        </p:txBody>
      </p:sp>
      <p:cxnSp>
        <p:nvCxnSpPr>
          <p:cNvPr id="11" name="AutoShape 8"/>
          <p:cNvCxnSpPr>
            <a:cxnSpLocks noChangeShapeType="1"/>
            <a:stCxn id="5" idx="0"/>
            <a:endCxn id="6" idx="1"/>
          </p:cNvCxnSpPr>
          <p:nvPr/>
        </p:nvCxnSpPr>
        <p:spPr bwMode="auto">
          <a:xfrm rot="5400000" flipH="1" flipV="1">
            <a:off x="1123461" y="3473257"/>
            <a:ext cx="1188466" cy="860167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" name="AutoShape 8"/>
          <p:cNvCxnSpPr>
            <a:cxnSpLocks noChangeShapeType="1"/>
            <a:endCxn id="8" idx="1"/>
          </p:cNvCxnSpPr>
          <p:nvPr/>
        </p:nvCxnSpPr>
        <p:spPr bwMode="auto">
          <a:xfrm>
            <a:off x="2140721" y="4681741"/>
            <a:ext cx="1341812" cy="368338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" name="AutoShape 8"/>
          <p:cNvCxnSpPr>
            <a:cxnSpLocks noChangeShapeType="1"/>
            <a:endCxn id="9" idx="1"/>
          </p:cNvCxnSpPr>
          <p:nvPr/>
        </p:nvCxnSpPr>
        <p:spPr bwMode="auto">
          <a:xfrm flipV="1">
            <a:off x="5241851" y="4853469"/>
            <a:ext cx="1609733" cy="20571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" name="AutoShape 8"/>
          <p:cNvCxnSpPr>
            <a:cxnSpLocks noChangeShapeType="1"/>
          </p:cNvCxnSpPr>
          <p:nvPr/>
        </p:nvCxnSpPr>
        <p:spPr bwMode="auto">
          <a:xfrm>
            <a:off x="3868112" y="3330650"/>
            <a:ext cx="1287611" cy="324202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" name="AutoShape 8"/>
          <p:cNvCxnSpPr>
            <a:cxnSpLocks noChangeShapeType="1"/>
            <a:endCxn id="10" idx="1"/>
          </p:cNvCxnSpPr>
          <p:nvPr/>
        </p:nvCxnSpPr>
        <p:spPr bwMode="auto">
          <a:xfrm flipV="1">
            <a:off x="3868112" y="2033163"/>
            <a:ext cx="2872322" cy="1291268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" name="AutoShape 8"/>
          <p:cNvCxnSpPr>
            <a:cxnSpLocks noChangeShapeType="1"/>
            <a:endCxn id="10" idx="2"/>
          </p:cNvCxnSpPr>
          <p:nvPr/>
        </p:nvCxnSpPr>
        <p:spPr bwMode="auto">
          <a:xfrm rot="5400000" flipH="1" flipV="1">
            <a:off x="6729956" y="2721892"/>
            <a:ext cx="1430781" cy="421660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" name="AutoShape 8"/>
          <p:cNvCxnSpPr>
            <a:cxnSpLocks noChangeShapeType="1"/>
            <a:stCxn id="6" idx="2"/>
            <a:endCxn id="8" idx="0"/>
          </p:cNvCxnSpPr>
          <p:nvPr/>
        </p:nvCxnSpPr>
        <p:spPr bwMode="auto">
          <a:xfrm rot="16200000" flipH="1">
            <a:off x="2998751" y="3502468"/>
            <a:ext cx="1372635" cy="1354247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" name="AutoShape 8"/>
          <p:cNvCxnSpPr>
            <a:cxnSpLocks noChangeShapeType="1"/>
            <a:stCxn id="9" idx="3"/>
            <a:endCxn id="10" idx="3"/>
          </p:cNvCxnSpPr>
          <p:nvPr/>
        </p:nvCxnSpPr>
        <p:spPr bwMode="auto">
          <a:xfrm flipH="1" flipV="1">
            <a:off x="8571918" y="2033163"/>
            <a:ext cx="28190" cy="2820306"/>
          </a:xfrm>
          <a:prstGeom prst="bentConnector3">
            <a:avLst>
              <a:gd name="adj1" fmla="val -810926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" name="AutoShape 8"/>
          <p:cNvCxnSpPr>
            <a:cxnSpLocks noChangeShapeType="1"/>
            <a:endCxn id="7" idx="2"/>
          </p:cNvCxnSpPr>
          <p:nvPr/>
        </p:nvCxnSpPr>
        <p:spPr bwMode="auto">
          <a:xfrm rot="5400000" flipH="1" flipV="1">
            <a:off x="5218001" y="4270500"/>
            <a:ext cx="1236108" cy="359670"/>
          </a:xfrm>
          <a:prstGeom prst="bentConnector3">
            <a:avLst>
              <a:gd name="adj1" fmla="val 50000"/>
            </a:avLst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" name="AutoShape 8"/>
          <p:cNvCxnSpPr>
            <a:cxnSpLocks noChangeShapeType="1"/>
            <a:stCxn id="7" idx="3"/>
            <a:endCxn id="9" idx="0"/>
          </p:cNvCxnSpPr>
          <p:nvPr/>
        </p:nvCxnSpPr>
        <p:spPr bwMode="auto">
          <a:xfrm>
            <a:off x="6876057" y="3648113"/>
            <a:ext cx="849789" cy="1021187"/>
          </a:xfrm>
          <a:prstGeom prst="bentConnector2">
            <a:avLst/>
          </a:prstGeom>
          <a:noFill/>
          <a:ln w="25560" cap="flat">
            <a:solidFill>
              <a:schemeClr val="tx1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" name="Rectangle 53"/>
          <p:cNvSpPr>
            <a:spLocks noChangeArrowheads="1"/>
          </p:cNvSpPr>
          <p:nvPr/>
        </p:nvSpPr>
        <p:spPr bwMode="auto">
          <a:xfrm>
            <a:off x="396084" y="4994370"/>
            <a:ext cx="16103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Start point</a:t>
            </a:r>
          </a:p>
        </p:txBody>
      </p:sp>
      <p:sp>
        <p:nvSpPr>
          <p:cNvPr id="48" name="Rectangle 53"/>
          <p:cNvSpPr>
            <a:spLocks noChangeArrowheads="1"/>
          </p:cNvSpPr>
          <p:nvPr/>
        </p:nvSpPr>
        <p:spPr bwMode="auto">
          <a:xfrm>
            <a:off x="6896949" y="1515895"/>
            <a:ext cx="16103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End point</a:t>
            </a:r>
          </a:p>
        </p:txBody>
      </p:sp>
    </p:spTree>
    <p:extLst>
      <p:ext uri="{BB962C8B-B14F-4D97-AF65-F5344CB8AC3E}">
        <p14:creationId xmlns:p14="http://schemas.microsoft.com/office/powerpoint/2010/main" val="3910933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Solving TSP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Linear programming.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Integer programming.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Heuristic design.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12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Rue La </a:t>
            </a:r>
            <a:r>
              <a:rPr lang="en-US" altLang="zh-CN" dirty="0" err="1">
                <a:ea typeface="宋体" pitchFamily="2" charset="-122"/>
              </a:rPr>
              <a:t>La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" y="1530370"/>
            <a:ext cx="9104587" cy="3451534"/>
          </a:xfrm>
          <a:prstGeom prst="rect">
            <a:avLst/>
          </a:prstGeom>
        </p:spPr>
      </p:pic>
      <p:sp>
        <p:nvSpPr>
          <p:cNvPr id="7" name="Rectangle 53"/>
          <p:cNvSpPr>
            <a:spLocks noChangeArrowheads="1"/>
          </p:cNvSpPr>
          <p:nvPr/>
        </p:nvSpPr>
        <p:spPr bwMode="auto">
          <a:xfrm>
            <a:off x="4574381" y="5186335"/>
            <a:ext cx="503565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https://www.ruelala.com/boutique/</a:t>
            </a:r>
          </a:p>
        </p:txBody>
      </p:sp>
    </p:spTree>
    <p:extLst>
      <p:ext uri="{BB962C8B-B14F-4D97-AF65-F5344CB8AC3E}">
        <p14:creationId xmlns:p14="http://schemas.microsoft.com/office/powerpoint/2010/main" val="3768968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Rue La </a:t>
            </a:r>
            <a:r>
              <a:rPr lang="en-US" altLang="zh-CN" dirty="0" err="1">
                <a:ea typeface="宋体" pitchFamily="2" charset="-122"/>
              </a:rPr>
              <a:t>La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7" name="Rectangle 53"/>
          <p:cNvSpPr>
            <a:spLocks noChangeArrowheads="1"/>
          </p:cNvSpPr>
          <p:nvPr/>
        </p:nvSpPr>
        <p:spPr bwMode="auto">
          <a:xfrm>
            <a:off x="4081356" y="4913988"/>
            <a:ext cx="503565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https://www.ruelala.com/boutique/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08" y="1101381"/>
            <a:ext cx="7755776" cy="3829075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40059" y="4492136"/>
            <a:ext cx="6643171" cy="197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</a:bodyPr>
          <a:lstStyle>
            <a:lvl1pPr marL="341313" indent="-34131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90015"/>
              </a:buClr>
              <a:buSzPct val="100000"/>
              <a:buChar char="•"/>
              <a:defRPr sz="2900" b="1">
                <a:solidFill>
                  <a:srgbClr val="79001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38188" indent="-28416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Char char="­"/>
              <a:defRPr sz="2700" b="1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38238" indent="-22860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100000"/>
              <a:buChar char="·"/>
              <a:defRPr sz="2400" i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473200" indent="-20955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CC"/>
                </a:solidFill>
                <a:latin typeface="+mn-lt"/>
              </a:defRPr>
            </a:lvl4pPr>
            <a:lvl5pPr marL="18954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3526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8098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2670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7242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buFontTx/>
              <a:buNone/>
              <a:defRPr/>
            </a:pPr>
            <a:endParaRPr lang="en-US" altLang="zh-CN" kern="0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sz="2000" kern="0" dirty="0">
                <a:effectLst/>
                <a:ea typeface="宋体" pitchFamily="2" charset="-122"/>
              </a:rPr>
              <a:t>Legacy pricing process</a:t>
            </a:r>
          </a:p>
          <a:p>
            <a:pPr lvl="1">
              <a:defRPr/>
            </a:pPr>
            <a:r>
              <a:rPr lang="en-US" altLang="zh-CN" sz="2000" dirty="0">
                <a:effectLst/>
                <a:ea typeface="宋体" pitchFamily="2" charset="-122"/>
              </a:rPr>
              <a:t>Percentage markup on cost</a:t>
            </a:r>
          </a:p>
          <a:p>
            <a:pPr lvl="1">
              <a:defRPr/>
            </a:pPr>
            <a:r>
              <a:rPr lang="en-US" altLang="zh-CN" sz="2000" dirty="0">
                <a:effectLst/>
                <a:ea typeface="宋体" pitchFamily="2" charset="-122"/>
              </a:rPr>
              <a:t>Competitor’s price</a:t>
            </a:r>
          </a:p>
          <a:p>
            <a:pPr lvl="1">
              <a:defRPr/>
            </a:pPr>
            <a:r>
              <a:rPr lang="en-US" altLang="zh-CN" sz="2000" dirty="0">
                <a:effectLst/>
                <a:ea typeface="宋体" pitchFamily="2" charset="-122"/>
              </a:rPr>
              <a:t>Subjective judgement</a:t>
            </a:r>
          </a:p>
          <a:p>
            <a:pPr lvl="1">
              <a:defRPr/>
            </a:pPr>
            <a:endParaRPr lang="en-US" altLang="zh-CN" sz="2000" dirty="0">
              <a:ea typeface="宋体" pitchFamily="2" charset="-122"/>
            </a:endParaRPr>
          </a:p>
          <a:p>
            <a:pPr lvl="1">
              <a:defRPr/>
            </a:pPr>
            <a:endParaRPr lang="en-US" altLang="zh-CN" kern="0" dirty="0">
              <a:ea typeface="宋体" pitchFamily="2" charset="-122"/>
            </a:endParaRPr>
          </a:p>
          <a:p>
            <a:pPr marL="0" indent="0">
              <a:buFontTx/>
              <a:buNone/>
              <a:defRPr/>
            </a:pPr>
            <a:endParaRPr lang="en-US" altLang="zh-CN" kern="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7094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Rue La </a:t>
            </a:r>
            <a:r>
              <a:rPr lang="en-US" altLang="zh-CN" dirty="0" err="1">
                <a:ea typeface="宋体" pitchFamily="2" charset="-122"/>
              </a:rPr>
              <a:t>La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461645" y="5708650"/>
            <a:ext cx="874482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7" name="Rectangle 53"/>
          <p:cNvSpPr>
            <a:spLocks noChangeArrowheads="1"/>
          </p:cNvSpPr>
          <p:nvPr/>
        </p:nvSpPr>
        <p:spPr bwMode="auto">
          <a:xfrm>
            <a:off x="960362" y="5616317"/>
            <a:ext cx="74233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</a:t>
            </a:r>
            <a:r>
              <a:rPr lang="en-US" altLang="en-US" sz="1200" b="1" dirty="0" err="1">
                <a:solidFill>
                  <a:schemeClr val="tx1"/>
                </a:solidFill>
              </a:rPr>
              <a:t>Ferreria</a:t>
            </a:r>
            <a:r>
              <a:rPr lang="en-US" altLang="en-US" sz="1200" b="1" dirty="0">
                <a:solidFill>
                  <a:schemeClr val="tx1"/>
                </a:solidFill>
              </a:rPr>
              <a:t>, Lee, </a:t>
            </a:r>
            <a:r>
              <a:rPr lang="en-US" altLang="en-US" sz="1200" b="1" dirty="0" err="1">
                <a:solidFill>
                  <a:schemeClr val="tx1"/>
                </a:solidFill>
              </a:rPr>
              <a:t>Simchi</a:t>
            </a:r>
            <a:r>
              <a:rPr lang="en-US" altLang="en-US" sz="1200" b="1" dirty="0">
                <a:solidFill>
                  <a:schemeClr val="tx1"/>
                </a:solidFill>
              </a:rPr>
              <a:t>-Levi (2016), “Analytics for an Online Retailer: Demand Forecasting and Price Optimization”, 2016, </a:t>
            </a:r>
            <a:r>
              <a:rPr lang="en-US" altLang="en-US" sz="1200" b="1" i="1" dirty="0">
                <a:solidFill>
                  <a:schemeClr val="tx1"/>
                </a:solidFill>
              </a:rPr>
              <a:t>MSOM, </a:t>
            </a:r>
            <a:r>
              <a:rPr lang="en-US" altLang="en-US" sz="1200" b="1" dirty="0">
                <a:solidFill>
                  <a:schemeClr val="tx1"/>
                </a:solidFill>
              </a:rPr>
              <a:t>Vol. 18, No.1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62" y="1031866"/>
            <a:ext cx="6628107" cy="433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82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Price Optimization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Methodology</a:t>
            </a:r>
          </a:p>
          <a:p>
            <a:pPr lvl="1">
              <a:defRPr/>
            </a:pPr>
            <a:r>
              <a:rPr lang="en-US" altLang="zh-CN" dirty="0">
                <a:effectLst/>
                <a:ea typeface="宋体" pitchFamily="2" charset="-122"/>
              </a:rPr>
              <a:t>Integer programming/ linear programming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Experiment</a:t>
            </a:r>
          </a:p>
          <a:p>
            <a:pPr marL="0" indent="0">
              <a:buNone/>
              <a:defRPr/>
            </a:pPr>
            <a:endParaRPr lang="en-US" altLang="zh-CN" dirty="0">
              <a:effectLst/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283" y="3121965"/>
            <a:ext cx="6214642" cy="2922204"/>
          </a:xfrm>
          <a:prstGeom prst="rect">
            <a:avLst/>
          </a:prstGeom>
        </p:spPr>
      </p:pic>
      <p:sp>
        <p:nvSpPr>
          <p:cNvPr id="6" name="Rectangle 53"/>
          <p:cNvSpPr>
            <a:spLocks noChangeArrowheads="1"/>
          </p:cNvSpPr>
          <p:nvPr/>
        </p:nvSpPr>
        <p:spPr bwMode="auto">
          <a:xfrm>
            <a:off x="843664" y="6103653"/>
            <a:ext cx="74233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</a:t>
            </a:r>
            <a:r>
              <a:rPr lang="en-US" altLang="en-US" sz="1200" b="1" dirty="0" err="1">
                <a:solidFill>
                  <a:schemeClr val="tx1"/>
                </a:solidFill>
              </a:rPr>
              <a:t>Ferreria</a:t>
            </a:r>
            <a:r>
              <a:rPr lang="en-US" altLang="en-US" sz="1200" b="1" dirty="0">
                <a:solidFill>
                  <a:schemeClr val="tx1"/>
                </a:solidFill>
              </a:rPr>
              <a:t>, Lee, </a:t>
            </a:r>
            <a:r>
              <a:rPr lang="en-US" altLang="en-US" sz="1200" b="1" dirty="0" err="1">
                <a:solidFill>
                  <a:schemeClr val="tx1"/>
                </a:solidFill>
              </a:rPr>
              <a:t>Simchi</a:t>
            </a:r>
            <a:r>
              <a:rPr lang="en-US" altLang="en-US" sz="1200" b="1" dirty="0">
                <a:solidFill>
                  <a:schemeClr val="tx1"/>
                </a:solidFill>
              </a:rPr>
              <a:t>-Levi (2016), “Analytics for an Online Retailer: Demand Forecasting and Price Optimization”, 2016, </a:t>
            </a:r>
            <a:r>
              <a:rPr lang="en-US" altLang="en-US" sz="1200" b="1" i="1" dirty="0">
                <a:solidFill>
                  <a:schemeClr val="tx1"/>
                </a:solidFill>
              </a:rPr>
              <a:t>MSOM, </a:t>
            </a:r>
            <a:r>
              <a:rPr lang="en-US" altLang="en-US" sz="1200" b="1" dirty="0">
                <a:solidFill>
                  <a:schemeClr val="tx1"/>
                </a:solidFill>
              </a:rPr>
              <a:t>Vol. 18, No.1</a:t>
            </a:r>
          </a:p>
        </p:txBody>
      </p:sp>
    </p:spTree>
    <p:extLst>
      <p:ext uri="{BB962C8B-B14F-4D97-AF65-F5344CB8AC3E}">
        <p14:creationId xmlns:p14="http://schemas.microsoft.com/office/powerpoint/2010/main" val="372790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Other Ways of Improving Profit?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Markdown Management/Dynamic Pricing</a:t>
            </a:r>
          </a:p>
          <a:p>
            <a:pPr lvl="1">
              <a:defRPr/>
            </a:pPr>
            <a:r>
              <a:rPr lang="en-US" sz="2800" dirty="0">
                <a:effectLst/>
              </a:rPr>
              <a:t>Inventory is determined before the selling season begins</a:t>
            </a:r>
          </a:p>
          <a:p>
            <a:pPr lvl="1">
              <a:defRPr/>
            </a:pPr>
            <a:r>
              <a:rPr lang="en-US" sz="2800" dirty="0">
                <a:effectLst/>
              </a:rPr>
              <a:t>Dynamically reduce price over the selling season to boost demand and increase revenue</a:t>
            </a:r>
          </a:p>
          <a:p>
            <a:pPr>
              <a:defRPr/>
            </a:pPr>
            <a:endParaRPr lang="en-US" altLang="zh-CN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When to decrease and by how much? Tradeoff?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1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Dynamic Pricing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41388"/>
            <a:ext cx="9110663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Linear programming.</a:t>
            </a: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Dynamic programming.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665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Tru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300"/>
  <p:tag name="DEFAULTMAGNIFICATION" val="1.5"/>
  <p:tag name="DEFAULTFONTSIZE" val="10"/>
  <p:tag name="DEFAULTWIDTH" val="394"/>
  <p:tag name="DEFAULTHEIGHT" val="338"/>
  <p:tag name="FIRSTXINCHEN@SUSY3254AVWXY596" val="2652"/>
  <p:tag name="FIRSTXIN20CHEN@ELDXLB0FUVWYY57I" val="3665"/>
</p:tagLst>
</file>

<file path=ppt/theme/theme1.xml><?xml version="1.0" encoding="utf-8"?>
<a:theme xmlns:a="http://schemas.openxmlformats.org/drawingml/2006/main" name="Lecture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ectur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ctures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s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Data\Microsoft\Templates\Lectures.pot</Template>
  <TotalTime>39666</TotalTime>
  <Words>906</Words>
  <Application>Microsoft Office PowerPoint</Application>
  <PresentationFormat>On-screen Show (4:3)</PresentationFormat>
  <Paragraphs>269</Paragraphs>
  <Slides>43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MS PGothic</vt:lpstr>
      <vt:lpstr>Times New Roman</vt:lpstr>
      <vt:lpstr>Arial</vt:lpstr>
      <vt:lpstr>宋体</vt:lpstr>
      <vt:lpstr>Cambria Math</vt:lpstr>
      <vt:lpstr>Lectures</vt:lpstr>
      <vt:lpstr>DBA5103</vt:lpstr>
      <vt:lpstr>Course Information</vt:lpstr>
      <vt:lpstr>A bit more about myself</vt:lpstr>
      <vt:lpstr>Textbook and Reference</vt:lpstr>
      <vt:lpstr>Optimization Software</vt:lpstr>
      <vt:lpstr>Optimization Software</vt:lpstr>
      <vt:lpstr>What You Should Expect</vt:lpstr>
      <vt:lpstr>What I Expect</vt:lpstr>
      <vt:lpstr>Homework 0</vt:lpstr>
      <vt:lpstr>Course Content</vt:lpstr>
      <vt:lpstr>PowerPoint Presentation</vt:lpstr>
      <vt:lpstr>In a Nutshell</vt:lpstr>
      <vt:lpstr>Areas of Operations Research</vt:lpstr>
      <vt:lpstr>Areas of Operations Research</vt:lpstr>
      <vt:lpstr>Areas of Operations Research</vt:lpstr>
      <vt:lpstr>Rise of Analytics</vt:lpstr>
      <vt:lpstr>Ford</vt:lpstr>
      <vt:lpstr>Flexible Manufacturing</vt:lpstr>
      <vt:lpstr>Traditional Dedicated System</vt:lpstr>
      <vt:lpstr>Full Flexible System</vt:lpstr>
      <vt:lpstr>If we know demand…</vt:lpstr>
      <vt:lpstr>How to Compute the Maximum Sales?</vt:lpstr>
      <vt:lpstr>Operations Research Tools</vt:lpstr>
      <vt:lpstr>Uber</vt:lpstr>
      <vt:lpstr>Uber/Grab</vt:lpstr>
      <vt:lpstr>Dispatch System</vt:lpstr>
      <vt:lpstr>Greedy Approach</vt:lpstr>
      <vt:lpstr>Is Greedy Good?</vt:lpstr>
      <vt:lpstr>Operations Research Tools</vt:lpstr>
      <vt:lpstr>Surge Pricing</vt:lpstr>
      <vt:lpstr>Why?</vt:lpstr>
      <vt:lpstr>ECON 1001</vt:lpstr>
      <vt:lpstr>A Model for Supply and Demand</vt:lpstr>
      <vt:lpstr>Optimization Problem</vt:lpstr>
      <vt:lpstr>UberPOOL</vt:lpstr>
      <vt:lpstr>Traveling Salesman Problem</vt:lpstr>
      <vt:lpstr>Solving TSP</vt:lpstr>
      <vt:lpstr>Rue La La</vt:lpstr>
      <vt:lpstr>Rue La La</vt:lpstr>
      <vt:lpstr>Rue La La</vt:lpstr>
      <vt:lpstr>Price Optimization</vt:lpstr>
      <vt:lpstr>Other Ways of Improving Profit?</vt:lpstr>
      <vt:lpstr>Dynamic Pricing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LP</dc:title>
  <dc:creator>Xin Chen</dc:creator>
  <cp:lastModifiedBy>Hu Zhenyu</cp:lastModifiedBy>
  <cp:revision>492</cp:revision>
  <dcterms:created xsi:type="dcterms:W3CDTF">2002-09-09T04:16:02Z</dcterms:created>
  <dcterms:modified xsi:type="dcterms:W3CDTF">2026-08-12T03:46:24Z</dcterms:modified>
</cp:coreProperties>
</file>