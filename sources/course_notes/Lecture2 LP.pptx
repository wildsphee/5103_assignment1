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1"/>
  </p:sldMasterIdLst>
  <p:notesMasterIdLst>
    <p:notesMasterId r:id="rId61"/>
  </p:notesMasterIdLst>
  <p:handoutMasterIdLst>
    <p:handoutMasterId r:id="rId62"/>
  </p:handoutMasterIdLst>
  <p:sldIdLst>
    <p:sldId id="363" r:id="rId2"/>
    <p:sldId id="597" r:id="rId3"/>
    <p:sldId id="598" r:id="rId4"/>
    <p:sldId id="599" r:id="rId5"/>
    <p:sldId id="600" r:id="rId6"/>
    <p:sldId id="601" r:id="rId7"/>
    <p:sldId id="603" r:id="rId8"/>
    <p:sldId id="602" r:id="rId9"/>
    <p:sldId id="662" r:id="rId10"/>
    <p:sldId id="604" r:id="rId11"/>
    <p:sldId id="605" r:id="rId12"/>
    <p:sldId id="606" r:id="rId13"/>
    <p:sldId id="610" r:id="rId14"/>
    <p:sldId id="666" r:id="rId15"/>
    <p:sldId id="608" r:id="rId16"/>
    <p:sldId id="609" r:id="rId17"/>
    <p:sldId id="611" r:id="rId18"/>
    <p:sldId id="612" r:id="rId19"/>
    <p:sldId id="613" r:id="rId20"/>
    <p:sldId id="614" r:id="rId21"/>
    <p:sldId id="615" r:id="rId22"/>
    <p:sldId id="619" r:id="rId23"/>
    <p:sldId id="620" r:id="rId24"/>
    <p:sldId id="618" r:id="rId25"/>
    <p:sldId id="617" r:id="rId26"/>
    <p:sldId id="616" r:id="rId27"/>
    <p:sldId id="622" r:id="rId28"/>
    <p:sldId id="621" r:id="rId29"/>
    <p:sldId id="623" r:id="rId30"/>
    <p:sldId id="624" r:id="rId31"/>
    <p:sldId id="625" r:id="rId32"/>
    <p:sldId id="626" r:id="rId33"/>
    <p:sldId id="627" r:id="rId34"/>
    <p:sldId id="653" r:id="rId35"/>
    <p:sldId id="628" r:id="rId36"/>
    <p:sldId id="654" r:id="rId37"/>
    <p:sldId id="629" r:id="rId38"/>
    <p:sldId id="630" r:id="rId39"/>
    <p:sldId id="655" r:id="rId40"/>
    <p:sldId id="651" r:id="rId41"/>
    <p:sldId id="631" r:id="rId42"/>
    <p:sldId id="637" r:id="rId43"/>
    <p:sldId id="657" r:id="rId44"/>
    <p:sldId id="658" r:id="rId45"/>
    <p:sldId id="660" r:id="rId46"/>
    <p:sldId id="661" r:id="rId47"/>
    <p:sldId id="659" r:id="rId48"/>
    <p:sldId id="638" r:id="rId49"/>
    <p:sldId id="663" r:id="rId50"/>
    <p:sldId id="664" r:id="rId51"/>
    <p:sldId id="665" r:id="rId52"/>
    <p:sldId id="642" r:id="rId53"/>
    <p:sldId id="643" r:id="rId54"/>
    <p:sldId id="644" r:id="rId55"/>
    <p:sldId id="645" r:id="rId56"/>
    <p:sldId id="646" r:id="rId57"/>
    <p:sldId id="647" r:id="rId58"/>
    <p:sldId id="648" r:id="rId59"/>
    <p:sldId id="649" r:id="rId60"/>
  </p:sldIdLst>
  <p:sldSz cx="9144000" cy="6858000" type="screen4x3"/>
  <p:notesSz cx="6858000" cy="9144000"/>
  <p:embeddedFontLst>
    <p:embeddedFont>
      <p:font typeface="宋体" panose="02010600030101010101" pitchFamily="2" charset="-122"/>
      <p:regular r:id="rId63"/>
    </p:embeddedFont>
    <p:embeddedFont>
      <p:font typeface="Cambria Math" panose="02040503050406030204" pitchFamily="18" charset="0"/>
      <p:regular r:id="rId64"/>
    </p:embeddedFont>
    <p:embeddedFont>
      <p:font typeface="MS PGothic" panose="020B0600070205080204" pitchFamily="34" charset="-128"/>
      <p:regular r:id="rId65"/>
    </p:embeddedFont>
    <p:embeddedFont>
      <p:font typeface="Rockwell" panose="02060603020205020403" pitchFamily="18" charset="0"/>
      <p:regular r:id="rId66"/>
      <p:bold r:id="rId67"/>
      <p:italic r:id="rId68"/>
      <p:boldItalic r:id="rId69"/>
    </p:embeddedFont>
    <p:embeddedFont>
      <p:font typeface="Tahoma" panose="020B0604030504040204" pitchFamily="34" charset="0"/>
      <p:regular r:id="rId70"/>
      <p:bold r:id="rId71"/>
    </p:embeddedFont>
  </p:embeddedFontLst>
  <p:custDataLst>
    <p:tags r:id="rId72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129C"/>
    <a:srgbClr val="0033CC"/>
    <a:srgbClr val="C6D6FE"/>
    <a:srgbClr val="BACDFE"/>
    <a:srgbClr val="E9EFFF"/>
    <a:srgbClr val="FF33CC"/>
    <a:srgbClr val="FFFF00"/>
    <a:srgbClr val="A8C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125" autoAdjust="0"/>
  </p:normalViewPr>
  <p:slideViewPr>
    <p:cSldViewPr snapToGrid="0">
      <p:cViewPr varScale="1">
        <p:scale>
          <a:sx n="123" d="100"/>
          <a:sy n="123" d="100"/>
        </p:scale>
        <p:origin x="123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2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70" Type="http://schemas.openxmlformats.org/officeDocument/2006/relationships/font" Target="fonts/font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9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B1C7EBB-BE00-44DC-AAA2-1213A86712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46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5696EE8-B9BB-4DC7-BDD3-AEC2C65202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658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6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397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61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819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925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kumimoji="0" lang="zh-CN" altLang="en-US">
              <a:latin typeface="Arial" charset="0"/>
              <a:ea typeface="ＭＳ Ｐゴシック" charset="-128"/>
            </a:endParaRP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8BCFCB41-6485-C14D-84AE-8B9A8FD4D57A}" type="slidenum">
              <a:rPr kumimoji="0" lang="en-GB" altLang="zh-CN">
                <a:latin typeface="Arial" charset="0"/>
              </a:rPr>
              <a:pPr>
                <a:spcBef>
                  <a:spcPct val="0"/>
                </a:spcBef>
              </a:pPr>
              <a:t>21</a:t>
            </a:fld>
            <a:endParaRPr kumimoji="0" lang="en-GB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086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kumimoji="0" lang="zh-CN" altLang="en-US">
              <a:latin typeface="Arial" charset="0"/>
              <a:ea typeface="ＭＳ Ｐゴシック" charset="-128"/>
            </a:endParaRPr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970E9D62-63E9-D341-927E-989E99FE93A3}" type="slidenum">
              <a:rPr kumimoji="0" lang="en-GB" altLang="zh-CN">
                <a:latin typeface="Arial" charset="0"/>
              </a:rPr>
              <a:pPr>
                <a:spcBef>
                  <a:spcPct val="0"/>
                </a:spcBef>
              </a:pPr>
              <a:t>24</a:t>
            </a:fld>
            <a:endParaRPr kumimoji="0" lang="en-GB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38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kumimoji="0" lang="zh-CN" altLang="en-US">
              <a:latin typeface="Arial" charset="0"/>
              <a:ea typeface="ＭＳ Ｐゴシック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1A0B27F1-728C-3648-A8F1-BC78028723AB}" type="slidenum">
              <a:rPr kumimoji="0" lang="en-GB" altLang="zh-CN">
                <a:latin typeface="Arial" charset="0"/>
              </a:rPr>
              <a:pPr>
                <a:spcBef>
                  <a:spcPct val="0"/>
                </a:spcBef>
              </a:pPr>
              <a:t>25</a:t>
            </a:fld>
            <a:endParaRPr kumimoji="0" lang="en-GB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383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kumimoji="0" lang="zh-CN" altLang="en-US">
              <a:latin typeface="Arial" charset="0"/>
              <a:ea typeface="ＭＳ Ｐゴシック" charset="-128"/>
            </a:endParaRPr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3180A9D6-3F56-A042-9C3F-FAAFD9443A58}" type="slidenum">
              <a:rPr kumimoji="0" lang="en-GB" altLang="zh-CN">
                <a:latin typeface="Arial" charset="0"/>
              </a:rPr>
              <a:pPr>
                <a:spcBef>
                  <a:spcPct val="0"/>
                </a:spcBef>
              </a:pPr>
              <a:t>26</a:t>
            </a:fld>
            <a:endParaRPr kumimoji="0" lang="en-GB" altLang="zh-CN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705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105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098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49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91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324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38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257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749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41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537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21A3D18-E4DA-4989-A758-E0AF39B7F2F6}" type="slidenum">
              <a:rPr lang="zh-CN" altLang="en-US" smtClean="0">
                <a:latin typeface="Times New Roman" pitchFamily="18" charset="0"/>
              </a:rPr>
              <a:pPr/>
              <a:t>42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482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098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6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6592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940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211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22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634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50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788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55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0132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56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2548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57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076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73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56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1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903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30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02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5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1650" y="9525"/>
            <a:ext cx="2278063" cy="652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463" y="9525"/>
            <a:ext cx="6681787" cy="652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15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1870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14900" y="1981200"/>
            <a:ext cx="36957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14900" y="4114800"/>
            <a:ext cx="36957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D0CB186-34F9-9841-AD4A-0FF5CA057BB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520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7938" y="-1588"/>
            <a:ext cx="9129712" cy="976313"/>
          </a:xfrm>
          <a:prstGeom prst="rect">
            <a:avLst/>
          </a:prstGeom>
          <a:solidFill>
            <a:srgbClr val="0033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463" y="9525"/>
            <a:ext cx="909955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Title: Cap All Words, Bold, Helvetica 32, White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" y="1060450"/>
            <a:ext cx="9110663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Level one: int. cap, bold, helvetica 30, maroon</a:t>
            </a:r>
          </a:p>
          <a:p>
            <a:pPr lvl="1"/>
            <a:r>
              <a:rPr lang="en-US" altLang="zh-CN"/>
              <a:t>Level two: initial cap, bold, helvetica 27, blue</a:t>
            </a:r>
          </a:p>
          <a:p>
            <a:pPr lvl="2"/>
            <a:r>
              <a:rPr lang="en-US" altLang="zh-CN"/>
              <a:t>Level three: initial cap, italics, helvetica 24, blue</a:t>
            </a:r>
          </a:p>
          <a:p>
            <a:pPr lvl="3"/>
            <a:r>
              <a:rPr lang="en-US" altLang="zh-CN"/>
              <a:t>Level four: 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0" y="6592888"/>
            <a:ext cx="8874125" cy="6350"/>
          </a:xfrm>
          <a:prstGeom prst="line">
            <a:avLst/>
          </a:prstGeom>
          <a:noFill/>
          <a:ln w="25400">
            <a:solidFill>
              <a:srgbClr val="00279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1313" indent="-341313" algn="l" defTabSz="909638" rtl="0" eaLnBrk="0" fontAlgn="base" hangingPunct="0">
        <a:spcBef>
          <a:spcPct val="20000"/>
        </a:spcBef>
        <a:spcAft>
          <a:spcPct val="0"/>
        </a:spcAft>
        <a:buClr>
          <a:srgbClr val="790015"/>
        </a:buClr>
        <a:buSzPct val="100000"/>
        <a:buChar char="•"/>
        <a:defRPr sz="2900" b="1">
          <a:solidFill>
            <a:srgbClr val="790015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38188" indent="-284163" algn="l" defTabSz="909638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100000"/>
        <a:buChar char="­"/>
        <a:defRPr sz="2700" b="1">
          <a:solidFill>
            <a:srgbClr val="00279F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38238" indent="-228600" algn="l" defTabSz="909638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100000"/>
        <a:buChar char="·"/>
        <a:defRPr sz="2400" i="1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473200" indent="-209550" algn="l" defTabSz="9096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CC"/>
          </a:solidFill>
          <a:latin typeface="+mn-lt"/>
        </a:defRPr>
      </a:lvl4pPr>
      <a:lvl5pPr marL="18954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5pPr>
      <a:lvl6pPr marL="23526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6pPr>
      <a:lvl7pPr marL="28098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7pPr>
      <a:lvl8pPr marL="32670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8pPr>
      <a:lvl9pPr marL="37242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9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0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calar" TargetMode="External"/><Relationship Id="rId2" Type="http://schemas.openxmlformats.org/officeDocument/2006/relationships/hyperlink" Target="http://en.wikipedia.org/wiki/Function_(mathematics)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hyperlink" Target="http://en.wikipedia.org/wiki/Square_matrix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4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4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DBA5103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  <a:r>
              <a:rPr lang="en-US" altLang="zh-CN" sz="3200" dirty="0">
                <a:ea typeface="宋体" pitchFamily="2" charset="-122"/>
              </a:rPr>
              <a:t>Operations Research and Analytics</a:t>
            </a:r>
          </a:p>
          <a:p>
            <a:pPr marL="0" indent="0">
              <a:buNone/>
              <a:defRPr/>
            </a:pPr>
            <a:endParaRPr lang="en-US" altLang="zh-CN" sz="3200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Zhenyu Hu</a:t>
            </a: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Semester I, 2026/2027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481" y="4101713"/>
            <a:ext cx="29718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04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  <a:r>
              <a:rPr lang="en-US" altLang="zh-CN" sz="4000" dirty="0">
                <a:ea typeface="宋体" pitchFamily="2" charset="-122"/>
              </a:rPr>
              <a:t>Linear Programming</a:t>
            </a:r>
          </a:p>
          <a:p>
            <a:pPr marL="0" indent="0" algn="ctr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and </a:t>
            </a:r>
          </a:p>
          <a:p>
            <a:pPr marL="0" indent="0" algn="ctr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Its Applications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5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Wyndor Glass Co.</a:t>
            </a:r>
          </a:p>
          <a:p>
            <a:pPr lvl="1"/>
            <a:r>
              <a:rPr lang="en-US" dirty="0">
                <a:effectLst/>
              </a:rPr>
              <a:t>Produces windows and glass doors</a:t>
            </a:r>
          </a:p>
          <a:p>
            <a:pPr lvl="1"/>
            <a:r>
              <a:rPr lang="en-US" dirty="0">
                <a:effectLst/>
              </a:rPr>
              <a:t>Plant 1 makes aluminum frames and hardware</a:t>
            </a:r>
          </a:p>
          <a:p>
            <a:pPr lvl="1"/>
            <a:r>
              <a:rPr lang="en-US" dirty="0">
                <a:effectLst/>
              </a:rPr>
              <a:t>Plant 2 makes wood frames</a:t>
            </a:r>
          </a:p>
          <a:p>
            <a:pPr lvl="1"/>
            <a:r>
              <a:rPr lang="en-US" dirty="0">
                <a:effectLst/>
              </a:rPr>
              <a:t>Plant 3 produces glass and assembles products</a:t>
            </a:r>
          </a:p>
        </p:txBody>
      </p:sp>
    </p:spTree>
    <p:extLst>
      <p:ext uri="{BB962C8B-B14F-4D97-AF65-F5344CB8AC3E}">
        <p14:creationId xmlns:p14="http://schemas.microsoft.com/office/powerpoint/2010/main" val="240029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Company introducing two new products</a:t>
            </a:r>
          </a:p>
          <a:p>
            <a:pPr lvl="1"/>
            <a:r>
              <a:rPr lang="en-US" dirty="0">
                <a:effectLst/>
              </a:rPr>
              <a:t>Product 1: 8 ft. glass door with aluminum frame</a:t>
            </a:r>
          </a:p>
          <a:p>
            <a:pPr lvl="1"/>
            <a:r>
              <a:rPr lang="en-US" dirty="0">
                <a:effectLst/>
              </a:rPr>
              <a:t>Product 2: 4 x 6 ft. double-hung, wood-framed window</a:t>
            </a:r>
          </a:p>
          <a:p>
            <a:r>
              <a:rPr lang="en-US" dirty="0">
                <a:effectLst/>
              </a:rPr>
              <a:t>Problem: What mix of products would be most profitable?</a:t>
            </a:r>
          </a:p>
        </p:txBody>
      </p:sp>
    </p:spTree>
    <p:extLst>
      <p:ext uri="{BB962C8B-B14F-4D97-AF65-F5344CB8AC3E}">
        <p14:creationId xmlns:p14="http://schemas.microsoft.com/office/powerpoint/2010/main" val="54564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Data needed</a:t>
            </a:r>
          </a:p>
          <a:p>
            <a:pPr lvl="1"/>
            <a:r>
              <a:rPr lang="en-US" dirty="0">
                <a:effectLst/>
              </a:rPr>
              <a:t>Number of hours of production time available per week in each plant for new products</a:t>
            </a:r>
          </a:p>
          <a:p>
            <a:pPr lvl="1"/>
            <a:r>
              <a:rPr lang="en-US" dirty="0">
                <a:effectLst/>
              </a:rPr>
              <a:t>Production time used in each plant for each batch of each new product</a:t>
            </a:r>
          </a:p>
          <a:p>
            <a:pPr lvl="1"/>
            <a:r>
              <a:rPr lang="en-US" dirty="0">
                <a:effectLst/>
              </a:rPr>
              <a:t>Profit per batch of each new product</a:t>
            </a:r>
          </a:p>
          <a:p>
            <a:pPr lvl="1"/>
            <a:r>
              <a:rPr lang="en-US" dirty="0">
                <a:effectLst/>
              </a:rPr>
              <a:t>Demand</a:t>
            </a:r>
          </a:p>
        </p:txBody>
      </p:sp>
    </p:spTree>
    <p:extLst>
      <p:ext uri="{BB962C8B-B14F-4D97-AF65-F5344CB8AC3E}">
        <p14:creationId xmlns:p14="http://schemas.microsoft.com/office/powerpoint/2010/main" val="22803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1943"/>
            <a:ext cx="8538682" cy="3256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0" y="5016908"/>
            <a:ext cx="8127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Demand: assume that all products produced can be sold.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69368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Formulating the model</a:t>
                </a:r>
              </a:p>
              <a:p>
                <a:pPr marL="400050" lvl="1" indent="0">
                  <a:buNone/>
                </a:pPr>
                <a:r>
                  <a:rPr lang="en-US" i="1" dirty="0">
                    <a:effectLst/>
                  </a:rPr>
                  <a:t>x</a:t>
                </a:r>
                <a:r>
                  <a:rPr lang="en-US" baseline="-25000" dirty="0">
                    <a:effectLst/>
                  </a:rPr>
                  <a:t>1 </a:t>
                </a:r>
                <a:r>
                  <a:rPr lang="en-US" dirty="0">
                    <a:effectLst/>
                  </a:rPr>
                  <a:t>= number of batches of product 1 produced per week</a:t>
                </a:r>
              </a:p>
              <a:p>
                <a:pPr marL="400050" lvl="1" indent="0">
                  <a:buNone/>
                </a:pPr>
                <a:r>
                  <a:rPr lang="en-US" i="1" dirty="0">
                    <a:effectLst/>
                  </a:rPr>
                  <a:t>x</a:t>
                </a:r>
                <a:r>
                  <a:rPr lang="en-US" baseline="-25000" dirty="0">
                    <a:effectLst/>
                  </a:rPr>
                  <a:t>2 </a:t>
                </a:r>
                <a:r>
                  <a:rPr lang="en-US" dirty="0">
                    <a:effectLst/>
                  </a:rPr>
                  <a:t>= number of batches of product 2 produced per week</a:t>
                </a:r>
              </a:p>
              <a:p>
                <a:pPr marL="457200" indent="-457200"/>
                <a:endParaRPr lang="en-US" dirty="0">
                  <a:effectLst/>
                </a:endParaRPr>
              </a:p>
              <a:p>
                <a:pPr marL="457200" indent="-457200"/>
                <a:r>
                  <a:rPr lang="en-US" dirty="0">
                    <a:effectLst/>
                  </a:rPr>
                  <a:t>From bottom row of Table 3.1</a:t>
                </a:r>
              </a:p>
              <a:p>
                <a:pPr marL="400050" lvl="1" indent="0">
                  <a:buNone/>
                </a:pPr>
                <a:r>
                  <a:rPr lang="en-US" dirty="0">
                    <a:effectLst/>
                  </a:rPr>
                  <a:t>Objective: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/>
                      </a:rPr>
                      <m:t>3 </m:t>
                    </m:r>
                    <m:r>
                      <a:rPr lang="en-US" i="1" dirty="0" smtClean="0">
                        <a:effectLst/>
                        <a:latin typeface="Cambria Math"/>
                      </a:rPr>
                      <m:t>𝑥</m:t>
                    </m:r>
                    <m:r>
                      <a:rPr lang="en-US" i="1" baseline="-25000" dirty="0" smtClean="0">
                        <a:effectLst/>
                        <a:latin typeface="Cambria Math"/>
                      </a:rPr>
                      <m:t>1</m:t>
                    </m:r>
                    <m:r>
                      <a:rPr lang="en-US" i="1" dirty="0" smtClean="0">
                        <a:effectLst/>
                        <a:latin typeface="Cambria Math"/>
                      </a:rPr>
                      <m:t>+5</m:t>
                    </m:r>
                    <m:r>
                      <a:rPr lang="en-US" i="1" dirty="0" smtClean="0">
                        <a:effectLst/>
                        <a:latin typeface="Cambria Math"/>
                      </a:rPr>
                      <m:t>𝑥</m:t>
                    </m:r>
                    <m:r>
                      <a:rPr lang="en-US" i="1" baseline="-25000" dirty="0" smtClean="0">
                        <a:effectLst/>
                        <a:latin typeface="Cambria Math"/>
                      </a:rPr>
                      <m:t>2</m:t>
                    </m:r>
                  </m:oMath>
                </a14:m>
                <a:endParaRPr lang="en-US" dirty="0">
                  <a:effectLst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1" t="-1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847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Constraints (see Table 3.1)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 smtClean="0">
                          <a:effectLst/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effectLst/>
                          <a:latin typeface="Cambria Math"/>
                        </a:rPr>
                        <m:t>≤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b="0" i="1" baseline="-25000" dirty="0" smtClean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≤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12</m:t>
                      </m:r>
                    </m:oMath>
                  </m:oMathPara>
                </a14:m>
                <a:endParaRPr lang="en-US" b="0" i="1" dirty="0">
                  <a:effectLst/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/>
                        </a:rPr>
                        <m:t>3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+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≤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18</m:t>
                      </m:r>
                    </m:oMath>
                  </m:oMathPara>
                </a14:m>
                <a:endParaRPr lang="en-US" b="0" i="1" dirty="0">
                  <a:effectLst/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effectLst/>
                          <a:latin typeface="Cambria Math"/>
                        </a:rPr>
                        <m:t>≥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b="0" i="1" baseline="-25000" dirty="0" smtClean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≥0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457200" indent="-457200"/>
                <a:r>
                  <a:rPr lang="en-US" dirty="0">
                    <a:effectLst/>
                  </a:rPr>
                  <a:t>Classic example of resource-allocation problem</a:t>
                </a:r>
              </a:p>
              <a:p>
                <a:pPr marL="1090613" lvl="1" indent="-293688"/>
                <a:r>
                  <a:rPr lang="en-US" dirty="0">
                    <a:effectLst/>
                  </a:rPr>
                  <a:t>One of the most common types of linear programming problem</a:t>
                </a:r>
              </a:p>
              <a:p>
                <a:pPr marL="40005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1" t="-1114" r="-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98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" y="1060450"/>
            <a:ext cx="9110663" cy="5729588"/>
          </a:xfrm>
        </p:spPr>
        <p:txBody>
          <a:bodyPr/>
          <a:lstStyle/>
          <a:p>
            <a:r>
              <a:rPr lang="en-US" dirty="0">
                <a:effectLst/>
              </a:rPr>
              <a:t>Alternative formulation 1</a:t>
            </a:r>
          </a:p>
          <a:p>
            <a:pPr marL="400050" lvl="1" indent="0">
              <a:buNone/>
            </a:pPr>
            <a:r>
              <a:rPr lang="en-US" i="1" dirty="0">
                <a:effectLst/>
              </a:rPr>
              <a:t>x</a:t>
            </a:r>
            <a:r>
              <a:rPr lang="en-US" baseline="-25000" dirty="0">
                <a:effectLst/>
              </a:rPr>
              <a:t>1 </a:t>
            </a:r>
            <a:r>
              <a:rPr lang="en-US" dirty="0">
                <a:effectLst/>
              </a:rPr>
              <a:t>= number of batches of product 1 produced per week</a:t>
            </a:r>
          </a:p>
          <a:p>
            <a:pPr marL="400050" lvl="1" indent="0">
              <a:buNone/>
            </a:pPr>
            <a:r>
              <a:rPr lang="en-US" i="1" dirty="0">
                <a:effectLst/>
              </a:rPr>
              <a:t>s</a:t>
            </a:r>
            <a:r>
              <a:rPr lang="en-US" baseline="-25000" dirty="0">
                <a:effectLst/>
              </a:rPr>
              <a:t>1 </a:t>
            </a:r>
            <a:r>
              <a:rPr lang="en-US" dirty="0">
                <a:effectLst/>
              </a:rPr>
              <a:t>= production time reserved at plant 1</a:t>
            </a:r>
          </a:p>
          <a:p>
            <a:pPr marL="400050" lvl="1" indent="0">
              <a:buNone/>
            </a:pPr>
            <a:r>
              <a:rPr lang="en-US" i="1" dirty="0">
                <a:effectLst/>
              </a:rPr>
              <a:t>x</a:t>
            </a:r>
            <a:r>
              <a:rPr lang="en-US" baseline="-25000" dirty="0">
                <a:effectLst/>
              </a:rPr>
              <a:t>2 </a:t>
            </a:r>
            <a:r>
              <a:rPr lang="en-US" dirty="0">
                <a:effectLst/>
              </a:rPr>
              <a:t>= number of batches of product 2 produced per week</a:t>
            </a:r>
          </a:p>
          <a:p>
            <a:pPr marL="400050" lvl="1" indent="0">
              <a:buNone/>
            </a:pPr>
            <a:endParaRPr lang="en-US" dirty="0">
              <a:effectLst/>
            </a:endParaRPr>
          </a:p>
          <a:p>
            <a:r>
              <a:rPr lang="en-US" dirty="0">
                <a:effectLst/>
              </a:rPr>
              <a:t>Alternative formulation 2</a:t>
            </a:r>
          </a:p>
          <a:p>
            <a:pPr marL="400050" lvl="1" indent="0">
              <a:buNone/>
            </a:pPr>
            <a:r>
              <a:rPr lang="en-US" i="1" dirty="0">
                <a:effectLst/>
              </a:rPr>
              <a:t>x</a:t>
            </a:r>
            <a:r>
              <a:rPr lang="en-US" baseline="-25000" dirty="0">
                <a:effectLst/>
              </a:rPr>
              <a:t>i </a:t>
            </a:r>
            <a:r>
              <a:rPr lang="en-US" dirty="0">
                <a:effectLst/>
              </a:rPr>
              <a:t>= number of batches of product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produced per week,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=1,2</a:t>
            </a:r>
          </a:p>
          <a:p>
            <a:pPr marL="400050" lvl="1" indent="0">
              <a:buNone/>
            </a:pPr>
            <a:r>
              <a:rPr lang="en-US" i="1" dirty="0" err="1">
                <a:effectLst/>
              </a:rPr>
              <a:t>s</a:t>
            </a:r>
            <a:r>
              <a:rPr lang="en-US" baseline="-25000" dirty="0" err="1">
                <a:effectLst/>
              </a:rPr>
              <a:t>j</a:t>
            </a:r>
            <a:r>
              <a:rPr lang="en-US" baseline="-25000" dirty="0">
                <a:effectLst/>
              </a:rPr>
              <a:t> </a:t>
            </a:r>
            <a:r>
              <a:rPr lang="en-US" dirty="0">
                <a:effectLst/>
              </a:rPr>
              <a:t>= production time reserved at plant j, j=1,2,3</a:t>
            </a:r>
          </a:p>
          <a:p>
            <a:pPr marL="400050" lvl="1" indent="0">
              <a:buNone/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071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Approach/Contour Approach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68" y="1209368"/>
            <a:ext cx="7338840" cy="5175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310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Approach/Contour Approach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2057400"/>
            <a:ext cx="858202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88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 General Linear Programming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692330" y="1072016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∊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∊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                                    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∊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∊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∊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692330" y="1072016"/>
                <a:ext cx="9110663" cy="5472113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Oval 1"/>
          <p:cNvSpPr/>
          <p:nvPr/>
        </p:nvSpPr>
        <p:spPr bwMode="auto">
          <a:xfrm>
            <a:off x="2472306" y="1697696"/>
            <a:ext cx="3538750" cy="471714"/>
          </a:xfrm>
          <a:prstGeom prst="ellipse">
            <a:avLst/>
          </a:prstGeom>
          <a:solidFill>
            <a:schemeClr val="accent1">
              <a:alpha val="41000"/>
            </a:schemeClr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2472306" y="2795090"/>
            <a:ext cx="3538750" cy="471714"/>
          </a:xfrm>
          <a:prstGeom prst="ellipse">
            <a:avLst/>
          </a:prstGeom>
          <a:solidFill>
            <a:schemeClr val="accent1">
              <a:alpha val="41000"/>
            </a:schemeClr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4" name="Straight Arrow Connector 3"/>
          <p:cNvCxnSpPr>
            <a:stCxn id="2" idx="2"/>
          </p:cNvCxnSpPr>
          <p:nvPr/>
        </p:nvCxnSpPr>
        <p:spPr bwMode="auto">
          <a:xfrm flipH="1">
            <a:off x="1371600" y="1933553"/>
            <a:ext cx="1100706" cy="187451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>
            <a:stCxn id="6" idx="2"/>
          </p:cNvCxnSpPr>
          <p:nvPr/>
        </p:nvCxnSpPr>
        <p:spPr bwMode="auto">
          <a:xfrm flipH="1">
            <a:off x="1431561" y="3030947"/>
            <a:ext cx="1040745" cy="8440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138049" y="3883022"/>
            <a:ext cx="19944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Linear functions</a:t>
            </a:r>
            <a:endParaRPr lang="en-SG" sz="2000" dirty="0"/>
          </a:p>
        </p:txBody>
      </p:sp>
      <p:sp>
        <p:nvSpPr>
          <p:cNvPr id="10" name="Oval 9"/>
          <p:cNvSpPr/>
          <p:nvPr/>
        </p:nvSpPr>
        <p:spPr bwMode="auto">
          <a:xfrm>
            <a:off x="7210589" y="2017843"/>
            <a:ext cx="963525" cy="1857114"/>
          </a:xfrm>
          <a:prstGeom prst="ellipse">
            <a:avLst/>
          </a:prstGeom>
          <a:solidFill>
            <a:schemeClr val="accent1">
              <a:alpha val="41000"/>
            </a:schemeClr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1" name="Straight Arrow Connector 10"/>
          <p:cNvCxnSpPr>
            <a:stCxn id="10" idx="4"/>
          </p:cNvCxnSpPr>
          <p:nvPr/>
        </p:nvCxnSpPr>
        <p:spPr bwMode="auto">
          <a:xfrm flipH="1">
            <a:off x="7692351" y="3874957"/>
            <a:ext cx="1" cy="6158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7285831" y="4565143"/>
            <a:ext cx="8130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Finite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46917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/>
      <p:bldP spid="10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Standard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692330" y="1072016"/>
                <a:ext cx="9836330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altLang="zh-CN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692330" y="1072016"/>
                <a:ext cx="9836330" cy="5472113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49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Polyhedron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522062" y="941388"/>
                <a:ext cx="9836330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∊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∊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+…+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𝒌𝒏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∊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𝑴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𝒍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≥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∊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∊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		</a:t>
                </a:r>
              </a:p>
              <a:p>
                <a:pPr marL="0" indent="0">
                  <a:buNone/>
                </a:pPr>
                <a:endParaRPr lang="en-US" altLang="zh-CN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522062" y="941388"/>
                <a:ext cx="9836330" cy="547211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148" y="3787699"/>
            <a:ext cx="5704667" cy="243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57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94968" y="1181100"/>
            <a:ext cx="8229600" cy="3581400"/>
          </a:xfrm>
        </p:spPr>
        <p:txBody>
          <a:bodyPr/>
          <a:lstStyle/>
          <a:p>
            <a:pPr eaLnBrk="1" hangingPunct="1">
              <a:defRPr/>
            </a:pPr>
            <a:r>
              <a:rPr kumimoji="0" lang="en-GB" dirty="0">
                <a:effectLst/>
                <a:cs typeface="ＭＳ Ｐゴシック" charset="0"/>
              </a:rPr>
              <a:t>Scalar</a:t>
            </a:r>
          </a:p>
          <a:p>
            <a:pPr lvl="1" eaLnBrk="1" hangingPunct="1">
              <a:defRPr/>
            </a:pPr>
            <a:r>
              <a:rPr kumimoji="0" lang="en-GB" dirty="0">
                <a:effectLst/>
                <a:ea typeface="ＭＳ Ｐゴシック" charset="0"/>
                <a:cs typeface="ＭＳ Ｐゴシック" charset="0"/>
              </a:rPr>
              <a:t>Variable described by a single number</a:t>
            </a:r>
          </a:p>
          <a:p>
            <a:pPr marL="457200" lvl="1" indent="0" eaLnBrk="1" hangingPunct="1">
              <a:buFontTx/>
              <a:buNone/>
              <a:defRPr/>
            </a:pPr>
            <a:endParaRPr kumimoji="0" lang="en-GB" dirty="0">
              <a:effectLst/>
              <a:ea typeface="ＭＳ Ｐゴシック" charset="0"/>
              <a:cs typeface="ＭＳ Ｐゴシック" charset="0"/>
            </a:endParaRPr>
          </a:p>
          <a:p>
            <a:pPr eaLnBrk="1" hangingPunct="1">
              <a:defRPr/>
            </a:pPr>
            <a:r>
              <a:rPr kumimoji="0" lang="en-GB" dirty="0">
                <a:effectLst/>
                <a:cs typeface="ＭＳ Ｐゴシック" charset="0"/>
              </a:rPr>
              <a:t>Vector</a:t>
            </a:r>
          </a:p>
          <a:p>
            <a:pPr lvl="1" eaLnBrk="1" hangingPunct="1">
              <a:defRPr/>
            </a:pPr>
            <a:r>
              <a:rPr kumimoji="0" lang="en-GB" dirty="0">
                <a:effectLst/>
                <a:ea typeface="ＭＳ Ｐゴシック" charset="0"/>
                <a:cs typeface="ＭＳ Ｐゴシック" charset="0"/>
              </a:rPr>
              <a:t>Column of numbers</a:t>
            </a:r>
          </a:p>
          <a:p>
            <a:pPr marL="457200" lvl="1" indent="0" eaLnBrk="1" hangingPunct="1">
              <a:buFontTx/>
              <a:buNone/>
              <a:defRPr/>
            </a:pPr>
            <a:endParaRPr kumimoji="0" lang="en-GB" dirty="0">
              <a:effectLst/>
              <a:latin typeface="Rockwel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225" y="6553200"/>
            <a:ext cx="363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</a:rPr>
              <a:t>Linear Algebra &amp; Matrices, </a:t>
            </a:r>
            <a:r>
              <a:rPr lang="en-US" sz="1600" dirty="0" err="1">
                <a:solidFill>
                  <a:srgbClr val="FFFFFF"/>
                </a:solidFill>
                <a:latin typeface="+mn-lt"/>
                <a:ea typeface="+mn-ea"/>
              </a:rPr>
              <a:t>MfD</a:t>
            </a: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</a:rPr>
              <a:t> 2009</a:t>
            </a:r>
          </a:p>
        </p:txBody>
      </p:sp>
      <p:sp>
        <p:nvSpPr>
          <p:cNvPr id="47107" name="Rectangle 2"/>
          <p:cNvSpPr txBox="1"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宋体" pitchFamily="2" charset="-122"/>
                <a:cs typeface="+mj-cs"/>
              </a:rPr>
              <a:t>MATH 1001</a:t>
            </a:r>
          </a:p>
        </p:txBody>
      </p:sp>
      <p:pic>
        <p:nvPicPr>
          <p:cNvPr id="47108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129" y="2336800"/>
            <a:ext cx="10668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24100"/>
            <a:ext cx="1143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2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762500"/>
            <a:ext cx="1384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3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86200"/>
            <a:ext cx="295275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9102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7392" y="168941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MATH 1001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219200"/>
            <a:ext cx="75438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GB" altLang="zh-CN" sz="2400" dirty="0">
                <a:effectLst/>
                <a:ea typeface="ＭＳ Ｐゴシック" charset="-128"/>
              </a:rPr>
              <a:t>Rectangular display of vectors in rows and columns</a:t>
            </a:r>
          </a:p>
          <a:p>
            <a:pPr lvl="1" eaLnBrk="1" hangingPunct="1"/>
            <a:r>
              <a:rPr kumimoji="0" lang="en-GB" altLang="zh-CN" sz="2000" dirty="0">
                <a:effectLst/>
              </a:rPr>
              <a:t>Defined as rows x columns (R x C)</a:t>
            </a:r>
            <a:endParaRPr kumimoji="0" lang="en-GB" altLang="zh-CN" sz="2000" dirty="0">
              <a:effectLst/>
              <a:ea typeface="ＭＳ Ｐゴシック" charset="-128"/>
            </a:endParaRPr>
          </a:p>
          <a:p>
            <a:pPr eaLnBrk="1" hangingPunct="1"/>
            <a:r>
              <a:rPr kumimoji="0" lang="en-GB" altLang="zh-CN" sz="2400" dirty="0">
                <a:effectLst/>
                <a:ea typeface="ＭＳ Ｐゴシック" charset="-128"/>
              </a:rPr>
              <a:t>Vector is just a n x 1 matrix</a:t>
            </a:r>
          </a:p>
          <a:p>
            <a:pPr eaLnBrk="1" hangingPunct="1"/>
            <a:endParaRPr kumimoji="0" lang="en-GB" altLang="zh-CN" sz="2400" dirty="0">
              <a:effectLst/>
              <a:latin typeface="Rockwell" charset="0"/>
              <a:ea typeface="ＭＳ Ｐゴシック" charset="-128"/>
            </a:endParaRPr>
          </a:p>
          <a:p>
            <a:pPr eaLnBrk="1" hangingPunct="1"/>
            <a:endParaRPr kumimoji="0" lang="en-GB" altLang="zh-CN" sz="2400" dirty="0">
              <a:effectLst/>
              <a:latin typeface="Rockwell" charset="0"/>
              <a:ea typeface="ＭＳ Ｐゴシック" charset="-128"/>
            </a:endParaRPr>
          </a:p>
        </p:txBody>
      </p:sp>
      <p:sp>
        <p:nvSpPr>
          <p:cNvPr id="48131" name="Text Box 15"/>
          <p:cNvSpPr txBox="1">
            <a:spLocks noChangeArrowheads="1"/>
          </p:cNvSpPr>
          <p:nvPr/>
        </p:nvSpPr>
        <p:spPr bwMode="auto">
          <a:xfrm>
            <a:off x="2700338" y="4005263"/>
            <a:ext cx="1871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2225" y="6553200"/>
            <a:ext cx="363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</a:rPr>
              <a:t>Linear Algebra &amp; Matrices, </a:t>
            </a:r>
            <a:r>
              <a:rPr lang="en-US" sz="1600" dirty="0" err="1">
                <a:solidFill>
                  <a:srgbClr val="FFFFFF"/>
                </a:solidFill>
                <a:latin typeface="+mn-lt"/>
                <a:ea typeface="+mn-ea"/>
              </a:rPr>
              <a:t>MfD</a:t>
            </a: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</a:rPr>
              <a:t> 2009</a:t>
            </a:r>
          </a:p>
        </p:txBody>
      </p:sp>
      <p:pic>
        <p:nvPicPr>
          <p:cNvPr id="48133" name="Picture 1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62400"/>
            <a:ext cx="209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4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048000"/>
            <a:ext cx="5359400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7880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89387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GB" dirty="0">
                <a:latin typeface="+mn-lt"/>
                <a:cs typeface="ＭＳ Ｐゴシック" charset="0"/>
              </a:rPr>
              <a:t>Transposition</a:t>
            </a:r>
          </a:p>
        </p:txBody>
      </p:sp>
      <p:pic>
        <p:nvPicPr>
          <p:cNvPr id="50179" name="Picture 2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8400"/>
            <a:ext cx="33432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276600"/>
            <a:ext cx="965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Picture 2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5308600"/>
            <a:ext cx="19558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 rot="16200000">
            <a:off x="3721100" y="-2511427"/>
            <a:ext cx="3002279" cy="1026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square" lIns="92111" tIns="45324" rIns="92111" bIns="45324" numCol="1" anchor="t" anchorCtr="0" compatLnSpc="1">
            <a:prstTxWarp prst="textNoShape">
              <a:avLst/>
            </a:prstTxWarp>
          </a:bodyPr>
          <a:lstStyle>
            <a:lvl1pPr marL="341313" indent="-34131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90015"/>
              </a:buClr>
              <a:buSzPct val="100000"/>
              <a:buChar char="•"/>
              <a:defRPr sz="2900" b="1">
                <a:solidFill>
                  <a:srgbClr val="79001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38188" indent="-28416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Char char="­"/>
              <a:defRPr sz="2700" b="1">
                <a:solidFill>
                  <a:srgbClr val="00279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1138238" indent="-22860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100000"/>
              <a:buChar char="·"/>
              <a:defRPr sz="2400" i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473200" indent="-20955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CC"/>
                </a:solidFill>
                <a:latin typeface="+mn-lt"/>
              </a:defRPr>
            </a:lvl4pPr>
            <a:lvl5pPr marL="18954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3526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8098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2670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7242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kern="0" dirty="0">
                <a:effectLst/>
              </a:rPr>
              <a:t>Reflect over its main diagonal:</a:t>
            </a:r>
            <a:endParaRPr lang="en-US" kern="0" dirty="0">
              <a:effectLst/>
            </a:endParaRPr>
          </a:p>
          <a:p>
            <a:pPr lvl="1" eaLnBrk="1" hangingPunct="1">
              <a:buFontTx/>
              <a:buChar char="–"/>
            </a:pPr>
            <a:r>
              <a:rPr lang="en-US" altLang="zh-CN" sz="2800" dirty="0">
                <a:effectLst/>
              </a:rPr>
              <a:t>Write the rows of A as the columns of A</a:t>
            </a:r>
            <a:endParaRPr lang="en-GB" altLang="zh-CN" sz="2800" dirty="0">
              <a:effectLst/>
              <a:latin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046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225" y="151606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GB" dirty="0">
                <a:latin typeface="+mn-lt"/>
                <a:cs typeface="ＭＳ Ｐゴシック" charset="0"/>
              </a:rPr>
              <a:t>Columns of Matrices</a:t>
            </a:r>
          </a:p>
        </p:txBody>
      </p:sp>
      <p:sp>
        <p:nvSpPr>
          <p:cNvPr id="49154" name="Text Box 15"/>
          <p:cNvSpPr txBox="1">
            <a:spLocks noChangeArrowheads="1"/>
          </p:cNvSpPr>
          <p:nvPr/>
        </p:nvSpPr>
        <p:spPr bwMode="auto">
          <a:xfrm>
            <a:off x="2700338" y="4005263"/>
            <a:ext cx="1871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2225" y="6553200"/>
            <a:ext cx="363537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</a:rPr>
              <a:t>Linear Algebra &amp; Matrices, </a:t>
            </a:r>
            <a:r>
              <a:rPr lang="en-US" sz="1600" dirty="0" err="1">
                <a:solidFill>
                  <a:srgbClr val="FFFFFF"/>
                </a:solidFill>
                <a:latin typeface="+mn-lt"/>
                <a:ea typeface="+mn-ea"/>
              </a:rPr>
              <a:t>MfD</a:t>
            </a: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</a:rPr>
              <a:t> 2009</a:t>
            </a:r>
          </a:p>
        </p:txBody>
      </p:sp>
      <p:pic>
        <p:nvPicPr>
          <p:cNvPr id="49156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33800"/>
            <a:ext cx="3708400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72000"/>
            <a:ext cx="10541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1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0" y="2971800"/>
            <a:ext cx="47117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9" name="Picture 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54737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0" name="Picture 2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8400"/>
            <a:ext cx="424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2801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GB" dirty="0">
                <a:latin typeface="+mn-lt"/>
                <a:cs typeface="ＭＳ Ｐゴシック" charset="0"/>
              </a:rPr>
              <a:t>Rows of Matrices</a:t>
            </a:r>
          </a:p>
        </p:txBody>
      </p:sp>
      <p:sp>
        <p:nvSpPr>
          <p:cNvPr id="51202" name="Text Box 15"/>
          <p:cNvSpPr txBox="1">
            <a:spLocks noChangeArrowheads="1"/>
          </p:cNvSpPr>
          <p:nvPr/>
        </p:nvSpPr>
        <p:spPr bwMode="auto">
          <a:xfrm>
            <a:off x="2700338" y="4005263"/>
            <a:ext cx="1871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pic>
        <p:nvPicPr>
          <p:cNvPr id="51203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191000"/>
            <a:ext cx="2971800" cy="176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276600"/>
            <a:ext cx="39878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Picture 10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4972050"/>
            <a:ext cx="9398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39211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7" name="Picture 2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743200"/>
            <a:ext cx="41529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1060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76673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GB" dirty="0">
                <a:latin typeface="+mn-lt"/>
                <a:cs typeface="ＭＳ Ｐゴシック" charset="0"/>
              </a:rPr>
              <a:t>Matrix Calculations</a:t>
            </a:r>
          </a:p>
        </p:txBody>
      </p:sp>
      <p:pic>
        <p:nvPicPr>
          <p:cNvPr id="52228" name="Picture 1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21" y="1489587"/>
            <a:ext cx="55753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21" y="4082231"/>
            <a:ext cx="5755851" cy="114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196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 bwMode="auto">
          <a:xfrm>
            <a:off x="150327" y="162718"/>
            <a:ext cx="9106872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US" dirty="0">
                <a:latin typeface="+mn-lt"/>
                <a:cs typeface="ＭＳ Ｐゴシック" charset="0"/>
              </a:rPr>
              <a:t>Matrix Multiplication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 bwMode="auto">
          <a:xfrm>
            <a:off x="588963" y="1239838"/>
            <a:ext cx="8229600" cy="4527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US" altLang="zh-CN" dirty="0">
                <a:effectLst/>
                <a:ea typeface="ＭＳ Ｐゴシック" charset="-128"/>
              </a:rPr>
              <a:t>Multiplication method:</a:t>
            </a:r>
          </a:p>
          <a:p>
            <a:pPr eaLnBrk="1" hangingPunct="1">
              <a:buFont typeface="Wingdings" charset="2"/>
              <a:buNone/>
            </a:pPr>
            <a:r>
              <a:rPr kumimoji="0" lang="en-GB" altLang="zh-CN" sz="2400" dirty="0">
                <a:effectLst/>
                <a:ea typeface="ＭＳ Ｐゴシック" charset="-128"/>
              </a:rPr>
              <a:t>Sum over product of respective </a:t>
            </a:r>
            <a:r>
              <a:rPr kumimoji="0" lang="en-GB" altLang="zh-CN" sz="2400" u="sng" dirty="0">
                <a:effectLst/>
                <a:ea typeface="ＭＳ Ｐゴシック" charset="-128"/>
              </a:rPr>
              <a:t>rows</a:t>
            </a:r>
            <a:r>
              <a:rPr kumimoji="0" lang="en-GB" altLang="zh-CN" sz="2400" dirty="0">
                <a:effectLst/>
                <a:ea typeface="ＭＳ Ｐゴシック" charset="-128"/>
              </a:rPr>
              <a:t> and </a:t>
            </a:r>
            <a:r>
              <a:rPr kumimoji="0" lang="en-GB" altLang="zh-CN" sz="2400" u="sng" dirty="0">
                <a:effectLst/>
                <a:ea typeface="ＭＳ Ｐゴシック" charset="-128"/>
              </a:rPr>
              <a:t>columns</a:t>
            </a:r>
            <a:endParaRPr kumimoji="0" lang="en-US" altLang="zh-CN" sz="2400" dirty="0">
              <a:effectLst/>
              <a:ea typeface="ＭＳ Ｐゴシック" charset="-128"/>
            </a:endParaRPr>
          </a:p>
        </p:txBody>
      </p:sp>
      <p:sp>
        <p:nvSpPr>
          <p:cNvPr id="56323" name="Text Box 28"/>
          <p:cNvSpPr txBox="1">
            <a:spLocks noChangeArrowheads="1"/>
          </p:cNvSpPr>
          <p:nvPr/>
        </p:nvSpPr>
        <p:spPr bwMode="auto">
          <a:xfrm>
            <a:off x="4451350" y="3136900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>
                <a:solidFill>
                  <a:srgbClr val="000000"/>
                </a:solidFill>
                <a:latin typeface="Tahoma" charset="0"/>
              </a:rPr>
              <a:t>=</a:t>
            </a:r>
          </a:p>
        </p:txBody>
      </p:sp>
      <p:sp>
        <p:nvSpPr>
          <p:cNvPr id="56324" name="Text Box 37"/>
          <p:cNvSpPr txBox="1">
            <a:spLocks noChangeArrowheads="1"/>
          </p:cNvSpPr>
          <p:nvPr/>
        </p:nvSpPr>
        <p:spPr bwMode="auto">
          <a:xfrm>
            <a:off x="2146300" y="371792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000" b="1">
                <a:latin typeface="Tahoma" charset="0"/>
              </a:rPr>
              <a:t>A</a:t>
            </a:r>
          </a:p>
        </p:txBody>
      </p:sp>
      <p:sp>
        <p:nvSpPr>
          <p:cNvPr id="56325" name="Text Box 38"/>
          <p:cNvSpPr txBox="1">
            <a:spLocks noChangeArrowheads="1"/>
          </p:cNvSpPr>
          <p:nvPr/>
        </p:nvSpPr>
        <p:spPr bwMode="auto">
          <a:xfrm>
            <a:off x="3443288" y="371792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000" b="1">
                <a:latin typeface="Tahoma" charset="0"/>
              </a:rPr>
              <a:t>B</a:t>
            </a:r>
          </a:p>
        </p:txBody>
      </p:sp>
      <p:sp>
        <p:nvSpPr>
          <p:cNvPr id="56326" name="Oval 31"/>
          <p:cNvSpPr>
            <a:spLocks noChangeArrowheads="1"/>
          </p:cNvSpPr>
          <p:nvPr/>
        </p:nvSpPr>
        <p:spPr bwMode="auto">
          <a:xfrm>
            <a:off x="3295650" y="2819400"/>
            <a:ext cx="360363" cy="936625"/>
          </a:xfrm>
          <a:prstGeom prst="ellipse">
            <a:avLst/>
          </a:prstGeom>
          <a:noFill/>
          <a:ln w="25400">
            <a:solidFill>
              <a:srgbClr val="00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27" name="Oval 32"/>
          <p:cNvSpPr>
            <a:spLocks noChangeArrowheads="1"/>
          </p:cNvSpPr>
          <p:nvPr/>
        </p:nvSpPr>
        <p:spPr bwMode="auto">
          <a:xfrm>
            <a:off x="1855788" y="2892425"/>
            <a:ext cx="935037" cy="433388"/>
          </a:xfrm>
          <a:prstGeom prst="ellipse">
            <a:avLst/>
          </a:prstGeom>
          <a:noFill/>
          <a:ln w="25400">
            <a:solidFill>
              <a:srgbClr val="00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zh-CN" altLang="en-US">
              <a:solidFill>
                <a:srgbClr val="3366FF"/>
              </a:solidFill>
            </a:endParaRPr>
          </a:p>
        </p:txBody>
      </p:sp>
      <p:pic>
        <p:nvPicPr>
          <p:cNvPr id="56328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3011488"/>
            <a:ext cx="22510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5656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 bwMode="auto">
          <a:xfrm>
            <a:off x="14953" y="122237"/>
            <a:ext cx="9099550" cy="931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US" altLang="zh-CN" dirty="0">
                <a:ea typeface="ＭＳ Ｐゴシック" charset="-128"/>
              </a:rPr>
              <a:t>Identity Matrix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332163" y="2463800"/>
            <a:ext cx="180975" cy="635000"/>
          </a:xfrm>
          <a:prstGeom prst="rect">
            <a:avLst/>
          </a:prstGeom>
          <a:noFill/>
          <a:ln w="47625" cmpd="thickThin">
            <a:noFill/>
            <a:miter lim="800000"/>
            <a:headEnd/>
            <a:tailEnd/>
          </a:ln>
          <a:effectLst>
            <a:outerShdw blurRad="63500" dist="71842" dir="2700000" algn="ctr" rotWithShape="0">
              <a:schemeClr val="bg2">
                <a:alpha val="74998"/>
              </a:schemeClr>
            </a:outerShdw>
          </a:effectLst>
        </p:spPr>
        <p:txBody>
          <a:bodyPr wrap="none" lIns="90000" tIns="43200" rIns="90000" bIns="432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br>
              <a:rPr lang="en-US" altLang="zh-CN" sz="1800"/>
            </a:br>
            <a:endParaRPr lang="en-US" altLang="zh-CN" sz="180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-260554" y="5367338"/>
            <a:ext cx="8507413" cy="36424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000" tIns="43200" rIns="90000" bIns="432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800" dirty="0">
                <a:latin typeface="+mj-lt"/>
              </a:rPr>
              <a:t>For any </a:t>
            </a:r>
            <a:r>
              <a:rPr lang="en-US" sz="1800" dirty="0" err="1">
                <a:solidFill>
                  <a:srgbClr val="E816C5"/>
                </a:solidFill>
                <a:latin typeface="+mj-lt"/>
              </a:rPr>
              <a:t>n</a:t>
            </a:r>
            <a:r>
              <a:rPr lang="en-US" sz="1800" dirty="0" err="1">
                <a:solidFill>
                  <a:schemeClr val="accent1"/>
                </a:solidFill>
                <a:latin typeface="+mj-lt"/>
              </a:rPr>
              <a:t>x</a:t>
            </a:r>
            <a:r>
              <a:rPr lang="en-US" sz="1800" dirty="0" err="1">
                <a:solidFill>
                  <a:srgbClr val="E816C5"/>
                </a:solidFill>
                <a:latin typeface="+mj-lt"/>
              </a:rPr>
              <a:t>n</a:t>
            </a:r>
            <a:r>
              <a:rPr lang="en-US" sz="18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matrix </a:t>
            </a:r>
            <a:r>
              <a:rPr lang="en-US" sz="1800" b="1" i="1" dirty="0">
                <a:solidFill>
                  <a:srgbClr val="000000"/>
                </a:solidFill>
                <a:latin typeface="+mj-lt"/>
              </a:rPr>
              <a:t>A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, we have  </a:t>
            </a:r>
            <a:r>
              <a:rPr lang="en-US" sz="1800" b="1" i="1" dirty="0">
                <a:latin typeface="+mj-lt"/>
              </a:rPr>
              <a:t>A I</a:t>
            </a:r>
            <a:r>
              <a:rPr lang="en-US" sz="2000" b="1" i="1" baseline="-25000" dirty="0">
                <a:solidFill>
                  <a:srgbClr val="E816C5"/>
                </a:solidFill>
                <a:latin typeface="+mj-lt"/>
              </a:rPr>
              <a:t>n</a:t>
            </a:r>
            <a:r>
              <a:rPr lang="en-US" sz="1800" dirty="0">
                <a:latin typeface="+mj-lt"/>
              </a:rPr>
              <a:t> = </a:t>
            </a:r>
            <a:r>
              <a:rPr lang="en-US" sz="1800" b="1" i="1" dirty="0">
                <a:latin typeface="+mj-lt"/>
              </a:rPr>
              <a:t>I</a:t>
            </a:r>
            <a:r>
              <a:rPr lang="en-US" sz="2000" b="1" i="1" baseline="-25000" dirty="0">
                <a:solidFill>
                  <a:srgbClr val="E816C5"/>
                </a:solidFill>
                <a:latin typeface="+mj-lt"/>
              </a:rPr>
              <a:t>n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i="1" dirty="0">
                <a:latin typeface="+mj-lt"/>
              </a:rPr>
              <a:t>A</a:t>
            </a:r>
            <a:r>
              <a:rPr lang="en-US" sz="1800" dirty="0">
                <a:latin typeface="+mj-lt"/>
              </a:rPr>
              <a:t> = </a:t>
            </a:r>
            <a:r>
              <a:rPr lang="en-US" sz="1800" b="1" i="1" dirty="0">
                <a:latin typeface="+mj-lt"/>
              </a:rPr>
              <a:t>A</a:t>
            </a:r>
            <a:r>
              <a:rPr lang="en-US" sz="1800" dirty="0">
                <a:latin typeface="+mj-lt"/>
              </a:rPr>
              <a:t> </a:t>
            </a:r>
          </a:p>
        </p:txBody>
      </p:sp>
      <p:sp>
        <p:nvSpPr>
          <p:cNvPr id="68612" name="Content Placeholder 2"/>
          <p:cNvSpPr>
            <a:spLocks noGrp="1"/>
          </p:cNvSpPr>
          <p:nvPr>
            <p:ph idx="1"/>
          </p:nvPr>
        </p:nvSpPr>
        <p:spPr bwMode="auto">
          <a:xfrm>
            <a:off x="533400" y="1066800"/>
            <a:ext cx="81534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altLang="zh-CN" sz="2400" dirty="0">
                <a:solidFill>
                  <a:srgbClr val="000000"/>
                </a:solidFill>
                <a:effectLst/>
                <a:ea typeface="ＭＳ Ｐゴシック" charset="-128"/>
              </a:rPr>
              <a:t>Is there a matrix which plays a similar role as the number 1 in number multiplication? </a:t>
            </a:r>
          </a:p>
          <a:p>
            <a:r>
              <a:rPr kumimoji="0" lang="en-US" altLang="zh-CN" sz="2400" dirty="0">
                <a:solidFill>
                  <a:srgbClr val="000000"/>
                </a:solidFill>
                <a:effectLst/>
                <a:ea typeface="ＭＳ Ｐゴシック" charset="-128"/>
              </a:rPr>
              <a:t>Consider the </a:t>
            </a:r>
            <a:r>
              <a:rPr kumimoji="0" lang="en-US" altLang="zh-CN" sz="2400" dirty="0" err="1">
                <a:solidFill>
                  <a:srgbClr val="000000"/>
                </a:solidFill>
                <a:effectLst/>
                <a:ea typeface="ＭＳ Ｐゴシック" charset="-128"/>
              </a:rPr>
              <a:t>nxn</a:t>
            </a:r>
            <a:r>
              <a:rPr kumimoji="0" lang="en-US" altLang="zh-CN" sz="2400" dirty="0">
                <a:solidFill>
                  <a:srgbClr val="000000"/>
                </a:solidFill>
                <a:effectLst/>
                <a:ea typeface="ＭＳ Ｐゴシック" charset="-128"/>
              </a:rPr>
              <a:t> matrix</a:t>
            </a:r>
            <a:r>
              <a:rPr kumimoji="0" lang="en-US" altLang="zh-CN" sz="2800" dirty="0">
                <a:solidFill>
                  <a:srgbClr val="000000"/>
                </a:solidFill>
                <a:effectLst/>
                <a:ea typeface="ＭＳ Ｐゴシック" charset="-128"/>
              </a:rPr>
              <a:t>:</a:t>
            </a:r>
          </a:p>
        </p:txBody>
      </p:sp>
      <p:pic>
        <p:nvPicPr>
          <p:cNvPr id="68613" name="Picture 1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743200"/>
            <a:ext cx="4324350" cy="234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4040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 bwMode="auto">
          <a:xfrm>
            <a:off x="13776" y="134937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US" dirty="0">
                <a:latin typeface="+mn-lt"/>
                <a:cs typeface="ＭＳ Ｐゴシック" charset="0"/>
              </a:rPr>
              <a:t>Matrix inverse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81000" y="1371600"/>
            <a:ext cx="800258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kern="0" dirty="0">
                <a:solidFill>
                  <a:srgbClr val="000000"/>
                </a:solidFill>
                <a:latin typeface="+mn-lt"/>
                <a:ea typeface="+mn-ea"/>
              </a:rPr>
              <a:t>Definition.</a:t>
            </a:r>
            <a:r>
              <a:rPr lang="en-US" sz="2000" kern="0" dirty="0">
                <a:solidFill>
                  <a:srgbClr val="000000"/>
                </a:solidFill>
                <a:latin typeface="+mn-lt"/>
                <a:ea typeface="+mn-ea"/>
              </a:rPr>
              <a:t> A matrix </a:t>
            </a:r>
            <a:r>
              <a:rPr lang="en-US" sz="2000" b="1" i="1" kern="0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en-US" sz="2000" kern="0" dirty="0">
                <a:solidFill>
                  <a:srgbClr val="000000"/>
                </a:solidFill>
                <a:latin typeface="+mn-lt"/>
                <a:ea typeface="+mn-ea"/>
              </a:rPr>
              <a:t> is called </a:t>
            </a:r>
            <a:r>
              <a:rPr lang="en-US" sz="2000" b="1" kern="0" dirty="0">
                <a:solidFill>
                  <a:srgbClr val="000000"/>
                </a:solidFill>
                <a:latin typeface="+mn-lt"/>
                <a:ea typeface="+mn-ea"/>
              </a:rPr>
              <a:t>nonsingular</a:t>
            </a:r>
            <a:r>
              <a:rPr lang="en-US" sz="2000" kern="0" dirty="0">
                <a:solidFill>
                  <a:srgbClr val="000000"/>
                </a:solidFill>
                <a:latin typeface="+mn-lt"/>
                <a:ea typeface="+mn-ea"/>
              </a:rPr>
              <a:t> or </a:t>
            </a:r>
            <a:r>
              <a:rPr lang="en-US" sz="2000" b="1" kern="0" dirty="0">
                <a:solidFill>
                  <a:srgbClr val="000000"/>
                </a:solidFill>
                <a:latin typeface="+mn-lt"/>
                <a:ea typeface="+mn-ea"/>
              </a:rPr>
              <a:t>invertible</a:t>
            </a:r>
            <a:r>
              <a:rPr lang="en-US" sz="2000" kern="0" dirty="0">
                <a:solidFill>
                  <a:srgbClr val="000000"/>
                </a:solidFill>
                <a:latin typeface="+mn-lt"/>
                <a:ea typeface="+mn-ea"/>
              </a:rPr>
              <a:t> if there exists a matrix </a:t>
            </a:r>
            <a:r>
              <a:rPr lang="en-US" sz="2000" b="1" i="1" kern="0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en-US" sz="2000" kern="0" dirty="0">
                <a:solidFill>
                  <a:srgbClr val="000000"/>
                </a:solidFill>
                <a:latin typeface="+mn-lt"/>
                <a:ea typeface="+mn-ea"/>
              </a:rPr>
              <a:t> such that: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04800" y="3657600"/>
            <a:ext cx="5105400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b="1" dirty="0">
                <a:solidFill>
                  <a:srgbClr val="000000"/>
                </a:solidFill>
                <a:latin typeface="+mn-lt"/>
                <a:ea typeface="+mn-ea"/>
              </a:rPr>
              <a:t>Notation.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+mn-ea"/>
              </a:rPr>
              <a:t> A common notation for the inverse of a matrix </a:t>
            </a:r>
            <a:r>
              <a:rPr lang="en-US" sz="2000" b="1" i="1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+mn-ea"/>
              </a:rPr>
              <a:t> is </a:t>
            </a:r>
            <a:r>
              <a:rPr lang="en-US" sz="2000" b="1" i="1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en-US" sz="2000" baseline="30000" dirty="0">
                <a:solidFill>
                  <a:srgbClr val="000000"/>
                </a:solidFill>
                <a:latin typeface="+mn-lt"/>
                <a:ea typeface="+mn-ea"/>
              </a:rPr>
              <a:t>-1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+mn-ea"/>
              </a:rPr>
              <a:t>. So:</a:t>
            </a:r>
          </a:p>
        </p:txBody>
      </p:sp>
      <p:sp>
        <p:nvSpPr>
          <p:cNvPr id="34823" name="Rectangle 11"/>
          <p:cNvSpPr>
            <a:spLocks noChangeArrowheads="1"/>
          </p:cNvSpPr>
          <p:nvPr/>
        </p:nvSpPr>
        <p:spPr bwMode="auto">
          <a:xfrm>
            <a:off x="-1015205" y="5025232"/>
            <a:ext cx="8615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000" tIns="43200" rIns="90000" bIns="4320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   The inverse matrix is unique when it exists. </a:t>
            </a:r>
          </a:p>
        </p:txBody>
      </p:sp>
      <p:graphicFrame>
        <p:nvGraphicFramePr>
          <p:cNvPr id="44" name="Group 10"/>
          <p:cNvGraphicFramePr>
            <a:graphicFrameLocks noGrp="1"/>
          </p:cNvGraphicFramePr>
          <p:nvPr>
            <p:extLst/>
          </p:nvPr>
        </p:nvGraphicFramePr>
        <p:xfrm>
          <a:off x="4419600" y="2514600"/>
          <a:ext cx="4248150" cy="91440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 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-1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+ </a:t>
                      </a: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3    3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-1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+ </a:t>
                      </a: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3    3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 </a:t>
                      </a: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  <a:endParaRPr kumimoji="0" lang="en-GB" altLang="zh-CN" sz="1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 </a:t>
                      </a: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-2</a:t>
                      </a: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+ </a:t>
                      </a:r>
                      <a:r>
                        <a:rPr kumimoji="0" lang="en-GB" altLang="zh-CN" sz="1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r>
                        <a:rPr kumimoji="0" lang="en-GB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  3    3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+ </a:t>
                      </a:r>
                      <a:r>
                        <a:rPr kumimoji="0" lang="en-GB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    3    3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  <a:cs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GB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0684" name="Group 45"/>
          <p:cNvGrpSpPr>
            <a:grpSpLocks/>
          </p:cNvGrpSpPr>
          <p:nvPr/>
        </p:nvGrpSpPr>
        <p:grpSpPr bwMode="auto">
          <a:xfrm>
            <a:off x="4419600" y="2493963"/>
            <a:ext cx="4248150" cy="935037"/>
            <a:chOff x="2472" y="1117"/>
            <a:chExt cx="2676" cy="589"/>
          </a:xfrm>
        </p:grpSpPr>
        <p:grpSp>
          <p:nvGrpSpPr>
            <p:cNvPr id="70687" name="Group 46"/>
            <p:cNvGrpSpPr>
              <a:grpSpLocks/>
            </p:cNvGrpSpPr>
            <p:nvPr/>
          </p:nvGrpSpPr>
          <p:grpSpPr bwMode="auto">
            <a:xfrm>
              <a:off x="2486" y="1117"/>
              <a:ext cx="137" cy="589"/>
              <a:chOff x="1927" y="3158"/>
              <a:chExt cx="137" cy="680"/>
            </a:xfrm>
          </p:grpSpPr>
          <p:sp>
            <p:nvSpPr>
              <p:cNvPr id="70716" name="Line 47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17" name="Line 48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18" name="Line 49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688" name="Group 50"/>
            <p:cNvGrpSpPr>
              <a:grpSpLocks/>
            </p:cNvGrpSpPr>
            <p:nvPr/>
          </p:nvGrpSpPr>
          <p:grpSpPr bwMode="auto">
            <a:xfrm>
              <a:off x="3121" y="1117"/>
              <a:ext cx="137" cy="589"/>
              <a:chOff x="1927" y="3158"/>
              <a:chExt cx="137" cy="680"/>
            </a:xfrm>
          </p:grpSpPr>
          <p:sp>
            <p:nvSpPr>
              <p:cNvPr id="70713" name="Line 51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14" name="Line 52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15" name="Line 53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689" name="Group 54"/>
            <p:cNvGrpSpPr>
              <a:grpSpLocks/>
            </p:cNvGrpSpPr>
            <p:nvPr/>
          </p:nvGrpSpPr>
          <p:grpSpPr bwMode="auto">
            <a:xfrm>
              <a:off x="3801" y="1117"/>
              <a:ext cx="137" cy="589"/>
              <a:chOff x="1927" y="3158"/>
              <a:chExt cx="137" cy="680"/>
            </a:xfrm>
          </p:grpSpPr>
          <p:sp>
            <p:nvSpPr>
              <p:cNvPr id="70710" name="Line 55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11" name="Line 56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12" name="Line 57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690" name="Group 58"/>
            <p:cNvGrpSpPr>
              <a:grpSpLocks/>
            </p:cNvGrpSpPr>
            <p:nvPr/>
          </p:nvGrpSpPr>
          <p:grpSpPr bwMode="auto">
            <a:xfrm>
              <a:off x="4754" y="1117"/>
              <a:ext cx="137" cy="589"/>
              <a:chOff x="1927" y="3158"/>
              <a:chExt cx="137" cy="680"/>
            </a:xfrm>
          </p:grpSpPr>
          <p:sp>
            <p:nvSpPr>
              <p:cNvPr id="70707" name="Line 59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08" name="Line 60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09" name="Line 61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691" name="Group 62"/>
            <p:cNvGrpSpPr>
              <a:grpSpLocks/>
            </p:cNvGrpSpPr>
            <p:nvPr/>
          </p:nvGrpSpPr>
          <p:grpSpPr bwMode="auto">
            <a:xfrm flipH="1">
              <a:off x="2750" y="1117"/>
              <a:ext cx="137" cy="589"/>
              <a:chOff x="1927" y="3158"/>
              <a:chExt cx="137" cy="680"/>
            </a:xfrm>
          </p:grpSpPr>
          <p:sp>
            <p:nvSpPr>
              <p:cNvPr id="70704" name="Line 63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05" name="Line 64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06" name="Line 65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692" name="Group 66"/>
            <p:cNvGrpSpPr>
              <a:grpSpLocks/>
            </p:cNvGrpSpPr>
            <p:nvPr/>
          </p:nvGrpSpPr>
          <p:grpSpPr bwMode="auto">
            <a:xfrm flipH="1">
              <a:off x="3409" y="1117"/>
              <a:ext cx="137" cy="589"/>
              <a:chOff x="1927" y="3158"/>
              <a:chExt cx="137" cy="680"/>
            </a:xfrm>
          </p:grpSpPr>
          <p:sp>
            <p:nvSpPr>
              <p:cNvPr id="70701" name="Line 67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02" name="Line 68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03" name="Line 69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693" name="Group 70"/>
            <p:cNvGrpSpPr>
              <a:grpSpLocks/>
            </p:cNvGrpSpPr>
            <p:nvPr/>
          </p:nvGrpSpPr>
          <p:grpSpPr bwMode="auto">
            <a:xfrm flipH="1">
              <a:off x="4407" y="1117"/>
              <a:ext cx="137" cy="589"/>
              <a:chOff x="1927" y="3158"/>
              <a:chExt cx="137" cy="680"/>
            </a:xfrm>
          </p:grpSpPr>
          <p:sp>
            <p:nvSpPr>
              <p:cNvPr id="70698" name="Line 71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99" name="Line 72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00" name="Line 73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0694" name="Group 74"/>
            <p:cNvGrpSpPr>
              <a:grpSpLocks/>
            </p:cNvGrpSpPr>
            <p:nvPr/>
          </p:nvGrpSpPr>
          <p:grpSpPr bwMode="auto">
            <a:xfrm flipH="1">
              <a:off x="4997" y="1117"/>
              <a:ext cx="137" cy="589"/>
              <a:chOff x="1927" y="3158"/>
              <a:chExt cx="137" cy="680"/>
            </a:xfrm>
          </p:grpSpPr>
          <p:sp>
            <p:nvSpPr>
              <p:cNvPr id="70695" name="Line 75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0" cy="68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96" name="Line 76"/>
              <p:cNvSpPr>
                <a:spLocks noChangeShapeType="1"/>
              </p:cNvSpPr>
              <p:nvPr/>
            </p:nvSpPr>
            <p:spPr bwMode="auto">
              <a:xfrm>
                <a:off x="1927" y="315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97" name="Line 77"/>
              <p:cNvSpPr>
                <a:spLocks noChangeShapeType="1"/>
              </p:cNvSpPr>
              <p:nvPr/>
            </p:nvSpPr>
            <p:spPr bwMode="auto">
              <a:xfrm>
                <a:off x="1927" y="3838"/>
                <a:ext cx="13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70685" name="Picture 1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67000"/>
            <a:ext cx="30956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86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343400"/>
            <a:ext cx="391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3569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 bwMode="auto">
          <a:xfrm>
            <a:off x="44450" y="137318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US" dirty="0">
                <a:latin typeface="+mn-lt"/>
                <a:cs typeface="ＭＳ Ｐゴシック" charset="0"/>
              </a:rPr>
              <a:t>Matrix Multiplication</a:t>
            </a:r>
          </a:p>
        </p:txBody>
      </p:sp>
      <p:pic>
        <p:nvPicPr>
          <p:cNvPr id="60418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212850"/>
            <a:ext cx="1919288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19" name="Picture 2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219200"/>
            <a:ext cx="19050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Picture 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7600"/>
            <a:ext cx="1168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3003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 bwMode="auto">
          <a:xfrm>
            <a:off x="44450" y="171937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US" dirty="0">
                <a:latin typeface="+mn-lt"/>
                <a:cs typeface="ＭＳ Ｐゴシック" charset="0"/>
              </a:rPr>
              <a:t>Matrix Multiplication</a:t>
            </a:r>
          </a:p>
        </p:txBody>
      </p:sp>
      <p:pic>
        <p:nvPicPr>
          <p:cNvPr id="64515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648200"/>
            <a:ext cx="1143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36512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24052" y="1473193"/>
                <a:ext cx="3224979" cy="17018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SG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SG" sz="28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SG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052" y="1473193"/>
                <a:ext cx="3224979" cy="170181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650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 bwMode="auto">
          <a:xfrm>
            <a:off x="115785" y="134937"/>
            <a:ext cx="9099550" cy="931863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US" dirty="0">
                <a:latin typeface="+mn-lt"/>
                <a:cs typeface="ＭＳ Ｐゴシック" charset="0"/>
              </a:rPr>
              <a:t>Matrix Multiplication</a:t>
            </a:r>
          </a:p>
        </p:txBody>
      </p:sp>
      <p:pic>
        <p:nvPicPr>
          <p:cNvPr id="62467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14800"/>
            <a:ext cx="1143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82756"/>
            <a:ext cx="53340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791200" y="1066800"/>
                <a:ext cx="3224979" cy="17018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SG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SG" sz="28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SG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066800"/>
                <a:ext cx="3224979" cy="170181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055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 bwMode="auto">
          <a:xfrm>
            <a:off x="14953" y="122237"/>
            <a:ext cx="9099550" cy="931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US" altLang="zh-CN" dirty="0">
                <a:ea typeface="ＭＳ Ｐゴシック" charset="-128"/>
              </a:rPr>
              <a:t>Linear Independence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332163" y="2463800"/>
            <a:ext cx="180975" cy="635000"/>
          </a:xfrm>
          <a:prstGeom prst="rect">
            <a:avLst/>
          </a:prstGeom>
          <a:noFill/>
          <a:ln w="47625" cmpd="thickThin">
            <a:noFill/>
            <a:miter lim="800000"/>
            <a:headEnd/>
            <a:tailEnd/>
          </a:ln>
          <a:effectLst>
            <a:outerShdw blurRad="63500" dist="71842" dir="2700000" algn="ctr" rotWithShape="0">
              <a:schemeClr val="bg2">
                <a:alpha val="74998"/>
              </a:schemeClr>
            </a:outerShdw>
          </a:effectLst>
        </p:spPr>
        <p:txBody>
          <a:bodyPr wrap="none" lIns="90000" tIns="43200" rIns="90000" bIns="432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br>
              <a:rPr lang="en-US" altLang="zh-CN" sz="1800"/>
            </a:br>
            <a:endParaRPr lang="en-US" altLang="zh-CN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2" name="Content Placeholder 2"/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533399" y="1066800"/>
                <a:ext cx="8325465" cy="1814052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kumimoji="0" lang="en-US" altLang="zh-CN" sz="2400" dirty="0">
                    <a:solidFill>
                      <a:srgbClr val="000000"/>
                    </a:solidFill>
                    <a:effectLst/>
                    <a:ea typeface="ＭＳ Ｐゴシック" charset="-128"/>
                  </a:rPr>
                  <a:t>We say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𝒚</m:t>
                    </m:r>
                  </m:oMath>
                </a14:m>
                <a:r>
                  <a:rPr kumimoji="0" lang="en-US" altLang="zh-CN" sz="2400" dirty="0">
                    <a:solidFill>
                      <a:srgbClr val="000000"/>
                    </a:solidFill>
                    <a:effectLst/>
                    <a:ea typeface="ＭＳ Ｐゴシック" charset="-128"/>
                  </a:rPr>
                  <a:t> is a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𝑨</m:t>
                        </m:r>
                      </m:e>
                      <m:sub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𝟏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𝑨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0" lang="en-US" altLang="zh-CN" sz="2400" dirty="0">
                    <a:solidFill>
                      <a:srgbClr val="000000"/>
                    </a:solidFill>
                    <a:effectLst/>
                    <a:ea typeface="ＭＳ Ｐゴシック" charset="-128"/>
                  </a:rPr>
                  <a:t> if for some scalars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1</m:t>
                        </m:r>
                      </m:sub>
                    </m:sSub>
                    <m:r>
                      <a:rPr lang="en-US" sz="2400" b="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,…,</m:t>
                    </m:r>
                    <m:sSub>
                      <m:sSub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𝑥</m:t>
                        </m:r>
                      </m:e>
                      <m:sub>
                        <m:r>
                          <a:rPr lang="en-US" sz="24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𝑛</m:t>
                        </m:r>
                      </m:sub>
                    </m:sSub>
                  </m:oMath>
                </a14:m>
                <a:endParaRPr kumimoji="0" lang="en-US" altLang="zh-CN" sz="2400" b="0" dirty="0">
                  <a:solidFill>
                    <a:srgbClr val="000000"/>
                  </a:solidFill>
                  <a:effectLst/>
                  <a:ea typeface="ＭＳ Ｐゴシック" charset="-128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ＭＳ Ｐゴシック" charset="-128"/>
                        </a:rPr>
                        <m:t>𝒚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ＭＳ Ｐゴシック" charset="-128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𝒊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𝟏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ＭＳ Ｐゴシック" charset="-128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ＭＳ Ｐゴシック" charset="-128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altLang="zh-CN" sz="2400" dirty="0">
                  <a:solidFill>
                    <a:srgbClr val="000000"/>
                  </a:solidFill>
                  <a:effectLst/>
                  <a:ea typeface="ＭＳ Ｐゴシック" charset="-128"/>
                </a:endParaRPr>
              </a:p>
              <a:p>
                <a:r>
                  <a:rPr kumimoji="0" lang="en-US" altLang="zh-CN" sz="2400" dirty="0">
                    <a:solidFill>
                      <a:srgbClr val="000000"/>
                    </a:solidFill>
                    <a:effectLst/>
                    <a:ea typeface="ＭＳ Ｐゴシック" charset="-128"/>
                  </a:rPr>
                  <a:t>A collection </a:t>
                </a:r>
                <a:r>
                  <a:rPr lang="en-US" altLang="zh-CN" sz="2400" dirty="0">
                    <a:solidFill>
                      <a:srgbClr val="000000"/>
                    </a:solidFill>
                    <a:effectLst/>
                    <a:ea typeface="ＭＳ Ｐゴシック" charset="-128"/>
                  </a:rPr>
                  <a:t>of m-dimensional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𝑨</m:t>
                        </m:r>
                      </m:e>
                      <m:sub>
                        <m:r>
                          <a:rPr lang="en-US" sz="2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𝑨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 </m:t>
                    </m:r>
                  </m:oMath>
                </a14:m>
                <a:r>
                  <a:rPr kumimoji="0" lang="en-US" altLang="zh-CN" sz="2400" dirty="0">
                    <a:solidFill>
                      <a:srgbClr val="000000"/>
                    </a:solidFill>
                    <a:effectLst/>
                    <a:ea typeface="ＭＳ Ｐゴシック" charset="-128"/>
                  </a:rPr>
                  <a:t>is  linearly independent if none of the vector is a linear combination of the rest of vectors.</a:t>
                </a:r>
                <a:endParaRPr lang="en-US" altLang="zh-CN" sz="2400" dirty="0">
                  <a:solidFill>
                    <a:srgbClr val="000000"/>
                  </a:solidFill>
                  <a:effectLst/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6861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33399" y="1066800"/>
                <a:ext cx="8325465" cy="1814052"/>
              </a:xfrm>
              <a:blipFill rotWithShape="0">
                <a:blip r:embed="rId2"/>
                <a:stretch>
                  <a:fillRect l="-952" t="-2349" b="-72483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/>
          <p:cNvCxnSpPr/>
          <p:nvPr/>
        </p:nvCxnSpPr>
        <p:spPr bwMode="auto">
          <a:xfrm flipV="1">
            <a:off x="1427206" y="4794421"/>
            <a:ext cx="679621" cy="9700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427206" y="4910092"/>
                <a:ext cx="5116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206" y="4910092"/>
                <a:ext cx="51161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05848" y="5775923"/>
                <a:ext cx="5084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𝑨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848" y="5775923"/>
                <a:ext cx="508409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 bwMode="auto">
          <a:xfrm>
            <a:off x="1427206" y="5764426"/>
            <a:ext cx="2489886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1427206" y="5764426"/>
            <a:ext cx="124494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77958" y="5797708"/>
                <a:ext cx="5084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𝑨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58" y="5797708"/>
                <a:ext cx="508409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 bwMode="auto">
          <a:xfrm flipV="1">
            <a:off x="5360774" y="4794421"/>
            <a:ext cx="679621" cy="9700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360774" y="4910092"/>
                <a:ext cx="5116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774" y="4910092"/>
                <a:ext cx="511615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839416" y="5775923"/>
                <a:ext cx="5084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𝑨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416" y="5775923"/>
                <a:ext cx="508409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 bwMode="auto">
          <a:xfrm flipV="1">
            <a:off x="5360774" y="4910092"/>
            <a:ext cx="2022388" cy="8543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>
            <a:off x="5360774" y="5764426"/>
            <a:ext cx="124494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128957" y="4997100"/>
                <a:ext cx="5084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𝑨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ＭＳ Ｐゴシック" charset="-128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957" y="4997100"/>
                <a:ext cx="508409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46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7" grpId="0"/>
      <p:bldP spid="19" grpId="0"/>
      <p:bldP spid="20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US" dirty="0">
                <a:latin typeface="+mn-lt"/>
                <a:cs typeface="ＭＳ Ｐゴシック" charset="0"/>
              </a:rPr>
              <a:t>Determinant </a:t>
            </a:r>
          </a:p>
        </p:txBody>
      </p:sp>
      <p:sp>
        <p:nvSpPr>
          <p:cNvPr id="68610" name="Text Box 8"/>
          <p:cNvSpPr txBox="1">
            <a:spLocks noChangeArrowheads="1"/>
          </p:cNvSpPr>
          <p:nvPr/>
        </p:nvSpPr>
        <p:spPr bwMode="auto">
          <a:xfrm>
            <a:off x="66215" y="1062303"/>
            <a:ext cx="8534400" cy="162612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000" tIns="43200" rIns="90000" bIns="432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342900" indent="-342900" eaLnBrk="1" hangingPunct="1">
              <a:buFont typeface="Arial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</a:rPr>
              <a:t>The </a:t>
            </a:r>
            <a:r>
              <a:rPr lang="en-US" sz="2000" b="1" dirty="0">
                <a:solidFill>
                  <a:srgbClr val="000000"/>
                </a:solidFill>
                <a:latin typeface="+mn-lt"/>
              </a:rPr>
              <a:t>determinant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is a </a:t>
            </a:r>
            <a:r>
              <a:rPr lang="en-US" sz="2000" dirty="0">
                <a:solidFill>
                  <a:srgbClr val="000000"/>
                </a:solidFill>
                <a:latin typeface="+mn-lt"/>
                <a:hlinkClick r:id="rId2" tooltip="Function (mathematics)"/>
              </a:rPr>
              <a:t>function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that associates a </a:t>
            </a:r>
            <a:r>
              <a:rPr lang="en-US" sz="2000" dirty="0">
                <a:solidFill>
                  <a:srgbClr val="000000"/>
                </a:solidFill>
                <a:latin typeface="+mn-lt"/>
                <a:hlinkClick r:id="rId3" tooltip="Scalar"/>
              </a:rPr>
              <a:t>scalar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</a:rPr>
              <a:t>det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(</a:t>
            </a:r>
            <a:r>
              <a:rPr lang="en-US" sz="2000" i="1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) to every </a:t>
            </a:r>
            <a:r>
              <a:rPr lang="en-US" sz="2000" dirty="0">
                <a:solidFill>
                  <a:srgbClr val="000000"/>
                </a:solidFill>
                <a:latin typeface="+mn-lt"/>
                <a:hlinkClick r:id="rId4" tooltip="Square matrix"/>
              </a:rPr>
              <a:t>square matrix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000" i="1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342900" indent="-342900" eaLnBrk="1" hangingPunct="1">
              <a:buFont typeface="Arial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cs typeface="Arial" charset="0"/>
              </a:rPr>
              <a:t>Determinants can only be found for square matrices as it is </a:t>
            </a:r>
            <a:r>
              <a:rPr lang="en-US" sz="2000" dirty="0"/>
              <a:t>related to the volume of a parallelepiped (</a:t>
            </a:r>
            <a:r>
              <a:rPr lang="en-US" sz="2000" dirty="0">
                <a:solidFill>
                  <a:srgbClr val="0033CC"/>
                </a:solidFill>
              </a:rPr>
              <a:t>think about diagonal matrix</a:t>
            </a:r>
            <a:r>
              <a:rPr lang="en-US" sz="2000" dirty="0"/>
              <a:t>).</a:t>
            </a:r>
            <a:endParaRPr lang="en-US" sz="2000" dirty="0">
              <a:solidFill>
                <a:srgbClr val="000000"/>
              </a:solidFill>
              <a:cs typeface="Arial" charset="0"/>
            </a:endParaRPr>
          </a:p>
          <a:p>
            <a:pPr marL="342900" indent="-342900" eaLnBrk="1" hangingPunct="1">
              <a:buFont typeface="Arial"/>
              <a:buChar char="•"/>
              <a:defRPr/>
            </a:pPr>
            <a:endParaRPr lang="en-US" sz="20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72707" name="Picture 25" descr="determina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322" y="2826543"/>
            <a:ext cx="29860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Line 21"/>
          <p:cNvSpPr>
            <a:spLocks noChangeShapeType="1"/>
          </p:cNvSpPr>
          <p:nvPr/>
        </p:nvSpPr>
        <p:spPr bwMode="auto">
          <a:xfrm>
            <a:off x="2598174" y="3131343"/>
            <a:ext cx="6858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09" name="Line 22"/>
          <p:cNvSpPr>
            <a:spLocks noChangeShapeType="1"/>
          </p:cNvSpPr>
          <p:nvPr/>
        </p:nvSpPr>
        <p:spPr bwMode="auto">
          <a:xfrm flipH="1">
            <a:off x="2598174" y="3131343"/>
            <a:ext cx="6858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0" name="TextBox 23"/>
          <p:cNvSpPr txBox="1">
            <a:spLocks noChangeArrowheads="1"/>
          </p:cNvSpPr>
          <p:nvPr/>
        </p:nvSpPr>
        <p:spPr bwMode="auto">
          <a:xfrm>
            <a:off x="2561662" y="3018631"/>
            <a:ext cx="7223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>
                <a:latin typeface="Tahoma" charset="0"/>
              </a:rPr>
              <a:t>a    b</a:t>
            </a:r>
          </a:p>
          <a:p>
            <a:pPr eaLnBrk="1" hangingPunct="1"/>
            <a:r>
              <a:rPr lang="en-US" altLang="zh-CN">
                <a:latin typeface="Tahoma" charset="0"/>
              </a:rPr>
              <a:t>c    d</a:t>
            </a:r>
          </a:p>
        </p:txBody>
      </p:sp>
      <p:sp>
        <p:nvSpPr>
          <p:cNvPr id="72711" name="TextBox 22"/>
          <p:cNvSpPr txBox="1">
            <a:spLocks noChangeArrowheads="1"/>
          </p:cNvSpPr>
          <p:nvPr/>
        </p:nvSpPr>
        <p:spPr bwMode="auto">
          <a:xfrm>
            <a:off x="1467874" y="3102768"/>
            <a:ext cx="1066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dirty="0" err="1">
                <a:latin typeface="Tahoma" charset="0"/>
              </a:rPr>
              <a:t>det</a:t>
            </a:r>
            <a:r>
              <a:rPr lang="en-US" altLang="zh-CN" dirty="0">
                <a:latin typeface="Tahoma" charset="0"/>
              </a:rPr>
              <a:t>(A) = </a:t>
            </a:r>
          </a:p>
        </p:txBody>
      </p:sp>
      <p:sp>
        <p:nvSpPr>
          <p:cNvPr id="72712" name="TextBox 24"/>
          <p:cNvSpPr txBox="1">
            <a:spLocks noChangeArrowheads="1"/>
          </p:cNvSpPr>
          <p:nvPr/>
        </p:nvSpPr>
        <p:spPr bwMode="auto">
          <a:xfrm>
            <a:off x="3368112" y="3064668"/>
            <a:ext cx="1135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>
                <a:latin typeface="Tahoma" charset="0"/>
              </a:rPr>
              <a:t>= ad - bc </a:t>
            </a:r>
          </a:p>
        </p:txBody>
      </p:sp>
      <p:sp>
        <p:nvSpPr>
          <p:cNvPr id="72713" name="TextBox 25"/>
          <p:cNvSpPr txBox="1">
            <a:spLocks noChangeArrowheads="1"/>
          </p:cNvSpPr>
          <p:nvPr/>
        </p:nvSpPr>
        <p:spPr bwMode="auto">
          <a:xfrm>
            <a:off x="2369574" y="2826543"/>
            <a:ext cx="11477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5400" dirty="0">
                <a:latin typeface="Tahoma" charset="0"/>
              </a:rPr>
              <a:t>[  ]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-104050" y="5515896"/>
            <a:ext cx="4543655" cy="64124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 lIns="90000" tIns="43200" rIns="90000" bIns="4320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   If elements in A are integers, is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det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(A) an integer?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6214" y="4412637"/>
            <a:ext cx="4845597" cy="64124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 lIns="90000" tIns="43200" rIns="90000" bIns="4320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   What happens when (a, b) and (c, d) are linearly dependent?</a:t>
            </a:r>
          </a:p>
        </p:txBody>
      </p:sp>
    </p:spTree>
    <p:extLst>
      <p:ext uri="{BB962C8B-B14F-4D97-AF65-F5344CB8AC3E}">
        <p14:creationId xmlns:p14="http://schemas.microsoft.com/office/powerpoint/2010/main" val="258772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GB" dirty="0">
                <a:latin typeface="+mn-lt"/>
                <a:ea typeface="+mj-ea"/>
              </a:rPr>
              <a:t>Solving simultaneous equations</a:t>
            </a:r>
          </a:p>
        </p:txBody>
      </p:sp>
      <p:sp>
        <p:nvSpPr>
          <p:cNvPr id="73730" name="Rectangle 3"/>
          <p:cNvSpPr>
            <a:spLocks noGrp="1" noRot="1" noChangeArrowheads="1"/>
          </p:cNvSpPr>
          <p:nvPr>
            <p:ph type="body" sz="half" idx="1"/>
          </p:nvPr>
        </p:nvSpPr>
        <p:spPr bwMode="auto">
          <a:xfrm>
            <a:off x="323850" y="1700213"/>
            <a:ext cx="8591550" cy="4344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kumimoji="0" lang="en-GB" altLang="zh-CN" sz="2400" dirty="0">
                <a:effectLst/>
                <a:ea typeface="ＭＳ Ｐゴシック" charset="-128"/>
              </a:rPr>
              <a:t>For one linear equation  </a:t>
            </a:r>
            <a:r>
              <a:rPr kumimoji="0" lang="en-GB" altLang="zh-CN" sz="2400" b="1" i="1" dirty="0" err="1">
                <a:effectLst/>
                <a:ea typeface="ＭＳ Ｐゴシック" charset="-128"/>
              </a:rPr>
              <a:t>ax</a:t>
            </a:r>
            <a:r>
              <a:rPr kumimoji="0" lang="en-GB" altLang="zh-CN" sz="2400" b="1" i="1" dirty="0">
                <a:effectLst/>
                <a:ea typeface="ＭＳ Ｐゴシック" charset="-128"/>
              </a:rPr>
              <a:t>=b</a:t>
            </a:r>
            <a:r>
              <a:rPr kumimoji="0" lang="en-GB" altLang="zh-CN" sz="2400" dirty="0">
                <a:effectLst/>
                <a:ea typeface="ＭＳ Ｐゴシック" charset="-128"/>
              </a:rPr>
              <a:t> where the unknown is </a:t>
            </a:r>
            <a:r>
              <a:rPr kumimoji="0" lang="en-GB" altLang="zh-CN" sz="2400" i="1" dirty="0">
                <a:effectLst/>
                <a:ea typeface="ＭＳ Ｐゴシック" charset="-128"/>
              </a:rPr>
              <a:t>x</a:t>
            </a:r>
            <a:r>
              <a:rPr kumimoji="0" lang="en-GB" altLang="zh-CN" sz="2400" dirty="0">
                <a:effectLst/>
                <a:ea typeface="ＭＳ Ｐゴシック" charset="-128"/>
              </a:rPr>
              <a:t> and </a:t>
            </a:r>
            <a:r>
              <a:rPr kumimoji="0" lang="en-GB" altLang="zh-CN" sz="2400" i="1" dirty="0">
                <a:effectLst/>
                <a:ea typeface="ＭＳ Ｐゴシック" charset="-128"/>
              </a:rPr>
              <a:t>b</a:t>
            </a:r>
            <a:r>
              <a:rPr kumimoji="0" lang="en-GB" altLang="zh-CN" sz="2400" dirty="0">
                <a:effectLst/>
                <a:ea typeface="ＭＳ Ｐゴシック" charset="-128"/>
              </a:rPr>
              <a:t> are constants, we have three possibilities:</a:t>
            </a:r>
          </a:p>
          <a:p>
            <a:pPr eaLnBrk="1" hangingPunct="1"/>
            <a:endParaRPr kumimoji="0" lang="en-GB" altLang="zh-CN" sz="2400" dirty="0">
              <a:effectLst/>
              <a:ea typeface="ＭＳ Ｐゴシック" charset="-128"/>
            </a:endParaRPr>
          </a:p>
        </p:txBody>
      </p:sp>
      <p:graphicFrame>
        <p:nvGraphicFramePr>
          <p:cNvPr id="3789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685800" y="3048000"/>
          <a:ext cx="11283950" cy="273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" name="Document" r:id="rId4" imgW="5270500" imgH="1282700" progId="Word.Document.8">
                  <p:embed/>
                </p:oleObj>
              </mc:Choice>
              <mc:Fallback>
                <p:oleObj name="Document" r:id="rId4" imgW="5270500" imgH="12827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0"/>
                        <a:ext cx="11283950" cy="273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Arrow 6"/>
          <p:cNvSpPr>
            <a:spLocks noChangeArrowheads="1"/>
          </p:cNvSpPr>
          <p:nvPr/>
        </p:nvSpPr>
        <p:spPr bwMode="auto">
          <a:xfrm>
            <a:off x="234950" y="33528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Rockwell" charset="0"/>
            </a:endParaRPr>
          </a:p>
        </p:txBody>
      </p:sp>
      <p:sp>
        <p:nvSpPr>
          <p:cNvPr id="8" name="Right Arrow 7"/>
          <p:cNvSpPr>
            <a:spLocks noChangeArrowheads="1"/>
          </p:cNvSpPr>
          <p:nvPr/>
        </p:nvSpPr>
        <p:spPr bwMode="auto">
          <a:xfrm>
            <a:off x="234950" y="41148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Rockwell" charset="0"/>
            </a:endParaRPr>
          </a:p>
        </p:txBody>
      </p:sp>
      <p:sp>
        <p:nvSpPr>
          <p:cNvPr id="9" name="Right Arrow 8"/>
          <p:cNvSpPr>
            <a:spLocks noChangeArrowheads="1"/>
          </p:cNvSpPr>
          <p:nvPr/>
        </p:nvSpPr>
        <p:spPr bwMode="auto">
          <a:xfrm>
            <a:off x="234950" y="52578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Rockwell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149350" y="3276600"/>
            <a:ext cx="762000" cy="381000"/>
          </a:xfrm>
          <a:prstGeom prst="rect">
            <a:avLst/>
          </a:prstGeom>
          <a:noFill/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Rockwell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149350" y="3886200"/>
            <a:ext cx="1676400" cy="381000"/>
          </a:xfrm>
          <a:prstGeom prst="rect">
            <a:avLst/>
          </a:prstGeom>
          <a:noFill/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Rockwell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149350" y="5029200"/>
            <a:ext cx="1676400" cy="381000"/>
          </a:xfrm>
          <a:prstGeom prst="rect">
            <a:avLst/>
          </a:prstGeom>
          <a:noFill/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Rockwell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73742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76200" y="168275"/>
            <a:ext cx="9144000" cy="1431925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GB" sz="4000" dirty="0"/>
              <a:t>Solving simultaneous equations</a:t>
            </a:r>
            <a:endParaRPr kumimoji="0" lang="en-GB" sz="4000" dirty="0">
              <a:latin typeface="+mn-lt"/>
              <a:cs typeface="ＭＳ Ｐゴシック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54" name="Rectangle 3"/>
              <p:cNvSpPr>
                <a:spLocks noGrp="1" noRot="1" noChangeArrowheads="1"/>
              </p:cNvSpPr>
              <p:nvPr>
                <p:ph type="body" sz="half" idx="1"/>
              </p:nvPr>
            </p:nvSpPr>
            <p:spPr bwMode="auto">
              <a:xfrm>
                <a:off x="228600" y="1371600"/>
                <a:ext cx="8374063" cy="4422775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kumimoji="0" lang="en-GB" altLang="zh-CN" sz="2800" dirty="0">
                    <a:effectLst/>
                    <a:ea typeface="ＭＳ Ｐゴシック" charset="-128"/>
                  </a:rPr>
                  <a:t>Eg. Two equations, two unknowns</a:t>
                </a:r>
              </a:p>
              <a:p>
                <a:pPr eaLnBrk="1" hangingPunct="1"/>
                <a:endParaRPr kumimoji="0" lang="en-GB" altLang="zh-CN" sz="2800" dirty="0">
                  <a:effectLst/>
                  <a:ea typeface="ＭＳ Ｐゴシック" charset="-128"/>
                </a:endParaRPr>
              </a:p>
              <a:p>
                <a:pPr eaLnBrk="1" hangingPunct="1"/>
                <a:endParaRPr kumimoji="0" lang="en-GB" altLang="zh-CN" sz="2800" dirty="0">
                  <a:effectLst/>
                  <a:ea typeface="ＭＳ Ｐゴシック" charset="-128"/>
                </a:endParaRPr>
              </a:p>
              <a:p>
                <a:pPr eaLnBrk="1" hangingPunct="1"/>
                <a:r>
                  <a:rPr kumimoji="0" lang="en-GB" altLang="zh-CN" sz="2800" dirty="0">
                    <a:effectLst/>
                    <a:ea typeface="ＭＳ Ｐゴシック" charset="-128"/>
                  </a:rPr>
                  <a:t>In matrix form</a:t>
                </a:r>
              </a:p>
              <a:p>
                <a:pPr eaLnBrk="1" hangingPunct="1"/>
                <a:endParaRPr lang="en-GB" altLang="zh-CN" sz="2800" dirty="0">
                  <a:effectLst/>
                  <a:ea typeface="ＭＳ Ｐゴシック" charset="-128"/>
                </a:endParaRPr>
              </a:p>
              <a:p>
                <a:pPr eaLnBrk="1" hangingPunct="1"/>
                <a:endParaRPr kumimoji="0" lang="en-GB" altLang="zh-CN" sz="2800" dirty="0">
                  <a:effectLst/>
                  <a:ea typeface="ＭＳ Ｐゴシック" charset="-128"/>
                </a:endParaRPr>
              </a:p>
              <a:p>
                <a:pPr eaLnBrk="1" hangingPunct="1"/>
                <a:endParaRPr lang="en-GB" altLang="zh-CN" sz="2800" dirty="0">
                  <a:effectLst/>
                  <a:ea typeface="ＭＳ Ｐゴシック" charset="-128"/>
                </a:endParaRPr>
              </a:p>
              <a:p>
                <a:pPr eaLnBrk="1" hangingPunct="1"/>
                <a:endParaRPr lang="en-GB" altLang="zh-CN" sz="2800" dirty="0">
                  <a:effectLst/>
                  <a:ea typeface="ＭＳ Ｐゴシック" charset="-128"/>
                </a:endParaRPr>
              </a:p>
              <a:p>
                <a:pPr eaLnBrk="1" hangingPunct="1"/>
                <a:r>
                  <a:rPr lang="en-GB" altLang="zh-CN" sz="2800" dirty="0">
                    <a:effectLst/>
                    <a:ea typeface="ＭＳ Ｐゴシック" charset="-128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altLang="zh-CN" sz="2800" dirty="0">
                    <a:effectLst/>
                    <a:ea typeface="ＭＳ Ｐゴシック" charset="-128"/>
                  </a:rPr>
                  <a:t> ?</a:t>
                </a:r>
              </a:p>
            </p:txBody>
          </p:sp>
        </mc:Choice>
        <mc:Fallback xmlns="">
          <p:sp>
            <p:nvSpPr>
              <p:cNvPr id="747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 bwMode="auto">
              <a:xfrm>
                <a:off x="228600" y="1371600"/>
                <a:ext cx="8374063" cy="4422775"/>
              </a:xfrm>
              <a:blipFill rotWithShape="0">
                <a:blip r:embed="rId4"/>
                <a:stretch>
                  <a:fillRect l="-1311" t="-1377" b="-812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755" name="Object 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77975703"/>
              </p:ext>
            </p:extLst>
          </p:nvPr>
        </p:nvGraphicFramePr>
        <p:xfrm>
          <a:off x="3124200" y="1828800"/>
          <a:ext cx="1944688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Equation" r:id="rId5" imgW="812520" imgH="457200" progId="Equation.3">
                  <p:embed/>
                </p:oleObj>
              </mc:Choice>
              <mc:Fallback>
                <p:oleObj name="Equation" r:id="rId5" imgW="8125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828800"/>
                        <a:ext cx="1944688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756" name="Picture 3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724400"/>
            <a:ext cx="1524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657600"/>
            <a:ext cx="4419600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240718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08155" y="117987"/>
            <a:ext cx="9144000" cy="1431925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GB" sz="4000" dirty="0"/>
              <a:t>Solving simultaneous equations</a:t>
            </a:r>
            <a:endParaRPr kumimoji="0" lang="en-GB" sz="4000" dirty="0">
              <a:latin typeface="+mn-lt"/>
              <a:cs typeface="ＭＳ Ｐゴシック" charset="0"/>
            </a:endParaRPr>
          </a:p>
        </p:txBody>
      </p:sp>
      <p:sp>
        <p:nvSpPr>
          <p:cNvPr id="76802" name="Rectangle 3"/>
          <p:cNvSpPr>
            <a:spLocks noGrp="1" noRot="1" noChangeArrowheads="1"/>
          </p:cNvSpPr>
          <p:nvPr>
            <p:ph type="body" sz="half" idx="1"/>
          </p:nvPr>
        </p:nvSpPr>
        <p:spPr bwMode="auto">
          <a:xfrm>
            <a:off x="228600" y="1371600"/>
            <a:ext cx="8374063" cy="4422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GB" altLang="en-US" sz="2800" dirty="0">
                <a:effectLst/>
                <a:ea typeface="ＭＳ Ｐゴシック" charset="-128"/>
              </a:rPr>
              <a:t>If A is not invertible … </a:t>
            </a:r>
          </a:p>
          <a:p>
            <a:pPr eaLnBrk="1" hangingPunct="1">
              <a:buFontTx/>
              <a:buNone/>
            </a:pPr>
            <a:r>
              <a:rPr kumimoji="0" lang="en-GB" altLang="en-US" sz="2800" dirty="0">
                <a:ea typeface="ＭＳ Ｐゴシック" charset="-128"/>
              </a:rPr>
              <a:t>  </a:t>
            </a:r>
          </a:p>
          <a:p>
            <a:pPr eaLnBrk="1" hangingPunct="1"/>
            <a:endParaRPr kumimoji="0" lang="en-GB" altLang="en-US" sz="2800" dirty="0">
              <a:ea typeface="ＭＳ Ｐゴシック" charset="-128"/>
            </a:endParaRPr>
          </a:p>
        </p:txBody>
      </p:sp>
      <p:pic>
        <p:nvPicPr>
          <p:cNvPr id="76803" name="Picture 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14600"/>
            <a:ext cx="57150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54487"/>
            <a:ext cx="57150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9521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08155" y="117987"/>
            <a:ext cx="9144000" cy="1431925"/>
          </a:xfrm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kumimoji="0" lang="en-GB" sz="4000" dirty="0"/>
              <a:t>Summary</a:t>
            </a:r>
            <a:endParaRPr kumimoji="0" lang="en-GB" sz="4000" dirty="0">
              <a:latin typeface="+mn-lt"/>
              <a:cs typeface="ＭＳ Ｐゴシック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2" name="Rectangle 3"/>
              <p:cNvSpPr>
                <a:spLocks noGrp="1" noRot="1" noChangeArrowheads="1"/>
              </p:cNvSpPr>
              <p:nvPr>
                <p:ph type="body" sz="half" idx="1"/>
              </p:nvPr>
            </p:nvSpPr>
            <p:spPr bwMode="auto">
              <a:xfrm>
                <a:off x="228600" y="1371600"/>
                <a:ext cx="9131710" cy="4422775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kumimoji="0" lang="en-GB" altLang="en-US" sz="2800" dirty="0">
                    <a:effectLst/>
                    <a:ea typeface="ＭＳ Ｐゴシック" charset="-128"/>
                  </a:rPr>
                  <a:t>If A is an </a:t>
                </a:r>
                <a:r>
                  <a:rPr lang="en-GB" altLang="zh-CN" sz="2800" dirty="0">
                    <a:effectLst/>
                  </a:rPr>
                  <a:t>n x n matrix, then the following are equivalent:</a:t>
                </a:r>
              </a:p>
              <a:p>
                <a:pPr lvl="1" eaLnBrk="1" hangingPunct="1"/>
                <a:r>
                  <a:rPr lang="en-GB" altLang="zh-CN" sz="2600" dirty="0">
                    <a:effectLst/>
                    <a:ea typeface="ＭＳ Ｐゴシック" charset="-128"/>
                  </a:rPr>
                  <a:t>A is invertible</a:t>
                </a:r>
              </a:p>
              <a:p>
                <a:pPr lvl="1" eaLnBrk="1" hangingPunct="1"/>
                <a:r>
                  <a:rPr lang="en-GB" altLang="zh-CN" sz="2600" dirty="0">
                    <a:effectLst/>
                    <a:ea typeface="ＭＳ Ｐゴシック" charset="-128"/>
                  </a:rPr>
                  <a:t>The simultaneous equations </a:t>
                </a:r>
                <a:r>
                  <a:rPr lang="en-GB" altLang="zh-CN" sz="2600" dirty="0" err="1">
                    <a:effectLst/>
                    <a:ea typeface="ＭＳ Ｐゴシック" charset="-128"/>
                  </a:rPr>
                  <a:t>Ax</a:t>
                </a:r>
                <a:r>
                  <a:rPr lang="en-GB" altLang="zh-CN" sz="2600" dirty="0">
                    <a:effectLst/>
                    <a:ea typeface="ＭＳ Ｐゴシック" charset="-128"/>
                  </a:rPr>
                  <a:t>=b has a unique solution</a:t>
                </a: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𝒂</m:t>
                        </m:r>
                      </m:e>
                      <m:sub>
                        <m:r>
                          <a:rPr lang="en-US" sz="2800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𝟏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′</m:t>
                    </m:r>
                    <m:r>
                      <a:rPr lang="en-US" sz="2800" i="1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,…,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𝒂</m:t>
                        </m:r>
                      </m:e>
                      <m:sub>
                        <m:r>
                          <a:rPr lang="en-US" sz="2800" i="1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𝒏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′</m:t>
                    </m:r>
                  </m:oMath>
                </a14:m>
                <a:r>
                  <a:rPr lang="en-US" sz="2800" i="1" dirty="0">
                    <a:solidFill>
                      <a:srgbClr val="2C129C"/>
                    </a:solidFill>
                    <a:effectLst/>
                    <a:latin typeface="Cambria Math" panose="02040503050406030204" pitchFamily="18" charset="0"/>
                    <a:ea typeface="ＭＳ Ｐゴシック" charset="-128"/>
                  </a:rPr>
                  <a:t> </a:t>
                </a:r>
                <a:r>
                  <a:rPr lang="en-GB" altLang="zh-CN" sz="2600" dirty="0">
                    <a:effectLst/>
                    <a:ea typeface="ＭＳ Ｐゴシック" charset="-128"/>
                  </a:rPr>
                  <a:t>are linearly independent</a:t>
                </a:r>
                <a:endParaRPr lang="en-US" sz="2600" dirty="0">
                  <a:solidFill>
                    <a:srgbClr val="2C129C"/>
                  </a:solidFill>
                  <a:effectLst/>
                  <a:latin typeface="Cambria Math" panose="02040503050406030204" pitchFamily="18" charset="0"/>
                  <a:ea typeface="ＭＳ Ｐゴシック" charset="-128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𝑨</m:t>
                        </m:r>
                      </m:e>
                      <m:sub>
                        <m:r>
                          <a:rPr lang="en-US" sz="2800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𝟏</m:t>
                        </m:r>
                      </m:sub>
                    </m:sSub>
                    <m:r>
                      <a:rPr lang="en-US" sz="2800" i="1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,…,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𝑨</m:t>
                        </m:r>
                      </m:e>
                      <m:sub>
                        <m:r>
                          <a:rPr lang="en-US" sz="2800" i="1">
                            <a:solidFill>
                              <a:srgbClr val="2C129C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charset="-128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GB" altLang="zh-CN" sz="2600" dirty="0">
                    <a:effectLst/>
                    <a:ea typeface="ＭＳ Ｐゴシック" charset="-128"/>
                  </a:rPr>
                  <a:t> are linearly independent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𝒅𝒆𝒕</m:t>
                    </m:r>
                    <m:r>
                      <a:rPr lang="en-US" sz="2800" i="1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(</m:t>
                    </m:r>
                    <m:r>
                      <a:rPr lang="en-US" sz="2800" i="1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𝑨</m:t>
                    </m:r>
                    <m:r>
                      <a:rPr lang="en-US" sz="2800" i="1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ＭＳ Ｐゴシック" charset="-128"/>
                      </a:rPr>
                      <m:t>)≠</m:t>
                    </m:r>
                    <m:r>
                      <a:rPr lang="en-US" sz="2800" i="1">
                        <a:solidFill>
                          <a:srgbClr val="2C129C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GB" altLang="zh-CN" sz="2800" dirty="0">
                  <a:effectLst/>
                  <a:ea typeface="ＭＳ Ｐゴシック" charset="-128"/>
                </a:endParaRPr>
              </a:p>
              <a:p>
                <a:pPr lvl="1" eaLnBrk="1" hangingPunct="1"/>
                <a:endParaRPr lang="en-GB" altLang="zh-CN" sz="2600" dirty="0">
                  <a:ea typeface="ＭＳ Ｐゴシック" charset="-128"/>
                </a:endParaRPr>
              </a:p>
              <a:p>
                <a:pPr eaLnBrk="1" hangingPunct="1"/>
                <a:endParaRPr kumimoji="0" lang="en-GB" altLang="en-US" sz="2800" dirty="0">
                  <a:ea typeface="ＭＳ Ｐゴシック" charset="-128"/>
                </a:endParaRPr>
              </a:p>
              <a:p>
                <a:pPr eaLnBrk="1" hangingPunct="1">
                  <a:buFontTx/>
                  <a:buNone/>
                </a:pPr>
                <a:r>
                  <a:rPr kumimoji="0" lang="en-GB" altLang="en-US" sz="2800" dirty="0">
                    <a:ea typeface="ＭＳ Ｐゴシック" charset="-128"/>
                  </a:rPr>
                  <a:t>  </a:t>
                </a:r>
              </a:p>
              <a:p>
                <a:pPr eaLnBrk="1" hangingPunct="1"/>
                <a:endParaRPr kumimoji="0" lang="en-GB" altLang="en-US" sz="2800" dirty="0"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7680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 bwMode="auto">
              <a:xfrm>
                <a:off x="228600" y="1371600"/>
                <a:ext cx="9131710" cy="4422775"/>
              </a:xfrm>
              <a:blipFill rotWithShape="0">
                <a:blip r:embed="rId3"/>
                <a:stretch>
                  <a:fillRect l="-1202" t="-137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59773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Back to Standard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692330" y="1072016"/>
                <a:ext cx="9836330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:pPr marL="0" indent="0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692330" y="1072016"/>
                <a:ext cx="9836330" cy="5472113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58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Reduction to Standard Form -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6572" y="809287"/>
                <a:ext cx="7039428" cy="2529000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1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</a:t>
                </a:r>
                <a:endParaRPr lang="en-US" altLang="zh-CN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6572" y="809287"/>
                <a:ext cx="7039428" cy="2529000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326571" y="3450887"/>
                <a:ext cx="8127999" cy="2529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  <a:defRPr/>
                </a:pPr>
                <a:endParaRPr lang="en-US" altLang="zh-CN" kern="0" dirty="0">
                  <a:ea typeface="宋体" pitchFamily="2" charset="-122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/>
                  <a:t>                     </a:t>
                </a:r>
                <a14:m>
                  <m:oMath xmlns:m="http://schemas.openxmlformats.org/officeDocument/2006/math"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         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kern="0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endParaRPr lang="en-US" kern="0" dirty="0"/>
              </a:p>
              <a:p>
                <a:pPr marL="0" indent="0">
                  <a:buFontTx/>
                  <a:buNone/>
                </a:pPr>
                <a:r>
                  <a:rPr lang="en-US" kern="0" dirty="0"/>
                  <a:t>                      </a:t>
                </a:r>
                <a:endParaRPr lang="en-US" altLang="zh-CN" kern="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571" y="3450887"/>
                <a:ext cx="8127999" cy="25290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28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Reduction to Standard Form -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941388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  <m:t>⟹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𝒋𝒏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⟹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41388"/>
                <a:ext cx="9110663" cy="5472113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94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Reduction to Standard Form -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6572" y="809287"/>
                <a:ext cx="7039428" cy="2529000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1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</a:t>
                </a:r>
                <a:endParaRPr lang="en-US" altLang="zh-CN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6572" y="809287"/>
                <a:ext cx="7039428" cy="2529000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326571" y="3450887"/>
                <a:ext cx="8127999" cy="2529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  <a:defRPr/>
                </a:pPr>
                <a:endParaRPr lang="en-US" altLang="zh-CN" kern="0" dirty="0">
                  <a:ea typeface="宋体" pitchFamily="2" charset="-122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     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endParaRPr lang="en-US" kern="0" dirty="0"/>
              </a:p>
              <a:p>
                <a:pPr marL="0" indent="0">
                  <a:buFontTx/>
                  <a:buNone/>
                </a:pPr>
                <a:r>
                  <a:rPr lang="en-US" kern="0" dirty="0"/>
                  <a:t>                      </a:t>
                </a:r>
                <a:endParaRPr lang="en-US" altLang="zh-CN" kern="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571" y="3450887"/>
                <a:ext cx="8127999" cy="25290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04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Reduction to Standard Form -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941388"/>
                <a:ext cx="9110663" cy="5472113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Free variables: </a:t>
                </a:r>
              </a:p>
              <a:p>
                <a:pPr marL="396875" lvl="1" indent="0">
                  <a:buNone/>
                  <a:defRPr/>
                </a:pPr>
                <a:r>
                  <a:rPr lang="en-US" sz="2200" dirty="0">
                    <a:effectLst/>
                  </a:rPr>
                  <a:t>Replace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</a:t>
                </a:r>
                <a:r>
                  <a:rPr lang="en-US" sz="2200" dirty="0">
                    <a:effectLst/>
                  </a:rPr>
                  <a:t>by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sz="2400" dirty="0">
                    <a:effectLst/>
                  </a:rPr>
                  <a:t>and add constraints:</a:t>
                </a:r>
                <a:r>
                  <a:rPr lang="en-US" sz="2400" b="1" i="1" dirty="0">
                    <a:effectLst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ffectLst/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941388"/>
                <a:ext cx="9110663" cy="5472113"/>
              </a:xfrm>
              <a:blipFill rotWithShape="0">
                <a:blip r:embed="rId3"/>
                <a:stretch>
                  <a:fillRect l="-12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32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Reduction to Standard Form -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14633" y="1108076"/>
                <a:ext cx="5565058" cy="2736338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⟹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𝒎𝒊𝒏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m:rPr>
                              <m:nor/>
                            </m:rPr>
                            <a:rPr lang="en-US" altLang="zh-CN" dirty="0">
                              <a:effectLst/>
                              <a:ea typeface="宋体" pitchFamily="2" charset="-122"/>
                            </a:rPr>
                            <m:t> </m:t>
                          </m:r>
                        </m:e>
                        <m:sub/>
                      </m:sSub>
                    </m:oMath>
                  </m:oMathPara>
                </a14:m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4633" y="1108076"/>
                <a:ext cx="5565058" cy="2736338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18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Wyndor</a:t>
            </a:r>
            <a:r>
              <a:rPr lang="en-US" dirty="0"/>
              <a:t> Glass Co.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463" y="941388"/>
                <a:ext cx="9110663" cy="5472113"/>
              </a:xfrm>
            </p:spPr>
            <p:txBody>
              <a:bodyPr/>
              <a:lstStyle/>
              <a:p>
                <a:r>
                  <a:rPr lang="en-US" dirty="0">
                    <a:effectLst/>
                  </a:rPr>
                  <a:t>Original formulation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b="1" i="1" dirty="0" smtClean="0">
                          <a:effectLst/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3 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+5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i="1" dirty="0">
                  <a:effectLst/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 smtClean="0">
                          <a:effectLst/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effectLst/>
                          <a:latin typeface="Cambria Math"/>
                        </a:rPr>
                        <m:t>≤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b="0" dirty="0">
                  <a:effectLst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b="0" i="1" baseline="-25000" dirty="0" smtClean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≤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12</m:t>
                      </m:r>
                    </m:oMath>
                  </m:oMathPara>
                </a14:m>
                <a:endParaRPr lang="en-US" b="0" i="1" dirty="0">
                  <a:effectLst/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/>
                        </a:rPr>
                        <m:t>3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+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≤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18</m:t>
                      </m:r>
                    </m:oMath>
                  </m:oMathPara>
                </a14:m>
                <a:endParaRPr lang="en-US" b="0" i="1" dirty="0">
                  <a:effectLst/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effectLst/>
                          <a:latin typeface="Cambria Math"/>
                        </a:rPr>
                        <m:t>≥</m:t>
                      </m:r>
                      <m:r>
                        <a:rPr lang="en-US" b="0" i="1" dirty="0" smtClean="0">
                          <a:effectLst/>
                          <a:latin typeface="Cambria Math"/>
                        </a:rPr>
                        <m:t>0</m:t>
                      </m:r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b="0" i="1" baseline="-25000" dirty="0">
                          <a:effectLst/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effectLst/>
                          <a:latin typeface="Cambria Math"/>
                        </a:rPr>
                        <m:t>≥0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457200" indent="-457200"/>
                <a:r>
                  <a:rPr lang="en-US" dirty="0">
                    <a:effectLst/>
                  </a:rPr>
                  <a:t>Matrix form</a:t>
                </a:r>
              </a:p>
              <a:p>
                <a:pPr marL="457200" indent="-457200"/>
                <a:endParaRPr lang="en-US" dirty="0">
                  <a:effectLst/>
                </a:endParaRPr>
              </a:p>
              <a:p>
                <a:pPr marL="457200" indent="-457200"/>
                <a:endParaRPr lang="en-US" dirty="0">
                  <a:effectLst/>
                </a:endParaRPr>
              </a:p>
              <a:p>
                <a:pPr marL="457200" indent="-457200"/>
                <a:r>
                  <a:rPr lang="en-US" dirty="0">
                    <a:effectLst/>
                  </a:rPr>
                  <a:t>Standard form</a:t>
                </a:r>
              </a:p>
              <a:p>
                <a:pPr marL="40005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63" y="941388"/>
                <a:ext cx="9110663" cy="5472113"/>
              </a:xfrm>
              <a:blipFill rotWithShape="0">
                <a:blip r:embed="rId3"/>
                <a:stretch>
                  <a:fillRect l="-1272" t="-1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745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General Resource Allocation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02641" y="475456"/>
                <a:ext cx="6040844" cy="2605316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:pPr marL="0" indent="0">
                  <a:buNone/>
                </a:pPr>
                <a:endParaRPr lang="en-US" altLang="zh-CN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02641" y="475456"/>
                <a:ext cx="6040844" cy="2605316"/>
              </a:xfr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802641" y="2775971"/>
                <a:ext cx="6040844" cy="26053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  <a:defRPr/>
                </a:pPr>
                <a:endParaRPr lang="en-US" altLang="zh-CN" kern="0" dirty="0">
                  <a:ea typeface="宋体" pitchFamily="2" charset="-122"/>
                </a:endParaRPr>
              </a:p>
              <a:p>
                <a:pPr marL="0" indent="0">
                  <a:buFontTx/>
                  <a:buNone/>
                </a:pPr>
                <a:endParaRPr lang="en-US" kern="0" dirty="0"/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b="1" i="0" kern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d>
                      <m:dPr>
                        <m:begChr m:val="["/>
                        <m:endChr m:val="]"/>
                        <m:ctrlP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kern="0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 kern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 kern="0" smtClean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e>
                            <m:r>
                              <a:rPr lang="en-US" b="1" i="1" smtClean="0">
                                <a:effectLst/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eqArr>
                      </m:e>
                    </m:d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i="1" kern="0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kern="0" dirty="0">
                    <a:effectLst/>
                  </a:rPr>
                  <a:t>  </a:t>
                </a:r>
              </a:p>
              <a:p>
                <a:pPr marL="0" indent="0">
                  <a:buFontTx/>
                  <a:buNone/>
                </a:pPr>
                <a:endParaRPr lang="en-US" altLang="zh-CN" kern="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641" y="2775971"/>
                <a:ext cx="6040844" cy="2605316"/>
              </a:xfrm>
              <a:prstGeom prst="rect">
                <a:avLst/>
              </a:prstGeom>
              <a:blipFill rotWithShape="0">
                <a:blip r:embed="rId6"/>
                <a:stretch>
                  <a:fillRect b="-934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01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  <a:r>
              <a:rPr lang="en-US" altLang="zh-CN" sz="4000" dirty="0">
                <a:ea typeface="宋体" pitchFamily="2" charset="-122"/>
              </a:rPr>
              <a:t>More Applications</a:t>
            </a:r>
            <a:endParaRPr lang="en-US" altLang="zh-CN" sz="38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31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Simple Regression</a:t>
            </a:r>
          </a:p>
        </p:txBody>
      </p:sp>
      <p:grpSp>
        <p:nvGrpSpPr>
          <p:cNvPr id="4" name="组合 36"/>
          <p:cNvGrpSpPr>
            <a:grpSpLocks/>
          </p:cNvGrpSpPr>
          <p:nvPr/>
        </p:nvGrpSpPr>
        <p:grpSpPr bwMode="auto">
          <a:xfrm>
            <a:off x="1395412" y="1320008"/>
            <a:ext cx="6357938" cy="4905372"/>
            <a:chOff x="928662" y="1309675"/>
            <a:chExt cx="6357982" cy="4905407"/>
          </a:xfrm>
        </p:grpSpPr>
        <p:cxnSp>
          <p:nvCxnSpPr>
            <p:cNvPr id="5" name="直接连接符 4"/>
            <p:cNvCxnSpPr/>
            <p:nvPr/>
          </p:nvCxnSpPr>
          <p:spPr>
            <a:xfrm flipV="1">
              <a:off x="928662" y="1785926"/>
              <a:ext cx="6357982" cy="3857652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1678760" y="4062459"/>
              <a:ext cx="357190" cy="3571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956208" y="4643446"/>
              <a:ext cx="357190" cy="3571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464711" y="3286124"/>
              <a:ext cx="357189" cy="3571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393404" y="4413631"/>
              <a:ext cx="357189" cy="3571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964908" y="1714487"/>
              <a:ext cx="357189" cy="3571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6107917" y="3071808"/>
              <a:ext cx="357189" cy="3571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467643" y="5857891"/>
              <a:ext cx="357189" cy="3571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3" name="椭圆 13"/>
            <p:cNvSpPr/>
            <p:nvPr/>
          </p:nvSpPr>
          <p:spPr>
            <a:xfrm>
              <a:off x="6679421" y="1309675"/>
              <a:ext cx="357190" cy="35718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cxnSp>
          <p:nvCxnSpPr>
            <p:cNvPr id="14" name="直接连接符 18"/>
            <p:cNvCxnSpPr/>
            <p:nvPr/>
          </p:nvCxnSpPr>
          <p:spPr>
            <a:xfrm rot="16200000" flipH="1">
              <a:off x="1535885" y="4750603"/>
              <a:ext cx="642943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23"/>
            <p:cNvCxnSpPr/>
            <p:nvPr/>
          </p:nvCxnSpPr>
          <p:spPr>
            <a:xfrm rot="16200000" flipH="1">
              <a:off x="1321571" y="5536421"/>
              <a:ext cx="6429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24"/>
            <p:cNvCxnSpPr/>
            <p:nvPr/>
          </p:nvCxnSpPr>
          <p:spPr>
            <a:xfrm rot="16200000" flipH="1">
              <a:off x="3000364" y="4500570"/>
              <a:ext cx="28575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26"/>
            <p:cNvCxnSpPr/>
            <p:nvPr/>
          </p:nvCxnSpPr>
          <p:spPr>
            <a:xfrm rot="5400000">
              <a:off x="3464711" y="3821909"/>
              <a:ext cx="35718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29"/>
            <p:cNvCxnSpPr/>
            <p:nvPr/>
          </p:nvCxnSpPr>
          <p:spPr>
            <a:xfrm rot="16200000" flipH="1">
              <a:off x="4071934" y="3929066"/>
              <a:ext cx="100013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/>
            <p:nvPr/>
          </p:nvCxnSpPr>
          <p:spPr>
            <a:xfrm rot="5400000">
              <a:off x="4643438" y="2571745"/>
              <a:ext cx="100013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33"/>
            <p:cNvCxnSpPr/>
            <p:nvPr/>
          </p:nvCxnSpPr>
          <p:spPr>
            <a:xfrm rot="16200000" flipH="1">
              <a:off x="5965041" y="2750339"/>
              <a:ext cx="642943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34"/>
            <p:cNvCxnSpPr/>
            <p:nvPr/>
          </p:nvCxnSpPr>
          <p:spPr>
            <a:xfrm rot="5400000">
              <a:off x="6643702" y="1857365"/>
              <a:ext cx="42862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Rectangle 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80132" y="2797334"/>
            <a:ext cx="128757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en-US" sz="2000" dirty="0" err="1">
                <a:solidFill>
                  <a:schemeClr val="tx1"/>
                </a:solidFill>
                <a:effectLst/>
              </a:rPr>
              <a:t>a</a:t>
            </a:r>
            <a:r>
              <a:rPr lang="en-US" altLang="en-US" sz="2000" baseline="-25000" dirty="0" err="1">
                <a:solidFill>
                  <a:schemeClr val="tx1"/>
                </a:solidFill>
                <a:effectLst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effectLst/>
              </a:rPr>
              <a:t>,</a:t>
            </a:r>
            <a:r>
              <a:rPr lang="en-US" altLang="en-US" sz="2000" baseline="-25000" dirty="0">
                <a:solidFill>
                  <a:schemeClr val="tx1"/>
                </a:solidFill>
                <a:effectLst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effectLst/>
              </a:rPr>
              <a:t>b</a:t>
            </a:r>
            <a:r>
              <a:rPr lang="en-US" altLang="en-US" sz="2000" baseline="-25000" dirty="0">
                <a:solidFill>
                  <a:schemeClr val="tx1"/>
                </a:solidFill>
                <a:effectLst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effectLst/>
              </a:rPr>
              <a:t>)</a:t>
            </a:r>
            <a:endParaRPr lang="en-US" altLang="en-US" sz="20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23" name="Rectangle 53"/>
          <p:cNvSpPr txBox="1">
            <a:spLocks noChangeArrowheads="1"/>
          </p:cNvSpPr>
          <p:nvPr/>
        </p:nvSpPr>
        <p:spPr bwMode="auto">
          <a:xfrm>
            <a:off x="465023" y="5546724"/>
            <a:ext cx="12875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1313" indent="-34131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90015"/>
              </a:buClr>
              <a:buSzPct val="10000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9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38188" indent="-28416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Char char="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7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38238" indent="-22860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100000"/>
              <a:buChar char="·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73200" indent="-20955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8954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kern="0" dirty="0">
                <a:solidFill>
                  <a:schemeClr val="tx1"/>
                </a:solidFill>
                <a:effectLst/>
              </a:rPr>
              <a:t>b = </a:t>
            </a:r>
            <a:r>
              <a:rPr lang="en-US" altLang="en-US" sz="2000" kern="0" dirty="0" err="1">
                <a:solidFill>
                  <a:schemeClr val="tx1"/>
                </a:solidFill>
                <a:effectLst/>
              </a:rPr>
              <a:t>xa</a:t>
            </a:r>
            <a:endParaRPr lang="en-US" altLang="en-US" sz="2000" kern="0" dirty="0">
              <a:solidFill>
                <a:schemeClr val="tx1"/>
              </a:solidFill>
              <a:effectLst/>
            </a:endParaRPr>
          </a:p>
        </p:txBody>
      </p:sp>
      <p:sp>
        <p:nvSpPr>
          <p:cNvPr id="24" name="Rectangle 53"/>
          <p:cNvSpPr txBox="1">
            <a:spLocks noChangeArrowheads="1"/>
          </p:cNvSpPr>
          <p:nvPr/>
        </p:nvSpPr>
        <p:spPr bwMode="auto">
          <a:xfrm>
            <a:off x="5566920" y="3764995"/>
            <a:ext cx="12875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1313" indent="-34131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90015"/>
              </a:buClr>
              <a:buSzPct val="10000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9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38188" indent="-284163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Char char="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7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38238" indent="-22860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100000"/>
              <a:buChar char="·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473200" indent="-209550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895475" indent="-211138" algn="l" defTabSz="909638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effectLst/>
              </a:rPr>
              <a:t>|b</a:t>
            </a:r>
            <a:r>
              <a:rPr lang="en-US" altLang="en-US" sz="2000" baseline="-25000" dirty="0">
                <a:solidFill>
                  <a:schemeClr val="tx1"/>
                </a:solidFill>
                <a:effectLst/>
              </a:rPr>
              <a:t>i</a:t>
            </a:r>
            <a:r>
              <a:rPr lang="en-US" altLang="en-US" sz="2000" kern="0" dirty="0">
                <a:solidFill>
                  <a:schemeClr val="tx1"/>
                </a:solidFill>
                <a:effectLst/>
              </a:rPr>
              <a:t> – </a:t>
            </a:r>
            <a:r>
              <a:rPr lang="en-US" altLang="en-US" sz="2000" kern="0" dirty="0" err="1">
                <a:solidFill>
                  <a:schemeClr val="tx1"/>
                </a:solidFill>
                <a:effectLst/>
              </a:rPr>
              <a:t>x</a:t>
            </a:r>
            <a:r>
              <a:rPr lang="en-US" altLang="en-US" sz="2000" dirty="0" err="1">
                <a:solidFill>
                  <a:schemeClr val="tx1"/>
                </a:solidFill>
                <a:effectLst/>
              </a:rPr>
              <a:t>a</a:t>
            </a:r>
            <a:r>
              <a:rPr lang="en-US" altLang="en-US" sz="2000" baseline="-25000" dirty="0" err="1">
                <a:solidFill>
                  <a:schemeClr val="tx1"/>
                </a:solidFill>
                <a:effectLst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effectLst/>
              </a:rPr>
              <a:t>|</a:t>
            </a:r>
            <a:endParaRPr lang="en-US" altLang="en-US" sz="2000" kern="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Right Brace 1"/>
          <p:cNvSpPr/>
          <p:nvPr/>
        </p:nvSpPr>
        <p:spPr bwMode="auto">
          <a:xfrm>
            <a:off x="5041394" y="3439316"/>
            <a:ext cx="363922" cy="984626"/>
          </a:xfrm>
          <a:prstGeom prst="rightBrac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393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Minimize the sum of square of residual (least square):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p>
                          <m:sSupPr>
                            <m:ctrlPr>
                              <a:rPr lang="en-US" altLang="en-US" sz="24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en-US" sz="2400" i="1" dirty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1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en-US" sz="24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altLang="en-US" sz="24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en-US" sz="2400" i="1" dirty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en-US" sz="24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en-US" sz="2400" dirty="0">
                    <a:effectLst/>
                  </a:rPr>
                  <a:t> </a:t>
                </a:r>
                <a:endParaRPr lang="en-US" altLang="en-US" sz="2400" baseline="-250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LP?			</a:t>
                </a:r>
              </a:p>
              <a:p>
                <a:pPr algn="ctr">
                  <a:buFontTx/>
                  <a:buNone/>
                  <a:defRPr/>
                </a:pPr>
                <a:endParaRPr lang="en-US" altLang="en-US" sz="2400" dirty="0">
                  <a:effectLst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Data Fitting Problem: L2 Criterion</a:t>
            </a:r>
          </a:p>
        </p:txBody>
      </p:sp>
    </p:spTree>
    <p:extLst>
      <p:ext uri="{BB962C8B-B14F-4D97-AF65-F5344CB8AC3E}">
        <p14:creationId xmlns:p14="http://schemas.microsoft.com/office/powerpoint/2010/main" val="3261133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Minimize the sum of residual (least absolute deviations):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b>
                          <m:sSubPr>
                            <m:ctrlPr>
                              <a:rPr lang="en-US" altLang="en-US" sz="24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en-US" sz="2400" dirty="0">
                    <a:effectLst/>
                  </a:rPr>
                  <a:t> </a:t>
                </a:r>
                <a:endParaRPr lang="en-US" altLang="en-US" sz="2400" baseline="-250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LP?</a:t>
                </a:r>
                <a:endParaRPr lang="en-US" altLang="en-US" sz="2400" dirty="0">
                  <a:effectLst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Data Fitting Problem: L1 Criterion</a:t>
            </a:r>
          </a:p>
        </p:txBody>
      </p:sp>
    </p:spTree>
    <p:extLst>
      <p:ext uri="{BB962C8B-B14F-4D97-AF65-F5344CB8AC3E}">
        <p14:creationId xmlns:p14="http://schemas.microsoft.com/office/powerpoint/2010/main" val="7201623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Consider: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 |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altLang="en-US" sz="2400" baseline="-250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LP formulation		</a:t>
                </a:r>
                <a:r>
                  <a:rPr lang="en-US" altLang="en-US" sz="2600" dirty="0">
                    <a:ea typeface="宋体" pitchFamily="2" charset="-122"/>
                  </a:rPr>
                  <a:t>	</a:t>
                </a: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Data Fitting Problem: L1 Criterion</a:t>
            </a:r>
          </a:p>
        </p:txBody>
      </p:sp>
    </p:spTree>
    <p:extLst>
      <p:ext uri="{BB962C8B-B14F-4D97-AF65-F5344CB8AC3E}">
        <p14:creationId xmlns:p14="http://schemas.microsoft.com/office/powerpoint/2010/main" val="18467564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Least absolute deviations 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altLang="en-US" sz="2400" baseline="-250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LP formulation			</a:t>
                </a:r>
              </a:p>
              <a:p>
                <a:pPr algn="ctr">
                  <a:buFontTx/>
                  <a:buNone/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i="0" smtClean="0">
                                <a:effectLst/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en-US" sz="2400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en-US" sz="2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en-US" sz="24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en-US" sz="2400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en-US" sz="24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altLang="en-US" sz="2400" dirty="0">
                    <a:effectLst/>
                  </a:rPr>
                  <a:t>   </a:t>
                </a:r>
              </a:p>
              <a:p>
                <a:pPr algn="ctr"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en-US" sz="2400" dirty="0">
                    <a:effectLst/>
                  </a:rPr>
                  <a:t>  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en-US" sz="2400" dirty="0">
                    <a:effectLst/>
                  </a:rPr>
                  <a:t>  </a:t>
                </a:r>
              </a:p>
              <a:p>
                <a:pPr algn="ctr">
                  <a:buFontTx/>
                  <a:buNone/>
                  <a:defRPr/>
                </a:pPr>
                <a:endParaRPr lang="en-US" altLang="en-US" sz="2400" dirty="0">
                  <a:effectLst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Data Fitting Problem: L1 Criterion</a:t>
            </a:r>
          </a:p>
        </p:txBody>
      </p:sp>
    </p:spTree>
    <p:extLst>
      <p:ext uri="{BB962C8B-B14F-4D97-AF65-F5344CB8AC3E}">
        <p14:creationId xmlns:p14="http://schemas.microsoft.com/office/powerpoint/2010/main" val="3987148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600" dirty="0">
                <a:effectLst/>
                <a:ea typeface="宋体" pitchFamily="2" charset="-122"/>
              </a:rPr>
              <a:t>Difficulty</a:t>
            </a:r>
          </a:p>
          <a:p>
            <a:pPr marL="0" indent="0">
              <a:buNone/>
              <a:defRPr/>
            </a:pPr>
            <a:endParaRPr lang="en-US" altLang="en-US" sz="2600" dirty="0">
              <a:effectLst/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en-US" sz="2600" dirty="0">
              <a:effectLst/>
              <a:ea typeface="宋体" pitchFamily="2" charset="-122"/>
            </a:endParaRPr>
          </a:p>
          <a:p>
            <a:pPr>
              <a:defRPr/>
            </a:pPr>
            <a:endParaRPr lang="en-US" altLang="en-US" sz="2600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en-US" sz="2600" dirty="0">
                <a:effectLst/>
                <a:ea typeface="宋体" pitchFamily="2" charset="-122"/>
              </a:rPr>
              <a:t>Sensitivity to outliers</a:t>
            </a:r>
          </a:p>
          <a:p>
            <a:pPr>
              <a:defRPr/>
            </a:pPr>
            <a:endParaRPr lang="en-US" altLang="en-US" sz="2600" dirty="0">
              <a:effectLst/>
              <a:ea typeface="宋体" pitchFamily="2" charset="-122"/>
            </a:endParaRPr>
          </a:p>
          <a:p>
            <a:pPr>
              <a:defRPr/>
            </a:pPr>
            <a:endParaRPr lang="en-US" altLang="en-US" sz="2600" dirty="0">
              <a:effectLst/>
              <a:ea typeface="宋体" pitchFamily="2" charset="-122"/>
            </a:endParaRPr>
          </a:p>
          <a:p>
            <a:pPr>
              <a:defRPr/>
            </a:pPr>
            <a:endParaRPr lang="en-US" altLang="en-US" sz="2600" dirty="0">
              <a:effectLst/>
              <a:ea typeface="宋体" pitchFamily="2" charset="-122"/>
            </a:endParaRPr>
          </a:p>
          <a:p>
            <a:pPr>
              <a:defRPr/>
            </a:pPr>
            <a:r>
              <a:rPr lang="en-US" altLang="en-US" sz="2600" dirty="0">
                <a:effectLst/>
                <a:ea typeface="宋体" pitchFamily="2" charset="-122"/>
              </a:rPr>
              <a:t>Solution uniqueness</a:t>
            </a:r>
          </a:p>
          <a:p>
            <a:pPr marL="0" indent="0">
              <a:buNone/>
              <a:defRPr/>
            </a:pPr>
            <a:r>
              <a:rPr lang="en-US" altLang="en-US" sz="2600" dirty="0">
                <a:ea typeface="宋体" pitchFamily="2" charset="-122"/>
              </a:rPr>
              <a:t>	</a:t>
            </a:r>
          </a:p>
          <a:p>
            <a:pPr algn="ctr">
              <a:buFontTx/>
              <a:buNone/>
              <a:defRPr/>
            </a:pPr>
            <a:endParaRPr lang="en-US" alt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L1 vs. L2</a:t>
            </a:r>
          </a:p>
        </p:txBody>
      </p:sp>
    </p:spTree>
    <p:extLst>
      <p:ext uri="{BB962C8B-B14F-4D97-AF65-F5344CB8AC3E}">
        <p14:creationId xmlns:p14="http://schemas.microsoft.com/office/powerpoint/2010/main" val="25200663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Minimize the largest residual: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en-US" altLang="en-US" sz="2400" dirty="0">
                    <a:effectLst/>
                  </a:rPr>
                  <a:t> </a:t>
                </a:r>
                <a:endParaRPr lang="en-US" altLang="en-US" sz="2400" baseline="-250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LP formulation			</a:t>
                </a:r>
              </a:p>
              <a:p>
                <a:pPr algn="ctr">
                  <a:buFontTx/>
                  <a:buNone/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i="0" smtClean="0">
                                <a:effectLst/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lim>
                        </m:limLow>
                      </m:fName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func>
                  </m:oMath>
                </a14:m>
                <a:r>
                  <a:rPr lang="en-US" altLang="en-US" sz="2400" dirty="0">
                    <a:effectLst/>
                  </a:rPr>
                  <a:t>   </a:t>
                </a:r>
              </a:p>
              <a:p>
                <a:pPr algn="ctr"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en-US" sz="2400" dirty="0">
                    <a:effectLst/>
                  </a:rPr>
                  <a:t>  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en-US" sz="2400" dirty="0">
                    <a:effectLst/>
                  </a:rPr>
                  <a:t>  </a:t>
                </a:r>
              </a:p>
              <a:p>
                <a:pPr algn="ctr">
                  <a:buFontTx/>
                  <a:buNone/>
                  <a:defRPr/>
                </a:pPr>
                <a:endParaRPr lang="en-US" altLang="en-US" sz="2400" dirty="0">
                  <a:effectLst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Data Fitting Problem: </a:t>
            </a:r>
            <a:r>
              <a:rPr lang="en-US" altLang="zh-CN" dirty="0" err="1">
                <a:ea typeface="宋体" pitchFamily="2" charset="-122"/>
              </a:rPr>
              <a:t>Chebyshev</a:t>
            </a:r>
            <a:r>
              <a:rPr lang="en-US" altLang="zh-CN" dirty="0">
                <a:ea typeface="宋体" pitchFamily="2" charset="-122"/>
              </a:rPr>
              <a:t> Criterion</a:t>
            </a:r>
          </a:p>
        </p:txBody>
      </p:sp>
    </p:spTree>
    <p:extLst>
      <p:ext uri="{BB962C8B-B14F-4D97-AF65-F5344CB8AC3E}">
        <p14:creationId xmlns:p14="http://schemas.microsoft.com/office/powerpoint/2010/main" val="291102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Consider a problem: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0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en-US" sz="2400" i="1" dirty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en-US" sz="2400" i="1" dirty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en-US" sz="2400" i="1" dirty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en-US" sz="2400" i="1" dirty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en-US" sz="2400" i="1" dirty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altLang="en-US" sz="2400" b="1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en-US" sz="2400" i="1" dirty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en-US" sz="2400" i="1" dirty="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en-US" sz="2400" i="1" dirty="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𝒄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en-US" sz="2400" i="1" dirty="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en-US" sz="2400" b="1" i="1" dirty="0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en-US" sz="2400" i="1" dirty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400" i="1" dirty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altLang="en-US" sz="2400" b="1" i="1" dirty="0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nary>
                                </m:e>
                                <m:sub/>
                              </m:sSub>
                            </m:e>
                            <m:sub/>
                          </m:sSub>
                        </m:e>
                      </m:func>
                    </m:oMath>
                  </m:oMathPara>
                </a14:m>
                <a:endParaRPr lang="en-US" altLang="en-US" sz="2400" baseline="-250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Cost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600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en-US" sz="26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𝒄</m:t>
                        </m:r>
                      </m:e>
                      <m:sub>
                        <m:r>
                          <a:rPr lang="en-US" altLang="en-US" sz="2600" b="1" i="1" smtClean="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en-US" sz="2600" dirty="0">
                    <a:effectLst/>
                    <a:ea typeface="宋体" pitchFamily="2" charset="-122"/>
                  </a:rPr>
                  <a:t> are assumed to be nonnegative</a:t>
                </a: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LP formulation	</a:t>
                </a:r>
              </a:p>
              <a:p>
                <a:pPr algn="ctr">
                  <a:buFontTx/>
                  <a:buNone/>
                  <a:defRPr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800">
                                <a:effectLst/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en-US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en-US" sz="2800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en-US" sz="28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en-US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8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en-US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en-US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altLang="en-US" sz="2800" dirty="0">
                    <a:effectLst/>
                  </a:rPr>
                  <a:t>   </a:t>
                </a:r>
              </a:p>
              <a:p>
                <a:pPr algn="ctr"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en-US" sz="2800" b="1" i="1" smtClean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8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2800" b="1" i="1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en-US" sz="2800" dirty="0">
                    <a:effectLst/>
                  </a:rPr>
                  <a:t> 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smtClean="0">
                            <a:effectLst/>
                            <a:latin typeface="Cambria Math" panose="02040503050406030204" pitchFamily="18" charset="0"/>
                          </a:rPr>
                          <m:t>                      </m:t>
                        </m:r>
                        <m:r>
                          <a:rPr lang="en-US" altLang="en-US" sz="2800" b="1" i="1" smtClean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b="1" i="1" smtClean="0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sz="28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en-US" sz="2800" dirty="0">
                    <a:effectLst/>
                  </a:rPr>
                  <a:t> </a:t>
                </a:r>
                <a:r>
                  <a:rPr lang="en-US" altLang="en-US" sz="2600" dirty="0">
                    <a:effectLst/>
                    <a:ea typeface="宋体" pitchFamily="2" charset="-122"/>
                  </a:rPr>
                  <a:t>	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                          </m:t>
                        </m:r>
                        <m:r>
                          <a:rPr lang="en-US" altLang="en-US" sz="2800" b="1" i="1" smtClean="0">
                            <a:effectLst/>
                            <a:latin typeface="Cambria Math" panose="02040503050406030204" pitchFamily="18" charset="0"/>
                          </a:rPr>
                          <m:t>    −</m:t>
                        </m:r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en-US" sz="28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en-US" sz="28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en-US" sz="2800" dirty="0">
                    <a:effectLst/>
                  </a:rPr>
                  <a:t> </a:t>
                </a:r>
                <a:r>
                  <a:rPr lang="en-US" altLang="en-US" sz="2400" dirty="0">
                    <a:ea typeface="宋体" pitchFamily="2" charset="-122"/>
                  </a:rPr>
                  <a:t>	</a:t>
                </a:r>
                <a:r>
                  <a:rPr lang="en-US" altLang="en-US" sz="2600" dirty="0">
                    <a:ea typeface="宋体" pitchFamily="2" charset="-122"/>
                  </a:rPr>
                  <a:t>	</a:t>
                </a:r>
              </a:p>
              <a:p>
                <a:pPr algn="ctr">
                  <a:buFontTx/>
                  <a:buNone/>
                  <a:defRPr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Problems Involving Absolute Values</a:t>
            </a:r>
          </a:p>
        </p:txBody>
      </p:sp>
    </p:spTree>
    <p:extLst>
      <p:ext uri="{BB962C8B-B14F-4D97-AF65-F5344CB8AC3E}">
        <p14:creationId xmlns:p14="http://schemas.microsoft.com/office/powerpoint/2010/main" val="349448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Consider a problem: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0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240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en-US" sz="2400" i="1" dirty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en-US" sz="2400" i="1" dirty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i="1" dirty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altLang="en-US" sz="2400" i="1" dirty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en-US" sz="2400" i="1" dirty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en-US" sz="2400" i="1" dirty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altLang="en-US" sz="2400" baseline="-250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en-US" sz="2400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nary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LP formulation	</a:t>
                </a:r>
              </a:p>
              <a:p>
                <a:pPr algn="ctr">
                  <a:buFontTx/>
                  <a:buNone/>
                  <a:defRPr/>
                </a:pPr>
                <a:r>
                  <a:rPr lang="en-US" altLang="en-US" sz="2400" dirty="0">
                    <a:ea typeface="宋体" pitchFamily="2" charset="-122"/>
                  </a:rPr>
                  <a:t>	</a:t>
                </a:r>
                <a:r>
                  <a:rPr lang="en-US" altLang="en-US" sz="2600" dirty="0">
                    <a:ea typeface="宋体" pitchFamily="2" charset="-122"/>
                  </a:rPr>
                  <a:t>	</a:t>
                </a:r>
              </a:p>
              <a:p>
                <a:pPr algn="ctr">
                  <a:buFontTx/>
                  <a:buNone/>
                  <a:defRPr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Problems Involving Absolute Values</a:t>
            </a:r>
          </a:p>
        </p:txBody>
      </p:sp>
    </p:spTree>
    <p:extLst>
      <p:ext uri="{BB962C8B-B14F-4D97-AF65-F5344CB8AC3E}">
        <p14:creationId xmlns:p14="http://schemas.microsoft.com/office/powerpoint/2010/main" val="19871821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Projection/Lifting Idea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561" y="1190510"/>
            <a:ext cx="4667354" cy="51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10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CT/MRI Scan</a:t>
            </a:r>
          </a:p>
        </p:txBody>
      </p:sp>
      <p:pic>
        <p:nvPicPr>
          <p:cNvPr id="5122" name="Picture 2" descr="http://www.homerglenimaging.com/services/images/stories/toshiba-asteion-ctsca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134" y="1650364"/>
            <a:ext cx="6400194" cy="348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5943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CT/MRI Scan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1095793"/>
            <a:ext cx="7658100" cy="5028045"/>
          </a:xfrm>
          <a:prstGeom prst="rect">
            <a:avLst/>
          </a:prstGeom>
        </p:spPr>
      </p:pic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-644842" y="6278243"/>
            <a:ext cx="83486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http://engineering.dartmouth.edu/courses/engs167/12%20Image%20reconstruction.pdf</a:t>
            </a:r>
          </a:p>
        </p:txBody>
      </p:sp>
    </p:spTree>
    <p:extLst>
      <p:ext uri="{BB962C8B-B14F-4D97-AF65-F5344CB8AC3E}">
        <p14:creationId xmlns:p14="http://schemas.microsoft.com/office/powerpoint/2010/main" val="12511877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CT/MRI Scan</a:t>
            </a: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-644842" y="6278243"/>
            <a:ext cx="83486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http://engineering.dartmouth.edu/courses/engs167/12%20Image%20reconstruction.pdf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" y="1083155"/>
            <a:ext cx="7751445" cy="50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83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Consider a signal (e.g. sound, images):</a:t>
                </a:r>
                <a:endParaRPr lang="en-US" altLang="en-US" sz="2400" baseline="-250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en-US" sz="2400" b="1" i="1" smtClean="0">
                                <a:effectLst/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en-US" sz="2400" b="1" i="0" smtClean="0">
                        <a:effectLst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sz="2400" b="1" dirty="0">
                    <a:effectLst/>
                  </a:rPr>
                  <a:t>,</a:t>
                </a:r>
              </a:p>
              <a:p>
                <a:pPr lvl="1" algn="ctr">
                  <a:buFontTx/>
                  <a:buNone/>
                  <a:defRPr/>
                </a:pPr>
                <a:r>
                  <a:rPr lang="en-US" altLang="en-US" sz="2400" dirty="0">
                    <a:effectLst/>
                  </a:rPr>
                  <a:t>where n is very large (e.g. around 1,000,000).</a:t>
                </a: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The signal is not directly observable. Instead, one observes a measurement</a:t>
                </a:r>
              </a:p>
              <a:p>
                <a:pPr marL="0" lvl="1" indent="0" algn="ctr">
                  <a:buClr>
                    <a:srgbClr val="790015"/>
                  </a:buClr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n-US" altLang="en-US" sz="2400" dirty="0">
                    <a:effectLst/>
                  </a:rPr>
                  <a:t>,</a:t>
                </a:r>
              </a:p>
              <a:p>
                <a:pPr marL="0" lvl="1" indent="0" algn="ctr">
                  <a:buClr>
                    <a:srgbClr val="790015"/>
                  </a:buClr>
                  <a:buNone/>
                  <a:defRPr/>
                </a:pPr>
                <a:r>
                  <a:rPr lang="en-US" altLang="en-US" sz="2400" dirty="0">
                    <a:effectLst/>
                  </a:rPr>
                  <a:t>where m is small and A is an </a:t>
                </a:r>
                <a:r>
                  <a:rPr lang="en-US" altLang="en-US" sz="2400" dirty="0" err="1">
                    <a:effectLst/>
                  </a:rPr>
                  <a:t>mxn</a:t>
                </a:r>
                <a:r>
                  <a:rPr lang="en-US" altLang="en-US" sz="2400" dirty="0">
                    <a:effectLst/>
                  </a:rPr>
                  <a:t> matrix.</a:t>
                </a:r>
                <a:endParaRPr lang="en-US" altLang="en-US" sz="2600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The problem is then to find </a:t>
                </a:r>
                <a14:m>
                  <m:oMath xmlns:m="http://schemas.openxmlformats.org/officeDocument/2006/math">
                    <m:r>
                      <a:rPr lang="en-US" altLang="en-US" sz="2800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600" dirty="0">
                    <a:effectLst/>
                    <a:ea typeface="宋体" pitchFamily="2" charset="-122"/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US" sz="2800" b="1" i="1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en-US" sz="2600" dirty="0">
                    <a:effectLst/>
                    <a:ea typeface="宋体" pitchFamily="2" charset="-122"/>
                  </a:rPr>
                  <a:t>	</a:t>
                </a: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Compressed Sensing</a:t>
            </a:r>
          </a:p>
        </p:txBody>
      </p:sp>
    </p:spTree>
    <p:extLst>
      <p:ext uri="{BB962C8B-B14F-4D97-AF65-F5344CB8AC3E}">
        <p14:creationId xmlns:p14="http://schemas.microsoft.com/office/powerpoint/2010/main" val="39626402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Consider an unknown signal:</a:t>
                </a:r>
                <a:endParaRPr lang="en-US" altLang="en-US" sz="2400" baseline="-250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en-US" sz="2400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en-US" sz="2400" b="1" i="0" smtClean="0">
                        <a:effectLst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sz="2400" b="1" dirty="0">
                    <a:effectLst/>
                  </a:rPr>
                  <a:t>.</a:t>
                </a:r>
                <a:endParaRPr lang="en-US" altLang="en-US" sz="24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The measurement matrix is:</a:t>
                </a:r>
              </a:p>
              <a:p>
                <a:pPr marL="0" lvl="1" indent="0" algn="ctr">
                  <a:buClr>
                    <a:srgbClr val="790015"/>
                  </a:buCl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 smtClean="0">
                              <a:effectLst/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zh-CN" sz="2400" b="1" i="1" smtClean="0"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400" b="1" i="0" smtClea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The observable output is then</a:t>
                </a:r>
              </a:p>
              <a:p>
                <a:pPr marL="0" lvl="1" indent="0" algn="ctr">
                  <a:buClr>
                    <a:srgbClr val="790015"/>
                  </a:buClr>
                  <a:buNone/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en-US" sz="2400" dirty="0">
                    <a:effectLst/>
                  </a:rPr>
                  <a:t>.</a:t>
                </a:r>
                <a:endParaRPr lang="en-US" altLang="en-US" sz="2600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If one solves the underdetermined system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solidFill>
                          <a:srgbClr val="00279F"/>
                        </a:solidFill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US" sz="2800" i="1">
                        <a:solidFill>
                          <a:srgbClr val="00279F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279F"/>
                        </a:solidFill>
                        <a:effectLst/>
                        <a:latin typeface="Cambria Math" panose="02040503050406030204" pitchFamily="18" charset="0"/>
                      </a:rPr>
                      <m:t>𝑨𝒙</m:t>
                    </m:r>
                  </m:oMath>
                </a14:m>
                <a:r>
                  <a:rPr lang="en-US" altLang="en-US" sz="2600" dirty="0">
                    <a:effectLst/>
                    <a:ea typeface="宋体" pitchFamily="2" charset="-122"/>
                  </a:rPr>
                  <a:t>, then any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279F"/>
                        </a:solidFill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en-US" sz="2600" dirty="0">
                    <a:effectLst/>
                    <a:ea typeface="宋体" pitchFamily="2" charset="-122"/>
                  </a:rPr>
                  <a:t> satisfying the following is a solution</a:t>
                </a:r>
              </a:p>
              <a:p>
                <a:pPr marL="0" lvl="1" indent="0" algn="ctr">
                  <a:buClr>
                    <a:srgbClr val="790015"/>
                  </a:buCl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en-US" sz="2400" b="1" i="0" smtClea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sz="2600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What if we know the solution is </a:t>
                </a:r>
                <a:r>
                  <a:rPr lang="en-US" altLang="en-US" sz="2600" dirty="0">
                    <a:solidFill>
                      <a:srgbClr val="0033CC"/>
                    </a:solidFill>
                    <a:effectLst/>
                    <a:ea typeface="宋体" pitchFamily="2" charset="-122"/>
                  </a:rPr>
                  <a:t>sparse </a:t>
                </a:r>
                <a:r>
                  <a:rPr lang="en-US" altLang="en-US" sz="2600" dirty="0">
                    <a:solidFill>
                      <a:schemeClr val="tx1"/>
                    </a:solidFill>
                    <a:effectLst/>
                    <a:ea typeface="宋体" pitchFamily="2" charset="-122"/>
                  </a:rPr>
                  <a:t>(most components are zero)? </a:t>
                </a:r>
                <a:endParaRPr lang="en-US" altLang="en-US" sz="2600" dirty="0">
                  <a:effectLst/>
                </a:endParaRPr>
              </a:p>
              <a:p>
                <a:pPr marL="0" indent="0">
                  <a:buNone/>
                  <a:defRPr/>
                </a:pPr>
                <a:endParaRPr lang="en-US" altLang="en-US" sz="2400" dirty="0">
                  <a:effectLst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Compressed Sensing: A Simple Example</a:t>
            </a:r>
          </a:p>
        </p:txBody>
      </p:sp>
    </p:spTree>
    <p:extLst>
      <p:ext uri="{BB962C8B-B14F-4D97-AF65-F5344CB8AC3E}">
        <p14:creationId xmlns:p14="http://schemas.microsoft.com/office/powerpoint/2010/main" val="13105005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Ideally, one want to solve</a:t>
                </a:r>
                <a:endParaRPr lang="en-US" altLang="en-US" sz="2400" baseline="-250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0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#{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en-US" sz="2400" baseline="-250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The L1 Approach?</a:t>
                </a: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en-US" sz="24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zh-CN" sz="24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The L2 Approach?</a:t>
                </a: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en-US" sz="240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en-US" sz="2400" b="1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nary>
                        </m:e>
                      </m:func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zh-CN" sz="2400" dirty="0">
                  <a:effectLst/>
                </a:endParaRPr>
              </a:p>
              <a:p>
                <a:pPr>
                  <a:defRPr/>
                </a:pPr>
                <a:endParaRPr lang="en-US" altLang="en-US" sz="2600" dirty="0"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en-US" sz="2600" dirty="0">
                  <a:ea typeface="宋体" pitchFamily="2" charset="-122"/>
                </a:endParaRPr>
              </a:p>
              <a:p>
                <a:pPr marL="0" lvl="1" indent="0" algn="ctr">
                  <a:buClr>
                    <a:srgbClr val="790015"/>
                  </a:buClr>
                  <a:buNone/>
                  <a:defRPr/>
                </a:pPr>
                <a:r>
                  <a:rPr lang="en-US" altLang="en-US" sz="2600" dirty="0">
                    <a:ea typeface="宋体" pitchFamily="2" charset="-122"/>
                  </a:rPr>
                  <a:t>	</a:t>
                </a:r>
                <a:endParaRPr lang="en-US" altLang="en-US" sz="2400" dirty="0"/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4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Compressed Sensing</a:t>
            </a:r>
          </a:p>
        </p:txBody>
      </p:sp>
    </p:spTree>
    <p:extLst>
      <p:ext uri="{BB962C8B-B14F-4D97-AF65-F5344CB8AC3E}">
        <p14:creationId xmlns:p14="http://schemas.microsoft.com/office/powerpoint/2010/main" val="21027744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Compressed Sensing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" y="1788795"/>
            <a:ext cx="3903345" cy="35601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685" y="1579245"/>
            <a:ext cx="4286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694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78" y="999823"/>
            <a:ext cx="5102618" cy="339643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Compressed Sensing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78" y="999823"/>
            <a:ext cx="7469187" cy="25084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47" y="3508272"/>
            <a:ext cx="7512118" cy="2578973"/>
          </a:xfrm>
          <a:prstGeom prst="rect">
            <a:avLst/>
          </a:prstGeom>
        </p:spPr>
      </p:pic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257142" y="6307030"/>
            <a:ext cx="83486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Source: Terrence Tao, “Compressed sensing Or: the equation Ax=b, revisited”, UCLA, Mahler Lecture Series</a:t>
            </a:r>
          </a:p>
        </p:txBody>
      </p:sp>
    </p:spTree>
    <p:extLst>
      <p:ext uri="{BB962C8B-B14F-4D97-AF65-F5344CB8AC3E}">
        <p14:creationId xmlns:p14="http://schemas.microsoft.com/office/powerpoint/2010/main" val="191160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Tru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300"/>
  <p:tag name="DEFAULTMAGNIFICATION" val="1.5"/>
  <p:tag name="DEFAULTFONTSIZE" val="10"/>
  <p:tag name="DEFAULTWIDTH" val="394"/>
  <p:tag name="DEFAULTHEIGHT" val="338"/>
  <p:tag name="FIRSTXINCHEN@SUSY3254AVWXY596" val="2652"/>
  <p:tag name="FIRSTXIN20CHEN@ELDXLB0FUVWYY57I" val="36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.1|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1|0.1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1|0.1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1|0.1|0.1"/>
</p:tagLst>
</file>

<file path=ppt/theme/theme1.xml><?xml version="1.0" encoding="utf-8"?>
<a:theme xmlns:a="http://schemas.openxmlformats.org/drawingml/2006/main" name="Lecture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ectur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ctures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s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Data\Microsoft\Templates\Lectures.pot</Template>
  <TotalTime>53017</TotalTime>
  <Words>1773</Words>
  <Application>Microsoft Office PowerPoint</Application>
  <PresentationFormat>On-screen Show (4:3)</PresentationFormat>
  <Paragraphs>385</Paragraphs>
  <Slides>59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Arial</vt:lpstr>
      <vt:lpstr>宋体</vt:lpstr>
      <vt:lpstr>Wingdings</vt:lpstr>
      <vt:lpstr>Cambria Math</vt:lpstr>
      <vt:lpstr>Rockwell</vt:lpstr>
      <vt:lpstr>Tahoma</vt:lpstr>
      <vt:lpstr>Times New Roman</vt:lpstr>
      <vt:lpstr>MS PGothic</vt:lpstr>
      <vt:lpstr>Lectures</vt:lpstr>
      <vt:lpstr>Document</vt:lpstr>
      <vt:lpstr>Equation</vt:lpstr>
      <vt:lpstr>DBA5103</vt:lpstr>
      <vt:lpstr>PowerPoint Presentation</vt:lpstr>
      <vt:lpstr>Prototype Example</vt:lpstr>
      <vt:lpstr>Prototype Example</vt:lpstr>
      <vt:lpstr>Prototype Example</vt:lpstr>
      <vt:lpstr>Prototype Example</vt:lpstr>
      <vt:lpstr>Prototype Example</vt:lpstr>
      <vt:lpstr>Prototype Example</vt:lpstr>
      <vt:lpstr>Prototype Example</vt:lpstr>
      <vt:lpstr>Graphical Approach/Contour Approach</vt:lpstr>
      <vt:lpstr>Graphical Approach/Contour Approach</vt:lpstr>
      <vt:lpstr>A General Linear Programming Problem</vt:lpstr>
      <vt:lpstr>Standard Form</vt:lpstr>
      <vt:lpstr>Polyhedron</vt:lpstr>
      <vt:lpstr>PowerPoint Presentation</vt:lpstr>
      <vt:lpstr>MATH 1001</vt:lpstr>
      <vt:lpstr>Transposition</vt:lpstr>
      <vt:lpstr>Columns of Matrices</vt:lpstr>
      <vt:lpstr>Rows of Matrices</vt:lpstr>
      <vt:lpstr>Matrix Calculations</vt:lpstr>
      <vt:lpstr>Matrix Multiplication</vt:lpstr>
      <vt:lpstr>Identity Matrix</vt:lpstr>
      <vt:lpstr>Matrix inverse</vt:lpstr>
      <vt:lpstr>Matrix Multiplication</vt:lpstr>
      <vt:lpstr>Matrix Multiplication</vt:lpstr>
      <vt:lpstr>Matrix Multiplication</vt:lpstr>
      <vt:lpstr>Linear Independence</vt:lpstr>
      <vt:lpstr>Determinant </vt:lpstr>
      <vt:lpstr>Solving simultaneous equations</vt:lpstr>
      <vt:lpstr>Solving simultaneous equations</vt:lpstr>
      <vt:lpstr>Solving simultaneous equations</vt:lpstr>
      <vt:lpstr>Summary</vt:lpstr>
      <vt:lpstr>Back to Standard Form</vt:lpstr>
      <vt:lpstr>Reduction to Standard Form - Inequalities</vt:lpstr>
      <vt:lpstr>Reduction to Standard Form - Inequalities</vt:lpstr>
      <vt:lpstr>Reduction to Standard Form - Variables</vt:lpstr>
      <vt:lpstr>Reduction to Standard Form - Variables</vt:lpstr>
      <vt:lpstr>Reduction to Standard Form - Objective</vt:lpstr>
      <vt:lpstr>Wyndor Glass Co.</vt:lpstr>
      <vt:lpstr>General Resource Allocation Problem</vt:lpstr>
      <vt:lpstr>PowerPoint Presentation</vt:lpstr>
      <vt:lpstr>Simple Regression</vt:lpstr>
      <vt:lpstr>Data Fitting Problem: L2 Criterion</vt:lpstr>
      <vt:lpstr>Data Fitting Problem: L1 Criterion</vt:lpstr>
      <vt:lpstr>Data Fitting Problem: L1 Criterion</vt:lpstr>
      <vt:lpstr>Data Fitting Problem: L1 Criterion</vt:lpstr>
      <vt:lpstr>L1 vs. L2</vt:lpstr>
      <vt:lpstr>Data Fitting Problem: Chebyshev Criterion</vt:lpstr>
      <vt:lpstr>Problems Involving Absolute Values</vt:lpstr>
      <vt:lpstr>Problems Involving Absolute Values</vt:lpstr>
      <vt:lpstr>Projection/Lifting Idea</vt:lpstr>
      <vt:lpstr>CT/MRI Scan</vt:lpstr>
      <vt:lpstr>CT/MRI Scan</vt:lpstr>
      <vt:lpstr>CT/MRI Scan</vt:lpstr>
      <vt:lpstr>Compressed Sensing</vt:lpstr>
      <vt:lpstr>Compressed Sensing: A Simple Example</vt:lpstr>
      <vt:lpstr>Compressed Sensing</vt:lpstr>
      <vt:lpstr>Compressed Sensing</vt:lpstr>
      <vt:lpstr>Compressed Sensing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LP</dc:title>
  <dc:creator>Xin Chen</dc:creator>
  <cp:lastModifiedBy>Hu Zhenyu</cp:lastModifiedBy>
  <cp:revision>651</cp:revision>
  <dcterms:created xsi:type="dcterms:W3CDTF">2002-09-09T04:16:02Z</dcterms:created>
  <dcterms:modified xsi:type="dcterms:W3CDTF">2026-08-18T06:37:40Z</dcterms:modified>
</cp:coreProperties>
</file>